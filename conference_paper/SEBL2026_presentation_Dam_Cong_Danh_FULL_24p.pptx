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My name is Dam Cong Danh, from Hanoi University of Science and Technology,</a:t>
            </a:r>
          </a:p>
          <a:p>
            <a:r>
              <a:t>presenting joint work with Le Thi Thanh An of the University of Economics and Law and Le Kim Thu.</a:t>
            </a:r>
          </a:p>
          <a:p>
            <a:r>
              <a:t>Our paper asks what it takes to govern a machine-learning credit-classification model responsibly</a:t>
            </a:r>
          </a:p>
          <a:p>
            <a:r>
              <a:t>in a Vietnamese bank. [~30s]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route. The spine of the talk is three research questions, but the thread running</a:t>
            </a:r>
          </a:p>
          <a:p>
            <a:r>
              <a:t>through all of them is verification: every non-trivial claim gets cross-checked against an</a:t>
            </a:r>
          </a:p>
          <a:p>
            <a:r>
              <a:t>independent test. Two of those checks — sections 7 and the second half of 9 — overturned</a:t>
            </a:r>
          </a:p>
          <a:p>
            <a:r>
              <a:t>conclusions we would otherwise have made. [~30s]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Vietnam, debt-group classification is not an internal modelling choice — it is a regulatory</a:t>
            </a:r>
          </a:p>
          <a:p>
            <a:r>
              <a:t>obligation, and it determines provisioning. So a model that is accurate but opaque, or that has</a:t>
            </a:r>
          </a:p>
          <a:p>
            <a:r>
              <a:t>quietly learned the labelling rule rather than genuine signal, is unusable in a regulated process.</a:t>
            </a:r>
          </a:p>
          <a:p/>
          <a:p>
            <a:r>
              <a:t>Three questions. Note how they are phrased: RQ1 asks how far the ranking depends on the imbalance</a:t>
            </a:r>
          </a:p>
          <a:p>
            <a:r>
              <a:t>treatment, not simply which algorithm wins. That phrasing turned out to matter.</a:t>
            </a:r>
          </a:p>
          <a:p/>
          <a:p>
            <a:r>
              <a:t>The design principle at the bottom is the real contribution. Read it out. [~1m15s]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Altman, Ohlson, then the ensemble era. The benchmark studies — Baesens 2003, Lessmann 2015 —</a:t>
            </a:r>
          </a:p>
          <a:p>
            <a:r>
              <a:t>caution that no family dominates uniformly, and Brown &amp; Mues 2012 show the best algorithm</a:t>
            </a:r>
          </a:p>
          <a:p>
            <a:r>
              <a:t>actually changes with the degree of imbalance. Hold that thought; it comes back at the end.</a:t>
            </a:r>
          </a:p>
          <a:p/>
          <a:p>
            <a:r>
              <a:t>Closer to home, four recent Vietnamese studies. Read the three gaps. The 81.84% figure is from</a:t>
            </a:r>
          </a:p>
          <a:p>
            <a:r>
              <a:t>Nguyen et al. 2024, the study closest in subject to ours — and it is an Accuracy figure.</a:t>
            </a:r>
          </a:p>
          <a:p/>
          <a:p>
            <a:r>
              <a:t>Do NOT oversell this as criticism. Frame it as: these are the checks we thought were missing,</a:t>
            </a:r>
          </a:p>
          <a:p>
            <a:r>
              <a:t>so we built the paper around supplying them. [~1m15s]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27,001 loan contracts, 21 raw variables, one bank. The split is 80/20 stratified.</a:t>
            </a:r>
          </a:p>
          <a:p/>
          <a:p>
            <a:r>
              <a:t>Now the honest part, and I want to flag it early rather than let someone find it in the results:</a:t>
            </a:r>
          </a:p>
          <a:p>
            <a:r>
              <a:t>look at the distribution. In a normally performing book the groups decline monotonically, because</a:t>
            </a:r>
          </a:p>
          <a:p>
            <a:r>
              <a:t>loans migrate down one step at a time. Here Group 5 alone is larger than Groups 2, 3 and 4</a:t>
            </a:r>
          </a:p>
          <a:p>
            <a:r>
              <a:t>combined. The maturity evidence says why: the median Group-5 loan is about six years past its</a:t>
            </a:r>
          </a:p>
          <a:p>
            <a:r>
              <a:t>contractual maturity. This is a legacy loss stock sitting on the balance sheet.</a:t>
            </a:r>
          </a:p>
          <a:p/>
          <a:p>
            <a:r>
              <a:t>Consequence for later: when you see F1 of 0.93 on Group 5, that is not early warning. That is a</a:t>
            </a:r>
          </a:p>
          <a:p>
            <a:r>
              <a:t>settled end state that is easy to separate. The groups that matter operationally are 2 to 4, and</a:t>
            </a:r>
          </a:p>
          <a:p>
            <a:r>
              <a:t>those are exactly where the model is weakest. [~1m30s]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column, two things worth pausing on. First, leakage control: NHOMNO correlates 0.98 with the</a:t>
            </a:r>
          </a:p>
          <a:p>
            <a:r>
              <a:t>target — it is an alternate debt-group field. We treat removing it as leakage control, not feature</a:t>
            </a:r>
          </a:p>
          <a:p>
            <a:r>
              <a:t>selection, because retaining it would invalidate every comparison downstream.</a:t>
            </a:r>
          </a:p>
          <a:p/>
          <a:p>
            <a:r>
              <a:t>Second, IV screening flagged five variables above 1.0. We did NOT auto-exclude them. We reviewed</a:t>
            </a:r>
          </a:p>
          <a:p>
            <a:r>
              <a:t>each one against a stated criterion and retained them, and we say so in the paper. That is a</a:t>
            </a:r>
          </a:p>
          <a:p>
            <a:r>
              <a:t>governance point I will come back to on slide 10.</a:t>
            </a:r>
          </a:p>
          <a:p/>
          <a:p>
            <a:r>
              <a:t>Right column: the key word is symmetric. Six algorithms, both treatments, all twelve. And</a:t>
            </a:r>
          </a:p>
          <a:p>
            <a:r>
              <a:t>hyperparameters fixed in advance — which is a real limitation, and I will own it at the end.</a:t>
            </a:r>
          </a:p>
          <a:p/>
          <a:p>
            <a:r>
              <a:t>The bottom line is the design decision that produced our main finding. [~1m30s]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core comparison table. Twelve rows: six algorithms, each under both treatments.</a:t>
            </a:r>
          </a:p>
          <a:p/>
          <a:p>
            <a:r>
              <a:t>Three readings. First — and this is the paper's headline — the imbalance treatment matters more</a:t>
            </a:r>
          </a:p>
          <a:p>
            <a:r>
              <a:t>than the choice of algorithm. Every tree-based model does better with weighting OFF. That is</a:t>
            </a:r>
          </a:p>
          <a:p>
            <a:r>
              <a:t>counter-intuitive: class weighting is the standard reflex for imbalanced data, and here it costs</a:t>
            </a:r>
          </a:p>
          <a:p>
            <a:r>
              <a:t>you Macro-F1 in five cases out of five.</a:t>
            </a:r>
          </a:p>
          <a:p/>
          <a:p>
            <a:r>
              <a:t>Second, Logistic Regression is the exception — weighting helps it, 0.3946 against 0.3628 — but it</a:t>
            </a:r>
          </a:p>
          <a:p>
            <a:r>
              <a:t>is far behind every tree configuration either way. So the honest statement is "weighting is</a:t>
            </a:r>
          </a:p>
          <a:p>
            <a:r>
              <a:t>dominated for the tree ensembles", not "for all six models".</a:t>
            </a:r>
          </a:p>
          <a:p/>
          <a:p>
            <a:r>
              <a:t>Third, look at the top of the Macro-F1 column. LightGBM-none 0.6248. Decision Tree-none 0.6245.</a:t>
            </a:r>
          </a:p>
          <a:p>
            <a:r>
              <a:t>Three ten-thousandths apart, on one split. I am NOT going to call that a win. Slide 12 shows why.</a:t>
            </a:r>
          </a:p>
          <a:p/>
          <a:p>
            <a:r>
              <a:t>And note the Accuracy column against the Macro-F1 column for CatBoost: 0.9093 versus 0.6074.</a:t>
            </a:r>
          </a:p>
          <a:p>
            <a:r>
              <a:t>That divergence is exactly the Gap 1 problem from slide 4. [~2m]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why we report per-class numbers, and it is the most directly useful slide for a</a:t>
            </a:r>
          </a:p>
          <a:p>
            <a:r>
              <a:t>practitioner in the room.</a:t>
            </a:r>
          </a:p>
          <a:p/>
          <a:p>
            <a:r>
              <a:t>Two configurations of the SAME algorithm. Macro-F1 0.625 versus 0.604 — close. But look at how</a:t>
            </a:r>
          </a:p>
          <a:p>
            <a:r>
              <a:t>they get there. Unweighted: precision 0.748, recall 0.572. It rarely raises a false alarm, but it</a:t>
            </a:r>
          </a:p>
          <a:p>
            <a:r>
              <a:t>misses most of what it should catch. Group-2 recall 0.183 — four out of five special-mention loans</a:t>
            </a:r>
          </a:p>
          <a:p>
            <a:r>
              <a:t>get called standard.</a:t>
            </a:r>
          </a:p>
          <a:p/>
          <a:p>
            <a:r>
              <a:t>Weighted: the mirror image. Group-2 recall jumps to 0.471, but precision collapses from 0.603 to</a:t>
            </a:r>
          </a:p>
          <a:p>
            <a:r>
              <a:t>0.245 — so three out of four flags are false.</a:t>
            </a:r>
          </a:p>
          <a:p/>
          <a:p>
            <a:r>
              <a:t>Which is better? Neither. It depends on whether a flag triggers costly manual review — in which</a:t>
            </a:r>
          </a:p>
          <a:p>
            <a:r>
              <a:t>case false positives burn scarce analyst time — or whether missing a deteriorating loan is the</a:t>
            </a:r>
          </a:p>
          <a:p>
            <a:r>
              <a:t>expensive error. That is a credit-risk committee decision, not a modelling decision. Our point is</a:t>
            </a:r>
          </a:p>
          <a:p>
            <a:r>
              <a:t>that a single Macro-F1 number hides it completely. [~1m45s]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RQ2: does more data always help? No.</a:t>
            </a:r>
          </a:p>
          <a:p/>
          <a:p>
            <a:r>
              <a:t>Read down the Macro-F1 columns. Thirteen features gets you 0.6194 for XGBoost. Nine features gets</a:t>
            </a:r>
          </a:p>
          <a:p>
            <a:r>
              <a:t>you 0.6139 — that is 98-and-a-half percent of it. Three features still gets you 95 to 97 percent.</a:t>
            </a:r>
          </a:p>
          <a:p/>
          <a:p>
            <a:r>
              <a:t>Two honesty caveats, in the blue box. The curve is not monotone — k = 7 beats k = 9 for XGBoost —</a:t>
            </a:r>
          </a:p>
          <a:p>
            <a:r>
              <a:t>and that is because each k refits a different model, so those wiggles are noise. Do not let anyone</a:t>
            </a:r>
          </a:p>
          <a:p>
            <a:r>
              <a:t>read an optimum off this curve; there isn't one. There is a broad flat region.</a:t>
            </a:r>
          </a:p>
          <a:p/>
          <a:p>
            <a:r>
              <a:t>And we verified the in-fold version for LightGBM only. The in-fold number matters: if you pick the</a:t>
            </a:r>
          </a:p>
          <a:p>
            <a:r>
              <a:t>top nine features using a ranking computed on the whole dataset, you have peeked. Recomputing the</a:t>
            </a:r>
          </a:p>
          <a:p>
            <a:r>
              <a:t>ranking inside each training fold costs under one percent. So the efficiency result survives an</a:t>
            </a:r>
          </a:p>
          <a:p>
            <a:r>
              <a:t>honest selection procedure.</a:t>
            </a:r>
          </a:p>
          <a:p/>
          <a:p>
            <a:r>
              <a:t>Why a bank cares: fewer features means fewer feeds to source, document, monitor for drift, and</a:t>
            </a:r>
          </a:p>
          <a:p>
            <a:r>
              <a:t>explain to a supervisor. [~1m30s]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exists because a reviewer asked the right question, and because it is the single most</a:t>
            </a:r>
          </a:p>
          <a:p>
            <a:r>
              <a:t>likely question in this room.</a:t>
            </a:r>
          </a:p>
          <a:p/>
          <a:p>
            <a:r>
              <a:t>DAYS_TO_MATURITY dominates every importance ranking, and its IV is 4.554 — four and a half times</a:t>
            </a:r>
          </a:p>
          <a:p>
            <a:r>
              <a:t>the leakage flag threshold. So: is it just a restatement of the label, the way NHOMNO was?</a:t>
            </a:r>
          </a:p>
          <a:p/>
          <a:p>
            <a:r>
              <a:t>Four tests, and I want to stress that each one could have gone the other way.</a:t>
            </a:r>
          </a:p>
          <a:p/>
          <a:p>
            <a:r>
              <a:t>One. Build the dumbest possible classifier: call a loan non-performing if it is past maturity.</a:t>
            </a:r>
          </a:p>
          <a:p>
            <a:r>
              <a:t>If DAYS_TO_MATURITY encoded the labelling rule, that would reconstruct the label almost perfectly.</a:t>
            </a:r>
          </a:p>
          <a:p>
            <a:r>
              <a:t>It gets 67.3%. F1 of 0.508. That is not a label copy.</a:t>
            </a:r>
          </a:p>
          <a:p/>
          <a:p>
            <a:r>
              <a:t>Two. Look at the boundaries. If the variable WERE the overdue criterion, essentially no Group-1</a:t>
            </a:r>
          </a:p>
          <a:p>
            <a:r>
              <a:t>loan would be past maturity. In fact 35% are — rolled-over working capital, very common in</a:t>
            </a:r>
          </a:p>
          <a:p>
            <a:r>
              <a:t>Vietnamese commercial lending. And 8% of Group-5 loans are NOT past maturity, so the label clearly</a:t>
            </a:r>
          </a:p>
          <a:p>
            <a:r>
              <a:t>also reflects restructuring history and qualitative criteria.</a:t>
            </a:r>
          </a:p>
          <a:p/>
          <a:p>
            <a:r>
              <a:t>Three. Ablation. Take it out: you lose 16 to 23 percent of Macro-F1. A genuine strong predictor.</a:t>
            </a:r>
          </a:p>
          <a:p>
            <a:r>
              <a:t>If it were the label, the model would collapse, not degrade.</a:t>
            </a:r>
          </a:p>
          <a:p/>
          <a:p>
            <a:r>
              <a:t>Four. We picked d-zero arbitrarily — 31 December 2021. Does that choice flatter us? No: shifting</a:t>
            </a:r>
          </a:p>
          <a:p>
            <a:r>
              <a:t>d-zero adds a constant to every record, so tree partitions are unchanged. Identical to four</a:t>
            </a:r>
          </a:p>
          <a:p>
            <a:r>
              <a:t>decimals across five dates.</a:t>
            </a:r>
          </a:p>
          <a:p/>
          <a:p>
            <a:r>
              <a:t>Now the red box, and please deliver this rather than skip it. None of this PROVES there is no</a:t>
            </a:r>
          </a:p>
          <a:p>
            <a:r>
              <a:t>leakage. The file has no days-past-due column at all, so we cannot rule out a correlated</a:t>
            </a:r>
          </a:p>
          <a:p>
            <a:r>
              <a:t>unobserved field. We say so in the paper and we say so here. What we claim is that these are four</a:t>
            </a:r>
          </a:p>
          <a:p>
            <a:r>
              <a:t>tests that could have failed and did not — which is a materially stronger basis than a plausible</a:t>
            </a:r>
          </a:p>
          <a:p>
            <a:r>
              <a:t>narrative. [~2m15s]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RQ3. Two tables, same four model-and-treatment combinations, two different importance measures.</a:t>
            </a:r>
          </a:p>
          <a:p/>
          <a:p>
            <a:r>
              <a:t>Left, Gain — and note we set LightGBM's importance_type explicitly to "gain" so both libraries</a:t>
            </a:r>
          </a:p>
          <a:p>
            <a:r>
              <a:t>report the same quantity. Everyone agrees tenure/maturity leads. Below that, chaos. Follow the</a:t>
            </a:r>
          </a:p>
          <a:p>
            <a:r>
              <a:t>"Product &amp; loan purpose" row: 24.7, then 7.1, then 21.7, then 5.7. A factor of four, and enough to</a:t>
            </a:r>
          </a:p>
          <a:p>
            <a:r>
              <a:t>move it from second place to fifth depending only on which library you used.</a:t>
            </a:r>
          </a:p>
          <a:p/>
          <a:p>
            <a:r>
              <a:t>Right, SHAP. Same row structure. Tenure/maturity: 40.8, 41.2, 42.0, 42.8. Balance: 26.1 to 28.7.</a:t>
            </a:r>
          </a:p>
          <a:p>
            <a:r>
              <a:t>The ordering is identical in all four.</a:t>
            </a:r>
          </a:p>
          <a:p/>
          <a:p>
            <a:r>
              <a:t>The small print under the tables matters and I will say it out loud: the two tables are on</a:t>
            </a:r>
          </a:p>
          <a:p>
            <a:r>
              <a:t>slightly different feature sets — Gain on the 13-variable pool, SHAP on the 11-feature</a:t>
            </a:r>
          </a:p>
          <a:p>
            <a:r>
              <a:t>configuration. So do not compare a Gain cell against a SHAP cell. Compare ACROSS the four columns</a:t>
            </a:r>
          </a:p>
          <a:p>
            <a:r>
              <a:t>WITHIN each table. That is where the contrast lives.</a:t>
            </a:r>
          </a:p>
          <a:p/>
          <a:p>
            <a:r>
              <a:t>Implication for a bank: if you are deciding which data to invest in collecting, and you base that</a:t>
            </a:r>
          </a:p>
          <a:p>
            <a:r>
              <a:t>on one model's Gain ranking, you may be buying the wrong data. [~1m45s]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proper test. Twelve configurations, 25 identical train/test partitions, so every pairwise</a:t>
            </a:r>
          </a:p>
          <a:p>
            <a:r>
              <a:t>difference is properly paired.</a:t>
            </a:r>
          </a:p>
          <a:p/>
          <a:p>
            <a:r>
              <a:t>Why the correction: folds in repeated k-fold CV overlap — they share data. A naive paired t-test</a:t>
            </a:r>
          </a:p>
          <a:p>
            <a:r>
              <a:t>treats them as independent, understates the variance and massively overstates significance.</a:t>
            </a:r>
          </a:p>
          <a:p>
            <a:r>
              <a:t>Nadeau-Bengio replaces a variance factor of 0.04 with 0.29. That is a factor of seven. Then Holm</a:t>
            </a:r>
          </a:p>
          <a:p>
            <a:r>
              <a:t>on top, for the family of eleven comparisons.</a:t>
            </a:r>
          </a:p>
          <a:p/>
          <a:p>
            <a:r>
              <a:t>Result. Highest point estimate: Decision Tree-none, 0.6271. A single depth-10 pruned tree, beating</a:t>
            </a:r>
          </a:p>
          <a:p>
            <a:r>
              <a:t>three gradient-boosting libraries. But read the Holm column: XGBoost-none p = 0.789, Random</a:t>
            </a:r>
          </a:p>
          <a:p>
            <a:r>
              <a:t>Forest-none 0.789, LightGBM-none 0.663. Nowhere near rejection.</a:t>
            </a:r>
          </a:p>
          <a:p/>
          <a:p>
            <a:r>
              <a:t>So the correct statement is not "Decision Tree wins". It is: these four cannot be separated on</a:t>
            </a:r>
          </a:p>
          <a:p>
            <a:r>
              <a:t>this evidence. We name no winner, and choosing among them has to rest on other grounds — training</a:t>
            </a:r>
          </a:p>
          <a:p>
            <a:r>
              <a:t>cost, interpretability, or the precision/recall profile from slide 8 — and stating WHICH ground</a:t>
            </a:r>
          </a:p>
          <a:p>
            <a:r>
              <a:t>you used is itself part of the governance record.</a:t>
            </a:r>
          </a:p>
          <a:p/>
          <a:p>
            <a:r>
              <a:t>What DOES survive: look at the bottom eight rows. Every class-weighted configuration. All reject.</a:t>
            </a:r>
          </a:p>
          <a:p>
            <a:r>
              <a:t>The treatment effect is real and an order of magnitude larger than any algorithm effect. [~2m]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to show you the discipline applied to ourselves, because this is the part of the paper I am</a:t>
            </a:r>
          </a:p>
          <a:p>
            <a:r>
              <a:t>most confident about.</a:t>
            </a:r>
          </a:p>
          <a:p/>
          <a:p>
            <a:r>
              <a:t>On the hold-out split, LightGBM-none was first. It is the natural headline: "LightGBM is best for</a:t>
            </a:r>
          </a:p>
          <a:p>
            <a:r>
              <a:t>Vietnamese debt-group classification." Under repeated CV it drops to fourth, behind XGBoost. The</a:t>
            </a:r>
          </a:p>
          <a:p>
            <a:r>
              <a:t>corrected test on that specific pair: p = 0.3844. There is no evidence either way. The ranking was</a:t>
            </a:r>
          </a:p>
          <a:p>
            <a:r>
              <a:t>an artefact of one random split.</a:t>
            </a:r>
          </a:p>
          <a:p/>
          <a:p>
            <a:r>
              <a:t>Third bullet is an erratum and I am stating it deliberately. Every row of the Table 10 test is</a:t>
            </a:r>
          </a:p>
          <a:p>
            <a:r>
              <a:t>against the same reference configuration — so you cannot read a comparison between two non-reference</a:t>
            </a:r>
          </a:p>
          <a:p>
            <a:r>
              <a:t>rows off that table. An earlier version of our paper did. We tested it directly: the direction</a:t>
            </a:r>
          </a:p>
          <a:p>
            <a:r>
              <a:t>holds, CatBoost-none does beat LightGBM-balanced, but after Holm it is p = 0.063, not significant.</a:t>
            </a:r>
          </a:p>
          <a:p>
            <a:r>
              <a:t>We corrected the claim rather than leaving it.</a:t>
            </a:r>
          </a:p>
          <a:p/>
          <a:p>
            <a:r>
              <a:t>The takeaway, and it generalises well beyond this dataset: a ranking that flips between two honest</a:t>
            </a:r>
          </a:p>
          <a:p>
            <a:r>
              <a:t>evaluation designs is a signal to report both, not to pick the flattering one. [~1m45s]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implications, and please note the framing in the box at the bottom: these are CONDITIONAL.</a:t>
            </a:r>
          </a:p>
          <a:p>
            <a:r>
              <a:t>One bank, one snapshot, random resampling. Nothing here has been validated out-of-time. I will</a:t>
            </a:r>
          </a:p>
          <a:p>
            <a:r>
              <a:t>not overclaim.</a:t>
            </a:r>
          </a:p>
          <a:p/>
          <a:p>
            <a:r>
              <a:t>One. Report per-class numbers and the confusion matrix, not just a macro average. It costs nothing</a:t>
            </a:r>
          </a:p>
          <a:p>
            <a:r>
              <a:t>and it tells a credit-risk unit which specific groups a model's flags can be trusted for.</a:t>
            </a:r>
          </a:p>
          <a:p/>
          <a:p>
            <a:r>
              <a:t>Two. Parsimony where it is free. Nine features instead of thirteen, for under a percent.</a:t>
            </a:r>
          </a:p>
          <a:p/>
          <a:p>
            <a:r>
              <a:t>Three. Cross-check every measure. This is the one that bit us — slide 13.</a:t>
            </a:r>
          </a:p>
          <a:p/>
          <a:p>
            <a:r>
              <a:t>Four. This one is about process. An automated screen flagged five of our variables. The wrong</a:t>
            </a:r>
          </a:p>
          <a:p>
            <a:r>
              <a:t>response is to auto-drop them; the wrong response is also to write a paragraph explaining why they</a:t>
            </a:r>
          </a:p>
          <a:p>
            <a:r>
              <a:t>are fine. The right response is a check that could fail. That distinction is, I think, the most</a:t>
            </a:r>
          </a:p>
          <a:p>
            <a:r>
              <a:t>portable thing in this paper. [~1m30s]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close, three contributions.</a:t>
            </a:r>
          </a:p>
          <a:p/>
          <a:p>
            <a:r>
              <a:t>RQ1. The treatment is better identified than the algorithm. Say it plainly: we deliberately name</a:t>
            </a:r>
          </a:p>
          <a:p>
            <a:r>
              <a:t>no winning algorithm, and that refusal is a result, not a failure to reach one. Note also that the</a:t>
            </a:r>
          </a:p>
          <a:p>
            <a:r>
              <a:t>highest point estimate belongs to a single pruned decision tree — which is a nice echo of Lessmann</a:t>
            </a:r>
          </a:p>
          <a:p>
            <a:r>
              <a:t>and Baesens: no family dominates uniformly.</a:t>
            </a:r>
          </a:p>
          <a:p/>
          <a:p>
            <a:r>
              <a:t>RQ2. Nine of thirteen features, 98 to 99 percent, and it survives honest in-fold selection.</a:t>
            </a:r>
          </a:p>
          <a:p/>
          <a:p>
            <a:r>
              <a:t>RQ3. SHAP stable, Gain not. Triangulate before you spend money on data.</a:t>
            </a:r>
          </a:p>
          <a:p/>
          <a:p>
            <a:r>
              <a:t>And the common thread: performance, feature economy and interpretability evaluated jointly. [~1m]</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limitations, stated plainly, and I would rather raise them than be asked.</a:t>
            </a:r>
          </a:p>
          <a:p/>
          <a:p>
            <a:r>
              <a:t>One. 121 Group-3 loans in the test set. Per-class numbers on the minority groups are noisy. Trust</a:t>
            </a:r>
          </a:p>
          <a:p>
            <a:r>
              <a:t>the repeated-CV macro figures.</a:t>
            </a:r>
          </a:p>
          <a:p/>
          <a:p>
            <a:r>
              <a:t>Two. One bank, one snapshot, no classification date — so all our resampling is random, not</a:t>
            </a:r>
          </a:p>
          <a:p>
            <a:r>
              <a:t>temporal. Out-of-time validation is the necessary next step, and I will go further: given the</a:t>
            </a:r>
          </a:p>
          <a:p>
            <a:r>
              <a:t>Group-5 legacy stock we flagged on slide 5, I expect out-of-time numbers to be WORSE than these.</a:t>
            </a:r>
          </a:p>
          <a:p/>
          <a:p>
            <a:r>
              <a:t>Three. Label encoding for the non-CatBoost models imposes a fake ordering on branch codes. We</a:t>
            </a:r>
          </a:p>
          <a:p>
            <a:r>
              <a:t>verified native handling for CatBoost only.</a:t>
            </a:r>
          </a:p>
          <a:p/>
          <a:p>
            <a:r>
              <a:t>Four. No tuning. This is a genuine trade-off, not an oversight: tuning per configuration would</a:t>
            </a:r>
          </a:p>
          <a:p>
            <a:r>
              <a:t>have consumed an evaluation partition and made the comparison dirtier. But it does mean we compare</a:t>
            </a:r>
          </a:p>
          <a:p>
            <a:r>
              <a:t>families at sensible defaults, not at their optima. A tuning budget could reorder the four</a:t>
            </a:r>
          </a:p>
          <a:p>
            <a:r>
              <a:t>configurations the test already cannot separate. It is much less likely to overturn the treatment</a:t>
            </a:r>
          </a:p>
          <a:p>
            <a:r>
              <a:t>effect, which is roughly ten times larger and consistent in sign across all five tree models.</a:t>
            </a:r>
          </a:p>
          <a:p/>
          <a:p>
            <a:r>
              <a:t>Red box: the conditionality applies to everything. [~1m30s]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I am happy to take questions — and I have backup slides on the class distribution,</a:t>
            </a:r>
          </a:p>
          <a:p>
            <a:r>
              <a:t>the IV table, both confusion matrices, the ablation, per-feature SHAP values, and the exact</a:t>
            </a:r>
          </a:p>
          <a:p>
            <a:r>
              <a:t>hyperparameters, if any of those would be useful.</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Divider — not shown unless a question calls for a backup slide.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class distribution and the maturity evidence behind the Group-5 legacy-stock reading.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the full IV table and why the five flagged variables were retained.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both confusion matrices, for questions on where exactly the errors fall.</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the ablation table and the reference-date invariance result.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per-feature SHAP, for questions on individual variables rather than groups.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exact hyperparameters, library versions and the encoding decision.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2B5C"/>
        </a:solidFill>
        <a:effectLst/>
      </p:bgPr>
    </p:bg>
    <p:spTree>
      <p:nvGrpSpPr>
        <p:cNvPr id="1" name=""/>
        <p:cNvGrpSpPr/>
        <p:nvPr/>
      </p:nvGrpSpPr>
      <p:grpSpPr/>
      <p:sp>
        <p:nvSpPr>
          <p:cNvPr id="2" name="TextBox 1"/>
          <p:cNvSpPr txBox="1"/>
          <p:nvPr/>
        </p:nvSpPr>
        <p:spPr>
          <a:xfrm>
            <a:off x="914400" y="1417320"/>
            <a:ext cx="10332720" cy="1463040"/>
          </a:xfrm>
          <a:prstGeom prst="rect">
            <a:avLst/>
          </a:prstGeom>
          <a:noFill/>
        </p:spPr>
        <p:txBody>
          <a:bodyPr wrap="square" lIns="64008" rIns="64008" tIns="18288" bIns="18288">
            <a:noAutofit/>
          </a:bodyPr>
          <a:lstStyle/>
          <a:p>
            <a:pPr algn="ctr">
              <a:lnSpc>
                <a:spcPct val="120000"/>
              </a:lnSpc>
              <a:spcAft>
                <a:spcPts val="200"/>
              </a:spcAft>
              <a:defRPr sz="3600" b="1" i="0">
                <a:solidFill>
                  <a:srgbClr val="FFFFFF"/>
                </a:solidFill>
                <a:latin typeface="Calibri"/>
              </a:defRPr>
            </a:pPr>
            <a:r>
              <a:t>Machine Learning for Credit Classification:</a:t>
            </a:r>
          </a:p>
          <a:p>
            <a:pPr algn="ctr">
              <a:lnSpc>
                <a:spcPct val="120000"/>
              </a:lnSpc>
              <a:spcAft>
                <a:spcPts val="400"/>
              </a:spcAft>
              <a:defRPr sz="3600" b="1" i="0">
                <a:solidFill>
                  <a:srgbClr val="FFFFFF"/>
                </a:solidFill>
                <a:latin typeface="Calibri"/>
              </a:defRPr>
            </a:pPr>
            <a:r>
              <a:t>Case Study in a Vietnamese Commercial Bank</a:t>
            </a:r>
          </a:p>
        </p:txBody>
      </p:sp>
      <p:sp>
        <p:nvSpPr>
          <p:cNvPr id="3" name="TextBox 2"/>
          <p:cNvSpPr txBox="1"/>
          <p:nvPr/>
        </p:nvSpPr>
        <p:spPr>
          <a:xfrm>
            <a:off x="914400" y="3246120"/>
            <a:ext cx="10332720" cy="411480"/>
          </a:xfrm>
          <a:prstGeom prst="rect">
            <a:avLst/>
          </a:prstGeom>
          <a:noFill/>
        </p:spPr>
        <p:txBody>
          <a:bodyPr wrap="square" lIns="64008" rIns="64008" tIns="18288" bIns="18288">
            <a:noAutofit/>
          </a:bodyPr>
          <a:lstStyle/>
          <a:p>
            <a:pPr algn="ctr">
              <a:spcAft>
                <a:spcPts val="400"/>
              </a:spcAft>
              <a:defRPr sz="2000" b="0" i="0">
                <a:solidFill>
                  <a:srgbClr val="BBDBF5"/>
                </a:solidFill>
                <a:latin typeface="Calibri"/>
              </a:defRPr>
            </a:pPr>
            <a:r>
              <a:t>Lê Thị Thanh An  ·  Lê Kim Thư  ·  Đàm Công Danh</a:t>
            </a:r>
          </a:p>
        </p:txBody>
      </p:sp>
      <p:sp>
        <p:nvSpPr>
          <p:cNvPr id="4" name="TextBox 3"/>
          <p:cNvSpPr txBox="1"/>
          <p:nvPr/>
        </p:nvSpPr>
        <p:spPr>
          <a:xfrm>
            <a:off x="914400" y="3749039"/>
            <a:ext cx="10332720" cy="685800"/>
          </a:xfrm>
          <a:prstGeom prst="rect">
            <a:avLst/>
          </a:prstGeom>
          <a:noFill/>
        </p:spPr>
        <p:txBody>
          <a:bodyPr wrap="square" lIns="64008" rIns="64008" tIns="18288" bIns="18288">
            <a:noAutofit/>
          </a:bodyPr>
          <a:lstStyle/>
          <a:p>
            <a:pPr algn="ctr">
              <a:spcAft>
                <a:spcPts val="200"/>
              </a:spcAft>
              <a:defRPr sz="1500" b="0" i="0">
                <a:solidFill>
                  <a:srgbClr val="88BBDD"/>
                </a:solidFill>
                <a:latin typeface="Calibri"/>
              </a:defRPr>
            </a:pPr>
            <a:r>
              <a:t>University of Economics and Law, VNU-HCM</a:t>
            </a:r>
          </a:p>
          <a:p>
            <a:pPr algn="ctr">
              <a:spcAft>
                <a:spcPts val="400"/>
              </a:spcAft>
              <a:defRPr sz="1500" b="0" i="0">
                <a:solidFill>
                  <a:srgbClr val="88BBDD"/>
                </a:solidFill>
                <a:latin typeface="Calibri"/>
              </a:defRPr>
            </a:pPr>
            <a:r>
              <a:t>Hanoi University of Science and Technology</a:t>
            </a:r>
          </a:p>
        </p:txBody>
      </p:sp>
      <p:sp>
        <p:nvSpPr>
          <p:cNvPr id="5" name="Rectangle 4"/>
          <p:cNvSpPr/>
          <p:nvPr/>
        </p:nvSpPr>
        <p:spPr>
          <a:xfrm>
            <a:off x="3657600" y="4709160"/>
            <a:ext cx="4873752" cy="27432"/>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14400" y="4983480"/>
            <a:ext cx="10332720" cy="914400"/>
          </a:xfrm>
          <a:prstGeom prst="rect">
            <a:avLst/>
          </a:prstGeom>
          <a:noFill/>
        </p:spPr>
        <p:txBody>
          <a:bodyPr wrap="square" lIns="64008" rIns="64008" tIns="18288" bIns="18288">
            <a:noAutofit/>
          </a:bodyPr>
          <a:lstStyle/>
          <a:p>
            <a:pPr algn="ctr">
              <a:spcAft>
                <a:spcPts val="200"/>
              </a:spcAft>
              <a:defRPr sz="1500" b="0" i="0">
                <a:solidFill>
                  <a:srgbClr val="BBDBF5"/>
                </a:solidFill>
                <a:latin typeface="Calibri"/>
              </a:defRPr>
            </a:pPr>
            <a:r>
              <a:t>3rd Global Conference on Sustainability in Economics, Business and Law</a:t>
            </a:r>
          </a:p>
          <a:p>
            <a:pPr algn="ctr">
              <a:spcAft>
                <a:spcPts val="200"/>
              </a:spcAft>
              <a:defRPr sz="1500" b="0" i="0">
                <a:solidFill>
                  <a:srgbClr val="BBDBF5"/>
                </a:solidFill>
                <a:latin typeface="Calibri"/>
              </a:defRPr>
            </a:pPr>
            <a:r>
              <a:t>(UEL SEBL International Conference 2026)</a:t>
            </a:r>
          </a:p>
          <a:p>
            <a:pPr algn="ctr">
              <a:spcAft>
                <a:spcPts val="400"/>
              </a:spcAft>
              <a:defRPr sz="1500" b="0" i="0">
                <a:solidFill>
                  <a:srgbClr val="BBDBF5"/>
                </a:solidFill>
                <a:latin typeface="Calibri"/>
              </a:defRPr>
            </a:pPr>
            <a:r>
              <a:t>Ho Chi Minh City  ·  October 6,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118872"/>
            <a:ext cx="10332720" cy="475488"/>
          </a:xfrm>
          <a:prstGeom prst="rect">
            <a:avLst/>
          </a:prstGeom>
          <a:noFill/>
        </p:spPr>
        <p:txBody>
          <a:bodyPr wrap="square" lIns="64008" rIns="64008" tIns="18288" bIns="18288">
            <a:noAutofit/>
          </a:bodyPr>
          <a:lstStyle/>
          <a:p>
            <a:pPr algn="l">
              <a:lnSpc>
                <a:spcPct val="105000"/>
              </a:lnSpc>
              <a:spcAft>
                <a:spcPts val="400"/>
              </a:spcAft>
              <a:defRPr sz="2800" b="1" i="0">
                <a:solidFill>
                  <a:srgbClr val="FFFFFF"/>
                </a:solidFill>
                <a:latin typeface="Calibri"/>
              </a:defRPr>
            </a:pPr>
            <a:r>
              <a:t>Presentation Outline</a:t>
            </a:r>
          </a:p>
        </p:txBody>
      </p:sp>
      <p:sp>
        <p:nvSpPr>
          <p:cNvPr id="4" name="TextBox 3"/>
          <p:cNvSpPr txBox="1"/>
          <p:nvPr/>
        </p:nvSpPr>
        <p:spPr>
          <a:xfrm>
            <a:off x="11201400" y="137160"/>
            <a:ext cx="777240" cy="365760"/>
          </a:xfrm>
          <a:prstGeom prst="rect">
            <a:avLst/>
          </a:prstGeom>
          <a:noFill/>
        </p:spPr>
        <p:txBody>
          <a:bodyPr wrap="square" lIns="64008" rIns="64008" tIns="18288" bIns="18288">
            <a:noAutofit/>
          </a:bodyPr>
          <a:lstStyle/>
          <a:p>
            <a:pPr algn="r">
              <a:spcAft>
                <a:spcPts val="400"/>
              </a:spcAft>
              <a:defRPr sz="1400" b="0" i="0">
                <a:solidFill>
                  <a:srgbClr val="FFFFFF"/>
                </a:solidFill>
                <a:latin typeface="Calibri"/>
              </a:defRPr>
            </a:pPr>
            <a:r>
              <a:t>2</a:t>
            </a:r>
          </a:p>
        </p:txBody>
      </p:sp>
      <p:sp>
        <p:nvSpPr>
          <p:cNvPr id="5" name="TextBox 4"/>
          <p:cNvSpPr txBox="1"/>
          <p:nvPr/>
        </p:nvSpPr>
        <p:spPr>
          <a:xfrm>
            <a:off x="1371600" y="1325880"/>
            <a:ext cx="9326880" cy="4937760"/>
          </a:xfrm>
          <a:prstGeom prst="rect">
            <a:avLst/>
          </a:prstGeom>
          <a:noFill/>
        </p:spPr>
        <p:txBody>
          <a:bodyPr wrap="square" lIns="64008" rIns="64008" tIns="18288" bIns="18288">
            <a:noAutofit/>
          </a:bodyPr>
          <a:lstStyle/>
          <a:p>
            <a:pPr algn="l">
              <a:lnSpc>
                <a:spcPct val="124000"/>
              </a:lnSpc>
              <a:spcAft>
                <a:spcPts val="1000"/>
              </a:spcAft>
              <a:defRPr sz="1900" b="0" i="0">
                <a:solidFill>
                  <a:srgbClr val="333333"/>
                </a:solidFill>
                <a:latin typeface="Calibri"/>
              </a:defRPr>
            </a:pPr>
            <a:r>
              <a:t>1.   Motivation &amp; research questions</a:t>
            </a:r>
          </a:p>
          <a:p>
            <a:pPr algn="l">
              <a:lnSpc>
                <a:spcPct val="124000"/>
              </a:lnSpc>
              <a:spcAft>
                <a:spcPts val="1000"/>
              </a:spcAft>
              <a:defRPr sz="1900" b="0" i="0">
                <a:solidFill>
                  <a:srgbClr val="333333"/>
                </a:solidFill>
                <a:latin typeface="Calibri"/>
              </a:defRPr>
            </a:pPr>
            <a:r>
              <a:t>2.   Literature &amp; the three research gaps</a:t>
            </a:r>
          </a:p>
          <a:p>
            <a:pPr algn="l">
              <a:lnSpc>
                <a:spcPct val="124000"/>
              </a:lnSpc>
              <a:spcAft>
                <a:spcPts val="1000"/>
              </a:spcAft>
              <a:defRPr sz="1900" b="0" i="0">
                <a:solidFill>
                  <a:srgbClr val="333333"/>
                </a:solidFill>
                <a:latin typeface="Calibri"/>
              </a:defRPr>
            </a:pPr>
            <a:r>
              <a:t>3.   Data — and one caveat about Group 5</a:t>
            </a:r>
          </a:p>
          <a:p>
            <a:pPr algn="l">
              <a:lnSpc>
                <a:spcPct val="124000"/>
              </a:lnSpc>
              <a:spcAft>
                <a:spcPts val="1000"/>
              </a:spcAft>
              <a:defRPr sz="1900" b="0" i="0">
                <a:solidFill>
                  <a:srgbClr val="333333"/>
                </a:solidFill>
                <a:latin typeface="Calibri"/>
              </a:defRPr>
            </a:pPr>
            <a:r>
              <a:t>4.   Methodology — pipeline and evaluation design</a:t>
            </a:r>
          </a:p>
          <a:p>
            <a:pPr algn="l">
              <a:lnSpc>
                <a:spcPct val="124000"/>
              </a:lnSpc>
              <a:spcAft>
                <a:spcPts val="1000"/>
              </a:spcAft>
              <a:defRPr sz="1900" b="0" i="0">
                <a:solidFill>
                  <a:srgbClr val="333333"/>
                </a:solidFill>
                <a:latin typeface="Calibri"/>
              </a:defRPr>
            </a:pPr>
            <a:r>
              <a:t>5.   RQ1 — model comparison and the precision–recall trade-off</a:t>
            </a:r>
          </a:p>
          <a:p>
            <a:pPr algn="l">
              <a:lnSpc>
                <a:spcPct val="124000"/>
              </a:lnSpc>
              <a:spcAft>
                <a:spcPts val="1000"/>
              </a:spcAft>
              <a:defRPr sz="1900" b="0" i="0">
                <a:solidFill>
                  <a:srgbClr val="333333"/>
                </a:solidFill>
                <a:latin typeface="Calibri"/>
              </a:defRPr>
            </a:pPr>
            <a:r>
              <a:t>6.   RQ2 — feature efficiency</a:t>
            </a:r>
          </a:p>
          <a:p>
            <a:pPr algn="l">
              <a:lnSpc>
                <a:spcPct val="124000"/>
              </a:lnSpc>
              <a:spcAft>
                <a:spcPts val="1000"/>
              </a:spcAft>
              <a:defRPr sz="1900" b="0" i="0">
                <a:solidFill>
                  <a:srgbClr val="333333"/>
                </a:solidFill>
                <a:latin typeface="Calibri"/>
              </a:defRPr>
            </a:pPr>
            <a:r>
              <a:t>7.   Verifying the dominant predictor (leakage)</a:t>
            </a:r>
          </a:p>
          <a:p>
            <a:pPr algn="l">
              <a:lnSpc>
                <a:spcPct val="124000"/>
              </a:lnSpc>
              <a:spcAft>
                <a:spcPts val="1000"/>
              </a:spcAft>
              <a:defRPr sz="1900" b="0" i="0">
                <a:solidFill>
                  <a:srgbClr val="333333"/>
                </a:solidFill>
                <a:latin typeface="Calibri"/>
              </a:defRPr>
            </a:pPr>
            <a:r>
              <a:t>8.   RQ3 — Gain vs. SHAP importance</a:t>
            </a:r>
          </a:p>
          <a:p>
            <a:pPr algn="l">
              <a:lnSpc>
                <a:spcPct val="124000"/>
              </a:lnSpc>
              <a:spcAft>
                <a:spcPts val="1000"/>
              </a:spcAft>
              <a:defRPr sz="1900" b="0" i="0">
                <a:solidFill>
                  <a:srgbClr val="333333"/>
                </a:solidFill>
                <a:latin typeface="Calibri"/>
              </a:defRPr>
            </a:pPr>
            <a:r>
              <a:t>9.   Statistical robustness — and a ranking that flips</a:t>
            </a:r>
          </a:p>
          <a:p>
            <a:pPr algn="l">
              <a:lnSpc>
                <a:spcPct val="124000"/>
              </a:lnSpc>
              <a:spcAft>
                <a:spcPts val="1000"/>
              </a:spcAft>
              <a:defRPr sz="1900" b="0" i="0">
                <a:solidFill>
                  <a:srgbClr val="333333"/>
                </a:solidFill>
                <a:latin typeface="Calibri"/>
              </a:defRPr>
            </a:pPr>
            <a:r>
              <a:t>10. Implications for credit governance</a:t>
            </a:r>
          </a:p>
          <a:p>
            <a:pPr algn="l">
              <a:lnSpc>
                <a:spcPct val="124000"/>
              </a:lnSpc>
              <a:spcAft>
                <a:spcPts val="1000"/>
              </a:spcAft>
              <a:defRPr sz="1900" b="0" i="0">
                <a:solidFill>
                  <a:srgbClr val="333333"/>
                </a:solidFill>
                <a:latin typeface="Calibri"/>
              </a:defRPr>
            </a:pPr>
            <a:r>
              <a:t>11. Conclusion &amp; limitations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118872"/>
            <a:ext cx="10332720" cy="475488"/>
          </a:xfrm>
          <a:prstGeom prst="rect">
            <a:avLst/>
          </a:prstGeom>
          <a:noFill/>
        </p:spPr>
        <p:txBody>
          <a:bodyPr wrap="square" lIns="64008" rIns="64008" tIns="18288" bIns="18288">
            <a:noAutofit/>
          </a:bodyPr>
          <a:lstStyle/>
          <a:p>
            <a:pPr algn="l">
              <a:lnSpc>
                <a:spcPct val="105000"/>
              </a:lnSpc>
              <a:spcAft>
                <a:spcPts val="400"/>
              </a:spcAft>
              <a:defRPr sz="2800" b="1" i="0">
                <a:solidFill>
                  <a:srgbClr val="FFFFFF"/>
                </a:solidFill>
                <a:latin typeface="Calibri"/>
              </a:defRPr>
            </a:pPr>
            <a:r>
              <a:t>Motivation &amp; Research Questions</a:t>
            </a:r>
          </a:p>
        </p:txBody>
      </p:sp>
      <p:sp>
        <p:nvSpPr>
          <p:cNvPr id="4" name="TextBox 3"/>
          <p:cNvSpPr txBox="1"/>
          <p:nvPr/>
        </p:nvSpPr>
        <p:spPr>
          <a:xfrm>
            <a:off x="11201400" y="137160"/>
            <a:ext cx="777240" cy="365760"/>
          </a:xfrm>
          <a:prstGeom prst="rect">
            <a:avLst/>
          </a:prstGeom>
          <a:noFill/>
        </p:spPr>
        <p:txBody>
          <a:bodyPr wrap="square" lIns="64008" rIns="64008" tIns="18288" bIns="18288">
            <a:noAutofit/>
          </a:bodyPr>
          <a:lstStyle/>
          <a:p>
            <a:pPr algn="r">
              <a:spcAft>
                <a:spcPts val="400"/>
              </a:spcAft>
              <a:defRPr sz="1400" b="0" i="0">
                <a:solidFill>
                  <a:srgbClr val="FFFFFF"/>
                </a:solidFill>
                <a:latin typeface="Calibri"/>
              </a:defRPr>
            </a:pPr>
            <a:r>
              <a:t>3</a:t>
            </a:r>
          </a:p>
        </p:txBody>
      </p:sp>
      <p:sp>
        <p:nvSpPr>
          <p:cNvPr id="5" name="TextBox 4"/>
          <p:cNvSpPr txBox="1"/>
          <p:nvPr/>
        </p:nvSpPr>
        <p:spPr>
          <a:xfrm>
            <a:off x="548640" y="1143000"/>
            <a:ext cx="11064240" cy="868680"/>
          </a:xfrm>
          <a:prstGeom prst="rect">
            <a:avLst/>
          </a:prstGeom>
          <a:noFill/>
        </p:spPr>
        <p:txBody>
          <a:bodyPr wrap="square" lIns="64008" rIns="64008" tIns="18288" bIns="18288">
            <a:noAutofit/>
          </a:bodyPr>
          <a:lstStyle/>
          <a:p>
            <a:pPr algn="l">
              <a:lnSpc>
                <a:spcPct val="122000"/>
              </a:lnSpc>
              <a:spcAft>
                <a:spcPts val="700"/>
              </a:spcAft>
              <a:defRPr sz="1700" b="0" i="0">
                <a:solidFill>
                  <a:srgbClr val="333333"/>
                </a:solidFill>
                <a:latin typeface="Calibri"/>
              </a:defRPr>
            </a:pPr>
            <a:r>
              <a:t>Vietnam's asset-classification framework requires every loan to be placed in one of five debt groups, with Groups 3–5 constituting non-performing debt. That classification drives provisioning, portfolio monitoring, and ultimately how much credit reaches private borrowers.</a:t>
            </a:r>
          </a:p>
        </p:txBody>
      </p:sp>
      <p:sp>
        <p:nvSpPr>
          <p:cNvPr id="6" name="TextBox 5"/>
          <p:cNvSpPr txBox="1"/>
          <p:nvPr/>
        </p:nvSpPr>
        <p:spPr>
          <a:xfrm>
            <a:off x="548640" y="2066543"/>
            <a:ext cx="11064240" cy="274320"/>
          </a:xfrm>
          <a:prstGeom prst="rect">
            <a:avLst/>
          </a:prstGeom>
          <a:noFill/>
        </p:spPr>
        <p:txBody>
          <a:bodyPr wrap="square" lIns="64008" rIns="64008" tIns="18288" bIns="18288">
            <a:noAutofit/>
          </a:bodyPr>
          <a:lstStyle/>
          <a:p>
            <a:pPr algn="l">
              <a:lnSpc>
                <a:spcPct val="124000"/>
              </a:lnSpc>
              <a:spcAft>
                <a:spcPts val="700"/>
              </a:spcAft>
              <a:defRPr sz="1300" b="0" i="1">
                <a:solidFill>
                  <a:srgbClr val="666666"/>
                </a:solidFill>
                <a:latin typeface="Calibri"/>
              </a:defRPr>
            </a:pPr>
            <a:r>
              <a:t>Currently in force: Circular 31/2024/TT-NHNN (am. 37/2025). This dataset's period: Circular 11/2021/TT-NHNN.</a:t>
            </a:r>
          </a:p>
        </p:txBody>
      </p:sp>
      <p:sp>
        <p:nvSpPr>
          <p:cNvPr id="7" name="TextBox 6"/>
          <p:cNvSpPr txBox="1"/>
          <p:nvPr/>
        </p:nvSpPr>
        <p:spPr>
          <a:xfrm>
            <a:off x="685800" y="2450592"/>
            <a:ext cx="10789920" cy="2331720"/>
          </a:xfrm>
          <a:prstGeom prst="rect">
            <a:avLst/>
          </a:prstGeom>
          <a:noFill/>
        </p:spPr>
        <p:txBody>
          <a:bodyPr wrap="square" lIns="64008" rIns="64008" tIns="18288" bIns="18288">
            <a:noAutofit/>
          </a:bodyPr>
          <a:lstStyle/>
          <a:p>
            <a:pPr algn="l">
              <a:lnSpc>
                <a:spcPct val="120000"/>
              </a:lnSpc>
              <a:spcAft>
                <a:spcPts val="1100"/>
              </a:spcAft>
              <a:defRPr sz="1800" b="0" i="0">
                <a:solidFill>
                  <a:srgbClr val="002B5C"/>
                </a:solidFill>
                <a:latin typeface="Calibri"/>
              </a:defRPr>
            </a:pPr>
            <a:r>
              <a:t>RQ1   How do standard ML classifiers compare on a multi-class, severely imbalanced debt-group task — and how far does the ranking depend on the imbalance treatment applied?</a:t>
            </a:r>
          </a:p>
          <a:p>
            <a:pPr algn="l">
              <a:lnSpc>
                <a:spcPct val="120000"/>
              </a:lnSpc>
              <a:spcAft>
                <a:spcPts val="1100"/>
              </a:spcAft>
              <a:defRPr sz="1800" b="0" i="0">
                <a:solidFill>
                  <a:srgbClr val="002B5C"/>
                </a:solidFill>
                <a:latin typeface="Calibri"/>
              </a:defRPr>
            </a:pPr>
            <a:r>
              <a:t>RQ2   Does adding more features always improve out-of-sample performance, or can a smaller, cheaper-to-maintain feature set retain near-full performance?</a:t>
            </a:r>
          </a:p>
          <a:p>
            <a:pPr algn="l">
              <a:lnSpc>
                <a:spcPct val="120000"/>
              </a:lnSpc>
              <a:spcAft>
                <a:spcPts val="700"/>
              </a:spcAft>
              <a:defRPr sz="1800" b="0" i="0">
                <a:solidFill>
                  <a:srgbClr val="002B5C"/>
                </a:solidFill>
                <a:latin typeface="Calibri"/>
              </a:defRPr>
            </a:pPr>
            <a:r>
              <a:t>RQ3   Which business groups of information drive prediction — and is that conclusion stable across two different importance measures (Gain and SHAP)?</a:t>
            </a:r>
          </a:p>
        </p:txBody>
      </p:sp>
      <p:sp>
        <p:nvSpPr>
          <p:cNvPr id="8" name="Rectangle 7"/>
          <p:cNvSpPr/>
          <p:nvPr/>
        </p:nvSpPr>
        <p:spPr>
          <a:xfrm>
            <a:off x="685800" y="4937760"/>
            <a:ext cx="10789920" cy="1234440"/>
          </a:xfrm>
          <a:prstGeom prst="rect">
            <a:avLst/>
          </a:prstGeom>
          <a:solidFill>
            <a:srgbClr val="D6E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68680" y="5047488"/>
            <a:ext cx="10424160" cy="1014984"/>
          </a:xfrm>
          <a:prstGeom prst="rect">
            <a:avLst/>
          </a:prstGeom>
          <a:noFill/>
        </p:spPr>
        <p:txBody>
          <a:bodyPr wrap="square" lIns="64008" rIns="64008" tIns="18288" bIns="18288">
            <a:noAutofit/>
          </a:bodyPr>
          <a:lstStyle/>
          <a:p>
            <a:pPr algn="l">
              <a:lnSpc>
                <a:spcPct val="124000"/>
              </a:lnSpc>
              <a:spcAft>
                <a:spcPts val="300"/>
              </a:spcAft>
              <a:defRPr sz="1500" b="1" i="0">
                <a:solidFill>
                  <a:srgbClr val="002B5C"/>
                </a:solidFill>
                <a:latin typeface="Calibri"/>
              </a:defRPr>
            </a:pPr>
            <a:r>
              <a:t>Key design principle</a:t>
            </a:r>
          </a:p>
          <a:p>
            <a:pPr algn="l">
              <a:lnSpc>
                <a:spcPct val="120000"/>
              </a:lnSpc>
              <a:spcAft>
                <a:spcPts val="700"/>
              </a:spcAft>
              <a:defRPr sz="1500" b="0" i="0">
                <a:solidFill>
                  <a:srgbClr val="002B5C"/>
                </a:solidFill>
                <a:latin typeface="Calibri"/>
              </a:defRPr>
            </a:pPr>
            <a:r>
              <a:t>Every non-trivial claim is cross-checked against an independent test — leakage diagnostic, ablation, reference-date check, corrected paired t-test, Gain vs. SHAP — so that governance conclusions rest on tested, not asserted, evidence.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118872"/>
            <a:ext cx="10332720" cy="475488"/>
          </a:xfrm>
          <a:prstGeom prst="rect">
            <a:avLst/>
          </a:prstGeom>
          <a:noFill/>
        </p:spPr>
        <p:txBody>
          <a:bodyPr wrap="square" lIns="64008" rIns="64008" tIns="18288" bIns="18288">
            <a:noAutofit/>
          </a:bodyPr>
          <a:lstStyle/>
          <a:p>
            <a:pPr algn="l">
              <a:lnSpc>
                <a:spcPct val="105000"/>
              </a:lnSpc>
              <a:spcAft>
                <a:spcPts val="400"/>
              </a:spcAft>
              <a:defRPr sz="2800" b="1" i="0">
                <a:solidFill>
                  <a:srgbClr val="FFFFFF"/>
                </a:solidFill>
                <a:latin typeface="Calibri"/>
              </a:defRPr>
            </a:pPr>
            <a:r>
              <a:t>Literature &amp; the Three Research Gaps</a:t>
            </a:r>
          </a:p>
        </p:txBody>
      </p:sp>
      <p:sp>
        <p:nvSpPr>
          <p:cNvPr id="4" name="TextBox 3"/>
          <p:cNvSpPr txBox="1"/>
          <p:nvPr/>
        </p:nvSpPr>
        <p:spPr>
          <a:xfrm>
            <a:off x="11201400" y="137160"/>
            <a:ext cx="777240" cy="365760"/>
          </a:xfrm>
          <a:prstGeom prst="rect">
            <a:avLst/>
          </a:prstGeom>
          <a:noFill/>
        </p:spPr>
        <p:txBody>
          <a:bodyPr wrap="square" lIns="64008" rIns="64008" tIns="18288" bIns="18288">
            <a:noAutofit/>
          </a:bodyPr>
          <a:lstStyle/>
          <a:p>
            <a:pPr algn="r">
              <a:spcAft>
                <a:spcPts val="400"/>
              </a:spcAft>
              <a:defRPr sz="1400" b="0" i="0">
                <a:solidFill>
                  <a:srgbClr val="FFFFFF"/>
                </a:solidFill>
                <a:latin typeface="Calibri"/>
              </a:defRPr>
            </a:pPr>
            <a:r>
              <a:t>4</a:t>
            </a:r>
          </a:p>
        </p:txBody>
      </p:sp>
      <p:sp>
        <p:nvSpPr>
          <p:cNvPr id="5" name="TextBox 4"/>
          <p:cNvSpPr txBox="1"/>
          <p:nvPr/>
        </p:nvSpPr>
        <p:spPr>
          <a:xfrm>
            <a:off x="640080" y="1143000"/>
            <a:ext cx="10881360" cy="502920"/>
          </a:xfrm>
          <a:prstGeom prst="rect">
            <a:avLst/>
          </a:prstGeom>
          <a:noFill/>
        </p:spPr>
        <p:txBody>
          <a:bodyPr wrap="square" lIns="64008" rIns="64008" tIns="18288" bIns="18288">
            <a:noAutofit/>
          </a:bodyPr>
          <a:lstStyle/>
          <a:p>
            <a:pPr algn="l">
              <a:lnSpc>
                <a:spcPct val="120000"/>
              </a:lnSpc>
              <a:spcAft>
                <a:spcPts val="700"/>
              </a:spcAft>
              <a:defRPr sz="1600" b="0" i="0">
                <a:solidFill>
                  <a:srgbClr val="333333"/>
                </a:solidFill>
                <a:latin typeface="Calibri"/>
              </a:defRPr>
            </a:pPr>
            <a:r>
              <a:t>Machine learning is an active area in Vietnamese banking research (Dang &amp; Nguyen 2020; Nguyen et al. 2024; Nguyen &amp; Ngo 2025; Tran &amp; Nguyen Vuong 2025). Three gaps motivate this paper's design.</a:t>
            </a:r>
          </a:p>
        </p:txBody>
      </p:sp>
      <p:sp>
        <p:nvSpPr>
          <p:cNvPr id="6" name="TextBox 5"/>
          <p:cNvSpPr txBox="1"/>
          <p:nvPr/>
        </p:nvSpPr>
        <p:spPr>
          <a:xfrm>
            <a:off x="685800" y="1783080"/>
            <a:ext cx="10789920" cy="3063240"/>
          </a:xfrm>
          <a:prstGeom prst="rect">
            <a:avLst/>
          </a:prstGeom>
          <a:noFill/>
        </p:spPr>
        <p:txBody>
          <a:bodyPr wrap="square" lIns="64008" rIns="64008" tIns="18288" bIns="18288">
            <a:noAutofit/>
          </a:bodyPr>
          <a:lstStyle/>
          <a:p>
            <a:pPr algn="l">
              <a:lnSpc>
                <a:spcPct val="120000"/>
              </a:lnSpc>
              <a:spcAft>
                <a:spcPts val="1200"/>
              </a:spcAft>
              <a:defRPr sz="1700" b="0" i="0">
                <a:solidFill>
                  <a:srgbClr val="333333"/>
                </a:solidFill>
                <a:latin typeface="Calibri"/>
              </a:defRPr>
            </a:pPr>
            <a:r>
              <a:t>Gap 1 — Metric.   Comparisons are reported with Accuracy as the headline figure (e.g. 81.84% for a Random Forest predicting overdue-debt migration), without an imbalance-robust primary metric. With 77.65% of loans in Group 1, Accuracy and Macro-F1 diverge sharply.</a:t>
            </a:r>
          </a:p>
          <a:p>
            <a:pPr algn="l">
              <a:lnSpc>
                <a:spcPct val="120000"/>
              </a:lnSpc>
              <a:spcAft>
                <a:spcPts val="1200"/>
              </a:spcAft>
              <a:defRPr sz="1700" b="0" i="0">
                <a:solidFill>
                  <a:srgbClr val="333333"/>
                </a:solidFill>
                <a:latin typeface="Calibri"/>
              </a:defRPr>
            </a:pPr>
            <a:r>
              <a:t>Gap 2 — Stability of importance.   No prior study checks whether its feature-importance conclusions hold across more than one algorithm, or across more than one importance measure.</a:t>
            </a:r>
          </a:p>
          <a:p>
            <a:pPr algn="l">
              <a:lnSpc>
                <a:spcPct val="120000"/>
              </a:lnSpc>
              <a:spcAft>
                <a:spcPts val="700"/>
              </a:spcAft>
              <a:defRPr sz="1700" b="0" i="0">
                <a:solidFill>
                  <a:srgbClr val="333333"/>
                </a:solidFill>
                <a:latin typeface="Calibri"/>
              </a:defRPr>
            </a:pPr>
            <a:r>
              <a:t>Gap 3 — Verification.   None reports an explicit leakage diagnostic for a dominant predictor, an ablation study, or a sensitivity check on an arbitrary modelling convention such as a reference date.</a:t>
            </a:r>
          </a:p>
        </p:txBody>
      </p:sp>
      <p:sp>
        <p:nvSpPr>
          <p:cNvPr id="7" name="Rectangle 6"/>
          <p:cNvSpPr/>
          <p:nvPr/>
        </p:nvSpPr>
        <p:spPr>
          <a:xfrm>
            <a:off x="685800" y="5029200"/>
            <a:ext cx="10789920" cy="1143000"/>
          </a:xfrm>
          <a:prstGeom prst="rect">
            <a:avLst/>
          </a:prstGeom>
          <a:solidFill>
            <a:srgbClr val="D6E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68680" y="5138928"/>
            <a:ext cx="10424160" cy="923544"/>
          </a:xfrm>
          <a:prstGeom prst="rect">
            <a:avLst/>
          </a:prstGeom>
          <a:noFill/>
        </p:spPr>
        <p:txBody>
          <a:bodyPr wrap="square" lIns="64008" rIns="64008" tIns="18288" bIns="18288">
            <a:noAutofit/>
          </a:bodyPr>
          <a:lstStyle/>
          <a:p>
            <a:pPr algn="l">
              <a:lnSpc>
                <a:spcPct val="122000"/>
              </a:lnSpc>
              <a:spcAft>
                <a:spcPts val="700"/>
              </a:spcAft>
              <a:defRPr sz="1500" b="1" i="0">
                <a:solidFill>
                  <a:srgbClr val="002B5C"/>
                </a:solidFill>
                <a:latin typeface="Calibri"/>
              </a:defRPr>
            </a:pPr>
            <a:r>
              <a:t>→  The contribution is not one more model for a Vietnamese bank, but a verification-first methodology: a symmetric 6-algorithm × 2-treatment design, Macro-F1 as the primary metric, Gain/SHAP triangulation, and a leakage ablation plus reference-date check — applied together, which this literature has not yet done.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118872"/>
            <a:ext cx="10332720" cy="475488"/>
          </a:xfrm>
          <a:prstGeom prst="rect">
            <a:avLst/>
          </a:prstGeom>
          <a:noFill/>
        </p:spPr>
        <p:txBody>
          <a:bodyPr wrap="square" lIns="64008" rIns="64008" tIns="18288" bIns="18288">
            <a:noAutofit/>
          </a:bodyPr>
          <a:lstStyle/>
          <a:p>
            <a:pPr algn="l">
              <a:lnSpc>
                <a:spcPct val="105000"/>
              </a:lnSpc>
              <a:spcAft>
                <a:spcPts val="400"/>
              </a:spcAft>
              <a:defRPr sz="2800" b="1" i="0">
                <a:solidFill>
                  <a:srgbClr val="FFFFFF"/>
                </a:solidFill>
                <a:latin typeface="Calibri"/>
              </a:defRPr>
            </a:pPr>
            <a:r>
              <a:t>Data: 27,001 Loan Contracts</a:t>
            </a:r>
          </a:p>
        </p:txBody>
      </p:sp>
      <p:sp>
        <p:nvSpPr>
          <p:cNvPr id="4" name="TextBox 3"/>
          <p:cNvSpPr txBox="1"/>
          <p:nvPr/>
        </p:nvSpPr>
        <p:spPr>
          <a:xfrm>
            <a:off x="548640" y="621792"/>
            <a:ext cx="10332720" cy="329184"/>
          </a:xfrm>
          <a:prstGeom prst="rect">
            <a:avLst/>
          </a:prstGeom>
          <a:noFill/>
        </p:spPr>
        <p:txBody>
          <a:bodyPr wrap="square" lIns="64008" rIns="64008" tIns="18288" bIns="18288">
            <a:noAutofit/>
          </a:bodyPr>
          <a:lstStyle/>
          <a:p>
            <a:pPr algn="l">
              <a:lnSpc>
                <a:spcPct val="100000"/>
              </a:lnSpc>
              <a:spcAft>
                <a:spcPts val="400"/>
              </a:spcAft>
              <a:defRPr sz="1500" b="0" i="0">
                <a:solidFill>
                  <a:srgbClr val="BBDBF5"/>
                </a:solidFill>
                <a:latin typeface="Calibri"/>
              </a:defRPr>
            </a:pPr>
            <a:r>
              <a:t>Dataset A, one Vietnamese commercial bank — 21 raw variables (Table 1)</a:t>
            </a:r>
          </a:p>
        </p:txBody>
      </p:sp>
      <p:sp>
        <p:nvSpPr>
          <p:cNvPr id="5" name="TextBox 4"/>
          <p:cNvSpPr txBox="1"/>
          <p:nvPr/>
        </p:nvSpPr>
        <p:spPr>
          <a:xfrm>
            <a:off x="11201400" y="137160"/>
            <a:ext cx="777240" cy="365760"/>
          </a:xfrm>
          <a:prstGeom prst="rect">
            <a:avLst/>
          </a:prstGeom>
          <a:noFill/>
        </p:spPr>
        <p:txBody>
          <a:bodyPr wrap="square" lIns="64008" rIns="64008" tIns="18288" bIns="18288">
            <a:noAutofit/>
          </a:bodyPr>
          <a:lstStyle/>
          <a:p>
            <a:pPr algn="r">
              <a:spcAft>
                <a:spcPts val="400"/>
              </a:spcAft>
              <a:defRPr sz="1400" b="0" i="0">
                <a:solidFill>
                  <a:srgbClr val="FFFFFF"/>
                </a:solidFill>
                <a:latin typeface="Calibri"/>
              </a:defRPr>
            </a:pPr>
            <a:r>
              <a:t>5</a:t>
            </a:r>
          </a:p>
        </p:txBody>
      </p:sp>
      <p:graphicFrame>
        <p:nvGraphicFramePr>
          <p:cNvPr id="6" name="Table 5"/>
          <p:cNvGraphicFramePr>
            <a:graphicFrameLocks noGrp="1"/>
          </p:cNvGraphicFramePr>
          <p:nvPr/>
        </p:nvGraphicFramePr>
        <p:xfrm>
          <a:off x="548640" y="1188720"/>
          <a:ext cx="5760720" cy="2560320"/>
        </p:xfrm>
        <a:graphic>
          <a:graphicData uri="http://schemas.openxmlformats.org/drawingml/2006/table">
            <a:tbl>
              <a:tblPr firstRow="1" bandRow="1">
                <a:tableStyleId>{5C22544A-7EE6-4342-B048-85BDC9FD1C3A}</a:tableStyleId>
              </a:tblPr>
              <a:tblGrid>
                <a:gridCol w="1783080"/>
                <a:gridCol w="1005840"/>
                <a:gridCol w="1051560"/>
                <a:gridCol w="960120"/>
                <a:gridCol w="960120"/>
              </a:tblGrid>
              <a:tr h="365760">
                <a:tc>
                  <a:txBody>
                    <a:bodyPr wrap="square"/>
                    <a:lstStyle/>
                    <a:p>
                      <a:pPr algn="ctr">
                        <a:defRPr sz="1300" b="1">
                          <a:solidFill>
                            <a:srgbClr val="FFFFFF"/>
                          </a:solidFill>
                          <a:latin typeface="Calibri"/>
                        </a:defRPr>
                      </a:pPr>
                      <a:r>
                        <a:t>Debt group</a:t>
                      </a:r>
                    </a:p>
                  </a:txBody>
                  <a:tcPr marL="45720" marR="45720" marT="9144" marB="9144" anchor="ctr">
                    <a:solidFill>
                      <a:srgbClr val="002B5C"/>
                    </a:solidFill>
                  </a:tcPr>
                </a:tc>
                <a:tc>
                  <a:txBody>
                    <a:bodyPr wrap="square"/>
                    <a:lstStyle/>
                    <a:p>
                      <a:pPr algn="ctr">
                        <a:defRPr sz="1300" b="1">
                          <a:solidFill>
                            <a:srgbClr val="FFFFFF"/>
                          </a:solidFill>
                          <a:latin typeface="Calibri"/>
                        </a:defRPr>
                      </a:pPr>
                      <a:r>
                        <a:t>Total</a:t>
                      </a:r>
                    </a:p>
                  </a:txBody>
                  <a:tcPr marL="45720" marR="45720" marT="9144" marB="9144" anchor="ctr">
                    <a:solidFill>
                      <a:srgbClr val="002B5C"/>
                    </a:solidFill>
                  </a:tcPr>
                </a:tc>
                <a:tc>
                  <a:txBody>
                    <a:bodyPr wrap="square"/>
                    <a:lstStyle/>
                    <a:p>
                      <a:pPr algn="ctr">
                        <a:defRPr sz="1300" b="1">
                          <a:solidFill>
                            <a:srgbClr val="FFFFFF"/>
                          </a:solidFill>
                          <a:latin typeface="Calibri"/>
                        </a:defRPr>
                      </a:pPr>
                      <a:r>
                        <a:t>Share (%)</a:t>
                      </a:r>
                    </a:p>
                  </a:txBody>
                  <a:tcPr marL="45720" marR="45720" marT="9144" marB="9144" anchor="ctr">
                    <a:solidFill>
                      <a:srgbClr val="002B5C"/>
                    </a:solidFill>
                  </a:tcPr>
                </a:tc>
                <a:tc>
                  <a:txBody>
                    <a:bodyPr wrap="square"/>
                    <a:lstStyle/>
                    <a:p>
                      <a:pPr algn="ctr">
                        <a:defRPr sz="1300" b="1">
                          <a:solidFill>
                            <a:srgbClr val="FFFFFF"/>
                          </a:solidFill>
                          <a:latin typeface="Calibri"/>
                        </a:defRPr>
                      </a:pPr>
                      <a:r>
                        <a:t>Train</a:t>
                      </a:r>
                    </a:p>
                  </a:txBody>
                  <a:tcPr marL="45720" marR="45720" marT="9144" marB="9144" anchor="ctr">
                    <a:solidFill>
                      <a:srgbClr val="002B5C"/>
                    </a:solidFill>
                  </a:tcPr>
                </a:tc>
                <a:tc>
                  <a:txBody>
                    <a:bodyPr wrap="square"/>
                    <a:lstStyle/>
                    <a:p>
                      <a:pPr algn="ctr">
                        <a:defRPr sz="1300" b="1">
                          <a:solidFill>
                            <a:srgbClr val="FFFFFF"/>
                          </a:solidFill>
                          <a:latin typeface="Calibri"/>
                        </a:defRPr>
                      </a:pPr>
                      <a:r>
                        <a:t>Test</a:t>
                      </a:r>
                    </a:p>
                  </a:txBody>
                  <a:tcPr marL="45720" marR="45720" marT="9144" marB="9144" anchor="ctr">
                    <a:solidFill>
                      <a:srgbClr val="002B5C"/>
                    </a:solidFill>
                  </a:tcPr>
                </a:tc>
              </a:tr>
              <a:tr h="365760">
                <a:tc>
                  <a:txBody>
                    <a:bodyPr wrap="square"/>
                    <a:lstStyle/>
                    <a:p>
                      <a:pPr algn="l">
                        <a:defRPr sz="1300" b="0">
                          <a:solidFill>
                            <a:srgbClr val="333333"/>
                          </a:solidFill>
                          <a:latin typeface="Calibri"/>
                        </a:defRPr>
                      </a:pPr>
                      <a:r>
                        <a:t>1 — Standard</a:t>
                      </a:r>
                    </a:p>
                  </a:txBody>
                  <a:tcPr marL="45720" marR="45720" marT="9144" marB="9144" anchor="ctr"/>
                </a:tc>
                <a:tc>
                  <a:txBody>
                    <a:bodyPr wrap="square"/>
                    <a:lstStyle/>
                    <a:p>
                      <a:pPr algn="ctr">
                        <a:defRPr sz="1300" b="0">
                          <a:solidFill>
                            <a:srgbClr val="333333"/>
                          </a:solidFill>
                          <a:latin typeface="Calibri"/>
                        </a:defRPr>
                      </a:pPr>
                      <a:r>
                        <a:t>20,965</a:t>
                      </a:r>
                    </a:p>
                  </a:txBody>
                  <a:tcPr marL="45720" marR="45720" marT="9144" marB="9144" anchor="ctr"/>
                </a:tc>
                <a:tc>
                  <a:txBody>
                    <a:bodyPr wrap="square"/>
                    <a:lstStyle/>
                    <a:p>
                      <a:pPr algn="ctr">
                        <a:defRPr sz="1300" b="0">
                          <a:solidFill>
                            <a:srgbClr val="333333"/>
                          </a:solidFill>
                          <a:latin typeface="Calibri"/>
                        </a:defRPr>
                      </a:pPr>
                      <a:r>
                        <a:t>77.65</a:t>
                      </a:r>
                    </a:p>
                  </a:txBody>
                  <a:tcPr marL="45720" marR="45720" marT="9144" marB="9144" anchor="ctr"/>
                </a:tc>
                <a:tc>
                  <a:txBody>
                    <a:bodyPr wrap="square"/>
                    <a:lstStyle/>
                    <a:p>
                      <a:pPr algn="ctr">
                        <a:defRPr sz="1300" b="0">
                          <a:solidFill>
                            <a:srgbClr val="333333"/>
                          </a:solidFill>
                          <a:latin typeface="Calibri"/>
                        </a:defRPr>
                      </a:pPr>
                      <a:r>
                        <a:t>16,771</a:t>
                      </a:r>
                    </a:p>
                  </a:txBody>
                  <a:tcPr marL="45720" marR="45720" marT="9144" marB="9144" anchor="ctr"/>
                </a:tc>
                <a:tc>
                  <a:txBody>
                    <a:bodyPr wrap="square"/>
                    <a:lstStyle/>
                    <a:p>
                      <a:pPr algn="ctr">
                        <a:defRPr sz="1300" b="0">
                          <a:solidFill>
                            <a:srgbClr val="333333"/>
                          </a:solidFill>
                          <a:latin typeface="Calibri"/>
                        </a:defRPr>
                      </a:pPr>
                      <a:r>
                        <a:t>4,194</a:t>
                      </a:r>
                    </a:p>
                  </a:txBody>
                  <a:tcPr marL="45720" marR="45720" marT="9144" marB="9144" anchor="ctr"/>
                </a:tc>
              </a:tr>
              <a:tr h="365760">
                <a:tc>
                  <a:txBody>
                    <a:bodyPr wrap="square"/>
                    <a:lstStyle/>
                    <a:p>
                      <a:pPr algn="l">
                        <a:defRPr sz="1300" b="0">
                          <a:solidFill>
                            <a:srgbClr val="333333"/>
                          </a:solidFill>
                          <a:latin typeface="Calibri"/>
                        </a:defRPr>
                      </a:pPr>
                      <a:r>
                        <a:t>2 — Special mention</a:t>
                      </a:r>
                    </a:p>
                  </a:txBody>
                  <a:tcPr marL="45720" marR="45720" marT="9144" marB="9144" anchor="ctr">
                    <a:solidFill>
                      <a:srgbClr val="F2F2F2"/>
                    </a:solidFill>
                  </a:tcPr>
                </a:tc>
                <a:tc>
                  <a:txBody>
                    <a:bodyPr wrap="square"/>
                    <a:lstStyle/>
                    <a:p>
                      <a:pPr algn="ctr">
                        <a:defRPr sz="1300" b="0">
                          <a:solidFill>
                            <a:srgbClr val="333333"/>
                          </a:solidFill>
                          <a:latin typeface="Calibri"/>
                        </a:defRPr>
                      </a:pPr>
                      <a:r>
                        <a:t>1,287</a:t>
                      </a:r>
                    </a:p>
                  </a:txBody>
                  <a:tcPr marL="45720" marR="45720" marT="9144" marB="9144" anchor="ctr">
                    <a:solidFill>
                      <a:srgbClr val="F2F2F2"/>
                    </a:solidFill>
                  </a:tcPr>
                </a:tc>
                <a:tc>
                  <a:txBody>
                    <a:bodyPr wrap="square"/>
                    <a:lstStyle/>
                    <a:p>
                      <a:pPr algn="ctr">
                        <a:defRPr sz="1300" b="0">
                          <a:solidFill>
                            <a:srgbClr val="333333"/>
                          </a:solidFill>
                          <a:latin typeface="Calibri"/>
                        </a:defRPr>
                      </a:pPr>
                      <a:r>
                        <a:t>4.77</a:t>
                      </a:r>
                    </a:p>
                  </a:txBody>
                  <a:tcPr marL="45720" marR="45720" marT="9144" marB="9144" anchor="ctr">
                    <a:solidFill>
                      <a:srgbClr val="F2F2F2"/>
                    </a:solidFill>
                  </a:tcPr>
                </a:tc>
                <a:tc>
                  <a:txBody>
                    <a:bodyPr wrap="square"/>
                    <a:lstStyle/>
                    <a:p>
                      <a:pPr algn="ctr">
                        <a:defRPr sz="1300" b="0">
                          <a:solidFill>
                            <a:srgbClr val="333333"/>
                          </a:solidFill>
                          <a:latin typeface="Calibri"/>
                        </a:defRPr>
                      </a:pPr>
                      <a:r>
                        <a:t>1,030</a:t>
                      </a:r>
                    </a:p>
                  </a:txBody>
                  <a:tcPr marL="45720" marR="45720" marT="9144" marB="9144" anchor="ctr">
                    <a:solidFill>
                      <a:srgbClr val="F2F2F2"/>
                    </a:solidFill>
                  </a:tcPr>
                </a:tc>
                <a:tc>
                  <a:txBody>
                    <a:bodyPr wrap="square"/>
                    <a:lstStyle/>
                    <a:p>
                      <a:pPr algn="ctr">
                        <a:defRPr sz="1300" b="0">
                          <a:solidFill>
                            <a:srgbClr val="333333"/>
                          </a:solidFill>
                          <a:latin typeface="Calibri"/>
                        </a:defRPr>
                      </a:pPr>
                      <a:r>
                        <a:t>257</a:t>
                      </a:r>
                    </a:p>
                  </a:txBody>
                  <a:tcPr marL="45720" marR="45720" marT="9144" marB="9144" anchor="ctr">
                    <a:solidFill>
                      <a:srgbClr val="F2F2F2"/>
                    </a:solidFill>
                  </a:tcPr>
                </a:tc>
              </a:tr>
              <a:tr h="365760">
                <a:tc>
                  <a:txBody>
                    <a:bodyPr wrap="square"/>
                    <a:lstStyle/>
                    <a:p>
                      <a:pPr algn="l">
                        <a:defRPr sz="1300" b="0">
                          <a:solidFill>
                            <a:srgbClr val="333333"/>
                          </a:solidFill>
                          <a:latin typeface="Calibri"/>
                        </a:defRPr>
                      </a:pPr>
                      <a:r>
                        <a:t>3 — Sub-standard</a:t>
                      </a:r>
                    </a:p>
                  </a:txBody>
                  <a:tcPr marL="45720" marR="45720" marT="9144" marB="9144" anchor="ctr"/>
                </a:tc>
                <a:tc>
                  <a:txBody>
                    <a:bodyPr wrap="square"/>
                    <a:lstStyle/>
                    <a:p>
                      <a:pPr algn="ctr">
                        <a:defRPr sz="1300" b="0">
                          <a:solidFill>
                            <a:srgbClr val="333333"/>
                          </a:solidFill>
                          <a:latin typeface="Calibri"/>
                        </a:defRPr>
                      </a:pPr>
                      <a:r>
                        <a:t>604</a:t>
                      </a:r>
                    </a:p>
                  </a:txBody>
                  <a:tcPr marL="45720" marR="45720" marT="9144" marB="9144" anchor="ctr"/>
                </a:tc>
                <a:tc>
                  <a:txBody>
                    <a:bodyPr wrap="square"/>
                    <a:lstStyle/>
                    <a:p>
                      <a:pPr algn="ctr">
                        <a:defRPr sz="1300" b="0">
                          <a:solidFill>
                            <a:srgbClr val="333333"/>
                          </a:solidFill>
                          <a:latin typeface="Calibri"/>
                        </a:defRPr>
                      </a:pPr>
                      <a:r>
                        <a:t>2.24</a:t>
                      </a:r>
                    </a:p>
                  </a:txBody>
                  <a:tcPr marL="45720" marR="45720" marT="9144" marB="9144" anchor="ctr"/>
                </a:tc>
                <a:tc>
                  <a:txBody>
                    <a:bodyPr wrap="square"/>
                    <a:lstStyle/>
                    <a:p>
                      <a:pPr algn="ctr">
                        <a:defRPr sz="1300" b="0">
                          <a:solidFill>
                            <a:srgbClr val="333333"/>
                          </a:solidFill>
                          <a:latin typeface="Calibri"/>
                        </a:defRPr>
                      </a:pPr>
                      <a:r>
                        <a:t>483</a:t>
                      </a:r>
                    </a:p>
                  </a:txBody>
                  <a:tcPr marL="45720" marR="45720" marT="9144" marB="9144" anchor="ctr"/>
                </a:tc>
                <a:tc>
                  <a:txBody>
                    <a:bodyPr wrap="square"/>
                    <a:lstStyle/>
                    <a:p>
                      <a:pPr algn="ctr">
                        <a:defRPr sz="1300" b="0">
                          <a:solidFill>
                            <a:srgbClr val="333333"/>
                          </a:solidFill>
                          <a:latin typeface="Calibri"/>
                        </a:defRPr>
                      </a:pPr>
                      <a:r>
                        <a:t>121</a:t>
                      </a:r>
                    </a:p>
                  </a:txBody>
                  <a:tcPr marL="45720" marR="45720" marT="9144" marB="9144" anchor="ctr"/>
                </a:tc>
              </a:tr>
              <a:tr h="365760">
                <a:tc>
                  <a:txBody>
                    <a:bodyPr wrap="square"/>
                    <a:lstStyle/>
                    <a:p>
                      <a:pPr algn="l">
                        <a:defRPr sz="1300" b="0">
                          <a:solidFill>
                            <a:srgbClr val="333333"/>
                          </a:solidFill>
                          <a:latin typeface="Calibri"/>
                        </a:defRPr>
                      </a:pPr>
                      <a:r>
                        <a:t>4 — Doubtful</a:t>
                      </a:r>
                    </a:p>
                  </a:txBody>
                  <a:tcPr marL="45720" marR="45720" marT="9144" marB="9144" anchor="ctr">
                    <a:solidFill>
                      <a:srgbClr val="F2F2F2"/>
                    </a:solidFill>
                  </a:tcPr>
                </a:tc>
                <a:tc>
                  <a:txBody>
                    <a:bodyPr wrap="square"/>
                    <a:lstStyle/>
                    <a:p>
                      <a:pPr algn="ctr">
                        <a:defRPr sz="1300" b="0">
                          <a:solidFill>
                            <a:srgbClr val="333333"/>
                          </a:solidFill>
                          <a:latin typeface="Calibri"/>
                        </a:defRPr>
                      </a:pPr>
                      <a:r>
                        <a:t>784</a:t>
                      </a:r>
                    </a:p>
                  </a:txBody>
                  <a:tcPr marL="45720" marR="45720" marT="9144" marB="9144" anchor="ctr">
                    <a:solidFill>
                      <a:srgbClr val="F2F2F2"/>
                    </a:solidFill>
                  </a:tcPr>
                </a:tc>
                <a:tc>
                  <a:txBody>
                    <a:bodyPr wrap="square"/>
                    <a:lstStyle/>
                    <a:p>
                      <a:pPr algn="ctr">
                        <a:defRPr sz="1300" b="0">
                          <a:solidFill>
                            <a:srgbClr val="333333"/>
                          </a:solidFill>
                          <a:latin typeface="Calibri"/>
                        </a:defRPr>
                      </a:pPr>
                      <a:r>
                        <a:t>2.90</a:t>
                      </a:r>
                    </a:p>
                  </a:txBody>
                  <a:tcPr marL="45720" marR="45720" marT="9144" marB="9144" anchor="ctr">
                    <a:solidFill>
                      <a:srgbClr val="F2F2F2"/>
                    </a:solidFill>
                  </a:tcPr>
                </a:tc>
                <a:tc>
                  <a:txBody>
                    <a:bodyPr wrap="square"/>
                    <a:lstStyle/>
                    <a:p>
                      <a:pPr algn="ctr">
                        <a:defRPr sz="1300" b="0">
                          <a:solidFill>
                            <a:srgbClr val="333333"/>
                          </a:solidFill>
                          <a:latin typeface="Calibri"/>
                        </a:defRPr>
                      </a:pPr>
                      <a:r>
                        <a:t>627</a:t>
                      </a:r>
                    </a:p>
                  </a:txBody>
                  <a:tcPr marL="45720" marR="45720" marT="9144" marB="9144" anchor="ctr">
                    <a:solidFill>
                      <a:srgbClr val="F2F2F2"/>
                    </a:solidFill>
                  </a:tcPr>
                </a:tc>
                <a:tc>
                  <a:txBody>
                    <a:bodyPr wrap="square"/>
                    <a:lstStyle/>
                    <a:p>
                      <a:pPr algn="ctr">
                        <a:defRPr sz="1300" b="0">
                          <a:solidFill>
                            <a:srgbClr val="333333"/>
                          </a:solidFill>
                          <a:latin typeface="Calibri"/>
                        </a:defRPr>
                      </a:pPr>
                      <a:r>
                        <a:t>157</a:t>
                      </a:r>
                    </a:p>
                  </a:txBody>
                  <a:tcPr marL="45720" marR="45720" marT="9144" marB="9144" anchor="ctr">
                    <a:solidFill>
                      <a:srgbClr val="F2F2F2"/>
                    </a:solidFill>
                  </a:tcPr>
                </a:tc>
              </a:tr>
              <a:tr h="365760">
                <a:tc>
                  <a:txBody>
                    <a:bodyPr wrap="square"/>
                    <a:lstStyle/>
                    <a:p>
                      <a:pPr algn="l">
                        <a:defRPr sz="1300" b="0">
                          <a:solidFill>
                            <a:srgbClr val="333333"/>
                          </a:solidFill>
                          <a:latin typeface="Calibri"/>
                        </a:defRPr>
                      </a:pPr>
                      <a:r>
                        <a:t>5 — Loss</a:t>
                      </a:r>
                    </a:p>
                  </a:txBody>
                  <a:tcPr marL="45720" marR="45720" marT="9144" marB="9144" anchor="ctr"/>
                </a:tc>
                <a:tc>
                  <a:txBody>
                    <a:bodyPr wrap="square"/>
                    <a:lstStyle/>
                    <a:p>
                      <a:pPr algn="ctr">
                        <a:defRPr sz="1300" b="0">
                          <a:solidFill>
                            <a:srgbClr val="333333"/>
                          </a:solidFill>
                          <a:latin typeface="Calibri"/>
                        </a:defRPr>
                      </a:pPr>
                      <a:r>
                        <a:t>3,361</a:t>
                      </a:r>
                    </a:p>
                  </a:txBody>
                  <a:tcPr marL="45720" marR="45720" marT="9144" marB="9144" anchor="ctr"/>
                </a:tc>
                <a:tc>
                  <a:txBody>
                    <a:bodyPr wrap="square"/>
                    <a:lstStyle/>
                    <a:p>
                      <a:pPr algn="ctr">
                        <a:defRPr sz="1300" b="0">
                          <a:solidFill>
                            <a:srgbClr val="333333"/>
                          </a:solidFill>
                          <a:latin typeface="Calibri"/>
                        </a:defRPr>
                      </a:pPr>
                      <a:r>
                        <a:t>12.45</a:t>
                      </a:r>
                    </a:p>
                  </a:txBody>
                  <a:tcPr marL="45720" marR="45720" marT="9144" marB="9144" anchor="ctr"/>
                </a:tc>
                <a:tc>
                  <a:txBody>
                    <a:bodyPr wrap="square"/>
                    <a:lstStyle/>
                    <a:p>
                      <a:pPr algn="ctr">
                        <a:defRPr sz="1300" b="0">
                          <a:solidFill>
                            <a:srgbClr val="333333"/>
                          </a:solidFill>
                          <a:latin typeface="Calibri"/>
                        </a:defRPr>
                      </a:pPr>
                      <a:r>
                        <a:t>2,689</a:t>
                      </a:r>
                    </a:p>
                  </a:txBody>
                  <a:tcPr marL="45720" marR="45720" marT="9144" marB="9144" anchor="ctr"/>
                </a:tc>
                <a:tc>
                  <a:txBody>
                    <a:bodyPr wrap="square"/>
                    <a:lstStyle/>
                    <a:p>
                      <a:pPr algn="ctr">
                        <a:defRPr sz="1300" b="0">
                          <a:solidFill>
                            <a:srgbClr val="333333"/>
                          </a:solidFill>
                          <a:latin typeface="Calibri"/>
                        </a:defRPr>
                      </a:pPr>
                      <a:r>
                        <a:t>672</a:t>
                      </a:r>
                    </a:p>
                  </a:txBody>
                  <a:tcPr marL="45720" marR="45720" marT="9144" marB="9144" anchor="ctr"/>
                </a:tc>
              </a:tr>
              <a:tr h="365760">
                <a:tc>
                  <a:txBody>
                    <a:bodyPr wrap="square"/>
                    <a:lstStyle/>
                    <a:p>
                      <a:pPr algn="l">
                        <a:defRPr sz="1300" b="1">
                          <a:solidFill>
                            <a:srgbClr val="333333"/>
                          </a:solidFill>
                          <a:latin typeface="Calibri"/>
                        </a:defRPr>
                      </a:pPr>
                      <a:r>
                        <a:t>Total</a:t>
                      </a:r>
                    </a:p>
                  </a:txBody>
                  <a:tcPr marL="45720" marR="45720" marT="9144" marB="9144" anchor="ctr">
                    <a:solidFill>
                      <a:srgbClr val="DDEECC"/>
                    </a:solidFill>
                  </a:tcPr>
                </a:tc>
                <a:tc>
                  <a:txBody>
                    <a:bodyPr wrap="square"/>
                    <a:lstStyle/>
                    <a:p>
                      <a:pPr algn="ctr">
                        <a:defRPr sz="1300" b="1">
                          <a:solidFill>
                            <a:srgbClr val="333333"/>
                          </a:solidFill>
                          <a:latin typeface="Calibri"/>
                        </a:defRPr>
                      </a:pPr>
                      <a:r>
                        <a:t>27,001</a:t>
                      </a:r>
                    </a:p>
                  </a:txBody>
                  <a:tcPr marL="45720" marR="45720" marT="9144" marB="9144" anchor="ctr">
                    <a:solidFill>
                      <a:srgbClr val="DDEECC"/>
                    </a:solidFill>
                  </a:tcPr>
                </a:tc>
                <a:tc>
                  <a:txBody>
                    <a:bodyPr wrap="square"/>
                    <a:lstStyle/>
                    <a:p>
                      <a:pPr algn="ctr">
                        <a:defRPr sz="1300" b="1">
                          <a:solidFill>
                            <a:srgbClr val="333333"/>
                          </a:solidFill>
                          <a:latin typeface="Calibri"/>
                        </a:defRPr>
                      </a:pPr>
                      <a:r>
                        <a:t>100.00</a:t>
                      </a:r>
                    </a:p>
                  </a:txBody>
                  <a:tcPr marL="45720" marR="45720" marT="9144" marB="9144" anchor="ctr">
                    <a:solidFill>
                      <a:srgbClr val="DDEECC"/>
                    </a:solidFill>
                  </a:tcPr>
                </a:tc>
                <a:tc>
                  <a:txBody>
                    <a:bodyPr wrap="square"/>
                    <a:lstStyle/>
                    <a:p>
                      <a:pPr algn="ctr">
                        <a:defRPr sz="1300" b="1">
                          <a:solidFill>
                            <a:srgbClr val="333333"/>
                          </a:solidFill>
                          <a:latin typeface="Calibri"/>
                        </a:defRPr>
                      </a:pPr>
                      <a:r>
                        <a:t>21,600</a:t>
                      </a:r>
                    </a:p>
                  </a:txBody>
                  <a:tcPr marL="45720" marR="45720" marT="9144" marB="9144" anchor="ctr">
                    <a:solidFill>
                      <a:srgbClr val="DDEECC"/>
                    </a:solidFill>
                  </a:tcPr>
                </a:tc>
                <a:tc>
                  <a:txBody>
                    <a:bodyPr wrap="square"/>
                    <a:lstStyle/>
                    <a:p>
                      <a:pPr algn="ctr">
                        <a:defRPr sz="1300" b="1">
                          <a:solidFill>
                            <a:srgbClr val="333333"/>
                          </a:solidFill>
                          <a:latin typeface="Calibri"/>
                        </a:defRPr>
                      </a:pPr>
                      <a:r>
                        <a:t>5,401</a:t>
                      </a:r>
                    </a:p>
                  </a:txBody>
                  <a:tcPr marL="45720" marR="45720" marT="9144" marB="9144" anchor="ctr">
                    <a:solidFill>
                      <a:srgbClr val="DDEECC"/>
                    </a:solidFill>
                  </a:tcPr>
                </a:tc>
              </a:tr>
            </a:tbl>
          </a:graphicData>
        </a:graphic>
      </p:graphicFrame>
      <p:sp>
        <p:nvSpPr>
          <p:cNvPr id="7" name="TextBox 6"/>
          <p:cNvSpPr txBox="1"/>
          <p:nvPr/>
        </p:nvSpPr>
        <p:spPr>
          <a:xfrm>
            <a:off x="6583680" y="1207008"/>
            <a:ext cx="5029200" cy="2377440"/>
          </a:xfrm>
          <a:prstGeom prst="rect">
            <a:avLst/>
          </a:prstGeom>
          <a:noFill/>
        </p:spPr>
        <p:txBody>
          <a:bodyPr wrap="square" lIns="64008" rIns="64008" tIns="18288" bIns="18288">
            <a:noAutofit/>
          </a:bodyPr>
          <a:lstStyle/>
          <a:p>
            <a:pPr algn="l">
              <a:lnSpc>
                <a:spcPct val="124000"/>
              </a:lnSpc>
              <a:spcAft>
                <a:spcPts val="900"/>
              </a:spcAft>
              <a:defRPr sz="1500" b="0" i="0">
                <a:solidFill>
                  <a:srgbClr val="333333"/>
                </a:solidFill>
                <a:latin typeface="Calibri"/>
              </a:defRPr>
            </a:pPr>
            <a:r>
              <a:t>•  Imbalance ratio ≈ 35 : 1  (Group 1 vs. Group 3)</a:t>
            </a:r>
          </a:p>
          <a:p>
            <a:pPr algn="l">
              <a:lnSpc>
                <a:spcPct val="124000"/>
              </a:lnSpc>
              <a:spcAft>
                <a:spcPts val="900"/>
              </a:spcAft>
              <a:defRPr sz="1500" b="0" i="0">
                <a:solidFill>
                  <a:srgbClr val="333333"/>
                </a:solidFill>
                <a:latin typeface="Calibri"/>
              </a:defRPr>
            </a:pPr>
            <a:r>
              <a:t>•  80/20 stratified split, random_state = 42</a:t>
            </a:r>
          </a:p>
          <a:p>
            <a:pPr algn="l">
              <a:lnSpc>
                <a:spcPct val="120000"/>
              </a:lnSpc>
              <a:spcAft>
                <a:spcPts val="900"/>
              </a:spcAft>
              <a:defRPr sz="1500" b="0" i="0">
                <a:solidFill>
                  <a:srgbClr val="333333"/>
                </a:solidFill>
                <a:latin typeface="Calibri"/>
              </a:defRPr>
            </a:pPr>
            <a:r>
              <a:t>•  Single cross-sectional snapshot — the file records no classification date</a:t>
            </a:r>
          </a:p>
          <a:p>
            <a:pPr algn="l">
              <a:lnSpc>
                <a:spcPct val="120000"/>
              </a:lnSpc>
              <a:spcAft>
                <a:spcPts val="700"/>
              </a:spcAft>
              <a:defRPr sz="1500" b="0" i="0">
                <a:solidFill>
                  <a:srgbClr val="333333"/>
                </a:solidFill>
                <a:latin typeface="Calibri"/>
              </a:defRPr>
            </a:pPr>
            <a:r>
              <a:t>•  Not the shape of a normal active book: Group 5 alone (12.45%) exceeds Groups 2 + 3 + 4 combined (9.91%)</a:t>
            </a:r>
          </a:p>
        </p:txBody>
      </p:sp>
      <p:sp>
        <p:nvSpPr>
          <p:cNvPr id="8" name="Rectangle 7"/>
          <p:cNvSpPr/>
          <p:nvPr/>
        </p:nvSpPr>
        <p:spPr>
          <a:xfrm>
            <a:off x="548640" y="3703320"/>
            <a:ext cx="11064240" cy="1554480"/>
          </a:xfrm>
          <a:prstGeom prst="rect">
            <a:avLst/>
          </a:prstGeom>
          <a:solidFill>
            <a:srgbClr val="FB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3813048"/>
            <a:ext cx="10698480" cy="1335024"/>
          </a:xfrm>
          <a:prstGeom prst="rect">
            <a:avLst/>
          </a:prstGeom>
          <a:noFill/>
        </p:spPr>
        <p:txBody>
          <a:bodyPr wrap="square" lIns="64008" rIns="64008" tIns="18288" bIns="18288">
            <a:noAutofit/>
          </a:bodyPr>
          <a:lstStyle/>
          <a:p>
            <a:pPr algn="l">
              <a:lnSpc>
                <a:spcPct val="124000"/>
              </a:lnSpc>
              <a:spcAft>
                <a:spcPts val="300"/>
              </a:spcAft>
              <a:defRPr sz="1500" b="1" i="0">
                <a:solidFill>
                  <a:srgbClr val="C00000"/>
                </a:solidFill>
                <a:latin typeface="Calibri"/>
              </a:defRPr>
            </a:pPr>
            <a:r>
              <a:t>Read Group 5 with care</a:t>
            </a:r>
          </a:p>
          <a:p>
            <a:pPr algn="l">
              <a:lnSpc>
                <a:spcPct val="122000"/>
              </a:lnSpc>
              <a:spcAft>
                <a:spcPts val="700"/>
              </a:spcAft>
              <a:defRPr sz="1400" b="0" i="0">
                <a:solidFill>
                  <a:srgbClr val="333333"/>
                </a:solidFill>
                <a:latin typeface="Calibri"/>
              </a:defRPr>
            </a:pPr>
            <a:r>
              <a:t>The median Group-5 loan is roughly six years past its original contractual maturity, and 92.1% of Group-5 loans are past maturity, against 44.2% in Group 2. This looks like a legacy stock of loss-classified loans awaiting recovery or write-off, not a flow of newly deteriorating credits. So strong Group-5 performance later in this talk is not evidence that the model anticipates deterioration — Group 5 is a largely settled, easily separable end state. The operationally demanding groups are 2 to 4.</a:t>
            </a:r>
          </a:p>
        </p:txBody>
      </p:sp>
      <p:sp>
        <p:nvSpPr>
          <p:cNvPr id="10" name="TextBox 9"/>
          <p:cNvSpPr txBox="1"/>
          <p:nvPr/>
        </p:nvSpPr>
        <p:spPr>
          <a:xfrm>
            <a:off x="548640" y="5394960"/>
            <a:ext cx="11064240" cy="777240"/>
          </a:xfrm>
          <a:prstGeom prst="rect">
            <a:avLst/>
          </a:prstGeom>
          <a:noFill/>
        </p:spPr>
        <p:txBody>
          <a:bodyPr wrap="square" lIns="64008" rIns="64008" tIns="18288" bIns="18288">
            <a:noAutofit/>
          </a:bodyPr>
          <a:lstStyle/>
          <a:p>
            <a:pPr algn="l">
              <a:lnSpc>
                <a:spcPct val="120000"/>
              </a:lnSpc>
              <a:spcAft>
                <a:spcPts val="700"/>
              </a:spcAft>
              <a:defRPr sz="1300" b="0" i="0">
                <a:solidFill>
                  <a:srgbClr val="666666"/>
                </a:solidFill>
                <a:latin typeface="Calibri"/>
              </a:defRPr>
            </a:pPr>
            <a:r>
              <a:t>Data cleaning:  36.85% of OPEN_DATE and 36.63% of NGAYDENHAN were stored as Excel serial-date integers rather than text. The original parser recognised only text dates, so applying it unchecked would have silently voided more than a third of records. After conversion via the Excel epoch, both fields have zero unparsed values.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118872"/>
            <a:ext cx="10332720" cy="475488"/>
          </a:xfrm>
          <a:prstGeom prst="rect">
            <a:avLst/>
          </a:prstGeom>
          <a:noFill/>
        </p:spPr>
        <p:txBody>
          <a:bodyPr wrap="square" lIns="64008" rIns="64008" tIns="18288" bIns="18288">
            <a:noAutofit/>
          </a:bodyPr>
          <a:lstStyle/>
          <a:p>
            <a:pPr algn="l">
              <a:lnSpc>
                <a:spcPct val="105000"/>
              </a:lnSpc>
              <a:spcAft>
                <a:spcPts val="400"/>
              </a:spcAft>
              <a:defRPr sz="2800" b="1" i="0">
                <a:solidFill>
                  <a:srgbClr val="FFFFFF"/>
                </a:solidFill>
                <a:latin typeface="Calibri"/>
              </a:defRPr>
            </a:pPr>
            <a:r>
              <a:t>Methodology: Pipeline &amp; Evaluation Design</a:t>
            </a:r>
          </a:p>
        </p:txBody>
      </p:sp>
      <p:sp>
        <p:nvSpPr>
          <p:cNvPr id="4" name="TextBox 3"/>
          <p:cNvSpPr txBox="1"/>
          <p:nvPr/>
        </p:nvSpPr>
        <p:spPr>
          <a:xfrm>
            <a:off x="11201400" y="137160"/>
            <a:ext cx="777240" cy="365760"/>
          </a:xfrm>
          <a:prstGeom prst="rect">
            <a:avLst/>
          </a:prstGeom>
          <a:noFill/>
        </p:spPr>
        <p:txBody>
          <a:bodyPr wrap="square" lIns="64008" rIns="64008" tIns="18288" bIns="18288">
            <a:noAutofit/>
          </a:bodyPr>
          <a:lstStyle/>
          <a:p>
            <a:pPr algn="r">
              <a:spcAft>
                <a:spcPts val="400"/>
              </a:spcAft>
              <a:defRPr sz="1400" b="0" i="0">
                <a:solidFill>
                  <a:srgbClr val="FFFFFF"/>
                </a:solidFill>
                <a:latin typeface="Calibri"/>
              </a:defRPr>
            </a:pPr>
            <a:r>
              <a:t>6</a:t>
            </a:r>
          </a:p>
        </p:txBody>
      </p:sp>
      <p:sp>
        <p:nvSpPr>
          <p:cNvPr id="5" name="TextBox 4"/>
          <p:cNvSpPr txBox="1"/>
          <p:nvPr/>
        </p:nvSpPr>
        <p:spPr>
          <a:xfrm>
            <a:off x="548640" y="1170432"/>
            <a:ext cx="5577840" cy="292608"/>
          </a:xfrm>
          <a:prstGeom prst="rect">
            <a:avLst/>
          </a:prstGeom>
          <a:noFill/>
        </p:spPr>
        <p:txBody>
          <a:bodyPr wrap="square" lIns="64008" rIns="64008" tIns="18288" bIns="18288">
            <a:noAutofit/>
          </a:bodyPr>
          <a:lstStyle/>
          <a:p>
            <a:pPr algn="l">
              <a:lnSpc>
                <a:spcPct val="124000"/>
              </a:lnSpc>
              <a:spcAft>
                <a:spcPts val="700"/>
              </a:spcAft>
              <a:defRPr sz="1700" b="1" i="0">
                <a:solidFill>
                  <a:srgbClr val="002B5C"/>
                </a:solidFill>
                <a:latin typeface="Calibri"/>
              </a:defRPr>
            </a:pPr>
            <a:r>
              <a:t>Data preparation</a:t>
            </a:r>
          </a:p>
        </p:txBody>
      </p:sp>
      <p:sp>
        <p:nvSpPr>
          <p:cNvPr id="6" name="TextBox 5"/>
          <p:cNvSpPr txBox="1"/>
          <p:nvPr/>
        </p:nvSpPr>
        <p:spPr>
          <a:xfrm>
            <a:off x="548640" y="1536192"/>
            <a:ext cx="5577840" cy="4480560"/>
          </a:xfrm>
          <a:prstGeom prst="rect">
            <a:avLst/>
          </a:prstGeom>
          <a:noFill/>
        </p:spPr>
        <p:txBody>
          <a:bodyPr wrap="square" lIns="64008" rIns="64008" tIns="18288" bIns="18288">
            <a:noAutofit/>
          </a:bodyPr>
          <a:lstStyle/>
          <a:p>
            <a:pPr algn="l">
              <a:lnSpc>
                <a:spcPct val="120000"/>
              </a:lnSpc>
              <a:spcAft>
                <a:spcPts val="900"/>
              </a:spcAft>
              <a:defRPr sz="1450" b="0" i="0">
                <a:solidFill>
                  <a:srgbClr val="333333"/>
                </a:solidFill>
                <a:latin typeface="Calibri"/>
              </a:defRPr>
            </a:pPr>
            <a:r>
              <a:t>•  Leakage control — NHOMNO (Pearson r = 0.98 with the target) and NHOMNO_TCBS excluded as restatements of the label, not as ordinary feature selection</a:t>
            </a:r>
          </a:p>
          <a:p>
            <a:pPr algn="l">
              <a:lnSpc>
                <a:spcPct val="120000"/>
              </a:lnSpc>
              <a:spcAft>
                <a:spcPts val="900"/>
              </a:spcAft>
              <a:defRPr sz="1450" b="0" i="0">
                <a:solidFill>
                  <a:srgbClr val="333333"/>
                </a:solidFill>
                <a:latin typeface="Calibri"/>
              </a:defRPr>
            </a:pPr>
            <a:r>
              <a:t>•  Redundancy — DUNO_QD, MJACCTTYPDESC and constant fields dropped →  13-variable admissible pool</a:t>
            </a:r>
          </a:p>
          <a:p>
            <a:pPr algn="l">
              <a:lnSpc>
                <a:spcPct val="120000"/>
              </a:lnSpc>
              <a:spcAft>
                <a:spcPts val="900"/>
              </a:spcAft>
              <a:defRPr sz="1450" b="0" i="0">
                <a:solidFill>
                  <a:srgbClr val="333333"/>
                </a:solidFill>
                <a:latin typeface="Calibri"/>
              </a:defRPr>
            </a:pPr>
            <a:r>
              <a:t>•  IV screening (Siddiqi 2006) — 5 variables above the IV = 1.0 leakage flag, each reviewed manually against an availability-at-scoring-time criterion, and retained</a:t>
            </a:r>
          </a:p>
          <a:p>
            <a:pPr algn="l">
              <a:lnSpc>
                <a:spcPct val="120000"/>
              </a:lnSpc>
              <a:spcAft>
                <a:spcPts val="900"/>
              </a:spcAft>
              <a:defRPr sz="1450" b="0" i="0">
                <a:solidFill>
                  <a:srgbClr val="333333"/>
                </a:solidFill>
                <a:latin typeface="Calibri"/>
              </a:defRPr>
            </a:pPr>
            <a:r>
              <a:t>•  Engineered — LOAN_TENURE_DAYS, DAYS_TO_MATURITY, UTIL_RATE (fixed reference date d₀ = 31 Dec 2021)</a:t>
            </a:r>
          </a:p>
          <a:p>
            <a:pPr algn="l">
              <a:lnSpc>
                <a:spcPct val="120000"/>
              </a:lnSpc>
              <a:spcAft>
                <a:spcPts val="900"/>
              </a:spcAft>
              <a:defRPr sz="1450" b="0" i="0">
                <a:solidFill>
                  <a:srgbClr val="333333"/>
                </a:solidFill>
                <a:latin typeface="Calibri"/>
              </a:defRPr>
            </a:pPr>
            <a:r>
              <a:t>•  Main configuration — 11 features (pool minus SEX and LOAIKH, both IV ≈ 0); the full 13-variable pool is kept for the top-k experiment</a:t>
            </a:r>
          </a:p>
          <a:p>
            <a:pPr algn="l">
              <a:lnSpc>
                <a:spcPct val="120000"/>
              </a:lnSpc>
              <a:spcAft>
                <a:spcPts val="700"/>
              </a:spcAft>
              <a:defRPr sz="1450" b="0" i="0">
                <a:solidFill>
                  <a:srgbClr val="333333"/>
                </a:solidFill>
                <a:latin typeface="Calibri"/>
              </a:defRPr>
            </a:pPr>
            <a:r>
              <a:t>•  All imputation and standardisation fitted on the training partition only</a:t>
            </a:r>
          </a:p>
        </p:txBody>
      </p:sp>
      <p:sp>
        <p:nvSpPr>
          <p:cNvPr id="7" name="Rectangle 6"/>
          <p:cNvSpPr/>
          <p:nvPr/>
        </p:nvSpPr>
        <p:spPr>
          <a:xfrm>
            <a:off x="6263640" y="1188720"/>
            <a:ext cx="13716" cy="4846320"/>
          </a:xfrm>
          <a:prstGeom prst="rect">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492240" y="1170432"/>
            <a:ext cx="5212080" cy="292608"/>
          </a:xfrm>
          <a:prstGeom prst="rect">
            <a:avLst/>
          </a:prstGeom>
          <a:noFill/>
        </p:spPr>
        <p:txBody>
          <a:bodyPr wrap="square" lIns="64008" rIns="64008" tIns="18288" bIns="18288">
            <a:noAutofit/>
          </a:bodyPr>
          <a:lstStyle/>
          <a:p>
            <a:pPr algn="l">
              <a:lnSpc>
                <a:spcPct val="124000"/>
              </a:lnSpc>
              <a:spcAft>
                <a:spcPts val="700"/>
              </a:spcAft>
              <a:defRPr sz="1700" b="1" i="0">
                <a:solidFill>
                  <a:srgbClr val="002B5C"/>
                </a:solidFill>
                <a:latin typeface="Calibri"/>
              </a:defRPr>
            </a:pPr>
            <a:r>
              <a:t>Modelling &amp; evaluation</a:t>
            </a:r>
          </a:p>
        </p:txBody>
      </p:sp>
      <p:sp>
        <p:nvSpPr>
          <p:cNvPr id="9" name="TextBox 8"/>
          <p:cNvSpPr txBox="1"/>
          <p:nvPr/>
        </p:nvSpPr>
        <p:spPr>
          <a:xfrm>
            <a:off x="6492240" y="1536192"/>
            <a:ext cx="5212080" cy="4297680"/>
          </a:xfrm>
          <a:prstGeom prst="rect">
            <a:avLst/>
          </a:prstGeom>
          <a:noFill/>
        </p:spPr>
        <p:txBody>
          <a:bodyPr wrap="square" lIns="64008" rIns="64008" tIns="18288" bIns="18288">
            <a:noAutofit/>
          </a:bodyPr>
          <a:lstStyle/>
          <a:p>
            <a:pPr algn="l">
              <a:lnSpc>
                <a:spcPct val="120000"/>
              </a:lnSpc>
              <a:spcAft>
                <a:spcPts val="300"/>
              </a:spcAft>
              <a:defRPr sz="1350" b="0" i="0">
                <a:solidFill>
                  <a:srgbClr val="333333"/>
                </a:solidFill>
                <a:latin typeface="Calibri"/>
              </a:defRPr>
            </a:pPr>
            <a:r>
              <a:t>•  6 classifiers × 2 imbalance treatments = 12 symmetric configurations</a:t>
            </a:r>
          </a:p>
          <a:p>
            <a:pPr algn="l">
              <a:lnSpc>
                <a:spcPct val="115000"/>
              </a:lnSpc>
              <a:spcAft>
                <a:spcPts val="200"/>
              </a:spcAft>
              <a:defRPr sz="1200" b="0" i="0">
                <a:solidFill>
                  <a:srgbClr val="666666"/>
                </a:solidFill>
                <a:latin typeface="Calibri"/>
              </a:defRPr>
            </a:pPr>
            <a:r>
              <a:t>     Logistic Regression, Decision Tree, Random Forest, XGBoost, LightGBM, CatBoost</a:t>
            </a:r>
          </a:p>
          <a:p>
            <a:pPr algn="l">
              <a:lnSpc>
                <a:spcPct val="115000"/>
              </a:lnSpc>
              <a:spcAft>
                <a:spcPts val="800"/>
              </a:spcAft>
              <a:defRPr sz="1200" b="0" i="0">
                <a:solidFill>
                  <a:srgbClr val="666666"/>
                </a:solidFill>
                <a:latin typeface="Calibri"/>
              </a:defRPr>
            </a:pPr>
            <a:r>
              <a:t>     inverse-frequency class weighting   vs.   no weighting</a:t>
            </a:r>
          </a:p>
          <a:p>
            <a:pPr algn="l">
              <a:lnSpc>
                <a:spcPct val="120000"/>
              </a:lnSpc>
              <a:spcAft>
                <a:spcPts val="800"/>
              </a:spcAft>
              <a:defRPr sz="1350" b="0" i="0">
                <a:solidFill>
                  <a:srgbClr val="333333"/>
                </a:solidFill>
                <a:latin typeface="Calibri"/>
              </a:defRPr>
            </a:pPr>
            <a:r>
              <a:t>•  Hyperparameters fixed a priori — no per-configuration tuning, so no evaluation partition is consumed by model selection</a:t>
            </a:r>
          </a:p>
          <a:p>
            <a:pPr algn="l">
              <a:lnSpc>
                <a:spcPct val="120000"/>
              </a:lnSpc>
              <a:spcAft>
                <a:spcPts val="800"/>
              </a:spcAft>
              <a:defRPr sz="1350" b="0" i="0">
                <a:solidFill>
                  <a:srgbClr val="333333"/>
                </a:solidFill>
                <a:latin typeface="Calibri"/>
              </a:defRPr>
            </a:pPr>
            <a:r>
              <a:t>•  SMOTE rejected — interpolating between encoded category codes has no contractual meaning</a:t>
            </a:r>
          </a:p>
          <a:p>
            <a:pPr algn="l">
              <a:lnSpc>
                <a:spcPct val="120000"/>
              </a:lnSpc>
              <a:spcAft>
                <a:spcPts val="800"/>
              </a:spcAft>
              <a:defRPr sz="1350" b="0" i="0">
                <a:solidFill>
                  <a:srgbClr val="333333"/>
                </a:solidFill>
                <a:latin typeface="Calibri"/>
              </a:defRPr>
            </a:pPr>
            <a:r>
              <a:t>•  Metrics — Accuracy, Macro-F1 (primary), Weighted-F1, macro OvR ROC-AUC</a:t>
            </a:r>
          </a:p>
          <a:p>
            <a:pPr algn="l">
              <a:lnSpc>
                <a:spcPct val="120000"/>
              </a:lnSpc>
              <a:spcAft>
                <a:spcPts val="800"/>
              </a:spcAft>
              <a:defRPr sz="1350" b="0" i="0">
                <a:solidFill>
                  <a:srgbClr val="333333"/>
                </a:solidFill>
                <a:latin typeface="Calibri"/>
              </a:defRPr>
            </a:pPr>
            <a:r>
              <a:t>•  20% hold-out  +  5-fold × 5-repeat CV, all 12 configurations on the identical 25 partitions</a:t>
            </a:r>
          </a:p>
          <a:p>
            <a:pPr algn="l">
              <a:lnSpc>
                <a:spcPct val="120000"/>
              </a:lnSpc>
              <a:spcAft>
                <a:spcPts val="700"/>
              </a:spcAft>
              <a:defRPr sz="1350" b="0" i="0">
                <a:solidFill>
                  <a:srgbClr val="333333"/>
                </a:solidFill>
                <a:latin typeface="Calibri"/>
              </a:defRPr>
            </a:pPr>
            <a:r>
              <a:t>•  Nadeau–Bengio corrected resampled paired t-test, with Holm adjustment</a:t>
            </a:r>
          </a:p>
        </p:txBody>
      </p:sp>
      <p:sp>
        <p:nvSpPr>
          <p:cNvPr id="10" name="Rectangle 9"/>
          <p:cNvSpPr/>
          <p:nvPr/>
        </p:nvSpPr>
        <p:spPr>
          <a:xfrm>
            <a:off x="548640" y="5943600"/>
            <a:ext cx="11155680" cy="713232"/>
          </a:xfrm>
          <a:prstGeom prst="rect">
            <a:avLst/>
          </a:prstGeom>
          <a:solidFill>
            <a:srgbClr val="D6E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31520" y="6053328"/>
            <a:ext cx="10789919" cy="493776"/>
          </a:xfrm>
          <a:prstGeom prst="rect">
            <a:avLst/>
          </a:prstGeom>
          <a:noFill/>
        </p:spPr>
        <p:txBody>
          <a:bodyPr wrap="square" lIns="64008" rIns="64008" tIns="18288" bIns="18288">
            <a:noAutofit/>
          </a:bodyPr>
          <a:lstStyle/>
          <a:p>
            <a:pPr algn="l">
              <a:lnSpc>
                <a:spcPct val="115000"/>
              </a:lnSpc>
              <a:spcAft>
                <a:spcPts val="700"/>
              </a:spcAft>
              <a:defRPr sz="1350" b="1" i="0">
                <a:solidFill>
                  <a:srgbClr val="002B5C"/>
                </a:solidFill>
                <a:latin typeface="Calibri"/>
              </a:defRPr>
            </a:pPr>
            <a:r>
              <a:t>Reporting both treatments for all six classifiers — rather than fixing one — is what makes the comparison symmetric: the imbalance treatment is part of the configuration being compared, not a fixed background assumption.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118872"/>
            <a:ext cx="10332720" cy="475488"/>
          </a:xfrm>
          <a:prstGeom prst="rect">
            <a:avLst/>
          </a:prstGeom>
          <a:noFill/>
        </p:spPr>
        <p:txBody>
          <a:bodyPr wrap="square" lIns="64008" rIns="64008" tIns="18288" bIns="18288">
            <a:noAutofit/>
          </a:bodyPr>
          <a:lstStyle/>
          <a:p>
            <a:pPr algn="l">
              <a:lnSpc>
                <a:spcPct val="105000"/>
              </a:lnSpc>
              <a:spcAft>
                <a:spcPts val="400"/>
              </a:spcAft>
              <a:defRPr sz="2800" b="1" i="0">
                <a:solidFill>
                  <a:srgbClr val="FFFFFF"/>
                </a:solidFill>
                <a:latin typeface="Calibri"/>
              </a:defRPr>
            </a:pPr>
            <a:r>
              <a:t>RQ1: Model Comparison — Hold-out Results</a:t>
            </a:r>
          </a:p>
        </p:txBody>
      </p:sp>
      <p:sp>
        <p:nvSpPr>
          <p:cNvPr id="4" name="TextBox 3"/>
          <p:cNvSpPr txBox="1"/>
          <p:nvPr/>
        </p:nvSpPr>
        <p:spPr>
          <a:xfrm>
            <a:off x="548640" y="621792"/>
            <a:ext cx="10332720" cy="329184"/>
          </a:xfrm>
          <a:prstGeom prst="rect">
            <a:avLst/>
          </a:prstGeom>
          <a:noFill/>
        </p:spPr>
        <p:txBody>
          <a:bodyPr wrap="square" lIns="64008" rIns="64008" tIns="18288" bIns="18288">
            <a:noAutofit/>
          </a:bodyPr>
          <a:lstStyle/>
          <a:p>
            <a:pPr algn="l">
              <a:lnSpc>
                <a:spcPct val="100000"/>
              </a:lnSpc>
              <a:spcAft>
                <a:spcPts val="400"/>
              </a:spcAft>
              <a:defRPr sz="1500" b="0" i="0">
                <a:solidFill>
                  <a:srgbClr val="BBDBF5"/>
                </a:solidFill>
                <a:latin typeface="Calibri"/>
              </a:defRPr>
            </a:pPr>
            <a:r>
              <a:t>Table 3 — 11-feature main configuration, stratified 20% hold-out</a:t>
            </a:r>
          </a:p>
        </p:txBody>
      </p:sp>
      <p:sp>
        <p:nvSpPr>
          <p:cNvPr id="5" name="TextBox 4"/>
          <p:cNvSpPr txBox="1"/>
          <p:nvPr/>
        </p:nvSpPr>
        <p:spPr>
          <a:xfrm>
            <a:off x="11201400" y="137160"/>
            <a:ext cx="777240" cy="365760"/>
          </a:xfrm>
          <a:prstGeom prst="rect">
            <a:avLst/>
          </a:prstGeom>
          <a:noFill/>
        </p:spPr>
        <p:txBody>
          <a:bodyPr wrap="square" lIns="64008" rIns="64008" tIns="18288" bIns="18288">
            <a:noAutofit/>
          </a:bodyPr>
          <a:lstStyle/>
          <a:p>
            <a:pPr algn="r">
              <a:spcAft>
                <a:spcPts val="400"/>
              </a:spcAft>
              <a:defRPr sz="1400" b="0" i="0">
                <a:solidFill>
                  <a:srgbClr val="FFFFFF"/>
                </a:solidFill>
                <a:latin typeface="Calibri"/>
              </a:defRPr>
            </a:pPr>
            <a:r>
              <a:t>7</a:t>
            </a:r>
          </a:p>
        </p:txBody>
      </p:sp>
      <p:graphicFrame>
        <p:nvGraphicFramePr>
          <p:cNvPr id="6" name="Table 5"/>
          <p:cNvGraphicFramePr>
            <a:graphicFrameLocks noGrp="1"/>
          </p:cNvGraphicFramePr>
          <p:nvPr/>
        </p:nvGraphicFramePr>
        <p:xfrm>
          <a:off x="548640" y="1097280"/>
          <a:ext cx="11064240" cy="4041648"/>
        </p:xfrm>
        <a:graphic>
          <a:graphicData uri="http://schemas.openxmlformats.org/drawingml/2006/table">
            <a:tbl>
              <a:tblPr firstRow="1" bandRow="1">
                <a:tableStyleId>{5C22544A-7EE6-4342-B048-85BDC9FD1C3A}</a:tableStyleId>
              </a:tblPr>
              <a:tblGrid>
                <a:gridCol w="2240280"/>
                <a:gridCol w="1828800"/>
                <a:gridCol w="1600200"/>
                <a:gridCol w="1737360"/>
                <a:gridCol w="1828800"/>
                <a:gridCol w="1828800"/>
              </a:tblGrid>
              <a:tr h="310896">
                <a:tc>
                  <a:txBody>
                    <a:bodyPr wrap="square"/>
                    <a:lstStyle/>
                    <a:p>
                      <a:pPr algn="ctr">
                        <a:defRPr sz="1250" b="1">
                          <a:solidFill>
                            <a:srgbClr val="FFFFFF"/>
                          </a:solidFill>
                          <a:latin typeface="Calibri"/>
                        </a:defRPr>
                      </a:pPr>
                      <a:r>
                        <a:t>Model</a:t>
                      </a:r>
                    </a:p>
                  </a:txBody>
                  <a:tcPr marL="45720" marR="45720" marT="9144" marB="9144" anchor="ctr">
                    <a:solidFill>
                      <a:srgbClr val="002B5C"/>
                    </a:solidFill>
                  </a:tcPr>
                </a:tc>
                <a:tc>
                  <a:txBody>
                    <a:bodyPr wrap="square"/>
                    <a:lstStyle/>
                    <a:p>
                      <a:pPr algn="ctr">
                        <a:defRPr sz="1250" b="1">
                          <a:solidFill>
                            <a:srgbClr val="FFFFFF"/>
                          </a:solidFill>
                          <a:latin typeface="Calibri"/>
                        </a:defRPr>
                      </a:pPr>
                      <a:r>
                        <a:t>Imbalance</a:t>
                      </a:r>
                    </a:p>
                    <a:p>
                      <a:pPr algn="ctr">
                        <a:defRPr sz="1250" b="1">
                          <a:solidFill>
                            <a:srgbClr val="FFFFFF"/>
                          </a:solidFill>
                          <a:latin typeface="Calibri"/>
                        </a:defRPr>
                      </a:pPr>
                      <a:r>
                        <a:t>treatment</a:t>
                      </a:r>
                    </a:p>
                  </a:txBody>
                  <a:tcPr marL="45720" marR="45720" marT="9144" marB="9144" anchor="ctr">
                    <a:solidFill>
                      <a:srgbClr val="002B5C"/>
                    </a:solidFill>
                  </a:tcPr>
                </a:tc>
                <a:tc>
                  <a:txBody>
                    <a:bodyPr wrap="square"/>
                    <a:lstStyle/>
                    <a:p>
                      <a:pPr algn="ctr">
                        <a:defRPr sz="1250" b="1">
                          <a:solidFill>
                            <a:srgbClr val="FFFFFF"/>
                          </a:solidFill>
                          <a:latin typeface="Calibri"/>
                        </a:defRPr>
                      </a:pPr>
                      <a:r>
                        <a:t>Accuracy</a:t>
                      </a:r>
                    </a:p>
                  </a:txBody>
                  <a:tcPr marL="45720" marR="45720" marT="9144" marB="9144" anchor="ctr">
                    <a:solidFill>
                      <a:srgbClr val="002B5C"/>
                    </a:solidFill>
                  </a:tcPr>
                </a:tc>
                <a:tc>
                  <a:txBody>
                    <a:bodyPr wrap="square"/>
                    <a:lstStyle/>
                    <a:p>
                      <a:pPr algn="ctr">
                        <a:defRPr sz="1250" b="1">
                          <a:solidFill>
                            <a:srgbClr val="FFFFFF"/>
                          </a:solidFill>
                          <a:latin typeface="Calibri"/>
                        </a:defRPr>
                      </a:pPr>
                      <a:r>
                        <a:t>Macro-F1</a:t>
                      </a:r>
                    </a:p>
                  </a:txBody>
                  <a:tcPr marL="45720" marR="45720" marT="9144" marB="9144" anchor="ctr">
                    <a:solidFill>
                      <a:srgbClr val="002B5C"/>
                    </a:solidFill>
                  </a:tcPr>
                </a:tc>
                <a:tc>
                  <a:txBody>
                    <a:bodyPr wrap="square"/>
                    <a:lstStyle/>
                    <a:p>
                      <a:pPr algn="ctr">
                        <a:defRPr sz="1250" b="1">
                          <a:solidFill>
                            <a:srgbClr val="FFFFFF"/>
                          </a:solidFill>
                          <a:latin typeface="Calibri"/>
                        </a:defRPr>
                      </a:pPr>
                      <a:r>
                        <a:t>Weighted-F1</a:t>
                      </a:r>
                    </a:p>
                  </a:txBody>
                  <a:tcPr marL="45720" marR="45720" marT="9144" marB="9144" anchor="ctr">
                    <a:solidFill>
                      <a:srgbClr val="002B5C"/>
                    </a:solidFill>
                  </a:tcPr>
                </a:tc>
                <a:tc>
                  <a:txBody>
                    <a:bodyPr wrap="square"/>
                    <a:lstStyle/>
                    <a:p>
                      <a:pPr algn="ctr">
                        <a:defRPr sz="1250" b="1">
                          <a:solidFill>
                            <a:srgbClr val="FFFFFF"/>
                          </a:solidFill>
                          <a:latin typeface="Calibri"/>
                        </a:defRPr>
                      </a:pPr>
                      <a:r>
                        <a:t>ROC-AUC</a:t>
                      </a:r>
                    </a:p>
                    <a:p>
                      <a:pPr algn="ctr">
                        <a:defRPr sz="1250" b="1">
                          <a:solidFill>
                            <a:srgbClr val="FFFFFF"/>
                          </a:solidFill>
                          <a:latin typeface="Calibri"/>
                        </a:defRPr>
                      </a:pPr>
                      <a:r>
                        <a:t>(macro)</a:t>
                      </a:r>
                    </a:p>
                  </a:txBody>
                  <a:tcPr marL="45720" marR="45720" marT="9144" marB="9144" anchor="ctr">
                    <a:solidFill>
                      <a:srgbClr val="002B5C"/>
                    </a:solidFill>
                  </a:tcPr>
                </a:tc>
              </a:tr>
              <a:tr h="310896">
                <a:tc>
                  <a:txBody>
                    <a:bodyPr wrap="square"/>
                    <a:lstStyle/>
                    <a:p>
                      <a:pPr algn="l">
                        <a:defRPr sz="1250" b="0">
                          <a:solidFill>
                            <a:srgbClr val="333333"/>
                          </a:solidFill>
                          <a:latin typeface="Calibri"/>
                        </a:defRPr>
                      </a:pPr>
                      <a:r>
                        <a:t>Logistic Regression</a:t>
                      </a:r>
                    </a:p>
                  </a:txBody>
                  <a:tcPr marL="45720" marR="45720" marT="9144" marB="9144" anchor="ctr"/>
                </a:tc>
                <a:tc>
                  <a:txBody>
                    <a:bodyPr wrap="square"/>
                    <a:lstStyle/>
                    <a:p>
                      <a:pPr algn="ctr">
                        <a:defRPr sz="1250" b="0">
                          <a:solidFill>
                            <a:srgbClr val="333333"/>
                          </a:solidFill>
                          <a:latin typeface="Calibri"/>
                        </a:defRPr>
                      </a:pPr>
                      <a:r>
                        <a:t>Class weighting</a:t>
                      </a:r>
                    </a:p>
                  </a:txBody>
                  <a:tcPr marL="45720" marR="45720" marT="9144" marB="9144" anchor="ctr"/>
                </a:tc>
                <a:tc>
                  <a:txBody>
                    <a:bodyPr wrap="square"/>
                    <a:lstStyle/>
                    <a:p>
                      <a:pPr algn="ctr">
                        <a:defRPr sz="1250" b="0">
                          <a:solidFill>
                            <a:srgbClr val="333333"/>
                          </a:solidFill>
                          <a:latin typeface="Calibri"/>
                        </a:defRPr>
                      </a:pPr>
                      <a:r>
                        <a:t>0.6091</a:t>
                      </a:r>
                    </a:p>
                  </a:txBody>
                  <a:tcPr marL="45720" marR="45720" marT="9144" marB="9144" anchor="ctr"/>
                </a:tc>
                <a:tc>
                  <a:txBody>
                    <a:bodyPr wrap="square"/>
                    <a:lstStyle/>
                    <a:p>
                      <a:pPr algn="ctr">
                        <a:defRPr sz="1250" b="0">
                          <a:solidFill>
                            <a:srgbClr val="333333"/>
                          </a:solidFill>
                          <a:latin typeface="Calibri"/>
                        </a:defRPr>
                      </a:pPr>
                      <a:r>
                        <a:t>0.3946</a:t>
                      </a:r>
                    </a:p>
                  </a:txBody>
                  <a:tcPr marL="45720" marR="45720" marT="9144" marB="9144" anchor="ctr"/>
                </a:tc>
                <a:tc>
                  <a:txBody>
                    <a:bodyPr wrap="square"/>
                    <a:lstStyle/>
                    <a:p>
                      <a:pPr algn="ctr">
                        <a:defRPr sz="1250" b="0">
                          <a:solidFill>
                            <a:srgbClr val="333333"/>
                          </a:solidFill>
                          <a:latin typeface="Calibri"/>
                        </a:defRPr>
                      </a:pPr>
                      <a:r>
                        <a:t>0.6886</a:t>
                      </a:r>
                    </a:p>
                  </a:txBody>
                  <a:tcPr marL="45720" marR="45720" marT="9144" marB="9144" anchor="ctr"/>
                </a:tc>
                <a:tc>
                  <a:txBody>
                    <a:bodyPr wrap="square"/>
                    <a:lstStyle/>
                    <a:p>
                      <a:pPr algn="ctr">
                        <a:defRPr sz="1250" b="0">
                          <a:solidFill>
                            <a:srgbClr val="333333"/>
                          </a:solidFill>
                          <a:latin typeface="Calibri"/>
                        </a:defRPr>
                      </a:pPr>
                      <a:r>
                        <a:t>0.7744</a:t>
                      </a:r>
                    </a:p>
                  </a:txBody>
                  <a:tcPr marL="45720" marR="45720" marT="9144" marB="9144" anchor="ctr"/>
                </a:tc>
              </a:tr>
              <a:tr h="310896">
                <a:tc>
                  <a:txBody>
                    <a:bodyPr wrap="square"/>
                    <a:lstStyle/>
                    <a:p>
                      <a:pPr algn="l">
                        <a:defRPr sz="1250" b="0">
                          <a:solidFill>
                            <a:srgbClr val="333333"/>
                          </a:solidFill>
                          <a:latin typeface="Calibri"/>
                        </a:defRPr>
                      </a:pPr>
                      <a:r>
                        <a:t>Logistic Regression</a:t>
                      </a:r>
                    </a:p>
                  </a:txBody>
                  <a:tcPr marL="45720" marR="45720" marT="9144" marB="9144" anchor="ctr">
                    <a:solidFill>
                      <a:srgbClr val="F2F2F2"/>
                    </a:solidFill>
                  </a:tcPr>
                </a:tc>
                <a:tc>
                  <a:txBody>
                    <a:bodyPr wrap="square"/>
                    <a:lstStyle/>
                    <a:p>
                      <a:pPr algn="ctr">
                        <a:defRPr sz="1250" b="0">
                          <a:solidFill>
                            <a:srgbClr val="333333"/>
                          </a:solidFill>
                          <a:latin typeface="Calibri"/>
                        </a:defRPr>
                      </a:pPr>
                      <a:r>
                        <a:t>No weighting</a:t>
                      </a:r>
                    </a:p>
                  </a:txBody>
                  <a:tcPr marL="45720" marR="45720" marT="9144" marB="9144" anchor="ctr">
                    <a:solidFill>
                      <a:srgbClr val="F2F2F2"/>
                    </a:solidFill>
                  </a:tcPr>
                </a:tc>
                <a:tc>
                  <a:txBody>
                    <a:bodyPr wrap="square"/>
                    <a:lstStyle/>
                    <a:p>
                      <a:pPr algn="ctr">
                        <a:defRPr sz="1250" b="0">
                          <a:solidFill>
                            <a:srgbClr val="333333"/>
                          </a:solidFill>
                          <a:latin typeface="Calibri"/>
                        </a:defRPr>
                      </a:pPr>
                      <a:r>
                        <a:t>0.8752</a:t>
                      </a:r>
                    </a:p>
                  </a:txBody>
                  <a:tcPr marL="45720" marR="45720" marT="9144" marB="9144" anchor="ctr">
                    <a:solidFill>
                      <a:srgbClr val="F2F2F2"/>
                    </a:solidFill>
                  </a:tcPr>
                </a:tc>
                <a:tc>
                  <a:txBody>
                    <a:bodyPr wrap="square"/>
                    <a:lstStyle/>
                    <a:p>
                      <a:pPr algn="ctr">
                        <a:defRPr sz="1250" b="0">
                          <a:solidFill>
                            <a:srgbClr val="333333"/>
                          </a:solidFill>
                          <a:latin typeface="Calibri"/>
                        </a:defRPr>
                      </a:pPr>
                      <a:r>
                        <a:t>0.3628</a:t>
                      </a:r>
                    </a:p>
                  </a:txBody>
                  <a:tcPr marL="45720" marR="45720" marT="9144" marB="9144" anchor="ctr">
                    <a:solidFill>
                      <a:srgbClr val="F2F2F2"/>
                    </a:solidFill>
                  </a:tcPr>
                </a:tc>
                <a:tc>
                  <a:txBody>
                    <a:bodyPr wrap="square"/>
                    <a:lstStyle/>
                    <a:p>
                      <a:pPr algn="ctr">
                        <a:defRPr sz="1250" b="0">
                          <a:solidFill>
                            <a:srgbClr val="333333"/>
                          </a:solidFill>
                          <a:latin typeface="Calibri"/>
                        </a:defRPr>
                      </a:pPr>
                      <a:r>
                        <a:t>0.8298</a:t>
                      </a:r>
                    </a:p>
                  </a:txBody>
                  <a:tcPr marL="45720" marR="45720" marT="9144" marB="9144" anchor="ctr">
                    <a:solidFill>
                      <a:srgbClr val="F2F2F2"/>
                    </a:solidFill>
                  </a:tcPr>
                </a:tc>
                <a:tc>
                  <a:txBody>
                    <a:bodyPr wrap="square"/>
                    <a:lstStyle/>
                    <a:p>
                      <a:pPr algn="ctr">
                        <a:defRPr sz="1250" b="0">
                          <a:solidFill>
                            <a:srgbClr val="333333"/>
                          </a:solidFill>
                          <a:latin typeface="Calibri"/>
                        </a:defRPr>
                      </a:pPr>
                      <a:r>
                        <a:t>0.8083</a:t>
                      </a:r>
                    </a:p>
                  </a:txBody>
                  <a:tcPr marL="45720" marR="45720" marT="9144" marB="9144" anchor="ctr">
                    <a:solidFill>
                      <a:srgbClr val="F2F2F2"/>
                    </a:solidFill>
                  </a:tcPr>
                </a:tc>
              </a:tr>
              <a:tr h="310896">
                <a:tc>
                  <a:txBody>
                    <a:bodyPr wrap="square"/>
                    <a:lstStyle/>
                    <a:p>
                      <a:pPr algn="l">
                        <a:defRPr sz="1250" b="0">
                          <a:solidFill>
                            <a:srgbClr val="333333"/>
                          </a:solidFill>
                          <a:latin typeface="Calibri"/>
                        </a:defRPr>
                      </a:pPr>
                      <a:r>
                        <a:t>Decision Tree</a:t>
                      </a:r>
                    </a:p>
                  </a:txBody>
                  <a:tcPr marL="45720" marR="45720" marT="9144" marB="9144" anchor="ctr"/>
                </a:tc>
                <a:tc>
                  <a:txBody>
                    <a:bodyPr wrap="square"/>
                    <a:lstStyle/>
                    <a:p>
                      <a:pPr algn="ctr">
                        <a:defRPr sz="1250" b="0">
                          <a:solidFill>
                            <a:srgbClr val="333333"/>
                          </a:solidFill>
                          <a:latin typeface="Calibri"/>
                        </a:defRPr>
                      </a:pPr>
                      <a:r>
                        <a:t>Class weighting</a:t>
                      </a:r>
                    </a:p>
                  </a:txBody>
                  <a:tcPr marL="45720" marR="45720" marT="9144" marB="9144" anchor="ctr"/>
                </a:tc>
                <a:tc>
                  <a:txBody>
                    <a:bodyPr wrap="square"/>
                    <a:lstStyle/>
                    <a:p>
                      <a:pPr algn="ctr">
                        <a:defRPr sz="1250" b="0">
                          <a:solidFill>
                            <a:srgbClr val="333333"/>
                          </a:solidFill>
                          <a:latin typeface="Calibri"/>
                        </a:defRPr>
                      </a:pPr>
                      <a:r>
                        <a:t>0.6441</a:t>
                      </a:r>
                    </a:p>
                  </a:txBody>
                  <a:tcPr marL="45720" marR="45720" marT="9144" marB="9144" anchor="ctr"/>
                </a:tc>
                <a:tc>
                  <a:txBody>
                    <a:bodyPr wrap="square"/>
                    <a:lstStyle/>
                    <a:p>
                      <a:pPr algn="ctr">
                        <a:defRPr sz="1250" b="0">
                          <a:solidFill>
                            <a:srgbClr val="333333"/>
                          </a:solidFill>
                          <a:latin typeface="Calibri"/>
                        </a:defRPr>
                      </a:pPr>
                      <a:r>
                        <a:t>0.4962</a:t>
                      </a:r>
                    </a:p>
                  </a:txBody>
                  <a:tcPr marL="45720" marR="45720" marT="9144" marB="9144" anchor="ctr"/>
                </a:tc>
                <a:tc>
                  <a:txBody>
                    <a:bodyPr wrap="square"/>
                    <a:lstStyle/>
                    <a:p>
                      <a:pPr algn="ctr">
                        <a:defRPr sz="1250" b="0">
                          <a:solidFill>
                            <a:srgbClr val="333333"/>
                          </a:solidFill>
                          <a:latin typeface="Calibri"/>
                        </a:defRPr>
                      </a:pPr>
                      <a:r>
                        <a:t>0.7243</a:t>
                      </a:r>
                    </a:p>
                  </a:txBody>
                  <a:tcPr marL="45720" marR="45720" marT="9144" marB="9144" anchor="ctr"/>
                </a:tc>
                <a:tc>
                  <a:txBody>
                    <a:bodyPr wrap="square"/>
                    <a:lstStyle/>
                    <a:p>
                      <a:pPr algn="ctr">
                        <a:defRPr sz="1250" b="0">
                          <a:solidFill>
                            <a:srgbClr val="333333"/>
                          </a:solidFill>
                          <a:latin typeface="Calibri"/>
                        </a:defRPr>
                      </a:pPr>
                      <a:r>
                        <a:t>0.8647</a:t>
                      </a:r>
                    </a:p>
                  </a:txBody>
                  <a:tcPr marL="45720" marR="45720" marT="9144" marB="9144" anchor="ctr"/>
                </a:tc>
              </a:tr>
              <a:tr h="310896">
                <a:tc>
                  <a:txBody>
                    <a:bodyPr wrap="square"/>
                    <a:lstStyle/>
                    <a:p>
                      <a:pPr algn="l">
                        <a:defRPr sz="1250" b="0">
                          <a:solidFill>
                            <a:srgbClr val="333333"/>
                          </a:solidFill>
                          <a:latin typeface="Calibri"/>
                        </a:defRPr>
                      </a:pPr>
                      <a:r>
                        <a:t>Decision Tree</a:t>
                      </a:r>
                    </a:p>
                  </a:txBody>
                  <a:tcPr marL="45720" marR="45720" marT="9144" marB="9144" anchor="ctr">
                    <a:solidFill>
                      <a:srgbClr val="F2F2F2"/>
                    </a:solidFill>
                  </a:tcPr>
                </a:tc>
                <a:tc>
                  <a:txBody>
                    <a:bodyPr wrap="square"/>
                    <a:lstStyle/>
                    <a:p>
                      <a:pPr algn="ctr">
                        <a:defRPr sz="1250" b="0">
                          <a:solidFill>
                            <a:srgbClr val="333333"/>
                          </a:solidFill>
                          <a:latin typeface="Calibri"/>
                        </a:defRPr>
                      </a:pPr>
                      <a:r>
                        <a:t>No weighting</a:t>
                      </a:r>
                    </a:p>
                  </a:txBody>
                  <a:tcPr marL="45720" marR="45720" marT="9144" marB="9144" anchor="ctr">
                    <a:solidFill>
                      <a:srgbClr val="F2F2F2"/>
                    </a:solidFill>
                  </a:tcPr>
                </a:tc>
                <a:tc>
                  <a:txBody>
                    <a:bodyPr wrap="square"/>
                    <a:lstStyle/>
                    <a:p>
                      <a:pPr algn="ctr">
                        <a:defRPr sz="1250" b="0">
                          <a:solidFill>
                            <a:srgbClr val="333333"/>
                          </a:solidFill>
                          <a:latin typeface="Calibri"/>
                        </a:defRPr>
                      </a:pPr>
                      <a:r>
                        <a:t>0.9082</a:t>
                      </a:r>
                    </a:p>
                  </a:txBody>
                  <a:tcPr marL="45720" marR="45720" marT="9144" marB="9144" anchor="ctr">
                    <a:solidFill>
                      <a:srgbClr val="F2F2F2"/>
                    </a:solidFill>
                  </a:tcPr>
                </a:tc>
                <a:tc>
                  <a:txBody>
                    <a:bodyPr wrap="square"/>
                    <a:lstStyle/>
                    <a:p>
                      <a:pPr algn="ctr">
                        <a:defRPr sz="1250" b="0">
                          <a:solidFill>
                            <a:srgbClr val="333333"/>
                          </a:solidFill>
                          <a:latin typeface="Calibri"/>
                        </a:defRPr>
                      </a:pPr>
                      <a:r>
                        <a:t>0.6245</a:t>
                      </a:r>
                    </a:p>
                  </a:txBody>
                  <a:tcPr marL="45720" marR="45720" marT="9144" marB="9144" anchor="ctr">
                    <a:solidFill>
                      <a:srgbClr val="F2F2F2"/>
                    </a:solidFill>
                  </a:tcPr>
                </a:tc>
                <a:tc>
                  <a:txBody>
                    <a:bodyPr wrap="square"/>
                    <a:lstStyle/>
                    <a:p>
                      <a:pPr algn="ctr">
                        <a:defRPr sz="1250" b="0">
                          <a:solidFill>
                            <a:srgbClr val="333333"/>
                          </a:solidFill>
                          <a:latin typeface="Calibri"/>
                        </a:defRPr>
                      </a:pPr>
                      <a:r>
                        <a:t>0.8907</a:t>
                      </a:r>
                    </a:p>
                  </a:txBody>
                  <a:tcPr marL="45720" marR="45720" marT="9144" marB="9144" anchor="ctr">
                    <a:solidFill>
                      <a:srgbClr val="F2F2F2"/>
                    </a:solidFill>
                  </a:tcPr>
                </a:tc>
                <a:tc>
                  <a:txBody>
                    <a:bodyPr wrap="square"/>
                    <a:lstStyle/>
                    <a:p>
                      <a:pPr algn="ctr">
                        <a:defRPr sz="1250" b="0">
                          <a:solidFill>
                            <a:srgbClr val="333333"/>
                          </a:solidFill>
                          <a:latin typeface="Calibri"/>
                        </a:defRPr>
                      </a:pPr>
                      <a:r>
                        <a:t>0.8921</a:t>
                      </a:r>
                    </a:p>
                  </a:txBody>
                  <a:tcPr marL="45720" marR="45720" marT="9144" marB="9144" anchor="ctr">
                    <a:solidFill>
                      <a:srgbClr val="F2F2F2"/>
                    </a:solidFill>
                  </a:tcPr>
                </a:tc>
              </a:tr>
              <a:tr h="310896">
                <a:tc>
                  <a:txBody>
                    <a:bodyPr wrap="square"/>
                    <a:lstStyle/>
                    <a:p>
                      <a:pPr algn="l">
                        <a:defRPr sz="1250" b="0">
                          <a:solidFill>
                            <a:srgbClr val="333333"/>
                          </a:solidFill>
                          <a:latin typeface="Calibri"/>
                        </a:defRPr>
                      </a:pPr>
                      <a:r>
                        <a:t>Random Forest</a:t>
                      </a:r>
                    </a:p>
                  </a:txBody>
                  <a:tcPr marL="45720" marR="45720" marT="9144" marB="9144" anchor="ctr"/>
                </a:tc>
                <a:tc>
                  <a:txBody>
                    <a:bodyPr wrap="square"/>
                    <a:lstStyle/>
                    <a:p>
                      <a:pPr algn="ctr">
                        <a:defRPr sz="1250" b="0">
                          <a:solidFill>
                            <a:srgbClr val="333333"/>
                          </a:solidFill>
                          <a:latin typeface="Calibri"/>
                        </a:defRPr>
                      </a:pPr>
                      <a:r>
                        <a:t>Class weighting</a:t>
                      </a:r>
                    </a:p>
                  </a:txBody>
                  <a:tcPr marL="45720" marR="45720" marT="9144" marB="9144" anchor="ctr"/>
                </a:tc>
                <a:tc>
                  <a:txBody>
                    <a:bodyPr wrap="square"/>
                    <a:lstStyle/>
                    <a:p>
                      <a:pPr algn="ctr">
                        <a:defRPr sz="1250" b="0">
                          <a:solidFill>
                            <a:srgbClr val="333333"/>
                          </a:solidFill>
                          <a:latin typeface="Calibri"/>
                        </a:defRPr>
                      </a:pPr>
                      <a:r>
                        <a:t>0.7784</a:t>
                      </a:r>
                    </a:p>
                  </a:txBody>
                  <a:tcPr marL="45720" marR="45720" marT="9144" marB="9144" anchor="ctr"/>
                </a:tc>
                <a:tc>
                  <a:txBody>
                    <a:bodyPr wrap="square"/>
                    <a:lstStyle/>
                    <a:p>
                      <a:pPr algn="ctr">
                        <a:defRPr sz="1250" b="0">
                          <a:solidFill>
                            <a:srgbClr val="333333"/>
                          </a:solidFill>
                          <a:latin typeface="Calibri"/>
                        </a:defRPr>
                      </a:pPr>
                      <a:r>
                        <a:t>0.5699</a:t>
                      </a:r>
                    </a:p>
                  </a:txBody>
                  <a:tcPr marL="45720" marR="45720" marT="9144" marB="9144" anchor="ctr"/>
                </a:tc>
                <a:tc>
                  <a:txBody>
                    <a:bodyPr wrap="square"/>
                    <a:lstStyle/>
                    <a:p>
                      <a:pPr algn="ctr">
                        <a:defRPr sz="1250" b="0">
                          <a:solidFill>
                            <a:srgbClr val="333333"/>
                          </a:solidFill>
                          <a:latin typeface="Calibri"/>
                        </a:defRPr>
                      </a:pPr>
                      <a:r>
                        <a:t>0.8229</a:t>
                      </a:r>
                    </a:p>
                  </a:txBody>
                  <a:tcPr marL="45720" marR="45720" marT="9144" marB="9144" anchor="ctr"/>
                </a:tc>
                <a:tc>
                  <a:txBody>
                    <a:bodyPr wrap="square"/>
                    <a:lstStyle/>
                    <a:p>
                      <a:pPr algn="ctr">
                        <a:defRPr sz="1250" b="0">
                          <a:solidFill>
                            <a:srgbClr val="333333"/>
                          </a:solidFill>
                          <a:latin typeface="Calibri"/>
                        </a:defRPr>
                      </a:pPr>
                      <a:r>
                        <a:t>0.9071</a:t>
                      </a:r>
                    </a:p>
                  </a:txBody>
                  <a:tcPr marL="45720" marR="45720" marT="9144" marB="9144" anchor="ctr"/>
                </a:tc>
              </a:tr>
              <a:tr h="310896">
                <a:tc>
                  <a:txBody>
                    <a:bodyPr wrap="square"/>
                    <a:lstStyle/>
                    <a:p>
                      <a:pPr algn="l">
                        <a:defRPr sz="1250" b="0">
                          <a:solidFill>
                            <a:srgbClr val="333333"/>
                          </a:solidFill>
                          <a:latin typeface="Calibri"/>
                        </a:defRPr>
                      </a:pPr>
                      <a:r>
                        <a:t>Random Forest</a:t>
                      </a:r>
                    </a:p>
                  </a:txBody>
                  <a:tcPr marL="45720" marR="45720" marT="9144" marB="9144" anchor="ctr">
                    <a:solidFill>
                      <a:srgbClr val="F2F2F2"/>
                    </a:solidFill>
                  </a:tcPr>
                </a:tc>
                <a:tc>
                  <a:txBody>
                    <a:bodyPr wrap="square"/>
                    <a:lstStyle/>
                    <a:p>
                      <a:pPr algn="ctr">
                        <a:defRPr sz="1250" b="0">
                          <a:solidFill>
                            <a:srgbClr val="333333"/>
                          </a:solidFill>
                          <a:latin typeface="Calibri"/>
                        </a:defRPr>
                      </a:pPr>
                      <a:r>
                        <a:t>No weighting</a:t>
                      </a:r>
                    </a:p>
                  </a:txBody>
                  <a:tcPr marL="45720" marR="45720" marT="9144" marB="9144" anchor="ctr">
                    <a:solidFill>
                      <a:srgbClr val="F2F2F2"/>
                    </a:solidFill>
                  </a:tcPr>
                </a:tc>
                <a:tc>
                  <a:txBody>
                    <a:bodyPr wrap="square"/>
                    <a:lstStyle/>
                    <a:p>
                      <a:pPr algn="ctr">
                        <a:defRPr sz="1250" b="0">
                          <a:solidFill>
                            <a:srgbClr val="333333"/>
                          </a:solidFill>
                          <a:latin typeface="Calibri"/>
                        </a:defRPr>
                      </a:pPr>
                      <a:r>
                        <a:t>0.9080</a:t>
                      </a:r>
                    </a:p>
                  </a:txBody>
                  <a:tcPr marL="45720" marR="45720" marT="9144" marB="9144" anchor="ctr">
                    <a:solidFill>
                      <a:srgbClr val="F2F2F2"/>
                    </a:solidFill>
                  </a:tcPr>
                </a:tc>
                <a:tc>
                  <a:txBody>
                    <a:bodyPr wrap="square"/>
                    <a:lstStyle/>
                    <a:p>
                      <a:pPr algn="ctr">
                        <a:defRPr sz="1250" b="0">
                          <a:solidFill>
                            <a:srgbClr val="333333"/>
                          </a:solidFill>
                          <a:latin typeface="Calibri"/>
                        </a:defRPr>
                      </a:pPr>
                      <a:r>
                        <a:t>0.6149</a:t>
                      </a:r>
                    </a:p>
                  </a:txBody>
                  <a:tcPr marL="45720" marR="45720" marT="9144" marB="9144" anchor="ctr">
                    <a:solidFill>
                      <a:srgbClr val="F2F2F2"/>
                    </a:solidFill>
                  </a:tcPr>
                </a:tc>
                <a:tc>
                  <a:txBody>
                    <a:bodyPr wrap="square"/>
                    <a:lstStyle/>
                    <a:p>
                      <a:pPr algn="ctr">
                        <a:defRPr sz="1250" b="0">
                          <a:solidFill>
                            <a:srgbClr val="333333"/>
                          </a:solidFill>
                          <a:latin typeface="Calibri"/>
                        </a:defRPr>
                      </a:pPr>
                      <a:r>
                        <a:t>0.8908</a:t>
                      </a:r>
                    </a:p>
                  </a:txBody>
                  <a:tcPr marL="45720" marR="45720" marT="9144" marB="9144" anchor="ctr">
                    <a:solidFill>
                      <a:srgbClr val="F2F2F2"/>
                    </a:solidFill>
                  </a:tcPr>
                </a:tc>
                <a:tc>
                  <a:txBody>
                    <a:bodyPr wrap="square"/>
                    <a:lstStyle/>
                    <a:p>
                      <a:pPr algn="ctr">
                        <a:defRPr sz="1250" b="0">
                          <a:solidFill>
                            <a:srgbClr val="333333"/>
                          </a:solidFill>
                          <a:latin typeface="Calibri"/>
                        </a:defRPr>
                      </a:pPr>
                      <a:r>
                        <a:t>0.9239</a:t>
                      </a:r>
                    </a:p>
                  </a:txBody>
                  <a:tcPr marL="45720" marR="45720" marT="9144" marB="9144" anchor="ctr">
                    <a:solidFill>
                      <a:srgbClr val="F2F2F2"/>
                    </a:solidFill>
                  </a:tcPr>
                </a:tc>
              </a:tr>
              <a:tr h="310896">
                <a:tc>
                  <a:txBody>
                    <a:bodyPr wrap="square"/>
                    <a:lstStyle/>
                    <a:p>
                      <a:pPr algn="l">
                        <a:defRPr sz="1250" b="0">
                          <a:solidFill>
                            <a:srgbClr val="333333"/>
                          </a:solidFill>
                          <a:latin typeface="Calibri"/>
                        </a:defRPr>
                      </a:pPr>
                      <a:r>
                        <a:t>XGBoost</a:t>
                      </a:r>
                    </a:p>
                  </a:txBody>
                  <a:tcPr marL="45720" marR="45720" marT="9144" marB="9144" anchor="ctr"/>
                </a:tc>
                <a:tc>
                  <a:txBody>
                    <a:bodyPr wrap="square"/>
                    <a:lstStyle/>
                    <a:p>
                      <a:pPr algn="ctr">
                        <a:defRPr sz="1250" b="0">
                          <a:solidFill>
                            <a:srgbClr val="333333"/>
                          </a:solidFill>
                          <a:latin typeface="Calibri"/>
                        </a:defRPr>
                      </a:pPr>
                      <a:r>
                        <a:t>Class weighting</a:t>
                      </a:r>
                    </a:p>
                  </a:txBody>
                  <a:tcPr marL="45720" marR="45720" marT="9144" marB="9144" anchor="ctr"/>
                </a:tc>
                <a:tc>
                  <a:txBody>
                    <a:bodyPr wrap="square"/>
                    <a:lstStyle/>
                    <a:p>
                      <a:pPr algn="ctr">
                        <a:defRPr sz="1250" b="0">
                          <a:solidFill>
                            <a:srgbClr val="333333"/>
                          </a:solidFill>
                          <a:latin typeface="Calibri"/>
                        </a:defRPr>
                      </a:pPr>
                      <a:r>
                        <a:t>0.8298</a:t>
                      </a:r>
                    </a:p>
                  </a:txBody>
                  <a:tcPr marL="45720" marR="45720" marT="9144" marB="9144" anchor="ctr"/>
                </a:tc>
                <a:tc>
                  <a:txBody>
                    <a:bodyPr wrap="square"/>
                    <a:lstStyle/>
                    <a:p>
                      <a:pPr algn="ctr">
                        <a:defRPr sz="1250" b="0">
                          <a:solidFill>
                            <a:srgbClr val="333333"/>
                          </a:solidFill>
                          <a:latin typeface="Calibri"/>
                        </a:defRPr>
                      </a:pPr>
                      <a:r>
                        <a:t>0.5966</a:t>
                      </a:r>
                    </a:p>
                  </a:txBody>
                  <a:tcPr marL="45720" marR="45720" marT="9144" marB="9144" anchor="ctr"/>
                </a:tc>
                <a:tc>
                  <a:txBody>
                    <a:bodyPr wrap="square"/>
                    <a:lstStyle/>
                    <a:p>
                      <a:pPr algn="ctr">
                        <a:defRPr sz="1250" b="0">
                          <a:solidFill>
                            <a:srgbClr val="333333"/>
                          </a:solidFill>
                          <a:latin typeface="Calibri"/>
                        </a:defRPr>
                      </a:pPr>
                      <a:r>
                        <a:t>0.8556</a:t>
                      </a:r>
                    </a:p>
                  </a:txBody>
                  <a:tcPr marL="45720" marR="45720" marT="9144" marB="9144" anchor="ctr"/>
                </a:tc>
                <a:tc>
                  <a:txBody>
                    <a:bodyPr wrap="square"/>
                    <a:lstStyle/>
                    <a:p>
                      <a:pPr algn="ctr">
                        <a:defRPr sz="1250" b="0">
                          <a:solidFill>
                            <a:srgbClr val="333333"/>
                          </a:solidFill>
                          <a:latin typeface="Calibri"/>
                        </a:defRPr>
                      </a:pPr>
                      <a:r>
                        <a:t>0.9147</a:t>
                      </a:r>
                    </a:p>
                  </a:txBody>
                  <a:tcPr marL="45720" marR="45720" marT="9144" marB="9144" anchor="ctr"/>
                </a:tc>
              </a:tr>
              <a:tr h="310896">
                <a:tc>
                  <a:txBody>
                    <a:bodyPr wrap="square"/>
                    <a:lstStyle/>
                    <a:p>
                      <a:pPr algn="l">
                        <a:defRPr sz="1250" b="0">
                          <a:solidFill>
                            <a:srgbClr val="333333"/>
                          </a:solidFill>
                          <a:latin typeface="Calibri"/>
                        </a:defRPr>
                      </a:pPr>
                      <a:r>
                        <a:t>XGBoost</a:t>
                      </a:r>
                    </a:p>
                  </a:txBody>
                  <a:tcPr marL="45720" marR="45720" marT="9144" marB="9144" anchor="ctr">
                    <a:solidFill>
                      <a:srgbClr val="F2F2F2"/>
                    </a:solidFill>
                  </a:tcPr>
                </a:tc>
                <a:tc>
                  <a:txBody>
                    <a:bodyPr wrap="square"/>
                    <a:lstStyle/>
                    <a:p>
                      <a:pPr algn="ctr">
                        <a:defRPr sz="1250" b="0">
                          <a:solidFill>
                            <a:srgbClr val="333333"/>
                          </a:solidFill>
                          <a:latin typeface="Calibri"/>
                        </a:defRPr>
                      </a:pPr>
                      <a:r>
                        <a:t>No weighting</a:t>
                      </a:r>
                    </a:p>
                  </a:txBody>
                  <a:tcPr marL="45720" marR="45720" marT="9144" marB="9144" anchor="ctr">
                    <a:solidFill>
                      <a:srgbClr val="F2F2F2"/>
                    </a:solidFill>
                  </a:tcPr>
                </a:tc>
                <a:tc>
                  <a:txBody>
                    <a:bodyPr wrap="square"/>
                    <a:lstStyle/>
                    <a:p>
                      <a:pPr algn="ctr">
                        <a:defRPr sz="1250" b="0">
                          <a:solidFill>
                            <a:srgbClr val="333333"/>
                          </a:solidFill>
                          <a:latin typeface="Calibri"/>
                        </a:defRPr>
                      </a:pPr>
                      <a:r>
                        <a:t>0.9113</a:t>
                      </a:r>
                    </a:p>
                  </a:txBody>
                  <a:tcPr marL="45720" marR="45720" marT="9144" marB="9144" anchor="ctr">
                    <a:solidFill>
                      <a:srgbClr val="F2F2F2"/>
                    </a:solidFill>
                  </a:tcPr>
                </a:tc>
                <a:tc>
                  <a:txBody>
                    <a:bodyPr wrap="square"/>
                    <a:lstStyle/>
                    <a:p>
                      <a:pPr algn="ctr">
                        <a:defRPr sz="1250" b="0">
                          <a:solidFill>
                            <a:srgbClr val="333333"/>
                          </a:solidFill>
                          <a:latin typeface="Calibri"/>
                        </a:defRPr>
                      </a:pPr>
                      <a:r>
                        <a:t>0.6197</a:t>
                      </a:r>
                    </a:p>
                  </a:txBody>
                  <a:tcPr marL="45720" marR="45720" marT="9144" marB="9144" anchor="ctr">
                    <a:solidFill>
                      <a:srgbClr val="F2F2F2"/>
                    </a:solidFill>
                  </a:tcPr>
                </a:tc>
                <a:tc>
                  <a:txBody>
                    <a:bodyPr wrap="square"/>
                    <a:lstStyle/>
                    <a:p>
                      <a:pPr algn="ctr">
                        <a:defRPr sz="1250" b="0">
                          <a:solidFill>
                            <a:srgbClr val="333333"/>
                          </a:solidFill>
                          <a:latin typeface="Calibri"/>
                        </a:defRPr>
                      </a:pPr>
                      <a:r>
                        <a:t>0.8942</a:t>
                      </a:r>
                    </a:p>
                  </a:txBody>
                  <a:tcPr marL="45720" marR="45720" marT="9144" marB="9144" anchor="ctr">
                    <a:solidFill>
                      <a:srgbClr val="F2F2F2"/>
                    </a:solidFill>
                  </a:tcPr>
                </a:tc>
                <a:tc>
                  <a:txBody>
                    <a:bodyPr wrap="square"/>
                    <a:lstStyle/>
                    <a:p>
                      <a:pPr algn="ctr">
                        <a:defRPr sz="1250" b="0">
                          <a:solidFill>
                            <a:srgbClr val="333333"/>
                          </a:solidFill>
                          <a:latin typeface="Calibri"/>
                        </a:defRPr>
                      </a:pPr>
                      <a:r>
                        <a:t>0.9282</a:t>
                      </a:r>
                    </a:p>
                  </a:txBody>
                  <a:tcPr marL="45720" marR="45720" marT="9144" marB="9144" anchor="ctr">
                    <a:solidFill>
                      <a:srgbClr val="F2F2F2"/>
                    </a:solidFill>
                  </a:tcPr>
                </a:tc>
              </a:tr>
              <a:tr h="310896">
                <a:tc>
                  <a:txBody>
                    <a:bodyPr wrap="square"/>
                    <a:lstStyle/>
                    <a:p>
                      <a:pPr algn="l">
                        <a:defRPr sz="1250" b="0">
                          <a:solidFill>
                            <a:srgbClr val="333333"/>
                          </a:solidFill>
                          <a:latin typeface="Calibri"/>
                        </a:defRPr>
                      </a:pPr>
                      <a:r>
                        <a:t>LightGBM</a:t>
                      </a:r>
                    </a:p>
                  </a:txBody>
                  <a:tcPr marL="45720" marR="45720" marT="9144" marB="9144" anchor="ctr"/>
                </a:tc>
                <a:tc>
                  <a:txBody>
                    <a:bodyPr wrap="square"/>
                    <a:lstStyle/>
                    <a:p>
                      <a:pPr algn="ctr">
                        <a:defRPr sz="1250" b="0">
                          <a:solidFill>
                            <a:srgbClr val="333333"/>
                          </a:solidFill>
                          <a:latin typeface="Calibri"/>
                        </a:defRPr>
                      </a:pPr>
                      <a:r>
                        <a:t>Class weighting</a:t>
                      </a:r>
                    </a:p>
                  </a:txBody>
                  <a:tcPr marL="45720" marR="45720" marT="9144" marB="9144" anchor="ctr"/>
                </a:tc>
                <a:tc>
                  <a:txBody>
                    <a:bodyPr wrap="square"/>
                    <a:lstStyle/>
                    <a:p>
                      <a:pPr algn="ctr">
                        <a:defRPr sz="1250" b="0">
                          <a:solidFill>
                            <a:srgbClr val="333333"/>
                          </a:solidFill>
                          <a:latin typeface="Calibri"/>
                        </a:defRPr>
                      </a:pPr>
                      <a:r>
                        <a:t>0.8548</a:t>
                      </a:r>
                    </a:p>
                  </a:txBody>
                  <a:tcPr marL="45720" marR="45720" marT="9144" marB="9144" anchor="ctr"/>
                </a:tc>
                <a:tc>
                  <a:txBody>
                    <a:bodyPr wrap="square"/>
                    <a:lstStyle/>
                    <a:p>
                      <a:pPr algn="ctr">
                        <a:defRPr sz="1250" b="0">
                          <a:solidFill>
                            <a:srgbClr val="333333"/>
                          </a:solidFill>
                          <a:latin typeface="Calibri"/>
                        </a:defRPr>
                      </a:pPr>
                      <a:r>
                        <a:t>0.6044</a:t>
                      </a:r>
                    </a:p>
                  </a:txBody>
                  <a:tcPr marL="45720" marR="45720" marT="9144" marB="9144" anchor="ctr"/>
                </a:tc>
                <a:tc>
                  <a:txBody>
                    <a:bodyPr wrap="square"/>
                    <a:lstStyle/>
                    <a:p>
                      <a:pPr algn="ctr">
                        <a:defRPr sz="1250" b="0">
                          <a:solidFill>
                            <a:srgbClr val="333333"/>
                          </a:solidFill>
                          <a:latin typeface="Calibri"/>
                        </a:defRPr>
                      </a:pPr>
                      <a:r>
                        <a:t>0.8713</a:t>
                      </a:r>
                    </a:p>
                  </a:txBody>
                  <a:tcPr marL="45720" marR="45720" marT="9144" marB="9144" anchor="ctr"/>
                </a:tc>
                <a:tc>
                  <a:txBody>
                    <a:bodyPr wrap="square"/>
                    <a:lstStyle/>
                    <a:p>
                      <a:pPr algn="ctr">
                        <a:defRPr sz="1250" b="0">
                          <a:solidFill>
                            <a:srgbClr val="333333"/>
                          </a:solidFill>
                          <a:latin typeface="Calibri"/>
                        </a:defRPr>
                      </a:pPr>
                      <a:r>
                        <a:t>0.9128</a:t>
                      </a:r>
                    </a:p>
                  </a:txBody>
                  <a:tcPr marL="45720" marR="45720" marT="9144" marB="9144" anchor="ctr"/>
                </a:tc>
              </a:tr>
              <a:tr h="310896">
                <a:tc>
                  <a:txBody>
                    <a:bodyPr wrap="square"/>
                    <a:lstStyle/>
                    <a:p>
                      <a:pPr algn="l">
                        <a:defRPr sz="1250" b="1">
                          <a:solidFill>
                            <a:srgbClr val="333333"/>
                          </a:solidFill>
                          <a:latin typeface="Calibri"/>
                        </a:defRPr>
                      </a:pPr>
                      <a:r>
                        <a:t>LightGBM</a:t>
                      </a:r>
                    </a:p>
                  </a:txBody>
                  <a:tcPr marL="45720" marR="45720" marT="9144" marB="9144" anchor="ctr">
                    <a:solidFill>
                      <a:srgbClr val="DDEECC"/>
                    </a:solidFill>
                  </a:tcPr>
                </a:tc>
                <a:tc>
                  <a:txBody>
                    <a:bodyPr wrap="square"/>
                    <a:lstStyle/>
                    <a:p>
                      <a:pPr algn="ctr">
                        <a:defRPr sz="1250" b="1">
                          <a:solidFill>
                            <a:srgbClr val="333333"/>
                          </a:solidFill>
                          <a:latin typeface="Calibri"/>
                        </a:defRPr>
                      </a:pPr>
                      <a:r>
                        <a:t>No weighting</a:t>
                      </a:r>
                    </a:p>
                  </a:txBody>
                  <a:tcPr marL="45720" marR="45720" marT="9144" marB="9144" anchor="ctr">
                    <a:solidFill>
                      <a:srgbClr val="DDEECC"/>
                    </a:solidFill>
                  </a:tcPr>
                </a:tc>
                <a:tc>
                  <a:txBody>
                    <a:bodyPr wrap="square"/>
                    <a:lstStyle/>
                    <a:p>
                      <a:pPr algn="ctr">
                        <a:defRPr sz="1250" b="1">
                          <a:solidFill>
                            <a:srgbClr val="333333"/>
                          </a:solidFill>
                          <a:latin typeface="Calibri"/>
                        </a:defRPr>
                      </a:pPr>
                      <a:r>
                        <a:t>0.9113</a:t>
                      </a:r>
                    </a:p>
                  </a:txBody>
                  <a:tcPr marL="45720" marR="45720" marT="9144" marB="9144" anchor="ctr">
                    <a:solidFill>
                      <a:srgbClr val="DDEECC"/>
                    </a:solidFill>
                  </a:tcPr>
                </a:tc>
                <a:tc>
                  <a:txBody>
                    <a:bodyPr wrap="square"/>
                    <a:lstStyle/>
                    <a:p>
                      <a:pPr algn="ctr">
                        <a:defRPr sz="1250" b="1">
                          <a:solidFill>
                            <a:srgbClr val="333333"/>
                          </a:solidFill>
                          <a:latin typeface="Calibri"/>
                        </a:defRPr>
                      </a:pPr>
                      <a:r>
                        <a:t>0.6248</a:t>
                      </a:r>
                    </a:p>
                  </a:txBody>
                  <a:tcPr marL="45720" marR="45720" marT="9144" marB="9144" anchor="ctr">
                    <a:solidFill>
                      <a:srgbClr val="DDEECC"/>
                    </a:solidFill>
                  </a:tcPr>
                </a:tc>
                <a:tc>
                  <a:txBody>
                    <a:bodyPr wrap="square"/>
                    <a:lstStyle/>
                    <a:p>
                      <a:pPr algn="ctr">
                        <a:defRPr sz="1250" b="1">
                          <a:solidFill>
                            <a:srgbClr val="333333"/>
                          </a:solidFill>
                          <a:latin typeface="Calibri"/>
                        </a:defRPr>
                      </a:pPr>
                      <a:r>
                        <a:t>0.8954</a:t>
                      </a:r>
                    </a:p>
                  </a:txBody>
                  <a:tcPr marL="45720" marR="45720" marT="9144" marB="9144" anchor="ctr">
                    <a:solidFill>
                      <a:srgbClr val="DDEECC"/>
                    </a:solidFill>
                  </a:tcPr>
                </a:tc>
                <a:tc>
                  <a:txBody>
                    <a:bodyPr wrap="square"/>
                    <a:lstStyle/>
                    <a:p>
                      <a:pPr algn="ctr">
                        <a:defRPr sz="1250" b="1">
                          <a:solidFill>
                            <a:srgbClr val="333333"/>
                          </a:solidFill>
                          <a:latin typeface="Calibri"/>
                        </a:defRPr>
                      </a:pPr>
                      <a:r>
                        <a:t>0.9246</a:t>
                      </a:r>
                    </a:p>
                  </a:txBody>
                  <a:tcPr marL="45720" marR="45720" marT="9144" marB="9144" anchor="ctr">
                    <a:solidFill>
                      <a:srgbClr val="DDEECC"/>
                    </a:solidFill>
                  </a:tcPr>
                </a:tc>
              </a:tr>
              <a:tr h="310896">
                <a:tc>
                  <a:txBody>
                    <a:bodyPr wrap="square"/>
                    <a:lstStyle/>
                    <a:p>
                      <a:pPr algn="l">
                        <a:defRPr sz="1250" b="0">
                          <a:solidFill>
                            <a:srgbClr val="333333"/>
                          </a:solidFill>
                          <a:latin typeface="Calibri"/>
                        </a:defRPr>
                      </a:pPr>
                      <a:r>
                        <a:t>CatBoost</a:t>
                      </a:r>
                    </a:p>
                  </a:txBody>
                  <a:tcPr marL="45720" marR="45720" marT="9144" marB="9144" anchor="ctr"/>
                </a:tc>
                <a:tc>
                  <a:txBody>
                    <a:bodyPr wrap="square"/>
                    <a:lstStyle/>
                    <a:p>
                      <a:pPr algn="ctr">
                        <a:defRPr sz="1250" b="0">
                          <a:solidFill>
                            <a:srgbClr val="333333"/>
                          </a:solidFill>
                          <a:latin typeface="Calibri"/>
                        </a:defRPr>
                      </a:pPr>
                      <a:r>
                        <a:t>Class weighting</a:t>
                      </a:r>
                    </a:p>
                  </a:txBody>
                  <a:tcPr marL="45720" marR="45720" marT="9144" marB="9144" anchor="ctr"/>
                </a:tc>
                <a:tc>
                  <a:txBody>
                    <a:bodyPr wrap="square"/>
                    <a:lstStyle/>
                    <a:p>
                      <a:pPr algn="ctr">
                        <a:defRPr sz="1250" b="0">
                          <a:solidFill>
                            <a:srgbClr val="333333"/>
                          </a:solidFill>
                          <a:latin typeface="Calibri"/>
                        </a:defRPr>
                      </a:pPr>
                      <a:r>
                        <a:t>0.7730</a:t>
                      </a:r>
                    </a:p>
                  </a:txBody>
                  <a:tcPr marL="45720" marR="45720" marT="9144" marB="9144" anchor="ctr"/>
                </a:tc>
                <a:tc>
                  <a:txBody>
                    <a:bodyPr wrap="square"/>
                    <a:lstStyle/>
                    <a:p>
                      <a:pPr algn="ctr">
                        <a:defRPr sz="1250" b="0">
                          <a:solidFill>
                            <a:srgbClr val="333333"/>
                          </a:solidFill>
                          <a:latin typeface="Calibri"/>
                        </a:defRPr>
                      </a:pPr>
                      <a:r>
                        <a:t>0.5460</a:t>
                      </a:r>
                    </a:p>
                  </a:txBody>
                  <a:tcPr marL="45720" marR="45720" marT="9144" marB="9144" anchor="ctr"/>
                </a:tc>
                <a:tc>
                  <a:txBody>
                    <a:bodyPr wrap="square"/>
                    <a:lstStyle/>
                    <a:p>
                      <a:pPr algn="ctr">
                        <a:defRPr sz="1250" b="0">
                          <a:solidFill>
                            <a:srgbClr val="333333"/>
                          </a:solidFill>
                          <a:latin typeface="Calibri"/>
                        </a:defRPr>
                      </a:pPr>
                      <a:r>
                        <a:t>0.8192</a:t>
                      </a:r>
                    </a:p>
                  </a:txBody>
                  <a:tcPr marL="45720" marR="45720" marT="9144" marB="9144" anchor="ctr"/>
                </a:tc>
                <a:tc>
                  <a:txBody>
                    <a:bodyPr wrap="square"/>
                    <a:lstStyle/>
                    <a:p>
                      <a:pPr algn="ctr">
                        <a:defRPr sz="1250" b="0">
                          <a:solidFill>
                            <a:srgbClr val="333333"/>
                          </a:solidFill>
                          <a:latin typeface="Calibri"/>
                        </a:defRPr>
                      </a:pPr>
                      <a:r>
                        <a:t>0.9062</a:t>
                      </a:r>
                    </a:p>
                  </a:txBody>
                  <a:tcPr marL="45720" marR="45720" marT="9144" marB="9144" anchor="ctr"/>
                </a:tc>
              </a:tr>
              <a:tr h="310896">
                <a:tc>
                  <a:txBody>
                    <a:bodyPr wrap="square"/>
                    <a:lstStyle/>
                    <a:p>
                      <a:pPr algn="l">
                        <a:defRPr sz="1250" b="0">
                          <a:solidFill>
                            <a:srgbClr val="333333"/>
                          </a:solidFill>
                          <a:latin typeface="Calibri"/>
                        </a:defRPr>
                      </a:pPr>
                      <a:r>
                        <a:t>CatBoost</a:t>
                      </a:r>
                    </a:p>
                  </a:txBody>
                  <a:tcPr marL="45720" marR="45720" marT="9144" marB="9144" anchor="ctr">
                    <a:solidFill>
                      <a:srgbClr val="F2F2F2"/>
                    </a:solidFill>
                  </a:tcPr>
                </a:tc>
                <a:tc>
                  <a:txBody>
                    <a:bodyPr wrap="square"/>
                    <a:lstStyle/>
                    <a:p>
                      <a:pPr algn="ctr">
                        <a:defRPr sz="1250" b="0">
                          <a:solidFill>
                            <a:srgbClr val="333333"/>
                          </a:solidFill>
                          <a:latin typeface="Calibri"/>
                        </a:defRPr>
                      </a:pPr>
                      <a:r>
                        <a:t>No weighting</a:t>
                      </a:r>
                    </a:p>
                  </a:txBody>
                  <a:tcPr marL="45720" marR="45720" marT="9144" marB="9144" anchor="ctr">
                    <a:solidFill>
                      <a:srgbClr val="F2F2F2"/>
                    </a:solidFill>
                  </a:tcPr>
                </a:tc>
                <a:tc>
                  <a:txBody>
                    <a:bodyPr wrap="square"/>
                    <a:lstStyle/>
                    <a:p>
                      <a:pPr algn="ctr">
                        <a:defRPr sz="1250" b="0">
                          <a:solidFill>
                            <a:srgbClr val="333333"/>
                          </a:solidFill>
                          <a:latin typeface="Calibri"/>
                        </a:defRPr>
                      </a:pPr>
                      <a:r>
                        <a:t>0.9093</a:t>
                      </a:r>
                    </a:p>
                  </a:txBody>
                  <a:tcPr marL="45720" marR="45720" marT="9144" marB="9144" anchor="ctr">
                    <a:solidFill>
                      <a:srgbClr val="F2F2F2"/>
                    </a:solidFill>
                  </a:tcPr>
                </a:tc>
                <a:tc>
                  <a:txBody>
                    <a:bodyPr wrap="square"/>
                    <a:lstStyle/>
                    <a:p>
                      <a:pPr algn="ctr">
                        <a:defRPr sz="1250" b="0">
                          <a:solidFill>
                            <a:srgbClr val="333333"/>
                          </a:solidFill>
                          <a:latin typeface="Calibri"/>
                        </a:defRPr>
                      </a:pPr>
                      <a:r>
                        <a:t>0.6074</a:t>
                      </a:r>
                    </a:p>
                  </a:txBody>
                  <a:tcPr marL="45720" marR="45720" marT="9144" marB="9144" anchor="ctr">
                    <a:solidFill>
                      <a:srgbClr val="F2F2F2"/>
                    </a:solidFill>
                  </a:tcPr>
                </a:tc>
                <a:tc>
                  <a:txBody>
                    <a:bodyPr wrap="square"/>
                    <a:lstStyle/>
                    <a:p>
                      <a:pPr algn="ctr">
                        <a:defRPr sz="1250" b="0">
                          <a:solidFill>
                            <a:srgbClr val="333333"/>
                          </a:solidFill>
                          <a:latin typeface="Calibri"/>
                        </a:defRPr>
                      </a:pPr>
                      <a:r>
                        <a:t>0.8911</a:t>
                      </a:r>
                    </a:p>
                  </a:txBody>
                  <a:tcPr marL="45720" marR="45720" marT="9144" marB="9144" anchor="ctr">
                    <a:solidFill>
                      <a:srgbClr val="F2F2F2"/>
                    </a:solidFill>
                  </a:tcPr>
                </a:tc>
                <a:tc>
                  <a:txBody>
                    <a:bodyPr wrap="square"/>
                    <a:lstStyle/>
                    <a:p>
                      <a:pPr algn="ctr">
                        <a:defRPr sz="1250" b="0">
                          <a:solidFill>
                            <a:srgbClr val="333333"/>
                          </a:solidFill>
                          <a:latin typeface="Calibri"/>
                        </a:defRPr>
                      </a:pPr>
                      <a:r>
                        <a:t>0.9235</a:t>
                      </a:r>
                    </a:p>
                  </a:txBody>
                  <a:tcPr marL="45720" marR="45720" marT="9144" marB="9144" anchor="ctr">
                    <a:solidFill>
                      <a:srgbClr val="F2F2F2"/>
                    </a:solidFill>
                  </a:tcPr>
                </a:tc>
              </a:tr>
            </a:tbl>
          </a:graphicData>
        </a:graphic>
      </p:graphicFrame>
      <p:sp>
        <p:nvSpPr>
          <p:cNvPr id="7" name="TextBox 6"/>
          <p:cNvSpPr txBox="1"/>
          <p:nvPr/>
        </p:nvSpPr>
        <p:spPr>
          <a:xfrm>
            <a:off x="548640" y="5230368"/>
            <a:ext cx="11064240" cy="1417320"/>
          </a:xfrm>
          <a:prstGeom prst="rect">
            <a:avLst/>
          </a:prstGeom>
          <a:noFill/>
        </p:spPr>
        <p:txBody>
          <a:bodyPr wrap="square" lIns="64008" rIns="64008" tIns="18288" bIns="18288">
            <a:noAutofit/>
          </a:bodyPr>
          <a:lstStyle/>
          <a:p>
            <a:pPr algn="l">
              <a:lnSpc>
                <a:spcPct val="120000"/>
              </a:lnSpc>
              <a:spcAft>
                <a:spcPts val="600"/>
              </a:spcAft>
              <a:defRPr sz="1500" b="1" i="0">
                <a:solidFill>
                  <a:srgbClr val="0070C0"/>
                </a:solidFill>
                <a:latin typeface="Calibri"/>
              </a:defRPr>
            </a:pPr>
            <a:r>
              <a:t>Turning class weighting off raises Macro-F1 for all five tree-based models, by 0.0204 to 0.1283 points. Logistic Regression is the sole exception — and trails every tree configuration either way.</a:t>
            </a:r>
          </a:p>
          <a:p>
            <a:pPr algn="l">
              <a:lnSpc>
                <a:spcPct val="120000"/>
              </a:lnSpc>
              <a:spcAft>
                <a:spcPts val="700"/>
              </a:spcAft>
              <a:defRPr sz="1400" b="0" i="0">
                <a:solidFill>
                  <a:srgbClr val="333333"/>
                </a:solidFill>
                <a:latin typeface="Calibri"/>
              </a:defRPr>
            </a:pPr>
            <a:r>
              <a:t>LightGBM–none leads at 0.6248 — but Decision Tree–none reaches 0.6245 on the same split, too close for one split to resolve. Accuracy misleads badly here: CatBoost is 0.9093 unweighted against 0.7730 weighted, a gap that reflects the 77.65% Group-1 majority more than any genuine gain on the risky groups.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118872"/>
            <a:ext cx="10332720" cy="475488"/>
          </a:xfrm>
          <a:prstGeom prst="rect">
            <a:avLst/>
          </a:prstGeom>
          <a:noFill/>
        </p:spPr>
        <p:txBody>
          <a:bodyPr wrap="square" lIns="64008" rIns="64008" tIns="18288" bIns="18288">
            <a:noAutofit/>
          </a:bodyPr>
          <a:lstStyle/>
          <a:p>
            <a:pPr algn="l">
              <a:lnSpc>
                <a:spcPct val="105000"/>
              </a:lnSpc>
              <a:spcAft>
                <a:spcPts val="400"/>
              </a:spcAft>
              <a:defRPr sz="2800" b="1" i="0">
                <a:solidFill>
                  <a:srgbClr val="FFFFFF"/>
                </a:solidFill>
                <a:latin typeface="Calibri"/>
              </a:defRPr>
            </a:pPr>
            <a:r>
              <a:t>RQ1: The Precision–Recall Trade-off</a:t>
            </a:r>
          </a:p>
        </p:txBody>
      </p:sp>
      <p:sp>
        <p:nvSpPr>
          <p:cNvPr id="4" name="TextBox 3"/>
          <p:cNvSpPr txBox="1"/>
          <p:nvPr/>
        </p:nvSpPr>
        <p:spPr>
          <a:xfrm>
            <a:off x="548640" y="621792"/>
            <a:ext cx="10332720" cy="329184"/>
          </a:xfrm>
          <a:prstGeom prst="rect">
            <a:avLst/>
          </a:prstGeom>
          <a:noFill/>
        </p:spPr>
        <p:txBody>
          <a:bodyPr wrap="square" lIns="64008" rIns="64008" tIns="18288" bIns="18288">
            <a:noAutofit/>
          </a:bodyPr>
          <a:lstStyle/>
          <a:p>
            <a:pPr algn="l">
              <a:lnSpc>
                <a:spcPct val="100000"/>
              </a:lnSpc>
              <a:spcAft>
                <a:spcPts val="400"/>
              </a:spcAft>
              <a:defRPr sz="1500" b="0" i="0">
                <a:solidFill>
                  <a:srgbClr val="BBDBF5"/>
                </a:solidFill>
                <a:latin typeface="Calibri"/>
              </a:defRPr>
            </a:pPr>
            <a:r>
              <a:t>Table 5 — LightGBM, no weighting vs. class weighting (hold-out set)</a:t>
            </a:r>
          </a:p>
        </p:txBody>
      </p:sp>
      <p:sp>
        <p:nvSpPr>
          <p:cNvPr id="5" name="TextBox 4"/>
          <p:cNvSpPr txBox="1"/>
          <p:nvPr/>
        </p:nvSpPr>
        <p:spPr>
          <a:xfrm>
            <a:off x="11201400" y="137160"/>
            <a:ext cx="777240" cy="365760"/>
          </a:xfrm>
          <a:prstGeom prst="rect">
            <a:avLst/>
          </a:prstGeom>
          <a:noFill/>
        </p:spPr>
        <p:txBody>
          <a:bodyPr wrap="square" lIns="64008" rIns="64008" tIns="18288" bIns="18288">
            <a:noAutofit/>
          </a:bodyPr>
          <a:lstStyle/>
          <a:p>
            <a:pPr algn="r">
              <a:spcAft>
                <a:spcPts val="400"/>
              </a:spcAft>
              <a:defRPr sz="1400" b="0" i="0">
                <a:solidFill>
                  <a:srgbClr val="FFFFFF"/>
                </a:solidFill>
                <a:latin typeface="Calibri"/>
              </a:defRPr>
            </a:pPr>
            <a:r>
              <a:t>8</a:t>
            </a:r>
          </a:p>
        </p:txBody>
      </p:sp>
      <p:graphicFrame>
        <p:nvGraphicFramePr>
          <p:cNvPr id="6" name="Table 5"/>
          <p:cNvGraphicFramePr>
            <a:graphicFrameLocks noGrp="1"/>
          </p:cNvGraphicFramePr>
          <p:nvPr/>
        </p:nvGraphicFramePr>
        <p:xfrm>
          <a:off x="548640" y="1188720"/>
          <a:ext cx="11064240" cy="2816352"/>
        </p:xfrm>
        <a:graphic>
          <a:graphicData uri="http://schemas.openxmlformats.org/drawingml/2006/table">
            <a:tbl>
              <a:tblPr firstRow="1" bandRow="1">
                <a:tableStyleId>{5C22544A-7EE6-4342-B048-85BDC9FD1C3A}</a:tableStyleId>
              </a:tblPr>
              <a:tblGrid>
                <a:gridCol w="2651760"/>
                <a:gridCol w="1399032"/>
                <a:gridCol w="1399032"/>
                <a:gridCol w="1399032"/>
                <a:gridCol w="1399032"/>
                <a:gridCol w="1408176"/>
                <a:gridCol w="1408176"/>
              </a:tblGrid>
              <a:tr h="402336">
                <a:tc>
                  <a:txBody>
                    <a:bodyPr wrap="square"/>
                    <a:lstStyle/>
                    <a:p>
                      <a:pPr algn="ctr">
                        <a:defRPr sz="1300" b="1">
                          <a:solidFill>
                            <a:srgbClr val="FFFFFF"/>
                          </a:solidFill>
                          <a:latin typeface="Calibri"/>
                        </a:defRPr>
                      </a:pPr>
                      <a:r>
                        <a:t>Debt group</a:t>
                      </a:r>
                    </a:p>
                  </a:txBody>
                  <a:tcPr marL="45720" marR="45720" marT="9144" marB="9144" anchor="ctr">
                    <a:solidFill>
                      <a:srgbClr val="002B5C"/>
                    </a:solidFill>
                  </a:tcPr>
                </a:tc>
                <a:tc>
                  <a:txBody>
                    <a:bodyPr wrap="square"/>
                    <a:lstStyle/>
                    <a:p>
                      <a:pPr algn="ctr">
                        <a:defRPr sz="1300" b="1">
                          <a:solidFill>
                            <a:srgbClr val="FFFFFF"/>
                          </a:solidFill>
                          <a:latin typeface="Calibri"/>
                        </a:defRPr>
                      </a:pPr>
                      <a:r>
                        <a:t>Prec.</a:t>
                      </a:r>
                    </a:p>
                    <a:p>
                      <a:pPr algn="ctr">
                        <a:defRPr sz="1300" b="1">
                          <a:solidFill>
                            <a:srgbClr val="FFFFFF"/>
                          </a:solidFill>
                          <a:latin typeface="Calibri"/>
                        </a:defRPr>
                      </a:pPr>
                      <a:r>
                        <a:t>(none)</a:t>
                      </a:r>
                    </a:p>
                  </a:txBody>
                  <a:tcPr marL="45720" marR="45720" marT="9144" marB="9144" anchor="ctr">
                    <a:solidFill>
                      <a:srgbClr val="002B5C"/>
                    </a:solidFill>
                  </a:tcPr>
                </a:tc>
                <a:tc>
                  <a:txBody>
                    <a:bodyPr wrap="square"/>
                    <a:lstStyle/>
                    <a:p>
                      <a:pPr algn="ctr">
                        <a:defRPr sz="1300" b="1">
                          <a:solidFill>
                            <a:srgbClr val="FFFFFF"/>
                          </a:solidFill>
                          <a:latin typeface="Calibri"/>
                        </a:defRPr>
                      </a:pPr>
                      <a:r>
                        <a:t>Recall</a:t>
                      </a:r>
                    </a:p>
                    <a:p>
                      <a:pPr algn="ctr">
                        <a:defRPr sz="1300" b="1">
                          <a:solidFill>
                            <a:srgbClr val="FFFFFF"/>
                          </a:solidFill>
                          <a:latin typeface="Calibri"/>
                        </a:defRPr>
                      </a:pPr>
                      <a:r>
                        <a:t>(none)</a:t>
                      </a:r>
                    </a:p>
                  </a:txBody>
                  <a:tcPr marL="45720" marR="45720" marT="9144" marB="9144" anchor="ctr">
                    <a:solidFill>
                      <a:srgbClr val="002B5C"/>
                    </a:solidFill>
                  </a:tcPr>
                </a:tc>
                <a:tc>
                  <a:txBody>
                    <a:bodyPr wrap="square"/>
                    <a:lstStyle/>
                    <a:p>
                      <a:pPr algn="ctr">
                        <a:defRPr sz="1300" b="1">
                          <a:solidFill>
                            <a:srgbClr val="FFFFFF"/>
                          </a:solidFill>
                          <a:latin typeface="Calibri"/>
                        </a:defRPr>
                      </a:pPr>
                      <a:r>
                        <a:t>F1</a:t>
                      </a:r>
                    </a:p>
                    <a:p>
                      <a:pPr algn="ctr">
                        <a:defRPr sz="1300" b="1">
                          <a:solidFill>
                            <a:srgbClr val="FFFFFF"/>
                          </a:solidFill>
                          <a:latin typeface="Calibri"/>
                        </a:defRPr>
                      </a:pPr>
                      <a:r>
                        <a:t>(none)</a:t>
                      </a:r>
                    </a:p>
                  </a:txBody>
                  <a:tcPr marL="45720" marR="45720" marT="9144" marB="9144" anchor="ctr">
                    <a:solidFill>
                      <a:srgbClr val="002B5C"/>
                    </a:solidFill>
                  </a:tcPr>
                </a:tc>
                <a:tc>
                  <a:txBody>
                    <a:bodyPr wrap="square"/>
                    <a:lstStyle/>
                    <a:p>
                      <a:pPr algn="ctr">
                        <a:defRPr sz="1300" b="1">
                          <a:solidFill>
                            <a:srgbClr val="FFFFFF"/>
                          </a:solidFill>
                          <a:latin typeface="Calibri"/>
                        </a:defRPr>
                      </a:pPr>
                      <a:r>
                        <a:t>Prec.</a:t>
                      </a:r>
                    </a:p>
                    <a:p>
                      <a:pPr algn="ctr">
                        <a:defRPr sz="1300" b="1">
                          <a:solidFill>
                            <a:srgbClr val="FFFFFF"/>
                          </a:solidFill>
                          <a:latin typeface="Calibri"/>
                        </a:defRPr>
                      </a:pPr>
                      <a:r>
                        <a:t>(wt.)</a:t>
                      </a:r>
                    </a:p>
                  </a:txBody>
                  <a:tcPr marL="45720" marR="45720" marT="9144" marB="9144" anchor="ctr">
                    <a:solidFill>
                      <a:srgbClr val="002B5C"/>
                    </a:solidFill>
                  </a:tcPr>
                </a:tc>
                <a:tc>
                  <a:txBody>
                    <a:bodyPr wrap="square"/>
                    <a:lstStyle/>
                    <a:p>
                      <a:pPr algn="ctr">
                        <a:defRPr sz="1300" b="1">
                          <a:solidFill>
                            <a:srgbClr val="FFFFFF"/>
                          </a:solidFill>
                          <a:latin typeface="Calibri"/>
                        </a:defRPr>
                      </a:pPr>
                      <a:r>
                        <a:t>Recall</a:t>
                      </a:r>
                    </a:p>
                    <a:p>
                      <a:pPr algn="ctr">
                        <a:defRPr sz="1300" b="1">
                          <a:solidFill>
                            <a:srgbClr val="FFFFFF"/>
                          </a:solidFill>
                          <a:latin typeface="Calibri"/>
                        </a:defRPr>
                      </a:pPr>
                      <a:r>
                        <a:t>(wt.)</a:t>
                      </a:r>
                    </a:p>
                  </a:txBody>
                  <a:tcPr marL="45720" marR="45720" marT="9144" marB="9144" anchor="ctr">
                    <a:solidFill>
                      <a:srgbClr val="002B5C"/>
                    </a:solidFill>
                  </a:tcPr>
                </a:tc>
                <a:tc>
                  <a:txBody>
                    <a:bodyPr wrap="square"/>
                    <a:lstStyle/>
                    <a:p>
                      <a:pPr algn="ctr">
                        <a:defRPr sz="1300" b="1">
                          <a:solidFill>
                            <a:srgbClr val="FFFFFF"/>
                          </a:solidFill>
                          <a:latin typeface="Calibri"/>
                        </a:defRPr>
                      </a:pPr>
                      <a:r>
                        <a:t>F1</a:t>
                      </a:r>
                    </a:p>
                    <a:p>
                      <a:pPr algn="ctr">
                        <a:defRPr sz="1300" b="1">
                          <a:solidFill>
                            <a:srgbClr val="FFFFFF"/>
                          </a:solidFill>
                          <a:latin typeface="Calibri"/>
                        </a:defRPr>
                      </a:pPr>
                      <a:r>
                        <a:t>(wt.)</a:t>
                      </a:r>
                    </a:p>
                  </a:txBody>
                  <a:tcPr marL="45720" marR="45720" marT="9144" marB="9144" anchor="ctr">
                    <a:solidFill>
                      <a:srgbClr val="002B5C"/>
                    </a:solidFill>
                  </a:tcPr>
                </a:tc>
              </a:tr>
              <a:tr h="402336">
                <a:tc>
                  <a:txBody>
                    <a:bodyPr wrap="square"/>
                    <a:lstStyle/>
                    <a:p>
                      <a:pPr algn="l">
                        <a:defRPr sz="1300" b="0">
                          <a:solidFill>
                            <a:srgbClr val="333333"/>
                          </a:solidFill>
                          <a:latin typeface="Calibri"/>
                        </a:defRPr>
                      </a:pPr>
                      <a:r>
                        <a:t>1 — Standard</a:t>
                      </a:r>
                    </a:p>
                  </a:txBody>
                  <a:tcPr marL="45720" marR="45720" marT="9144" marB="9144" anchor="ctr"/>
                </a:tc>
                <a:tc>
                  <a:txBody>
                    <a:bodyPr wrap="square"/>
                    <a:lstStyle/>
                    <a:p>
                      <a:pPr algn="ctr">
                        <a:defRPr sz="1300" b="0">
                          <a:solidFill>
                            <a:srgbClr val="333333"/>
                          </a:solidFill>
                          <a:latin typeface="Calibri"/>
                        </a:defRPr>
                      </a:pPr>
                      <a:r>
                        <a:t>0.921</a:t>
                      </a:r>
                    </a:p>
                  </a:txBody>
                  <a:tcPr marL="45720" marR="45720" marT="9144" marB="9144" anchor="ctr"/>
                </a:tc>
                <a:tc>
                  <a:txBody>
                    <a:bodyPr wrap="square"/>
                    <a:lstStyle/>
                    <a:p>
                      <a:pPr algn="ctr">
                        <a:defRPr sz="1300" b="0">
                          <a:solidFill>
                            <a:srgbClr val="333333"/>
                          </a:solidFill>
                          <a:latin typeface="Calibri"/>
                        </a:defRPr>
                      </a:pPr>
                      <a:r>
                        <a:t>0.990</a:t>
                      </a:r>
                    </a:p>
                  </a:txBody>
                  <a:tcPr marL="45720" marR="45720" marT="9144" marB="9144" anchor="ctr"/>
                </a:tc>
                <a:tc>
                  <a:txBody>
                    <a:bodyPr wrap="square"/>
                    <a:lstStyle/>
                    <a:p>
                      <a:pPr algn="ctr">
                        <a:defRPr sz="1300" b="0">
                          <a:solidFill>
                            <a:srgbClr val="333333"/>
                          </a:solidFill>
                          <a:latin typeface="Calibri"/>
                        </a:defRPr>
                      </a:pPr>
                      <a:r>
                        <a:t>0.954</a:t>
                      </a:r>
                    </a:p>
                  </a:txBody>
                  <a:tcPr marL="45720" marR="45720" marT="9144" marB="9144" anchor="ctr"/>
                </a:tc>
                <a:tc>
                  <a:txBody>
                    <a:bodyPr wrap="square"/>
                    <a:lstStyle/>
                    <a:p>
                      <a:pPr algn="ctr">
                        <a:defRPr sz="1300" b="0">
                          <a:solidFill>
                            <a:srgbClr val="333333"/>
                          </a:solidFill>
                          <a:latin typeface="Calibri"/>
                        </a:defRPr>
                      </a:pPr>
                      <a:r>
                        <a:t>0.958</a:t>
                      </a:r>
                    </a:p>
                  </a:txBody>
                  <a:tcPr marL="45720" marR="45720" marT="9144" marB="9144" anchor="ctr"/>
                </a:tc>
                <a:tc>
                  <a:txBody>
                    <a:bodyPr wrap="square"/>
                    <a:lstStyle/>
                    <a:p>
                      <a:pPr algn="ctr">
                        <a:defRPr sz="1300" b="0">
                          <a:solidFill>
                            <a:srgbClr val="333333"/>
                          </a:solidFill>
                          <a:latin typeface="Calibri"/>
                        </a:defRPr>
                      </a:pPr>
                      <a:r>
                        <a:t>0.895</a:t>
                      </a:r>
                    </a:p>
                  </a:txBody>
                  <a:tcPr marL="45720" marR="45720" marT="9144" marB="9144" anchor="ctr"/>
                </a:tc>
                <a:tc>
                  <a:txBody>
                    <a:bodyPr wrap="square"/>
                    <a:lstStyle/>
                    <a:p>
                      <a:pPr algn="ctr">
                        <a:defRPr sz="1300" b="0">
                          <a:solidFill>
                            <a:srgbClr val="333333"/>
                          </a:solidFill>
                          <a:latin typeface="Calibri"/>
                        </a:defRPr>
                      </a:pPr>
                      <a:r>
                        <a:t>0.926</a:t>
                      </a:r>
                    </a:p>
                  </a:txBody>
                  <a:tcPr marL="45720" marR="45720" marT="9144" marB="9144" anchor="ctr"/>
                </a:tc>
              </a:tr>
              <a:tr h="402336">
                <a:tc>
                  <a:txBody>
                    <a:bodyPr wrap="square"/>
                    <a:lstStyle/>
                    <a:p>
                      <a:pPr algn="l">
                        <a:defRPr sz="1300" b="0">
                          <a:solidFill>
                            <a:srgbClr val="333333"/>
                          </a:solidFill>
                          <a:latin typeface="Calibri"/>
                        </a:defRPr>
                      </a:pPr>
                      <a:r>
                        <a:t>2 — Special mention</a:t>
                      </a:r>
                    </a:p>
                  </a:txBody>
                  <a:tcPr marL="45720" marR="45720" marT="9144" marB="9144" anchor="ctr">
                    <a:solidFill>
                      <a:srgbClr val="F2F2F2"/>
                    </a:solidFill>
                  </a:tcPr>
                </a:tc>
                <a:tc>
                  <a:txBody>
                    <a:bodyPr wrap="square"/>
                    <a:lstStyle/>
                    <a:p>
                      <a:pPr algn="ctr">
                        <a:defRPr sz="1300" b="0">
                          <a:solidFill>
                            <a:srgbClr val="333333"/>
                          </a:solidFill>
                          <a:latin typeface="Calibri"/>
                        </a:defRPr>
                      </a:pPr>
                      <a:r>
                        <a:t>0.603</a:t>
                      </a:r>
                    </a:p>
                  </a:txBody>
                  <a:tcPr marL="45720" marR="45720" marT="9144" marB="9144" anchor="ctr">
                    <a:solidFill>
                      <a:srgbClr val="F2F2F2"/>
                    </a:solidFill>
                  </a:tcPr>
                </a:tc>
                <a:tc>
                  <a:txBody>
                    <a:bodyPr wrap="square"/>
                    <a:lstStyle/>
                    <a:p>
                      <a:pPr algn="ctr">
                        <a:defRPr sz="1300" b="0">
                          <a:solidFill>
                            <a:srgbClr val="333333"/>
                          </a:solidFill>
                          <a:latin typeface="Calibri"/>
                        </a:defRPr>
                      </a:pPr>
                      <a:r>
                        <a:t>0.183</a:t>
                      </a:r>
                    </a:p>
                  </a:txBody>
                  <a:tcPr marL="45720" marR="45720" marT="9144" marB="9144" anchor="ctr">
                    <a:solidFill>
                      <a:srgbClr val="F2F2F2"/>
                    </a:solidFill>
                  </a:tcPr>
                </a:tc>
                <a:tc>
                  <a:txBody>
                    <a:bodyPr wrap="square"/>
                    <a:lstStyle/>
                    <a:p>
                      <a:pPr algn="ctr">
                        <a:defRPr sz="1300" b="0">
                          <a:solidFill>
                            <a:srgbClr val="333333"/>
                          </a:solidFill>
                          <a:latin typeface="Calibri"/>
                        </a:defRPr>
                      </a:pPr>
                      <a:r>
                        <a:t>0.281</a:t>
                      </a:r>
                    </a:p>
                  </a:txBody>
                  <a:tcPr marL="45720" marR="45720" marT="9144" marB="9144" anchor="ctr">
                    <a:solidFill>
                      <a:srgbClr val="F2F2F2"/>
                    </a:solidFill>
                  </a:tcPr>
                </a:tc>
                <a:tc>
                  <a:txBody>
                    <a:bodyPr wrap="square"/>
                    <a:lstStyle/>
                    <a:p>
                      <a:pPr algn="ctr">
                        <a:defRPr sz="1300" b="0">
                          <a:solidFill>
                            <a:srgbClr val="333333"/>
                          </a:solidFill>
                          <a:latin typeface="Calibri"/>
                        </a:defRPr>
                      </a:pPr>
                      <a:r>
                        <a:t>0.245</a:t>
                      </a:r>
                    </a:p>
                  </a:txBody>
                  <a:tcPr marL="45720" marR="45720" marT="9144" marB="9144" anchor="ctr">
                    <a:solidFill>
                      <a:srgbClr val="F2F2F2"/>
                    </a:solidFill>
                  </a:tcPr>
                </a:tc>
                <a:tc>
                  <a:txBody>
                    <a:bodyPr wrap="square"/>
                    <a:lstStyle/>
                    <a:p>
                      <a:pPr algn="ctr">
                        <a:defRPr sz="1300" b="0">
                          <a:solidFill>
                            <a:srgbClr val="333333"/>
                          </a:solidFill>
                          <a:latin typeface="Calibri"/>
                        </a:defRPr>
                      </a:pPr>
                      <a:r>
                        <a:t>0.471</a:t>
                      </a:r>
                    </a:p>
                  </a:txBody>
                  <a:tcPr marL="45720" marR="45720" marT="9144" marB="9144" anchor="ctr">
                    <a:solidFill>
                      <a:srgbClr val="F2F2F2"/>
                    </a:solidFill>
                  </a:tcPr>
                </a:tc>
                <a:tc>
                  <a:txBody>
                    <a:bodyPr wrap="square"/>
                    <a:lstStyle/>
                    <a:p>
                      <a:pPr algn="ctr">
                        <a:defRPr sz="1300" b="0">
                          <a:solidFill>
                            <a:srgbClr val="333333"/>
                          </a:solidFill>
                          <a:latin typeface="Calibri"/>
                        </a:defRPr>
                      </a:pPr>
                      <a:r>
                        <a:t>0.323</a:t>
                      </a:r>
                    </a:p>
                  </a:txBody>
                  <a:tcPr marL="45720" marR="45720" marT="9144" marB="9144" anchor="ctr">
                    <a:solidFill>
                      <a:srgbClr val="F2F2F2"/>
                    </a:solidFill>
                  </a:tcPr>
                </a:tc>
              </a:tr>
              <a:tr h="402336">
                <a:tc>
                  <a:txBody>
                    <a:bodyPr wrap="square"/>
                    <a:lstStyle/>
                    <a:p>
                      <a:pPr algn="l">
                        <a:defRPr sz="1300" b="0">
                          <a:solidFill>
                            <a:srgbClr val="333333"/>
                          </a:solidFill>
                          <a:latin typeface="Calibri"/>
                        </a:defRPr>
                      </a:pPr>
                      <a:r>
                        <a:t>3 — Sub-standard</a:t>
                      </a:r>
                    </a:p>
                  </a:txBody>
                  <a:tcPr marL="45720" marR="45720" marT="9144" marB="9144" anchor="ctr"/>
                </a:tc>
                <a:tc>
                  <a:txBody>
                    <a:bodyPr wrap="square"/>
                    <a:lstStyle/>
                    <a:p>
                      <a:pPr algn="ctr">
                        <a:defRPr sz="1300" b="0">
                          <a:solidFill>
                            <a:srgbClr val="333333"/>
                          </a:solidFill>
                          <a:latin typeface="Calibri"/>
                        </a:defRPr>
                      </a:pPr>
                      <a:r>
                        <a:t>0.613</a:t>
                      </a:r>
                    </a:p>
                  </a:txBody>
                  <a:tcPr marL="45720" marR="45720" marT="9144" marB="9144" anchor="ctr"/>
                </a:tc>
                <a:tc>
                  <a:txBody>
                    <a:bodyPr wrap="square"/>
                    <a:lstStyle/>
                    <a:p>
                      <a:pPr algn="ctr">
                        <a:defRPr sz="1300" b="0">
                          <a:solidFill>
                            <a:srgbClr val="333333"/>
                          </a:solidFill>
                          <a:latin typeface="Calibri"/>
                        </a:defRPr>
                      </a:pPr>
                      <a:r>
                        <a:t>0.314</a:t>
                      </a:r>
                    </a:p>
                  </a:txBody>
                  <a:tcPr marL="45720" marR="45720" marT="9144" marB="9144" anchor="ctr"/>
                </a:tc>
                <a:tc>
                  <a:txBody>
                    <a:bodyPr wrap="square"/>
                    <a:lstStyle/>
                    <a:p>
                      <a:pPr algn="ctr">
                        <a:defRPr sz="1300" b="0">
                          <a:solidFill>
                            <a:srgbClr val="333333"/>
                          </a:solidFill>
                          <a:latin typeface="Calibri"/>
                        </a:defRPr>
                      </a:pPr>
                      <a:r>
                        <a:t>0.415</a:t>
                      </a:r>
                    </a:p>
                  </a:txBody>
                  <a:tcPr marL="45720" marR="45720" marT="9144" marB="9144" anchor="ctr"/>
                </a:tc>
                <a:tc>
                  <a:txBody>
                    <a:bodyPr wrap="square"/>
                    <a:lstStyle/>
                    <a:p>
                      <a:pPr algn="ctr">
                        <a:defRPr sz="1300" b="0">
                          <a:solidFill>
                            <a:srgbClr val="333333"/>
                          </a:solidFill>
                          <a:latin typeface="Calibri"/>
                        </a:defRPr>
                      </a:pPr>
                      <a:r>
                        <a:t>0.350</a:t>
                      </a:r>
                    </a:p>
                  </a:txBody>
                  <a:tcPr marL="45720" marR="45720" marT="9144" marB="9144" anchor="ctr"/>
                </a:tc>
                <a:tc>
                  <a:txBody>
                    <a:bodyPr wrap="square"/>
                    <a:lstStyle/>
                    <a:p>
                      <a:pPr algn="ctr">
                        <a:defRPr sz="1300" b="0">
                          <a:solidFill>
                            <a:srgbClr val="333333"/>
                          </a:solidFill>
                          <a:latin typeface="Calibri"/>
                        </a:defRPr>
                      </a:pPr>
                      <a:r>
                        <a:t>0.413</a:t>
                      </a:r>
                    </a:p>
                  </a:txBody>
                  <a:tcPr marL="45720" marR="45720" marT="9144" marB="9144" anchor="ctr"/>
                </a:tc>
                <a:tc>
                  <a:txBody>
                    <a:bodyPr wrap="square"/>
                    <a:lstStyle/>
                    <a:p>
                      <a:pPr algn="ctr">
                        <a:defRPr sz="1300" b="0">
                          <a:solidFill>
                            <a:srgbClr val="333333"/>
                          </a:solidFill>
                          <a:latin typeface="Calibri"/>
                        </a:defRPr>
                      </a:pPr>
                      <a:r>
                        <a:t>0.379</a:t>
                      </a:r>
                    </a:p>
                  </a:txBody>
                  <a:tcPr marL="45720" marR="45720" marT="9144" marB="9144" anchor="ctr"/>
                </a:tc>
              </a:tr>
              <a:tr h="402336">
                <a:tc>
                  <a:txBody>
                    <a:bodyPr wrap="square"/>
                    <a:lstStyle/>
                    <a:p>
                      <a:pPr algn="l">
                        <a:defRPr sz="1300" b="0">
                          <a:solidFill>
                            <a:srgbClr val="333333"/>
                          </a:solidFill>
                          <a:latin typeface="Calibri"/>
                        </a:defRPr>
                      </a:pPr>
                      <a:r>
                        <a:t>4 — Doubtful</a:t>
                      </a:r>
                    </a:p>
                  </a:txBody>
                  <a:tcPr marL="45720" marR="45720" marT="9144" marB="9144" anchor="ctr">
                    <a:solidFill>
                      <a:srgbClr val="F2F2F2"/>
                    </a:solidFill>
                  </a:tcPr>
                </a:tc>
                <a:tc>
                  <a:txBody>
                    <a:bodyPr wrap="square"/>
                    <a:lstStyle/>
                    <a:p>
                      <a:pPr algn="ctr">
                        <a:defRPr sz="1300" b="0">
                          <a:solidFill>
                            <a:srgbClr val="333333"/>
                          </a:solidFill>
                          <a:latin typeface="Calibri"/>
                        </a:defRPr>
                      </a:pPr>
                      <a:r>
                        <a:t>0.652</a:t>
                      </a:r>
                    </a:p>
                  </a:txBody>
                  <a:tcPr marL="45720" marR="45720" marT="9144" marB="9144" anchor="ctr">
                    <a:solidFill>
                      <a:srgbClr val="F2F2F2"/>
                    </a:solidFill>
                  </a:tcPr>
                </a:tc>
                <a:tc>
                  <a:txBody>
                    <a:bodyPr wrap="square"/>
                    <a:lstStyle/>
                    <a:p>
                      <a:pPr algn="ctr">
                        <a:defRPr sz="1300" b="0">
                          <a:solidFill>
                            <a:srgbClr val="333333"/>
                          </a:solidFill>
                          <a:latin typeface="Calibri"/>
                        </a:defRPr>
                      </a:pPr>
                      <a:r>
                        <a:t>0.465</a:t>
                      </a:r>
                    </a:p>
                  </a:txBody>
                  <a:tcPr marL="45720" marR="45720" marT="9144" marB="9144" anchor="ctr">
                    <a:solidFill>
                      <a:srgbClr val="F2F2F2"/>
                    </a:solidFill>
                  </a:tcPr>
                </a:tc>
                <a:tc>
                  <a:txBody>
                    <a:bodyPr wrap="square"/>
                    <a:lstStyle/>
                    <a:p>
                      <a:pPr algn="ctr">
                        <a:defRPr sz="1300" b="0">
                          <a:solidFill>
                            <a:srgbClr val="333333"/>
                          </a:solidFill>
                          <a:latin typeface="Calibri"/>
                        </a:defRPr>
                      </a:pPr>
                      <a:r>
                        <a:t>0.543</a:t>
                      </a:r>
                    </a:p>
                  </a:txBody>
                  <a:tcPr marL="45720" marR="45720" marT="9144" marB="9144" anchor="ctr">
                    <a:solidFill>
                      <a:srgbClr val="F2F2F2"/>
                    </a:solidFill>
                  </a:tcPr>
                </a:tc>
                <a:tc>
                  <a:txBody>
                    <a:bodyPr wrap="square"/>
                    <a:lstStyle/>
                    <a:p>
                      <a:pPr algn="ctr">
                        <a:defRPr sz="1300" b="0">
                          <a:solidFill>
                            <a:srgbClr val="333333"/>
                          </a:solidFill>
                          <a:latin typeface="Calibri"/>
                        </a:defRPr>
                      </a:pPr>
                      <a:r>
                        <a:t>0.411</a:t>
                      </a:r>
                    </a:p>
                  </a:txBody>
                  <a:tcPr marL="45720" marR="45720" marT="9144" marB="9144" anchor="ctr">
                    <a:solidFill>
                      <a:srgbClr val="F2F2F2"/>
                    </a:solidFill>
                  </a:tcPr>
                </a:tc>
                <a:tc>
                  <a:txBody>
                    <a:bodyPr wrap="square"/>
                    <a:lstStyle/>
                    <a:p>
                      <a:pPr algn="ctr">
                        <a:defRPr sz="1300" b="0">
                          <a:solidFill>
                            <a:srgbClr val="333333"/>
                          </a:solidFill>
                          <a:latin typeface="Calibri"/>
                        </a:defRPr>
                      </a:pPr>
                      <a:r>
                        <a:t>0.548</a:t>
                      </a:r>
                    </a:p>
                  </a:txBody>
                  <a:tcPr marL="45720" marR="45720" marT="9144" marB="9144" anchor="ctr">
                    <a:solidFill>
                      <a:srgbClr val="F2F2F2"/>
                    </a:solidFill>
                  </a:tcPr>
                </a:tc>
                <a:tc>
                  <a:txBody>
                    <a:bodyPr wrap="square"/>
                    <a:lstStyle/>
                    <a:p>
                      <a:pPr algn="ctr">
                        <a:defRPr sz="1300" b="0">
                          <a:solidFill>
                            <a:srgbClr val="333333"/>
                          </a:solidFill>
                          <a:latin typeface="Calibri"/>
                        </a:defRPr>
                      </a:pPr>
                      <a:r>
                        <a:t>0.470</a:t>
                      </a:r>
                    </a:p>
                  </a:txBody>
                  <a:tcPr marL="45720" marR="45720" marT="9144" marB="9144" anchor="ctr">
                    <a:solidFill>
                      <a:srgbClr val="F2F2F2"/>
                    </a:solidFill>
                  </a:tcPr>
                </a:tc>
              </a:tr>
              <a:tr h="402336">
                <a:tc>
                  <a:txBody>
                    <a:bodyPr wrap="square"/>
                    <a:lstStyle/>
                    <a:p>
                      <a:pPr algn="l">
                        <a:defRPr sz="1300" b="0">
                          <a:solidFill>
                            <a:srgbClr val="333333"/>
                          </a:solidFill>
                          <a:latin typeface="Calibri"/>
                        </a:defRPr>
                      </a:pPr>
                      <a:r>
                        <a:t>5 — Loss</a:t>
                      </a:r>
                    </a:p>
                  </a:txBody>
                  <a:tcPr marL="45720" marR="45720" marT="9144" marB="9144" anchor="ctr"/>
                </a:tc>
                <a:tc>
                  <a:txBody>
                    <a:bodyPr wrap="square"/>
                    <a:lstStyle/>
                    <a:p>
                      <a:pPr algn="ctr">
                        <a:defRPr sz="1300" b="0">
                          <a:solidFill>
                            <a:srgbClr val="333333"/>
                          </a:solidFill>
                          <a:latin typeface="Calibri"/>
                        </a:defRPr>
                      </a:pPr>
                      <a:r>
                        <a:t>0.953</a:t>
                      </a:r>
                    </a:p>
                  </a:txBody>
                  <a:tcPr marL="45720" marR="45720" marT="9144" marB="9144" anchor="ctr"/>
                </a:tc>
                <a:tc>
                  <a:txBody>
                    <a:bodyPr wrap="square"/>
                    <a:lstStyle/>
                    <a:p>
                      <a:pPr algn="ctr">
                        <a:defRPr sz="1300" b="0">
                          <a:solidFill>
                            <a:srgbClr val="333333"/>
                          </a:solidFill>
                          <a:latin typeface="Calibri"/>
                        </a:defRPr>
                      </a:pPr>
                      <a:r>
                        <a:t>0.909</a:t>
                      </a:r>
                    </a:p>
                  </a:txBody>
                  <a:tcPr marL="45720" marR="45720" marT="9144" marB="9144" anchor="ctr"/>
                </a:tc>
                <a:tc>
                  <a:txBody>
                    <a:bodyPr wrap="square"/>
                    <a:lstStyle/>
                    <a:p>
                      <a:pPr algn="ctr">
                        <a:defRPr sz="1300" b="0">
                          <a:solidFill>
                            <a:srgbClr val="333333"/>
                          </a:solidFill>
                          <a:latin typeface="Calibri"/>
                        </a:defRPr>
                      </a:pPr>
                      <a:r>
                        <a:t>0.931</a:t>
                      </a:r>
                    </a:p>
                  </a:txBody>
                  <a:tcPr marL="45720" marR="45720" marT="9144" marB="9144" anchor="ctr"/>
                </a:tc>
                <a:tc>
                  <a:txBody>
                    <a:bodyPr wrap="square"/>
                    <a:lstStyle/>
                    <a:p>
                      <a:pPr algn="ctr">
                        <a:defRPr sz="1300" b="0">
                          <a:solidFill>
                            <a:srgbClr val="333333"/>
                          </a:solidFill>
                          <a:latin typeface="Calibri"/>
                        </a:defRPr>
                      </a:pPr>
                      <a:r>
                        <a:t>0.951</a:t>
                      </a:r>
                    </a:p>
                  </a:txBody>
                  <a:tcPr marL="45720" marR="45720" marT="9144" marB="9144" anchor="ctr"/>
                </a:tc>
                <a:tc>
                  <a:txBody>
                    <a:bodyPr wrap="square"/>
                    <a:lstStyle/>
                    <a:p>
                      <a:pPr algn="ctr">
                        <a:defRPr sz="1300" b="0">
                          <a:solidFill>
                            <a:srgbClr val="333333"/>
                          </a:solidFill>
                          <a:latin typeface="Calibri"/>
                        </a:defRPr>
                      </a:pPr>
                      <a:r>
                        <a:t>0.900</a:t>
                      </a:r>
                    </a:p>
                  </a:txBody>
                  <a:tcPr marL="45720" marR="45720" marT="9144" marB="9144" anchor="ctr"/>
                </a:tc>
                <a:tc>
                  <a:txBody>
                    <a:bodyPr wrap="square"/>
                    <a:lstStyle/>
                    <a:p>
                      <a:pPr algn="ctr">
                        <a:defRPr sz="1300" b="0">
                          <a:solidFill>
                            <a:srgbClr val="333333"/>
                          </a:solidFill>
                          <a:latin typeface="Calibri"/>
                        </a:defRPr>
                      </a:pPr>
                      <a:r>
                        <a:t>0.925</a:t>
                      </a:r>
                    </a:p>
                  </a:txBody>
                  <a:tcPr marL="45720" marR="45720" marT="9144" marB="9144" anchor="ctr"/>
                </a:tc>
              </a:tr>
              <a:tr h="402336">
                <a:tc>
                  <a:txBody>
                    <a:bodyPr wrap="square"/>
                    <a:lstStyle/>
                    <a:p>
                      <a:pPr algn="l">
                        <a:defRPr sz="1300" b="1">
                          <a:solidFill>
                            <a:srgbClr val="333333"/>
                          </a:solidFill>
                          <a:latin typeface="Calibri"/>
                        </a:defRPr>
                      </a:pPr>
                      <a:r>
                        <a:t>Macro average</a:t>
                      </a:r>
                    </a:p>
                  </a:txBody>
                  <a:tcPr marL="45720" marR="45720" marT="9144" marB="9144" anchor="ctr">
                    <a:solidFill>
                      <a:srgbClr val="DDEECC"/>
                    </a:solidFill>
                  </a:tcPr>
                </a:tc>
                <a:tc>
                  <a:txBody>
                    <a:bodyPr wrap="square"/>
                    <a:lstStyle/>
                    <a:p>
                      <a:pPr algn="ctr">
                        <a:defRPr sz="1300" b="1">
                          <a:solidFill>
                            <a:srgbClr val="333333"/>
                          </a:solidFill>
                          <a:latin typeface="Calibri"/>
                        </a:defRPr>
                      </a:pPr>
                      <a:r>
                        <a:t>0.748</a:t>
                      </a:r>
                    </a:p>
                  </a:txBody>
                  <a:tcPr marL="45720" marR="45720" marT="9144" marB="9144" anchor="ctr">
                    <a:solidFill>
                      <a:srgbClr val="DDEECC"/>
                    </a:solidFill>
                  </a:tcPr>
                </a:tc>
                <a:tc>
                  <a:txBody>
                    <a:bodyPr wrap="square"/>
                    <a:lstStyle/>
                    <a:p>
                      <a:pPr algn="ctr">
                        <a:defRPr sz="1300" b="1">
                          <a:solidFill>
                            <a:srgbClr val="333333"/>
                          </a:solidFill>
                          <a:latin typeface="Calibri"/>
                        </a:defRPr>
                      </a:pPr>
                      <a:r>
                        <a:t>0.572</a:t>
                      </a:r>
                    </a:p>
                  </a:txBody>
                  <a:tcPr marL="45720" marR="45720" marT="9144" marB="9144" anchor="ctr">
                    <a:solidFill>
                      <a:srgbClr val="DDEECC"/>
                    </a:solidFill>
                  </a:tcPr>
                </a:tc>
                <a:tc>
                  <a:txBody>
                    <a:bodyPr wrap="square"/>
                    <a:lstStyle/>
                    <a:p>
                      <a:pPr algn="ctr">
                        <a:defRPr sz="1300" b="1">
                          <a:solidFill>
                            <a:srgbClr val="333333"/>
                          </a:solidFill>
                          <a:latin typeface="Calibri"/>
                        </a:defRPr>
                      </a:pPr>
                      <a:r>
                        <a:t>0.625</a:t>
                      </a:r>
                    </a:p>
                  </a:txBody>
                  <a:tcPr marL="45720" marR="45720" marT="9144" marB="9144" anchor="ctr">
                    <a:solidFill>
                      <a:srgbClr val="DDEECC"/>
                    </a:solidFill>
                  </a:tcPr>
                </a:tc>
                <a:tc>
                  <a:txBody>
                    <a:bodyPr wrap="square"/>
                    <a:lstStyle/>
                    <a:p>
                      <a:pPr algn="ctr">
                        <a:defRPr sz="1300" b="1">
                          <a:solidFill>
                            <a:srgbClr val="333333"/>
                          </a:solidFill>
                          <a:latin typeface="Calibri"/>
                        </a:defRPr>
                      </a:pPr>
                      <a:r>
                        <a:t>0.583</a:t>
                      </a:r>
                    </a:p>
                  </a:txBody>
                  <a:tcPr marL="45720" marR="45720" marT="9144" marB="9144" anchor="ctr">
                    <a:solidFill>
                      <a:srgbClr val="DDEECC"/>
                    </a:solidFill>
                  </a:tcPr>
                </a:tc>
                <a:tc>
                  <a:txBody>
                    <a:bodyPr wrap="square"/>
                    <a:lstStyle/>
                    <a:p>
                      <a:pPr algn="ctr">
                        <a:defRPr sz="1300" b="1">
                          <a:solidFill>
                            <a:srgbClr val="333333"/>
                          </a:solidFill>
                          <a:latin typeface="Calibri"/>
                        </a:defRPr>
                      </a:pPr>
                      <a:r>
                        <a:t>0.645</a:t>
                      </a:r>
                    </a:p>
                  </a:txBody>
                  <a:tcPr marL="45720" marR="45720" marT="9144" marB="9144" anchor="ctr">
                    <a:solidFill>
                      <a:srgbClr val="DDEECC"/>
                    </a:solidFill>
                  </a:tcPr>
                </a:tc>
                <a:tc>
                  <a:txBody>
                    <a:bodyPr wrap="square"/>
                    <a:lstStyle/>
                    <a:p>
                      <a:pPr algn="ctr">
                        <a:defRPr sz="1300" b="1">
                          <a:solidFill>
                            <a:srgbClr val="333333"/>
                          </a:solidFill>
                          <a:latin typeface="Calibri"/>
                        </a:defRPr>
                      </a:pPr>
                      <a:r>
                        <a:t>0.604</a:t>
                      </a:r>
                    </a:p>
                  </a:txBody>
                  <a:tcPr marL="45720" marR="45720" marT="9144" marB="9144" anchor="ctr">
                    <a:solidFill>
                      <a:srgbClr val="DDEECC"/>
                    </a:solidFill>
                  </a:tcPr>
                </a:tc>
              </a:tr>
            </a:tbl>
          </a:graphicData>
        </a:graphic>
      </p:graphicFrame>
      <p:sp>
        <p:nvSpPr>
          <p:cNvPr id="7" name="TextBox 6"/>
          <p:cNvSpPr txBox="1"/>
          <p:nvPr/>
        </p:nvSpPr>
        <p:spPr>
          <a:xfrm>
            <a:off x="548640" y="4206240"/>
            <a:ext cx="11064240" cy="1920240"/>
          </a:xfrm>
          <a:prstGeom prst="rect">
            <a:avLst/>
          </a:prstGeom>
          <a:noFill/>
        </p:spPr>
        <p:txBody>
          <a:bodyPr wrap="square" lIns="64008" rIns="64008" tIns="18288" bIns="18288">
            <a:noAutofit/>
          </a:bodyPr>
          <a:lstStyle/>
          <a:p>
            <a:pPr algn="l">
              <a:lnSpc>
                <a:spcPct val="120000"/>
              </a:lnSpc>
              <a:spcAft>
                <a:spcPts val="800"/>
              </a:spcAft>
              <a:defRPr sz="1550" b="0" i="0">
                <a:solidFill>
                  <a:srgbClr val="333333"/>
                </a:solidFill>
                <a:latin typeface="Calibri"/>
              </a:defRPr>
            </a:pPr>
            <a:r>
              <a:t>•  The two configurations reach similar Macro-F1 (0.625 vs. 0.604) by opposite routes.</a:t>
            </a:r>
          </a:p>
          <a:p>
            <a:pPr algn="l">
              <a:lnSpc>
                <a:spcPct val="120000"/>
              </a:lnSpc>
              <a:spcAft>
                <a:spcPts val="800"/>
              </a:spcAft>
              <a:defRPr sz="1550" b="0" i="0">
                <a:solidFill>
                  <a:srgbClr val="333333"/>
                </a:solidFill>
                <a:latin typeface="Calibri"/>
              </a:defRPr>
            </a:pPr>
            <a:r>
              <a:t>•  No weighting — macro Precision 0.748 against macro Recall 0.572. When it flags a loan it is usually right, but Group-2 Recall is 0.183: roughly four in five special-mention loans are classified as standard.</a:t>
            </a:r>
          </a:p>
          <a:p>
            <a:pPr algn="l">
              <a:lnSpc>
                <a:spcPct val="120000"/>
              </a:lnSpc>
              <a:spcAft>
                <a:spcPts val="800"/>
              </a:spcAft>
              <a:defRPr sz="1550" b="0" i="0">
                <a:solidFill>
                  <a:srgbClr val="333333"/>
                </a:solidFill>
                <a:latin typeface="Calibri"/>
              </a:defRPr>
            </a:pPr>
            <a:r>
              <a:t>•  Class weighting — Group-2 Recall rises 0.183 → 0.471 and Group-4 Recall 0.465 → 0.548, but Group-2 Precision falls 0.603 → 0.245.</a:t>
            </a:r>
          </a:p>
          <a:p>
            <a:pPr algn="l">
              <a:lnSpc>
                <a:spcPct val="120000"/>
              </a:lnSpc>
              <a:spcAft>
                <a:spcPts val="700"/>
              </a:spcAft>
              <a:defRPr sz="1550" b="1" i="0">
                <a:solidFill>
                  <a:srgbClr val="002B5C"/>
                </a:solidFill>
                <a:latin typeface="Calibri"/>
              </a:defRPr>
            </a:pPr>
            <a:r>
              <a:t>•  Neither is better in the abstract. This is a policy choice for the bank's credit-risk committee — and it should be recorded as one. Macro-F1 alone would have concealed it entirely.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118872"/>
            <a:ext cx="10332720" cy="475488"/>
          </a:xfrm>
          <a:prstGeom prst="rect">
            <a:avLst/>
          </a:prstGeom>
          <a:noFill/>
        </p:spPr>
        <p:txBody>
          <a:bodyPr wrap="square" lIns="64008" rIns="64008" tIns="18288" bIns="18288">
            <a:noAutofit/>
          </a:bodyPr>
          <a:lstStyle/>
          <a:p>
            <a:pPr algn="l">
              <a:lnSpc>
                <a:spcPct val="105000"/>
              </a:lnSpc>
              <a:spcAft>
                <a:spcPts val="400"/>
              </a:spcAft>
              <a:defRPr sz="2800" b="1" i="0">
                <a:solidFill>
                  <a:srgbClr val="FFFFFF"/>
                </a:solidFill>
                <a:latin typeface="Calibri"/>
              </a:defRPr>
            </a:pPr>
            <a:r>
              <a:t>RQ2: Feature Efficiency</a:t>
            </a:r>
          </a:p>
        </p:txBody>
      </p:sp>
      <p:sp>
        <p:nvSpPr>
          <p:cNvPr id="4" name="TextBox 3"/>
          <p:cNvSpPr txBox="1"/>
          <p:nvPr/>
        </p:nvSpPr>
        <p:spPr>
          <a:xfrm>
            <a:off x="548640" y="621792"/>
            <a:ext cx="10332720" cy="329184"/>
          </a:xfrm>
          <a:prstGeom prst="rect">
            <a:avLst/>
          </a:prstGeom>
          <a:noFill/>
        </p:spPr>
        <p:txBody>
          <a:bodyPr wrap="square" lIns="64008" rIns="64008" tIns="18288" bIns="18288">
            <a:noAutofit/>
          </a:bodyPr>
          <a:lstStyle/>
          <a:p>
            <a:pPr algn="l">
              <a:lnSpc>
                <a:spcPct val="100000"/>
              </a:lnSpc>
              <a:spcAft>
                <a:spcPts val="400"/>
              </a:spcAft>
              <a:defRPr sz="1500" b="0" i="0">
                <a:solidFill>
                  <a:srgbClr val="BBDBF5"/>
                </a:solidFill>
                <a:latin typeface="Calibri"/>
              </a:defRPr>
            </a:pPr>
            <a:r>
              <a:t>Table 7 — top-k curve, 13-variable pool, no class weighting</a:t>
            </a:r>
          </a:p>
        </p:txBody>
      </p:sp>
      <p:sp>
        <p:nvSpPr>
          <p:cNvPr id="5" name="TextBox 4"/>
          <p:cNvSpPr txBox="1"/>
          <p:nvPr/>
        </p:nvSpPr>
        <p:spPr>
          <a:xfrm>
            <a:off x="11201400" y="137160"/>
            <a:ext cx="777240" cy="365760"/>
          </a:xfrm>
          <a:prstGeom prst="rect">
            <a:avLst/>
          </a:prstGeom>
          <a:noFill/>
        </p:spPr>
        <p:txBody>
          <a:bodyPr wrap="square" lIns="64008" rIns="64008" tIns="18288" bIns="18288">
            <a:noAutofit/>
          </a:bodyPr>
          <a:lstStyle/>
          <a:p>
            <a:pPr algn="r">
              <a:spcAft>
                <a:spcPts val="400"/>
              </a:spcAft>
              <a:defRPr sz="1400" b="0" i="0">
                <a:solidFill>
                  <a:srgbClr val="FFFFFF"/>
                </a:solidFill>
                <a:latin typeface="Calibri"/>
              </a:defRPr>
            </a:pPr>
            <a:r>
              <a:t>9</a:t>
            </a:r>
          </a:p>
        </p:txBody>
      </p:sp>
      <p:graphicFrame>
        <p:nvGraphicFramePr>
          <p:cNvPr id="6" name="Table 5"/>
          <p:cNvGraphicFramePr>
            <a:graphicFrameLocks noGrp="1"/>
          </p:cNvGraphicFramePr>
          <p:nvPr/>
        </p:nvGraphicFramePr>
        <p:xfrm>
          <a:off x="548640" y="1188720"/>
          <a:ext cx="6675120" cy="2816352"/>
        </p:xfrm>
        <a:graphic>
          <a:graphicData uri="http://schemas.openxmlformats.org/drawingml/2006/table">
            <a:tbl>
              <a:tblPr firstRow="1" bandRow="1">
                <a:tableStyleId>{5C22544A-7EE6-4342-B048-85BDC9FD1C3A}</a:tableStyleId>
              </a:tblPr>
              <a:tblGrid>
                <a:gridCol w="1554480"/>
                <a:gridCol w="1280160"/>
                <a:gridCol w="1280160"/>
                <a:gridCol w="1280160"/>
                <a:gridCol w="1280160"/>
              </a:tblGrid>
              <a:tr h="402336">
                <a:tc>
                  <a:txBody>
                    <a:bodyPr wrap="square"/>
                    <a:lstStyle/>
                    <a:p>
                      <a:pPr algn="ctr">
                        <a:defRPr sz="1300" b="1">
                          <a:solidFill>
                            <a:srgbClr val="FFFFFF"/>
                          </a:solidFill>
                          <a:latin typeface="Calibri"/>
                        </a:defRPr>
                      </a:pPr>
                      <a:r>
                        <a:t>k</a:t>
                      </a:r>
                    </a:p>
                  </a:txBody>
                  <a:tcPr marL="45720" marR="45720" marT="9144" marB="9144" anchor="ctr">
                    <a:solidFill>
                      <a:srgbClr val="002B5C"/>
                    </a:solidFill>
                  </a:tcPr>
                </a:tc>
                <a:tc>
                  <a:txBody>
                    <a:bodyPr wrap="square"/>
                    <a:lstStyle/>
                    <a:p>
                      <a:pPr algn="ctr">
                        <a:defRPr sz="1300" b="1">
                          <a:solidFill>
                            <a:srgbClr val="FFFFFF"/>
                          </a:solidFill>
                          <a:latin typeface="Calibri"/>
                        </a:defRPr>
                      </a:pPr>
                      <a:r>
                        <a:t>XGB Macro-F1</a:t>
                      </a:r>
                    </a:p>
                  </a:txBody>
                  <a:tcPr marL="45720" marR="45720" marT="9144" marB="9144" anchor="ctr">
                    <a:solidFill>
                      <a:srgbClr val="002B5C"/>
                    </a:solidFill>
                  </a:tcPr>
                </a:tc>
                <a:tc>
                  <a:txBody>
                    <a:bodyPr wrap="square"/>
                    <a:lstStyle/>
                    <a:p>
                      <a:pPr algn="ctr">
                        <a:defRPr sz="1300" b="1">
                          <a:solidFill>
                            <a:srgbClr val="FFFFFF"/>
                          </a:solidFill>
                          <a:latin typeface="Calibri"/>
                        </a:defRPr>
                      </a:pPr>
                      <a:r>
                        <a:t>XGB ROC-AUC</a:t>
                      </a:r>
                    </a:p>
                  </a:txBody>
                  <a:tcPr marL="45720" marR="45720" marT="9144" marB="9144" anchor="ctr">
                    <a:solidFill>
                      <a:srgbClr val="002B5C"/>
                    </a:solidFill>
                  </a:tcPr>
                </a:tc>
                <a:tc>
                  <a:txBody>
                    <a:bodyPr wrap="square"/>
                    <a:lstStyle/>
                    <a:p>
                      <a:pPr algn="ctr">
                        <a:defRPr sz="1300" b="1">
                          <a:solidFill>
                            <a:srgbClr val="FFFFFF"/>
                          </a:solidFill>
                          <a:latin typeface="Calibri"/>
                        </a:defRPr>
                      </a:pPr>
                      <a:r>
                        <a:t>LGBM Macro-F1</a:t>
                      </a:r>
                    </a:p>
                  </a:txBody>
                  <a:tcPr marL="45720" marR="45720" marT="9144" marB="9144" anchor="ctr">
                    <a:solidFill>
                      <a:srgbClr val="002B5C"/>
                    </a:solidFill>
                  </a:tcPr>
                </a:tc>
                <a:tc>
                  <a:txBody>
                    <a:bodyPr wrap="square"/>
                    <a:lstStyle/>
                    <a:p>
                      <a:pPr algn="ctr">
                        <a:defRPr sz="1300" b="1">
                          <a:solidFill>
                            <a:srgbClr val="FFFFFF"/>
                          </a:solidFill>
                          <a:latin typeface="Calibri"/>
                        </a:defRPr>
                      </a:pPr>
                      <a:r>
                        <a:t>LGBM ROC-AUC</a:t>
                      </a:r>
                    </a:p>
                  </a:txBody>
                  <a:tcPr marL="45720" marR="45720" marT="9144" marB="9144" anchor="ctr">
                    <a:solidFill>
                      <a:srgbClr val="002B5C"/>
                    </a:solidFill>
                  </a:tcPr>
                </a:tc>
              </a:tr>
              <a:tr h="402336">
                <a:tc>
                  <a:txBody>
                    <a:bodyPr wrap="square"/>
                    <a:lstStyle/>
                    <a:p>
                      <a:pPr algn="l">
                        <a:defRPr sz="1300" b="0">
                          <a:solidFill>
                            <a:srgbClr val="333333"/>
                          </a:solidFill>
                          <a:latin typeface="Calibri"/>
                        </a:defRPr>
                      </a:pPr>
                      <a:r>
                        <a:t>3</a:t>
                      </a:r>
                    </a:p>
                  </a:txBody>
                  <a:tcPr marL="45720" marR="45720" marT="9144" marB="9144" anchor="ctr"/>
                </a:tc>
                <a:tc>
                  <a:txBody>
                    <a:bodyPr wrap="square"/>
                    <a:lstStyle/>
                    <a:p>
                      <a:pPr algn="ctr">
                        <a:defRPr sz="1300" b="0">
                          <a:solidFill>
                            <a:srgbClr val="333333"/>
                          </a:solidFill>
                          <a:latin typeface="Calibri"/>
                        </a:defRPr>
                      </a:pPr>
                      <a:r>
                        <a:t>0.6043</a:t>
                      </a:r>
                    </a:p>
                  </a:txBody>
                  <a:tcPr marL="45720" marR="45720" marT="9144" marB="9144" anchor="ctr"/>
                </a:tc>
                <a:tc>
                  <a:txBody>
                    <a:bodyPr wrap="square"/>
                    <a:lstStyle/>
                    <a:p>
                      <a:pPr algn="ctr">
                        <a:defRPr sz="1300" b="0">
                          <a:solidFill>
                            <a:srgbClr val="333333"/>
                          </a:solidFill>
                          <a:latin typeface="Calibri"/>
                        </a:defRPr>
                      </a:pPr>
                      <a:r>
                        <a:t>0.8885</a:t>
                      </a:r>
                    </a:p>
                  </a:txBody>
                  <a:tcPr marL="45720" marR="45720" marT="9144" marB="9144" anchor="ctr"/>
                </a:tc>
                <a:tc>
                  <a:txBody>
                    <a:bodyPr wrap="square"/>
                    <a:lstStyle/>
                    <a:p>
                      <a:pPr algn="ctr">
                        <a:defRPr sz="1300" b="0">
                          <a:solidFill>
                            <a:srgbClr val="333333"/>
                          </a:solidFill>
                          <a:latin typeface="Calibri"/>
                        </a:defRPr>
                      </a:pPr>
                      <a:r>
                        <a:t>0.5909</a:t>
                      </a:r>
                    </a:p>
                  </a:txBody>
                  <a:tcPr marL="45720" marR="45720" marT="9144" marB="9144" anchor="ctr"/>
                </a:tc>
                <a:tc>
                  <a:txBody>
                    <a:bodyPr wrap="square"/>
                    <a:lstStyle/>
                    <a:p>
                      <a:pPr algn="ctr">
                        <a:defRPr sz="1300" b="0">
                          <a:solidFill>
                            <a:srgbClr val="333333"/>
                          </a:solidFill>
                          <a:latin typeface="Calibri"/>
                        </a:defRPr>
                      </a:pPr>
                      <a:r>
                        <a:t>0.9008</a:t>
                      </a:r>
                    </a:p>
                  </a:txBody>
                  <a:tcPr marL="45720" marR="45720" marT="9144" marB="9144" anchor="ctr"/>
                </a:tc>
              </a:tr>
              <a:tr h="402336">
                <a:tc>
                  <a:txBody>
                    <a:bodyPr wrap="square"/>
                    <a:lstStyle/>
                    <a:p>
                      <a:pPr algn="l">
                        <a:defRPr sz="1300" b="0">
                          <a:solidFill>
                            <a:srgbClr val="333333"/>
                          </a:solidFill>
                          <a:latin typeface="Calibri"/>
                        </a:defRPr>
                      </a:pPr>
                      <a:r>
                        <a:t>5</a:t>
                      </a:r>
                    </a:p>
                  </a:txBody>
                  <a:tcPr marL="45720" marR="45720" marT="9144" marB="9144" anchor="ctr">
                    <a:solidFill>
                      <a:srgbClr val="F2F2F2"/>
                    </a:solidFill>
                  </a:tcPr>
                </a:tc>
                <a:tc>
                  <a:txBody>
                    <a:bodyPr wrap="square"/>
                    <a:lstStyle/>
                    <a:p>
                      <a:pPr algn="ctr">
                        <a:defRPr sz="1300" b="0">
                          <a:solidFill>
                            <a:srgbClr val="333333"/>
                          </a:solidFill>
                          <a:latin typeface="Calibri"/>
                        </a:defRPr>
                      </a:pPr>
                      <a:r>
                        <a:t>0.6061</a:t>
                      </a:r>
                    </a:p>
                  </a:txBody>
                  <a:tcPr marL="45720" marR="45720" marT="9144" marB="9144" anchor="ctr">
                    <a:solidFill>
                      <a:srgbClr val="F2F2F2"/>
                    </a:solidFill>
                  </a:tcPr>
                </a:tc>
                <a:tc>
                  <a:txBody>
                    <a:bodyPr wrap="square"/>
                    <a:lstStyle/>
                    <a:p>
                      <a:pPr algn="ctr">
                        <a:defRPr sz="1300" b="0">
                          <a:solidFill>
                            <a:srgbClr val="333333"/>
                          </a:solidFill>
                          <a:latin typeface="Calibri"/>
                        </a:defRPr>
                      </a:pPr>
                      <a:r>
                        <a:t>0.9121</a:t>
                      </a:r>
                    </a:p>
                  </a:txBody>
                  <a:tcPr marL="45720" marR="45720" marT="9144" marB="9144" anchor="ctr">
                    <a:solidFill>
                      <a:srgbClr val="F2F2F2"/>
                    </a:solidFill>
                  </a:tcPr>
                </a:tc>
                <a:tc>
                  <a:txBody>
                    <a:bodyPr wrap="square"/>
                    <a:lstStyle/>
                    <a:p>
                      <a:pPr algn="ctr">
                        <a:defRPr sz="1300" b="0">
                          <a:solidFill>
                            <a:srgbClr val="333333"/>
                          </a:solidFill>
                          <a:latin typeface="Calibri"/>
                        </a:defRPr>
                      </a:pPr>
                      <a:r>
                        <a:t>0.6205</a:t>
                      </a:r>
                    </a:p>
                  </a:txBody>
                  <a:tcPr marL="45720" marR="45720" marT="9144" marB="9144" anchor="ctr">
                    <a:solidFill>
                      <a:srgbClr val="F2F2F2"/>
                    </a:solidFill>
                  </a:tcPr>
                </a:tc>
                <a:tc>
                  <a:txBody>
                    <a:bodyPr wrap="square"/>
                    <a:lstStyle/>
                    <a:p>
                      <a:pPr algn="ctr">
                        <a:defRPr sz="1300" b="0">
                          <a:solidFill>
                            <a:srgbClr val="333333"/>
                          </a:solidFill>
                          <a:latin typeface="Calibri"/>
                        </a:defRPr>
                      </a:pPr>
                      <a:r>
                        <a:t>0.9211</a:t>
                      </a:r>
                    </a:p>
                  </a:txBody>
                  <a:tcPr marL="45720" marR="45720" marT="9144" marB="9144" anchor="ctr">
                    <a:solidFill>
                      <a:srgbClr val="F2F2F2"/>
                    </a:solidFill>
                  </a:tcPr>
                </a:tc>
              </a:tr>
              <a:tr h="402336">
                <a:tc>
                  <a:txBody>
                    <a:bodyPr wrap="square"/>
                    <a:lstStyle/>
                    <a:p>
                      <a:pPr algn="l">
                        <a:defRPr sz="1300" b="0">
                          <a:solidFill>
                            <a:srgbClr val="333333"/>
                          </a:solidFill>
                          <a:latin typeface="Calibri"/>
                        </a:defRPr>
                      </a:pPr>
                      <a:r>
                        <a:t>7</a:t>
                      </a:r>
                    </a:p>
                  </a:txBody>
                  <a:tcPr marL="45720" marR="45720" marT="9144" marB="9144" anchor="ctr"/>
                </a:tc>
                <a:tc>
                  <a:txBody>
                    <a:bodyPr wrap="square"/>
                    <a:lstStyle/>
                    <a:p>
                      <a:pPr algn="ctr">
                        <a:defRPr sz="1300" b="0">
                          <a:solidFill>
                            <a:srgbClr val="333333"/>
                          </a:solidFill>
                          <a:latin typeface="Calibri"/>
                        </a:defRPr>
                      </a:pPr>
                      <a:r>
                        <a:t>0.6241</a:t>
                      </a:r>
                    </a:p>
                  </a:txBody>
                  <a:tcPr marL="45720" marR="45720" marT="9144" marB="9144" anchor="ctr"/>
                </a:tc>
                <a:tc>
                  <a:txBody>
                    <a:bodyPr wrap="square"/>
                    <a:lstStyle/>
                    <a:p>
                      <a:pPr algn="ctr">
                        <a:defRPr sz="1300" b="0">
                          <a:solidFill>
                            <a:srgbClr val="333333"/>
                          </a:solidFill>
                          <a:latin typeface="Calibri"/>
                        </a:defRPr>
                      </a:pPr>
                      <a:r>
                        <a:t>0.9227</a:t>
                      </a:r>
                    </a:p>
                  </a:txBody>
                  <a:tcPr marL="45720" marR="45720" marT="9144" marB="9144" anchor="ctr"/>
                </a:tc>
                <a:tc>
                  <a:txBody>
                    <a:bodyPr wrap="square"/>
                    <a:lstStyle/>
                    <a:p>
                      <a:pPr algn="ctr">
                        <a:defRPr sz="1300" b="0">
                          <a:solidFill>
                            <a:srgbClr val="333333"/>
                          </a:solidFill>
                          <a:latin typeface="Calibri"/>
                        </a:defRPr>
                      </a:pPr>
                      <a:r>
                        <a:t>0.6119</a:t>
                      </a:r>
                    </a:p>
                  </a:txBody>
                  <a:tcPr marL="45720" marR="45720" marT="9144" marB="9144" anchor="ctr"/>
                </a:tc>
                <a:tc>
                  <a:txBody>
                    <a:bodyPr wrap="square"/>
                    <a:lstStyle/>
                    <a:p>
                      <a:pPr algn="ctr">
                        <a:defRPr sz="1300" b="0">
                          <a:solidFill>
                            <a:srgbClr val="333333"/>
                          </a:solidFill>
                          <a:latin typeface="Calibri"/>
                        </a:defRPr>
                      </a:pPr>
                      <a:r>
                        <a:t>0.9215</a:t>
                      </a:r>
                    </a:p>
                  </a:txBody>
                  <a:tcPr marL="45720" marR="45720" marT="9144" marB="9144" anchor="ctr"/>
                </a:tc>
              </a:tr>
              <a:tr h="402336">
                <a:tc>
                  <a:txBody>
                    <a:bodyPr wrap="square"/>
                    <a:lstStyle/>
                    <a:p>
                      <a:pPr algn="l">
                        <a:defRPr sz="1300" b="0">
                          <a:solidFill>
                            <a:srgbClr val="333333"/>
                          </a:solidFill>
                          <a:latin typeface="Calibri"/>
                        </a:defRPr>
                      </a:pPr>
                      <a:r>
                        <a:t>9</a:t>
                      </a:r>
                    </a:p>
                  </a:txBody>
                  <a:tcPr marL="45720" marR="45720" marT="9144" marB="9144" anchor="ctr">
                    <a:solidFill>
                      <a:srgbClr val="F2F2F2"/>
                    </a:solidFill>
                  </a:tcPr>
                </a:tc>
                <a:tc>
                  <a:txBody>
                    <a:bodyPr wrap="square"/>
                    <a:lstStyle/>
                    <a:p>
                      <a:pPr algn="ctr">
                        <a:defRPr sz="1300" b="0">
                          <a:solidFill>
                            <a:srgbClr val="333333"/>
                          </a:solidFill>
                          <a:latin typeface="Calibri"/>
                        </a:defRPr>
                      </a:pPr>
                      <a:r>
                        <a:t>0.6139</a:t>
                      </a:r>
                    </a:p>
                  </a:txBody>
                  <a:tcPr marL="45720" marR="45720" marT="9144" marB="9144" anchor="ctr">
                    <a:solidFill>
                      <a:srgbClr val="F2F2F2"/>
                    </a:solidFill>
                  </a:tcPr>
                </a:tc>
                <a:tc>
                  <a:txBody>
                    <a:bodyPr wrap="square"/>
                    <a:lstStyle/>
                    <a:p>
                      <a:pPr algn="ctr">
                        <a:defRPr sz="1300" b="0">
                          <a:solidFill>
                            <a:srgbClr val="333333"/>
                          </a:solidFill>
                          <a:latin typeface="Calibri"/>
                        </a:defRPr>
                      </a:pPr>
                      <a:r>
                        <a:t>0.9287</a:t>
                      </a:r>
                    </a:p>
                  </a:txBody>
                  <a:tcPr marL="45720" marR="45720" marT="9144" marB="9144" anchor="ctr">
                    <a:solidFill>
                      <a:srgbClr val="F2F2F2"/>
                    </a:solidFill>
                  </a:tcPr>
                </a:tc>
                <a:tc>
                  <a:txBody>
                    <a:bodyPr wrap="square"/>
                    <a:lstStyle/>
                    <a:p>
                      <a:pPr algn="ctr">
                        <a:defRPr sz="1300" b="0">
                          <a:solidFill>
                            <a:srgbClr val="333333"/>
                          </a:solidFill>
                          <a:latin typeface="Calibri"/>
                        </a:defRPr>
                      </a:pPr>
                      <a:r>
                        <a:t>0.6147</a:t>
                      </a:r>
                    </a:p>
                  </a:txBody>
                  <a:tcPr marL="45720" marR="45720" marT="9144" marB="9144" anchor="ctr">
                    <a:solidFill>
                      <a:srgbClr val="F2F2F2"/>
                    </a:solidFill>
                  </a:tcPr>
                </a:tc>
                <a:tc>
                  <a:txBody>
                    <a:bodyPr wrap="square"/>
                    <a:lstStyle/>
                    <a:p>
                      <a:pPr algn="ctr">
                        <a:defRPr sz="1300" b="0">
                          <a:solidFill>
                            <a:srgbClr val="333333"/>
                          </a:solidFill>
                          <a:latin typeface="Calibri"/>
                        </a:defRPr>
                      </a:pPr>
                      <a:r>
                        <a:t>0.9245</a:t>
                      </a:r>
                    </a:p>
                  </a:txBody>
                  <a:tcPr marL="45720" marR="45720" marT="9144" marB="9144" anchor="ctr">
                    <a:solidFill>
                      <a:srgbClr val="F2F2F2"/>
                    </a:solidFill>
                  </a:tcPr>
                </a:tc>
              </a:tr>
              <a:tr h="402336">
                <a:tc>
                  <a:txBody>
                    <a:bodyPr wrap="square"/>
                    <a:lstStyle/>
                    <a:p>
                      <a:pPr algn="l">
                        <a:defRPr sz="1300" b="0">
                          <a:solidFill>
                            <a:srgbClr val="333333"/>
                          </a:solidFill>
                          <a:latin typeface="Calibri"/>
                        </a:defRPr>
                      </a:pPr>
                      <a:r>
                        <a:t>11</a:t>
                      </a:r>
                    </a:p>
                  </a:txBody>
                  <a:tcPr marL="45720" marR="45720" marT="9144" marB="9144" anchor="ctr"/>
                </a:tc>
                <a:tc>
                  <a:txBody>
                    <a:bodyPr wrap="square"/>
                    <a:lstStyle/>
                    <a:p>
                      <a:pPr algn="ctr">
                        <a:defRPr sz="1300" b="0">
                          <a:solidFill>
                            <a:srgbClr val="333333"/>
                          </a:solidFill>
                          <a:latin typeface="Calibri"/>
                        </a:defRPr>
                      </a:pPr>
                      <a:r>
                        <a:t>0.6197</a:t>
                      </a:r>
                    </a:p>
                  </a:txBody>
                  <a:tcPr marL="45720" marR="45720" marT="9144" marB="9144" anchor="ctr"/>
                </a:tc>
                <a:tc>
                  <a:txBody>
                    <a:bodyPr wrap="square"/>
                    <a:lstStyle/>
                    <a:p>
                      <a:pPr algn="ctr">
                        <a:defRPr sz="1300" b="0">
                          <a:solidFill>
                            <a:srgbClr val="333333"/>
                          </a:solidFill>
                          <a:latin typeface="Calibri"/>
                        </a:defRPr>
                      </a:pPr>
                      <a:r>
                        <a:t>0.9282</a:t>
                      </a:r>
                    </a:p>
                  </a:txBody>
                  <a:tcPr marL="45720" marR="45720" marT="9144" marB="9144" anchor="ctr"/>
                </a:tc>
                <a:tc>
                  <a:txBody>
                    <a:bodyPr wrap="square"/>
                    <a:lstStyle/>
                    <a:p>
                      <a:pPr algn="ctr">
                        <a:defRPr sz="1300" b="0">
                          <a:solidFill>
                            <a:srgbClr val="333333"/>
                          </a:solidFill>
                          <a:latin typeface="Calibri"/>
                        </a:defRPr>
                      </a:pPr>
                      <a:r>
                        <a:t>0.6234</a:t>
                      </a:r>
                    </a:p>
                  </a:txBody>
                  <a:tcPr marL="45720" marR="45720" marT="9144" marB="9144" anchor="ctr"/>
                </a:tc>
                <a:tc>
                  <a:txBody>
                    <a:bodyPr wrap="square"/>
                    <a:lstStyle/>
                    <a:p>
                      <a:pPr algn="ctr">
                        <a:defRPr sz="1300" b="0">
                          <a:solidFill>
                            <a:srgbClr val="333333"/>
                          </a:solidFill>
                          <a:latin typeface="Calibri"/>
                        </a:defRPr>
                      </a:pPr>
                      <a:r>
                        <a:t>0.9260</a:t>
                      </a:r>
                    </a:p>
                  </a:txBody>
                  <a:tcPr marL="45720" marR="45720" marT="9144" marB="9144" anchor="ctr"/>
                </a:tc>
              </a:tr>
              <a:tr h="402336">
                <a:tc>
                  <a:txBody>
                    <a:bodyPr wrap="square"/>
                    <a:lstStyle/>
                    <a:p>
                      <a:pPr algn="l">
                        <a:defRPr sz="1300" b="0">
                          <a:solidFill>
                            <a:srgbClr val="333333"/>
                          </a:solidFill>
                          <a:latin typeface="Calibri"/>
                        </a:defRPr>
                      </a:pPr>
                      <a:r>
                        <a:t>13 (full pool)</a:t>
                      </a:r>
                    </a:p>
                  </a:txBody>
                  <a:tcPr marL="45720" marR="45720" marT="9144" marB="9144" anchor="ctr">
                    <a:solidFill>
                      <a:srgbClr val="F2F2F2"/>
                    </a:solidFill>
                  </a:tcPr>
                </a:tc>
                <a:tc>
                  <a:txBody>
                    <a:bodyPr wrap="square"/>
                    <a:lstStyle/>
                    <a:p>
                      <a:pPr algn="ctr">
                        <a:defRPr sz="1300" b="0">
                          <a:solidFill>
                            <a:srgbClr val="333333"/>
                          </a:solidFill>
                          <a:latin typeface="Calibri"/>
                        </a:defRPr>
                      </a:pPr>
                      <a:r>
                        <a:t>0.6194</a:t>
                      </a:r>
                    </a:p>
                  </a:txBody>
                  <a:tcPr marL="45720" marR="45720" marT="9144" marB="9144" anchor="ctr">
                    <a:solidFill>
                      <a:srgbClr val="F2F2F2"/>
                    </a:solidFill>
                  </a:tcPr>
                </a:tc>
                <a:tc>
                  <a:txBody>
                    <a:bodyPr wrap="square"/>
                    <a:lstStyle/>
                    <a:p>
                      <a:pPr algn="ctr">
                        <a:defRPr sz="1300" b="0">
                          <a:solidFill>
                            <a:srgbClr val="333333"/>
                          </a:solidFill>
                          <a:latin typeface="Calibri"/>
                        </a:defRPr>
                      </a:pPr>
                      <a:r>
                        <a:t>0.9288</a:t>
                      </a:r>
                    </a:p>
                  </a:txBody>
                  <a:tcPr marL="45720" marR="45720" marT="9144" marB="9144" anchor="ctr">
                    <a:solidFill>
                      <a:srgbClr val="F2F2F2"/>
                    </a:solidFill>
                  </a:tcPr>
                </a:tc>
                <a:tc>
                  <a:txBody>
                    <a:bodyPr wrap="square"/>
                    <a:lstStyle/>
                    <a:p>
                      <a:pPr algn="ctr">
                        <a:defRPr sz="1300" b="0">
                          <a:solidFill>
                            <a:srgbClr val="333333"/>
                          </a:solidFill>
                          <a:latin typeface="Calibri"/>
                        </a:defRPr>
                      </a:pPr>
                      <a:r>
                        <a:t>0.6167</a:t>
                      </a:r>
                    </a:p>
                  </a:txBody>
                  <a:tcPr marL="45720" marR="45720" marT="9144" marB="9144" anchor="ctr">
                    <a:solidFill>
                      <a:srgbClr val="F2F2F2"/>
                    </a:solidFill>
                  </a:tcPr>
                </a:tc>
                <a:tc>
                  <a:txBody>
                    <a:bodyPr wrap="square"/>
                    <a:lstStyle/>
                    <a:p>
                      <a:pPr algn="ctr">
                        <a:defRPr sz="1300" b="0">
                          <a:solidFill>
                            <a:srgbClr val="333333"/>
                          </a:solidFill>
                          <a:latin typeface="Calibri"/>
                        </a:defRPr>
                      </a:pPr>
                      <a:r>
                        <a:t>0.9264</a:t>
                      </a:r>
                    </a:p>
                  </a:txBody>
                  <a:tcPr marL="45720" marR="45720" marT="9144" marB="9144" anchor="ctr">
                    <a:solidFill>
                      <a:srgbClr val="F2F2F2"/>
                    </a:solidFill>
                  </a:tcPr>
                </a:tc>
              </a:tr>
            </a:tbl>
          </a:graphicData>
        </a:graphic>
      </p:graphicFrame>
      <p:sp>
        <p:nvSpPr>
          <p:cNvPr id="7" name="TextBox 6"/>
          <p:cNvSpPr txBox="1"/>
          <p:nvPr/>
        </p:nvSpPr>
        <p:spPr>
          <a:xfrm>
            <a:off x="7452360" y="1207008"/>
            <a:ext cx="4206240" cy="3017520"/>
          </a:xfrm>
          <a:prstGeom prst="rect">
            <a:avLst/>
          </a:prstGeom>
          <a:noFill/>
        </p:spPr>
        <p:txBody>
          <a:bodyPr wrap="square" lIns="64008" rIns="64008" tIns="18288" bIns="18288">
            <a:noAutofit/>
          </a:bodyPr>
          <a:lstStyle/>
          <a:p>
            <a:pPr algn="l">
              <a:lnSpc>
                <a:spcPct val="120000"/>
              </a:lnSpc>
              <a:spcAft>
                <a:spcPts val="900"/>
              </a:spcAft>
              <a:defRPr sz="1450" b="0" i="0">
                <a:solidFill>
                  <a:srgbClr val="333333"/>
                </a:solidFill>
                <a:latin typeface="Calibri"/>
              </a:defRPr>
            </a:pPr>
            <a:r>
              <a:t>•  9 of 13 features recover 98–99% of each model's best Macro-F1 — and 98% under class weighting too, so the conclusion does not depend on the treatment.</a:t>
            </a:r>
          </a:p>
          <a:p>
            <a:pPr algn="l">
              <a:lnSpc>
                <a:spcPct val="120000"/>
              </a:lnSpc>
              <a:spcAft>
                <a:spcPts val="900"/>
              </a:spcAft>
              <a:defRPr sz="1450" b="0" i="0">
                <a:solidFill>
                  <a:srgbClr val="333333"/>
                </a:solidFill>
                <a:latin typeface="Calibri"/>
              </a:defRPr>
            </a:pPr>
            <a:r>
              <a:t>•  Even 3 features reach 95–97%: DAYS_TO_MATURITY, LOAN_TENURE_DAYS and one product or utilization variable.</a:t>
            </a:r>
          </a:p>
          <a:p>
            <a:pPr algn="l">
              <a:lnSpc>
                <a:spcPct val="120000"/>
              </a:lnSpc>
              <a:spcAft>
                <a:spcPts val="700"/>
              </a:spcAft>
              <a:defRPr sz="1450" b="0" i="0">
                <a:solidFill>
                  <a:srgbClr val="333333"/>
                </a:solidFill>
                <a:latin typeface="Calibri"/>
              </a:defRPr>
            </a:pPr>
            <a:r>
              <a:t>•  Honest in-fold selection costs little — 0.6147 ± 0.0102 against 0.6183 ± 0.0095 for the fixed 11-feature configuration (&lt; 1%).</a:t>
            </a:r>
          </a:p>
        </p:txBody>
      </p:sp>
      <p:sp>
        <p:nvSpPr>
          <p:cNvPr id="8" name="Rectangle 7"/>
          <p:cNvSpPr/>
          <p:nvPr/>
        </p:nvSpPr>
        <p:spPr>
          <a:xfrm>
            <a:off x="548640" y="4297680"/>
            <a:ext cx="11064240" cy="1005840"/>
          </a:xfrm>
          <a:prstGeom prst="rect">
            <a:avLst/>
          </a:prstGeom>
          <a:solidFill>
            <a:srgbClr val="D6E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4407408"/>
            <a:ext cx="10698480" cy="786384"/>
          </a:xfrm>
          <a:prstGeom prst="rect">
            <a:avLst/>
          </a:prstGeom>
          <a:noFill/>
        </p:spPr>
        <p:txBody>
          <a:bodyPr wrap="square" lIns="64008" rIns="64008" tIns="18288" bIns="18288">
            <a:noAutofit/>
          </a:bodyPr>
          <a:lstStyle/>
          <a:p>
            <a:pPr algn="l">
              <a:lnSpc>
                <a:spcPct val="124000"/>
              </a:lnSpc>
              <a:spcAft>
                <a:spcPts val="300"/>
              </a:spcAft>
              <a:defRPr sz="1450" b="1" i="0">
                <a:solidFill>
                  <a:srgbClr val="002B5C"/>
                </a:solidFill>
                <a:latin typeface="Calibri"/>
              </a:defRPr>
            </a:pPr>
            <a:r>
              <a:t>Two qualifications belong with that number.</a:t>
            </a:r>
          </a:p>
          <a:p>
            <a:pPr algn="l">
              <a:lnSpc>
                <a:spcPct val="120000"/>
              </a:lnSpc>
              <a:spcAft>
                <a:spcPts val="700"/>
              </a:spcAft>
              <a:defRPr sz="1400" b="0" i="0">
                <a:solidFill>
                  <a:srgbClr val="002B5C"/>
                </a:solidFill>
                <a:latin typeface="Calibri"/>
              </a:defRPr>
            </a:pPr>
            <a:r>
              <a:t>The curve is not monotone, because each k refits a different model rather than pruning one — so small differences between adjacent k are noise, not an optimum. And embedded in-fold verification was run for LightGBM only. The curve identifies a broad efficient region, not a unique best k.</a:t>
            </a:r>
          </a:p>
        </p:txBody>
      </p:sp>
      <p:sp>
        <p:nvSpPr>
          <p:cNvPr id="10" name="TextBox 9"/>
          <p:cNvSpPr txBox="1"/>
          <p:nvPr/>
        </p:nvSpPr>
        <p:spPr>
          <a:xfrm>
            <a:off x="548640" y="5440680"/>
            <a:ext cx="11064240" cy="731520"/>
          </a:xfrm>
          <a:prstGeom prst="rect">
            <a:avLst/>
          </a:prstGeom>
          <a:noFill/>
        </p:spPr>
        <p:txBody>
          <a:bodyPr wrap="square" lIns="64008" rIns="64008" tIns="18288" bIns="18288">
            <a:noAutofit/>
          </a:bodyPr>
          <a:lstStyle/>
          <a:p>
            <a:pPr algn="l">
              <a:lnSpc>
                <a:spcPct val="120000"/>
              </a:lnSpc>
              <a:spcAft>
                <a:spcPts val="700"/>
              </a:spcAft>
              <a:defRPr sz="1500" b="1" i="0">
                <a:solidFill>
                  <a:srgbClr val="0070C0"/>
                </a:solidFill>
                <a:latin typeface="Calibri"/>
              </a:defRPr>
            </a:pPr>
            <a:r>
              <a:t>Governance reading:  each feature dropped is one fewer data feed to source, document, monitor for drift and explain to a supervisor. The argument is for parsimony where it is free — not for a specific 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118872"/>
            <a:ext cx="10332720" cy="475488"/>
          </a:xfrm>
          <a:prstGeom prst="rect">
            <a:avLst/>
          </a:prstGeom>
          <a:noFill/>
        </p:spPr>
        <p:txBody>
          <a:bodyPr wrap="square" lIns="64008" rIns="64008" tIns="18288" bIns="18288">
            <a:noAutofit/>
          </a:bodyPr>
          <a:lstStyle/>
          <a:p>
            <a:pPr algn="l">
              <a:lnSpc>
                <a:spcPct val="105000"/>
              </a:lnSpc>
              <a:spcAft>
                <a:spcPts val="400"/>
              </a:spcAft>
              <a:defRPr sz="2800" b="1" i="0">
                <a:solidFill>
                  <a:srgbClr val="FFFFFF"/>
                </a:solidFill>
                <a:latin typeface="Calibri"/>
              </a:defRPr>
            </a:pPr>
            <a:r>
              <a:t>Is DAYS_TO_MATURITY Leakage? Four Tests</a:t>
            </a:r>
          </a:p>
        </p:txBody>
      </p:sp>
      <p:sp>
        <p:nvSpPr>
          <p:cNvPr id="4" name="TextBox 3"/>
          <p:cNvSpPr txBox="1"/>
          <p:nvPr/>
        </p:nvSpPr>
        <p:spPr>
          <a:xfrm>
            <a:off x="548640" y="621792"/>
            <a:ext cx="10332720" cy="329184"/>
          </a:xfrm>
          <a:prstGeom prst="rect">
            <a:avLst/>
          </a:prstGeom>
          <a:noFill/>
        </p:spPr>
        <p:txBody>
          <a:bodyPr wrap="square" lIns="64008" rIns="64008" tIns="18288" bIns="18288">
            <a:noAutofit/>
          </a:bodyPr>
          <a:lstStyle/>
          <a:p>
            <a:pPr algn="l">
              <a:lnSpc>
                <a:spcPct val="100000"/>
              </a:lnSpc>
              <a:spcAft>
                <a:spcPts val="400"/>
              </a:spcAft>
              <a:defRPr sz="1500" b="0" i="0">
                <a:solidFill>
                  <a:srgbClr val="BBDBF5"/>
                </a:solidFill>
                <a:latin typeface="Calibri"/>
              </a:defRPr>
            </a:pPr>
            <a:r>
              <a:t>Sections 3.5 and 4.2 — each test could have failed, and did not</a:t>
            </a:r>
          </a:p>
        </p:txBody>
      </p:sp>
      <p:sp>
        <p:nvSpPr>
          <p:cNvPr id="5" name="TextBox 4"/>
          <p:cNvSpPr txBox="1"/>
          <p:nvPr/>
        </p:nvSpPr>
        <p:spPr>
          <a:xfrm>
            <a:off x="11201400" y="137160"/>
            <a:ext cx="777240" cy="365760"/>
          </a:xfrm>
          <a:prstGeom prst="rect">
            <a:avLst/>
          </a:prstGeom>
          <a:noFill/>
        </p:spPr>
        <p:txBody>
          <a:bodyPr wrap="square" lIns="64008" rIns="64008" tIns="18288" bIns="18288">
            <a:noAutofit/>
          </a:bodyPr>
          <a:lstStyle/>
          <a:p>
            <a:pPr algn="r">
              <a:spcAft>
                <a:spcPts val="400"/>
              </a:spcAft>
              <a:defRPr sz="1400" b="0" i="0">
                <a:solidFill>
                  <a:srgbClr val="FFFFFF"/>
                </a:solidFill>
                <a:latin typeface="Calibri"/>
              </a:defRPr>
            </a:pPr>
            <a:r>
              <a:t>10</a:t>
            </a:r>
          </a:p>
        </p:txBody>
      </p:sp>
      <p:graphicFrame>
        <p:nvGraphicFramePr>
          <p:cNvPr id="6" name="Table 5"/>
          <p:cNvGraphicFramePr>
            <a:graphicFrameLocks noGrp="1"/>
          </p:cNvGraphicFramePr>
          <p:nvPr/>
        </p:nvGraphicFramePr>
        <p:xfrm>
          <a:off x="548640" y="1207008"/>
          <a:ext cx="3703319" cy="2523744"/>
        </p:xfrm>
        <a:graphic>
          <a:graphicData uri="http://schemas.openxmlformats.org/drawingml/2006/table">
            <a:tbl>
              <a:tblPr firstRow="1" bandRow="1">
                <a:tableStyleId>{5C22544A-7EE6-4342-B048-85BDC9FD1C3A}</a:tableStyleId>
              </a:tblPr>
              <a:tblGrid>
                <a:gridCol w="1874519"/>
                <a:gridCol w="914400"/>
                <a:gridCol w="914400"/>
              </a:tblGrid>
              <a:tr h="420624">
                <a:tc>
                  <a:txBody>
                    <a:bodyPr wrap="square"/>
                    <a:lstStyle/>
                    <a:p>
                      <a:pPr algn="ctr">
                        <a:defRPr sz="1250" b="1">
                          <a:solidFill>
                            <a:srgbClr val="FFFFFF"/>
                          </a:solidFill>
                          <a:latin typeface="Calibri"/>
                        </a:defRPr>
                      </a:pPr>
                      <a:r>
                        <a:t>Group</a:t>
                      </a:r>
                    </a:p>
                  </a:txBody>
                  <a:tcPr marL="45720" marR="45720" marT="9144" marB="9144" anchor="ctr">
                    <a:solidFill>
                      <a:srgbClr val="002B5C"/>
                    </a:solidFill>
                  </a:tcPr>
                </a:tc>
                <a:tc>
                  <a:txBody>
                    <a:bodyPr wrap="square"/>
                    <a:lstStyle/>
                    <a:p>
                      <a:pPr algn="ctr">
                        <a:defRPr sz="1250" b="1">
                          <a:solidFill>
                            <a:srgbClr val="FFFFFF"/>
                          </a:solidFill>
                          <a:latin typeface="Calibri"/>
                        </a:defRPr>
                      </a:pPr>
                      <a:r>
                        <a:t>Median</a:t>
                      </a:r>
                    </a:p>
                    <a:p>
                      <a:pPr algn="ctr">
                        <a:defRPr sz="1250" b="1">
                          <a:solidFill>
                            <a:srgbClr val="FFFFFF"/>
                          </a:solidFill>
                          <a:latin typeface="Calibri"/>
                        </a:defRPr>
                      </a:pPr>
                      <a:r>
                        <a:t>DTM</a:t>
                      </a:r>
                    </a:p>
                  </a:txBody>
                  <a:tcPr marL="45720" marR="45720" marT="9144" marB="9144" anchor="ctr">
                    <a:solidFill>
                      <a:srgbClr val="002B5C"/>
                    </a:solidFill>
                  </a:tcPr>
                </a:tc>
                <a:tc>
                  <a:txBody>
                    <a:bodyPr wrap="square"/>
                    <a:lstStyle/>
                    <a:p>
                      <a:pPr algn="ctr">
                        <a:defRPr sz="1250" b="1">
                          <a:solidFill>
                            <a:srgbClr val="FFFFFF"/>
                          </a:solidFill>
                          <a:latin typeface="Calibri"/>
                        </a:defRPr>
                      </a:pPr>
                      <a:r>
                        <a:t>Past</a:t>
                      </a:r>
                    </a:p>
                    <a:p>
                      <a:pPr algn="ctr">
                        <a:defRPr sz="1250" b="1">
                          <a:solidFill>
                            <a:srgbClr val="FFFFFF"/>
                          </a:solidFill>
                          <a:latin typeface="Calibri"/>
                        </a:defRPr>
                      </a:pPr>
                      <a:r>
                        <a:t>maturity</a:t>
                      </a:r>
                    </a:p>
                  </a:txBody>
                  <a:tcPr marL="45720" marR="45720" marT="9144" marB="9144" anchor="ctr">
                    <a:solidFill>
                      <a:srgbClr val="002B5C"/>
                    </a:solidFill>
                  </a:tcPr>
                </a:tc>
              </a:tr>
              <a:tr h="420624">
                <a:tc>
                  <a:txBody>
                    <a:bodyPr wrap="square"/>
                    <a:lstStyle/>
                    <a:p>
                      <a:pPr algn="l">
                        <a:defRPr sz="1250" b="0">
                          <a:solidFill>
                            <a:srgbClr val="333333"/>
                          </a:solidFill>
                          <a:latin typeface="Calibri"/>
                        </a:defRPr>
                      </a:pPr>
                      <a:r>
                        <a:t>1 — Standard</a:t>
                      </a:r>
                    </a:p>
                  </a:txBody>
                  <a:tcPr marL="45720" marR="45720" marT="9144" marB="9144" anchor="ctr"/>
                </a:tc>
                <a:tc>
                  <a:txBody>
                    <a:bodyPr wrap="square"/>
                    <a:lstStyle/>
                    <a:p>
                      <a:pPr algn="ctr">
                        <a:defRPr sz="1250" b="0">
                          <a:solidFill>
                            <a:srgbClr val="333333"/>
                          </a:solidFill>
                          <a:latin typeface="Calibri"/>
                        </a:defRPr>
                      </a:pPr>
                      <a:r>
                        <a:t>224</a:t>
                      </a:r>
                    </a:p>
                  </a:txBody>
                  <a:tcPr marL="45720" marR="45720" marT="9144" marB="9144" anchor="ctr"/>
                </a:tc>
                <a:tc>
                  <a:txBody>
                    <a:bodyPr wrap="square"/>
                    <a:lstStyle/>
                    <a:p>
                      <a:pPr algn="ctr">
                        <a:defRPr sz="1250" b="0">
                          <a:solidFill>
                            <a:srgbClr val="333333"/>
                          </a:solidFill>
                          <a:latin typeface="Calibri"/>
                        </a:defRPr>
                      </a:pPr>
                      <a:r>
                        <a:t>35.1%</a:t>
                      </a:r>
                    </a:p>
                  </a:txBody>
                  <a:tcPr marL="45720" marR="45720" marT="9144" marB="9144" anchor="ctr"/>
                </a:tc>
              </a:tr>
              <a:tr h="420624">
                <a:tc>
                  <a:txBody>
                    <a:bodyPr wrap="square"/>
                    <a:lstStyle/>
                    <a:p>
                      <a:pPr algn="l">
                        <a:defRPr sz="1250" b="0">
                          <a:solidFill>
                            <a:srgbClr val="333333"/>
                          </a:solidFill>
                          <a:latin typeface="Calibri"/>
                        </a:defRPr>
                      </a:pPr>
                      <a:r>
                        <a:t>2 — Special mention</a:t>
                      </a:r>
                    </a:p>
                  </a:txBody>
                  <a:tcPr marL="45720" marR="45720" marT="9144" marB="9144" anchor="ctr">
                    <a:solidFill>
                      <a:srgbClr val="F2F2F2"/>
                    </a:solidFill>
                  </a:tcPr>
                </a:tc>
                <a:tc>
                  <a:txBody>
                    <a:bodyPr wrap="square"/>
                    <a:lstStyle/>
                    <a:p>
                      <a:pPr algn="ctr">
                        <a:defRPr sz="1250" b="0">
                          <a:solidFill>
                            <a:srgbClr val="333333"/>
                          </a:solidFill>
                          <a:latin typeface="Calibri"/>
                        </a:defRPr>
                      </a:pPr>
                      <a:r>
                        <a:t>172</a:t>
                      </a:r>
                    </a:p>
                  </a:txBody>
                  <a:tcPr marL="45720" marR="45720" marT="9144" marB="9144" anchor="ctr">
                    <a:solidFill>
                      <a:srgbClr val="F2F2F2"/>
                    </a:solidFill>
                  </a:tcPr>
                </a:tc>
                <a:tc>
                  <a:txBody>
                    <a:bodyPr wrap="square"/>
                    <a:lstStyle/>
                    <a:p>
                      <a:pPr algn="ctr">
                        <a:defRPr sz="1250" b="0">
                          <a:solidFill>
                            <a:srgbClr val="333333"/>
                          </a:solidFill>
                          <a:latin typeface="Calibri"/>
                        </a:defRPr>
                      </a:pPr>
                      <a:r>
                        <a:t>44.2%</a:t>
                      </a:r>
                    </a:p>
                  </a:txBody>
                  <a:tcPr marL="45720" marR="45720" marT="9144" marB="9144" anchor="ctr">
                    <a:solidFill>
                      <a:srgbClr val="F2F2F2"/>
                    </a:solidFill>
                  </a:tcPr>
                </a:tc>
              </a:tr>
              <a:tr h="420624">
                <a:tc>
                  <a:txBody>
                    <a:bodyPr wrap="square"/>
                    <a:lstStyle/>
                    <a:p>
                      <a:pPr algn="l">
                        <a:defRPr sz="1250" b="0">
                          <a:solidFill>
                            <a:srgbClr val="333333"/>
                          </a:solidFill>
                          <a:latin typeface="Calibri"/>
                        </a:defRPr>
                      </a:pPr>
                      <a:r>
                        <a:t>3 — Sub-standard</a:t>
                      </a:r>
                    </a:p>
                  </a:txBody>
                  <a:tcPr marL="45720" marR="45720" marT="9144" marB="9144" anchor="ctr"/>
                </a:tc>
                <a:tc>
                  <a:txBody>
                    <a:bodyPr wrap="square"/>
                    <a:lstStyle/>
                    <a:p>
                      <a:pPr algn="ctr">
                        <a:defRPr sz="1250" b="0">
                          <a:solidFill>
                            <a:srgbClr val="333333"/>
                          </a:solidFill>
                          <a:latin typeface="Calibri"/>
                        </a:defRPr>
                      </a:pPr>
                      <a:r>
                        <a:t>−418</a:t>
                      </a:r>
                    </a:p>
                  </a:txBody>
                  <a:tcPr marL="45720" marR="45720" marT="9144" marB="9144" anchor="ctr"/>
                </a:tc>
                <a:tc>
                  <a:txBody>
                    <a:bodyPr wrap="square"/>
                    <a:lstStyle/>
                    <a:p>
                      <a:pPr algn="ctr">
                        <a:defRPr sz="1250" b="0">
                          <a:solidFill>
                            <a:srgbClr val="333333"/>
                          </a:solidFill>
                          <a:latin typeface="Calibri"/>
                        </a:defRPr>
                      </a:pPr>
                      <a:r>
                        <a:t>60.3%</a:t>
                      </a:r>
                    </a:p>
                  </a:txBody>
                  <a:tcPr marL="45720" marR="45720" marT="9144" marB="9144" anchor="ctr"/>
                </a:tc>
              </a:tr>
              <a:tr h="420624">
                <a:tc>
                  <a:txBody>
                    <a:bodyPr wrap="square"/>
                    <a:lstStyle/>
                    <a:p>
                      <a:pPr algn="l">
                        <a:defRPr sz="1250" b="0">
                          <a:solidFill>
                            <a:srgbClr val="333333"/>
                          </a:solidFill>
                          <a:latin typeface="Calibri"/>
                        </a:defRPr>
                      </a:pPr>
                      <a:r>
                        <a:t>4 — Doubtful</a:t>
                      </a:r>
                    </a:p>
                  </a:txBody>
                  <a:tcPr marL="45720" marR="45720" marT="9144" marB="9144" anchor="ctr">
                    <a:solidFill>
                      <a:srgbClr val="F2F2F2"/>
                    </a:solidFill>
                  </a:tcPr>
                </a:tc>
                <a:tc>
                  <a:txBody>
                    <a:bodyPr wrap="square"/>
                    <a:lstStyle/>
                    <a:p>
                      <a:pPr algn="ctr">
                        <a:defRPr sz="1250" b="0">
                          <a:solidFill>
                            <a:srgbClr val="333333"/>
                          </a:solidFill>
                          <a:latin typeface="Calibri"/>
                        </a:defRPr>
                      </a:pPr>
                      <a:r>
                        <a:t>−517</a:t>
                      </a:r>
                    </a:p>
                  </a:txBody>
                  <a:tcPr marL="45720" marR="45720" marT="9144" marB="9144" anchor="ctr">
                    <a:solidFill>
                      <a:srgbClr val="F2F2F2"/>
                    </a:solidFill>
                  </a:tcPr>
                </a:tc>
                <a:tc>
                  <a:txBody>
                    <a:bodyPr wrap="square"/>
                    <a:lstStyle/>
                    <a:p>
                      <a:pPr algn="ctr">
                        <a:defRPr sz="1250" b="0">
                          <a:solidFill>
                            <a:srgbClr val="333333"/>
                          </a:solidFill>
                          <a:latin typeface="Calibri"/>
                        </a:defRPr>
                      </a:pPr>
                      <a:r>
                        <a:t>68.1%</a:t>
                      </a:r>
                    </a:p>
                  </a:txBody>
                  <a:tcPr marL="45720" marR="45720" marT="9144" marB="9144" anchor="ctr">
                    <a:solidFill>
                      <a:srgbClr val="F2F2F2"/>
                    </a:solidFill>
                  </a:tcPr>
                </a:tc>
              </a:tr>
              <a:tr h="420624">
                <a:tc>
                  <a:txBody>
                    <a:bodyPr wrap="square"/>
                    <a:lstStyle/>
                    <a:p>
                      <a:pPr algn="l">
                        <a:defRPr sz="1250" b="0">
                          <a:solidFill>
                            <a:srgbClr val="333333"/>
                          </a:solidFill>
                          <a:latin typeface="Calibri"/>
                        </a:defRPr>
                      </a:pPr>
                      <a:r>
                        <a:t>5 — Loss</a:t>
                      </a:r>
                    </a:p>
                  </a:txBody>
                  <a:tcPr marL="45720" marR="45720" marT="9144" marB="9144" anchor="ctr"/>
                </a:tc>
                <a:tc>
                  <a:txBody>
                    <a:bodyPr wrap="square"/>
                    <a:lstStyle/>
                    <a:p>
                      <a:pPr algn="ctr">
                        <a:defRPr sz="1250" b="0">
                          <a:solidFill>
                            <a:srgbClr val="333333"/>
                          </a:solidFill>
                          <a:latin typeface="Calibri"/>
                        </a:defRPr>
                      </a:pPr>
                      <a:r>
                        <a:t>−2,236</a:t>
                      </a:r>
                    </a:p>
                  </a:txBody>
                  <a:tcPr marL="45720" marR="45720" marT="9144" marB="9144" anchor="ctr"/>
                </a:tc>
                <a:tc>
                  <a:txBody>
                    <a:bodyPr wrap="square"/>
                    <a:lstStyle/>
                    <a:p>
                      <a:pPr algn="ctr">
                        <a:defRPr sz="1250" b="0">
                          <a:solidFill>
                            <a:srgbClr val="333333"/>
                          </a:solidFill>
                          <a:latin typeface="Calibri"/>
                        </a:defRPr>
                      </a:pPr>
                      <a:r>
                        <a:t>92.1%</a:t>
                      </a:r>
                    </a:p>
                  </a:txBody>
                  <a:tcPr marL="45720" marR="45720" marT="9144" marB="9144" anchor="ctr"/>
                </a:tc>
              </a:tr>
            </a:tbl>
          </a:graphicData>
        </a:graphic>
      </p:graphicFrame>
      <p:sp>
        <p:nvSpPr>
          <p:cNvPr id="7" name="TextBox 6"/>
          <p:cNvSpPr txBox="1"/>
          <p:nvPr/>
        </p:nvSpPr>
        <p:spPr>
          <a:xfrm>
            <a:off x="548640" y="3886200"/>
            <a:ext cx="3703320" cy="1097280"/>
          </a:xfrm>
          <a:prstGeom prst="rect">
            <a:avLst/>
          </a:prstGeom>
          <a:noFill/>
        </p:spPr>
        <p:txBody>
          <a:bodyPr wrap="square" lIns="64008" rIns="64008" tIns="18288" bIns="18288">
            <a:noAutofit/>
          </a:bodyPr>
          <a:lstStyle/>
          <a:p>
            <a:pPr algn="l">
              <a:lnSpc>
                <a:spcPct val="120000"/>
              </a:lnSpc>
              <a:spcAft>
                <a:spcPts val="700"/>
              </a:spcAft>
              <a:defRPr sz="1300" b="0" i="0">
                <a:solidFill>
                  <a:srgbClr val="666666"/>
                </a:solidFill>
                <a:latin typeface="Calibri"/>
              </a:defRPr>
            </a:pPr>
            <a:r>
              <a:t>The monotone median is what raises the concern in the first place — and IV = 4.554 is far above any other admissible variable.</a:t>
            </a:r>
          </a:p>
        </p:txBody>
      </p:sp>
      <p:sp>
        <p:nvSpPr>
          <p:cNvPr id="8" name="TextBox 7"/>
          <p:cNvSpPr txBox="1"/>
          <p:nvPr/>
        </p:nvSpPr>
        <p:spPr>
          <a:xfrm>
            <a:off x="4572000" y="1207008"/>
            <a:ext cx="7086600" cy="3931920"/>
          </a:xfrm>
          <a:prstGeom prst="rect">
            <a:avLst/>
          </a:prstGeom>
          <a:noFill/>
        </p:spPr>
        <p:txBody>
          <a:bodyPr wrap="square" lIns="64008" rIns="64008" tIns="18288" bIns="18288">
            <a:noAutofit/>
          </a:bodyPr>
          <a:lstStyle/>
          <a:p>
            <a:pPr algn="l">
              <a:lnSpc>
                <a:spcPct val="120000"/>
              </a:lnSpc>
              <a:spcAft>
                <a:spcPts val="1000"/>
              </a:spcAft>
              <a:defRPr sz="1450" b="0" i="0">
                <a:solidFill>
                  <a:srgbClr val="333333"/>
                </a:solidFill>
                <a:latin typeface="Calibri"/>
              </a:defRPr>
            </a:pPr>
            <a:r>
              <a:t>1.  Univariate rule.   “Predict non-performing iff DAYS_TO_MATURITY &lt; 0” reconstructs the binary good/bad split at only 67.3% accuracy, F1 = 0.508 on the non-performing class — far from the near-perfect reconstruction that would signal algebraic equivalence. Compare NHOMNO, excluded at r = 0.98.</a:t>
            </a:r>
          </a:p>
          <a:p>
            <a:pPr algn="l">
              <a:lnSpc>
                <a:spcPct val="120000"/>
              </a:lnSpc>
              <a:spcAft>
                <a:spcPts val="1000"/>
              </a:spcAft>
              <a:defRPr sz="1450" b="0" i="0">
                <a:solidFill>
                  <a:srgbClr val="333333"/>
                </a:solidFill>
                <a:latin typeface="Calibri"/>
              </a:defRPr>
            </a:pPr>
            <a:r>
              <a:t>2.  Boundary behaviour.   35.1% of Group-1 loans are already past original maturity yet remain classified standard — plausibly rolled-over working capital. And 7.9% of Group-5 loans are not past maturity. Not a step function at any group boundary.</a:t>
            </a:r>
          </a:p>
          <a:p>
            <a:pPr algn="l">
              <a:lnSpc>
                <a:spcPct val="120000"/>
              </a:lnSpc>
              <a:spcAft>
                <a:spcPts val="1000"/>
              </a:spcAft>
              <a:defRPr sz="1450" b="0" i="0">
                <a:solidFill>
                  <a:srgbClr val="333333"/>
                </a:solidFill>
                <a:latin typeface="Calibri"/>
              </a:defRPr>
            </a:pPr>
            <a:r>
              <a:t>3.  Ablation.   Removing it costs 16–23% of Macro-F1 across four model × treatment combinations — a non-redundant contribution no other feature reproduces, but not the collapse a label copy would produce.</a:t>
            </a:r>
          </a:p>
          <a:p>
            <a:pPr algn="l">
              <a:lnSpc>
                <a:spcPct val="120000"/>
              </a:lnSpc>
              <a:spcAft>
                <a:spcPts val="700"/>
              </a:spcAft>
              <a:defRPr sz="1450" b="0" i="0">
                <a:solidFill>
                  <a:srgbClr val="333333"/>
                </a:solidFill>
                <a:latin typeface="Calibri"/>
              </a:defRPr>
            </a:pPr>
            <a:r>
              <a:t>4.  Reference-date invariance.   Macro-F1 identical to four decimal places across five values of d₀ from 31 Dec 2020 to 31 Dec 2023. The convention cannot have been tuned to flatter the model.</a:t>
            </a:r>
          </a:p>
        </p:txBody>
      </p:sp>
      <p:sp>
        <p:nvSpPr>
          <p:cNvPr id="9" name="Rectangle 8"/>
          <p:cNvSpPr/>
          <p:nvPr/>
        </p:nvSpPr>
        <p:spPr>
          <a:xfrm>
            <a:off x="548640" y="5138928"/>
            <a:ext cx="11155680" cy="1444752"/>
          </a:xfrm>
          <a:prstGeom prst="rect">
            <a:avLst/>
          </a:prstGeom>
          <a:solidFill>
            <a:srgbClr val="FB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31520" y="5248656"/>
            <a:ext cx="10789919" cy="1225296"/>
          </a:xfrm>
          <a:prstGeom prst="rect">
            <a:avLst/>
          </a:prstGeom>
          <a:noFill/>
        </p:spPr>
        <p:txBody>
          <a:bodyPr wrap="square" lIns="64008" rIns="64008" tIns="18288" bIns="18288">
            <a:noAutofit/>
          </a:bodyPr>
          <a:lstStyle/>
          <a:p>
            <a:pPr algn="l">
              <a:lnSpc>
                <a:spcPct val="124000"/>
              </a:lnSpc>
              <a:spcAft>
                <a:spcPts val="300"/>
              </a:spcAft>
              <a:defRPr sz="1450" b="1" i="0">
                <a:solidFill>
                  <a:srgbClr val="C00000"/>
                </a:solidFill>
                <a:latin typeface="Calibri"/>
              </a:defRPr>
            </a:pPr>
            <a:r>
              <a:t>None of this proves the absence of leakage.</a:t>
            </a:r>
          </a:p>
          <a:p>
            <a:pPr algn="l">
              <a:lnSpc>
                <a:spcPct val="120000"/>
              </a:lnSpc>
              <a:spcAft>
                <a:spcPts val="700"/>
              </a:spcAft>
              <a:defRPr sz="1350" b="0" i="0">
                <a:solidFill>
                  <a:srgbClr val="333333"/>
                </a:solidFill>
                <a:latin typeface="Calibri"/>
              </a:defRPr>
            </a:pPr>
            <a:r>
              <a:t>The raw 21-column file contains no “days past due” field of any kind, so a residual possibility that part of the variable's power reflects an unobserved overdue field correlated with it cannot be excluded from the data alone. Confirming this against the bank's actual classification methodology is required before any operational use.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118872"/>
            <a:ext cx="10332720" cy="475488"/>
          </a:xfrm>
          <a:prstGeom prst="rect">
            <a:avLst/>
          </a:prstGeom>
          <a:noFill/>
        </p:spPr>
        <p:txBody>
          <a:bodyPr wrap="square" lIns="64008" rIns="64008" tIns="18288" bIns="18288">
            <a:noAutofit/>
          </a:bodyPr>
          <a:lstStyle/>
          <a:p>
            <a:pPr algn="l">
              <a:lnSpc>
                <a:spcPct val="105000"/>
              </a:lnSpc>
              <a:spcAft>
                <a:spcPts val="400"/>
              </a:spcAft>
              <a:defRPr sz="2800" b="1" i="0">
                <a:solidFill>
                  <a:srgbClr val="FFFFFF"/>
                </a:solidFill>
                <a:latin typeface="Calibri"/>
              </a:defRPr>
            </a:pPr>
            <a:r>
              <a:t>RQ3: Gain vs. SHAP Feature-Group Importance</a:t>
            </a:r>
          </a:p>
        </p:txBody>
      </p:sp>
      <p:sp>
        <p:nvSpPr>
          <p:cNvPr id="4" name="TextBox 3"/>
          <p:cNvSpPr txBox="1"/>
          <p:nvPr/>
        </p:nvSpPr>
        <p:spPr>
          <a:xfrm>
            <a:off x="548640" y="621792"/>
            <a:ext cx="10332720" cy="329184"/>
          </a:xfrm>
          <a:prstGeom prst="rect">
            <a:avLst/>
          </a:prstGeom>
          <a:noFill/>
        </p:spPr>
        <p:txBody>
          <a:bodyPr wrap="square" lIns="64008" rIns="64008" tIns="18288" bIns="18288">
            <a:noAutofit/>
          </a:bodyPr>
          <a:lstStyle/>
          <a:p>
            <a:pPr algn="l">
              <a:lnSpc>
                <a:spcPct val="100000"/>
              </a:lnSpc>
              <a:spcAft>
                <a:spcPts val="400"/>
              </a:spcAft>
              <a:defRPr sz="1500" b="0" i="0">
                <a:solidFill>
                  <a:srgbClr val="BBDBF5"/>
                </a:solidFill>
                <a:latin typeface="Calibri"/>
              </a:defRPr>
            </a:pPr>
            <a:r>
              <a:t>Tables 8–9 — XGBoost and LightGBM, under both imbalance treatments</a:t>
            </a:r>
          </a:p>
        </p:txBody>
      </p:sp>
      <p:sp>
        <p:nvSpPr>
          <p:cNvPr id="5" name="TextBox 4"/>
          <p:cNvSpPr txBox="1"/>
          <p:nvPr/>
        </p:nvSpPr>
        <p:spPr>
          <a:xfrm>
            <a:off x="11201400" y="137160"/>
            <a:ext cx="777240" cy="365760"/>
          </a:xfrm>
          <a:prstGeom prst="rect">
            <a:avLst/>
          </a:prstGeom>
          <a:noFill/>
        </p:spPr>
        <p:txBody>
          <a:bodyPr wrap="square" lIns="64008" rIns="64008" tIns="18288" bIns="18288">
            <a:noAutofit/>
          </a:bodyPr>
          <a:lstStyle/>
          <a:p>
            <a:pPr algn="r">
              <a:spcAft>
                <a:spcPts val="400"/>
              </a:spcAft>
              <a:defRPr sz="1400" b="0" i="0">
                <a:solidFill>
                  <a:srgbClr val="FFFFFF"/>
                </a:solidFill>
                <a:latin typeface="Calibri"/>
              </a:defRPr>
            </a:pPr>
            <a:r>
              <a:t>11</a:t>
            </a:r>
          </a:p>
        </p:txBody>
      </p:sp>
      <p:sp>
        <p:nvSpPr>
          <p:cNvPr id="6" name="TextBox 5"/>
          <p:cNvSpPr txBox="1"/>
          <p:nvPr/>
        </p:nvSpPr>
        <p:spPr>
          <a:xfrm>
            <a:off x="548640" y="1078992"/>
            <a:ext cx="5029200" cy="310896"/>
          </a:xfrm>
          <a:prstGeom prst="rect">
            <a:avLst/>
          </a:prstGeom>
          <a:noFill/>
        </p:spPr>
        <p:txBody>
          <a:bodyPr wrap="square" lIns="64008" rIns="64008" tIns="18288" bIns="18288">
            <a:noAutofit/>
          </a:bodyPr>
          <a:lstStyle/>
          <a:p>
            <a:pPr algn="l">
              <a:lnSpc>
                <a:spcPct val="124000"/>
              </a:lnSpc>
              <a:spcAft>
                <a:spcPts val="700"/>
              </a:spcAft>
              <a:defRPr sz="1600" b="1" i="0">
                <a:solidFill>
                  <a:srgbClr val="C00000"/>
                </a:solidFill>
                <a:latin typeface="Calibri"/>
              </a:defRPr>
            </a:pPr>
            <a:r>
              <a:t>Gain-based  —  unstable</a:t>
            </a:r>
          </a:p>
        </p:txBody>
      </p:sp>
      <p:graphicFrame>
        <p:nvGraphicFramePr>
          <p:cNvPr id="7" name="Table 6"/>
          <p:cNvGraphicFramePr>
            <a:graphicFrameLocks noGrp="1"/>
          </p:cNvGraphicFramePr>
          <p:nvPr/>
        </p:nvGraphicFramePr>
        <p:xfrm>
          <a:off x="548640" y="1444752"/>
          <a:ext cx="5394960" cy="2688336"/>
        </p:xfrm>
        <a:graphic>
          <a:graphicData uri="http://schemas.openxmlformats.org/drawingml/2006/table">
            <a:tbl>
              <a:tblPr firstRow="1" bandRow="1">
                <a:tableStyleId>{5C22544A-7EE6-4342-B048-85BDC9FD1C3A}</a:tableStyleId>
              </a:tblPr>
              <a:tblGrid>
                <a:gridCol w="1956816"/>
                <a:gridCol w="859536"/>
                <a:gridCol w="859536"/>
                <a:gridCol w="859536"/>
                <a:gridCol w="859536"/>
              </a:tblGrid>
              <a:tr h="384048">
                <a:tc>
                  <a:txBody>
                    <a:bodyPr wrap="square"/>
                    <a:lstStyle/>
                    <a:p>
                      <a:pPr algn="ctr">
                        <a:defRPr sz="1200" b="1">
                          <a:solidFill>
                            <a:srgbClr val="FFFFFF"/>
                          </a:solidFill>
                          <a:latin typeface="Calibri"/>
                        </a:defRPr>
                      </a:pPr>
                      <a:r>
                        <a:t>Business group</a:t>
                      </a:r>
                    </a:p>
                  </a:txBody>
                  <a:tcPr marL="45720" marR="45720" marT="9144" marB="9144" anchor="ctr">
                    <a:solidFill>
                      <a:srgbClr val="8B0000"/>
                    </a:solidFill>
                  </a:tcPr>
                </a:tc>
                <a:tc>
                  <a:txBody>
                    <a:bodyPr wrap="square"/>
                    <a:lstStyle/>
                    <a:p>
                      <a:pPr algn="ctr">
                        <a:defRPr sz="1200" b="1">
                          <a:solidFill>
                            <a:srgbClr val="FFFFFF"/>
                          </a:solidFill>
                          <a:latin typeface="Calibri"/>
                        </a:defRPr>
                      </a:pPr>
                      <a:r>
                        <a:t>XGB</a:t>
                      </a:r>
                    </a:p>
                    <a:p>
                      <a:pPr algn="ctr">
                        <a:defRPr sz="1200" b="1">
                          <a:solidFill>
                            <a:srgbClr val="FFFFFF"/>
                          </a:solidFill>
                          <a:latin typeface="Calibri"/>
                        </a:defRPr>
                      </a:pPr>
                      <a:r>
                        <a:t>none</a:t>
                      </a:r>
                    </a:p>
                  </a:txBody>
                  <a:tcPr marL="45720" marR="45720" marT="9144" marB="9144" anchor="ctr">
                    <a:solidFill>
                      <a:srgbClr val="8B0000"/>
                    </a:solidFill>
                  </a:tcPr>
                </a:tc>
                <a:tc>
                  <a:txBody>
                    <a:bodyPr wrap="square"/>
                    <a:lstStyle/>
                    <a:p>
                      <a:pPr algn="ctr">
                        <a:defRPr sz="1200" b="1">
                          <a:solidFill>
                            <a:srgbClr val="FFFFFF"/>
                          </a:solidFill>
                          <a:latin typeface="Calibri"/>
                        </a:defRPr>
                      </a:pPr>
                      <a:r>
                        <a:t>LGBM</a:t>
                      </a:r>
                    </a:p>
                    <a:p>
                      <a:pPr algn="ctr">
                        <a:defRPr sz="1200" b="1">
                          <a:solidFill>
                            <a:srgbClr val="FFFFFF"/>
                          </a:solidFill>
                          <a:latin typeface="Calibri"/>
                        </a:defRPr>
                      </a:pPr>
                      <a:r>
                        <a:t>none</a:t>
                      </a:r>
                    </a:p>
                  </a:txBody>
                  <a:tcPr marL="45720" marR="45720" marT="9144" marB="9144" anchor="ctr">
                    <a:solidFill>
                      <a:srgbClr val="8B0000"/>
                    </a:solidFill>
                  </a:tcPr>
                </a:tc>
                <a:tc>
                  <a:txBody>
                    <a:bodyPr wrap="square"/>
                    <a:lstStyle/>
                    <a:p>
                      <a:pPr algn="ctr">
                        <a:defRPr sz="1200" b="1">
                          <a:solidFill>
                            <a:srgbClr val="FFFFFF"/>
                          </a:solidFill>
                          <a:latin typeface="Calibri"/>
                        </a:defRPr>
                      </a:pPr>
                      <a:r>
                        <a:t>XGB</a:t>
                      </a:r>
                    </a:p>
                    <a:p>
                      <a:pPr algn="ctr">
                        <a:defRPr sz="1200" b="1">
                          <a:solidFill>
                            <a:srgbClr val="FFFFFF"/>
                          </a:solidFill>
                          <a:latin typeface="Calibri"/>
                        </a:defRPr>
                      </a:pPr>
                      <a:r>
                        <a:t>wt.</a:t>
                      </a:r>
                    </a:p>
                  </a:txBody>
                  <a:tcPr marL="45720" marR="45720" marT="9144" marB="9144" anchor="ctr">
                    <a:solidFill>
                      <a:srgbClr val="8B0000"/>
                    </a:solidFill>
                  </a:tcPr>
                </a:tc>
                <a:tc>
                  <a:txBody>
                    <a:bodyPr wrap="square"/>
                    <a:lstStyle/>
                    <a:p>
                      <a:pPr algn="ctr">
                        <a:defRPr sz="1200" b="1">
                          <a:solidFill>
                            <a:srgbClr val="FFFFFF"/>
                          </a:solidFill>
                          <a:latin typeface="Calibri"/>
                        </a:defRPr>
                      </a:pPr>
                      <a:r>
                        <a:t>LGBM</a:t>
                      </a:r>
                    </a:p>
                    <a:p>
                      <a:pPr algn="ctr">
                        <a:defRPr sz="1200" b="1">
                          <a:solidFill>
                            <a:srgbClr val="FFFFFF"/>
                          </a:solidFill>
                          <a:latin typeface="Calibri"/>
                        </a:defRPr>
                      </a:pPr>
                      <a:r>
                        <a:t>wt.</a:t>
                      </a:r>
                    </a:p>
                  </a:txBody>
                  <a:tcPr marL="45720" marR="45720" marT="9144" marB="9144" anchor="ctr">
                    <a:solidFill>
                      <a:srgbClr val="8B0000"/>
                    </a:solidFill>
                  </a:tcPr>
                </a:tc>
              </a:tr>
              <a:tr h="384048">
                <a:tc>
                  <a:txBody>
                    <a:bodyPr wrap="square"/>
                    <a:lstStyle/>
                    <a:p>
                      <a:pPr algn="l">
                        <a:defRPr sz="1200" b="0">
                          <a:solidFill>
                            <a:srgbClr val="333333"/>
                          </a:solidFill>
                          <a:latin typeface="Calibri"/>
                        </a:defRPr>
                      </a:pPr>
                      <a:r>
                        <a:t>Loan tenure / maturity</a:t>
                      </a:r>
                    </a:p>
                  </a:txBody>
                  <a:tcPr marL="45720" marR="45720" marT="9144" marB="9144" anchor="ctr"/>
                </a:tc>
                <a:tc>
                  <a:txBody>
                    <a:bodyPr wrap="square"/>
                    <a:lstStyle/>
                    <a:p>
                      <a:pPr algn="ctr">
                        <a:defRPr sz="1200" b="0">
                          <a:solidFill>
                            <a:srgbClr val="333333"/>
                          </a:solidFill>
                          <a:latin typeface="Calibri"/>
                        </a:defRPr>
                      </a:pPr>
                      <a:r>
                        <a:t>43.1%</a:t>
                      </a:r>
                    </a:p>
                  </a:txBody>
                  <a:tcPr marL="45720" marR="45720" marT="9144" marB="9144" anchor="ctr"/>
                </a:tc>
                <a:tc>
                  <a:txBody>
                    <a:bodyPr wrap="square"/>
                    <a:lstStyle/>
                    <a:p>
                      <a:pPr algn="ctr">
                        <a:defRPr sz="1200" b="0">
                          <a:solidFill>
                            <a:srgbClr val="333333"/>
                          </a:solidFill>
                          <a:latin typeface="Calibri"/>
                        </a:defRPr>
                      </a:pPr>
                      <a:r>
                        <a:t>60.0%</a:t>
                      </a:r>
                    </a:p>
                  </a:txBody>
                  <a:tcPr marL="45720" marR="45720" marT="9144" marB="9144" anchor="ctr"/>
                </a:tc>
                <a:tc>
                  <a:txBody>
                    <a:bodyPr wrap="square"/>
                    <a:lstStyle/>
                    <a:p>
                      <a:pPr algn="ctr">
                        <a:defRPr sz="1200" b="0">
                          <a:solidFill>
                            <a:srgbClr val="333333"/>
                          </a:solidFill>
                          <a:latin typeface="Calibri"/>
                        </a:defRPr>
                      </a:pPr>
                      <a:r>
                        <a:t>31.7%</a:t>
                      </a:r>
                    </a:p>
                  </a:txBody>
                  <a:tcPr marL="45720" marR="45720" marT="9144" marB="9144" anchor="ctr"/>
                </a:tc>
                <a:tc>
                  <a:txBody>
                    <a:bodyPr wrap="square"/>
                    <a:lstStyle/>
                    <a:p>
                      <a:pPr algn="ctr">
                        <a:defRPr sz="1200" b="0">
                          <a:solidFill>
                            <a:srgbClr val="333333"/>
                          </a:solidFill>
                          <a:latin typeface="Calibri"/>
                        </a:defRPr>
                      </a:pPr>
                      <a:r>
                        <a:t>49.3%</a:t>
                      </a:r>
                    </a:p>
                  </a:txBody>
                  <a:tcPr marL="45720" marR="45720" marT="9144" marB="9144" anchor="ctr"/>
                </a:tc>
              </a:tr>
              <a:tr h="384048">
                <a:tc>
                  <a:txBody>
                    <a:bodyPr wrap="square"/>
                    <a:lstStyle/>
                    <a:p>
                      <a:pPr algn="l">
                        <a:defRPr sz="1200" b="0">
                          <a:solidFill>
                            <a:srgbClr val="333333"/>
                          </a:solidFill>
                          <a:latin typeface="Calibri"/>
                        </a:defRPr>
                      </a:pPr>
                      <a:r>
                        <a:t>Balance &amp; utilization</a:t>
                      </a:r>
                    </a:p>
                  </a:txBody>
                  <a:tcPr marL="45720" marR="45720" marT="9144" marB="9144" anchor="ctr">
                    <a:solidFill>
                      <a:srgbClr val="F2F2F2"/>
                    </a:solidFill>
                  </a:tcPr>
                </a:tc>
                <a:tc>
                  <a:txBody>
                    <a:bodyPr wrap="square"/>
                    <a:lstStyle/>
                    <a:p>
                      <a:pPr algn="ctr">
                        <a:defRPr sz="1200" b="0">
                          <a:solidFill>
                            <a:srgbClr val="333333"/>
                          </a:solidFill>
                          <a:latin typeface="Calibri"/>
                        </a:defRPr>
                      </a:pPr>
                      <a:r>
                        <a:t>11.2%</a:t>
                      </a:r>
                    </a:p>
                  </a:txBody>
                  <a:tcPr marL="45720" marR="45720" marT="9144" marB="9144" anchor="ctr">
                    <a:solidFill>
                      <a:srgbClr val="F2F2F2"/>
                    </a:solidFill>
                  </a:tcPr>
                </a:tc>
                <a:tc>
                  <a:txBody>
                    <a:bodyPr wrap="square"/>
                    <a:lstStyle/>
                    <a:p>
                      <a:pPr algn="ctr">
                        <a:defRPr sz="1200" b="0">
                          <a:solidFill>
                            <a:srgbClr val="333333"/>
                          </a:solidFill>
                          <a:latin typeface="Calibri"/>
                        </a:defRPr>
                      </a:pPr>
                      <a:r>
                        <a:t>18.3%</a:t>
                      </a:r>
                    </a:p>
                  </a:txBody>
                  <a:tcPr marL="45720" marR="45720" marT="9144" marB="9144" anchor="ctr">
                    <a:solidFill>
                      <a:srgbClr val="F2F2F2"/>
                    </a:solidFill>
                  </a:tcPr>
                </a:tc>
                <a:tc>
                  <a:txBody>
                    <a:bodyPr wrap="square"/>
                    <a:lstStyle/>
                    <a:p>
                      <a:pPr algn="ctr">
                        <a:defRPr sz="1200" b="0">
                          <a:solidFill>
                            <a:srgbClr val="333333"/>
                          </a:solidFill>
                          <a:latin typeface="Calibri"/>
                        </a:defRPr>
                      </a:pPr>
                      <a:r>
                        <a:t>16.8%</a:t>
                      </a:r>
                    </a:p>
                  </a:txBody>
                  <a:tcPr marL="45720" marR="45720" marT="9144" marB="9144" anchor="ctr">
                    <a:solidFill>
                      <a:srgbClr val="F2F2F2"/>
                    </a:solidFill>
                  </a:tcPr>
                </a:tc>
                <a:tc>
                  <a:txBody>
                    <a:bodyPr wrap="square"/>
                    <a:lstStyle/>
                    <a:p>
                      <a:pPr algn="ctr">
                        <a:defRPr sz="1200" b="0">
                          <a:solidFill>
                            <a:srgbClr val="333333"/>
                          </a:solidFill>
                          <a:latin typeface="Calibri"/>
                        </a:defRPr>
                      </a:pPr>
                      <a:r>
                        <a:t>24.6%</a:t>
                      </a:r>
                    </a:p>
                  </a:txBody>
                  <a:tcPr marL="45720" marR="45720" marT="9144" marB="9144" anchor="ctr">
                    <a:solidFill>
                      <a:srgbClr val="F2F2F2"/>
                    </a:solidFill>
                  </a:tcPr>
                </a:tc>
              </a:tr>
              <a:tr h="384048">
                <a:tc>
                  <a:txBody>
                    <a:bodyPr wrap="square"/>
                    <a:lstStyle/>
                    <a:p>
                      <a:pPr algn="l">
                        <a:defRPr sz="1200" b="0">
                          <a:solidFill>
                            <a:srgbClr val="333333"/>
                          </a:solidFill>
                          <a:latin typeface="Calibri"/>
                        </a:defRPr>
                      </a:pPr>
                      <a:r>
                        <a:t>Branch / org. unit</a:t>
                      </a:r>
                    </a:p>
                  </a:txBody>
                  <a:tcPr marL="45720" marR="45720" marT="9144" marB="9144" anchor="ctr"/>
                </a:tc>
                <a:tc>
                  <a:txBody>
                    <a:bodyPr wrap="square"/>
                    <a:lstStyle/>
                    <a:p>
                      <a:pPr algn="ctr">
                        <a:defRPr sz="1200" b="0">
                          <a:solidFill>
                            <a:srgbClr val="333333"/>
                          </a:solidFill>
                          <a:latin typeface="Calibri"/>
                        </a:defRPr>
                      </a:pPr>
                      <a:r>
                        <a:t>7.6%</a:t>
                      </a:r>
                    </a:p>
                  </a:txBody>
                  <a:tcPr marL="45720" marR="45720" marT="9144" marB="9144" anchor="ctr"/>
                </a:tc>
                <a:tc>
                  <a:txBody>
                    <a:bodyPr wrap="square"/>
                    <a:lstStyle/>
                    <a:p>
                      <a:pPr algn="ctr">
                        <a:defRPr sz="1200" b="0">
                          <a:solidFill>
                            <a:srgbClr val="333333"/>
                          </a:solidFill>
                          <a:latin typeface="Calibri"/>
                        </a:defRPr>
                      </a:pPr>
                      <a:r>
                        <a:t>9.1%</a:t>
                      </a:r>
                    </a:p>
                  </a:txBody>
                  <a:tcPr marL="45720" marR="45720" marT="9144" marB="9144" anchor="ctr"/>
                </a:tc>
                <a:tc>
                  <a:txBody>
                    <a:bodyPr wrap="square"/>
                    <a:lstStyle/>
                    <a:p>
                      <a:pPr algn="ctr">
                        <a:defRPr sz="1200" b="0">
                          <a:solidFill>
                            <a:srgbClr val="333333"/>
                          </a:solidFill>
                          <a:latin typeface="Calibri"/>
                        </a:defRPr>
                      </a:pPr>
                      <a:r>
                        <a:t>11.2%</a:t>
                      </a:r>
                    </a:p>
                  </a:txBody>
                  <a:tcPr marL="45720" marR="45720" marT="9144" marB="9144" anchor="ctr"/>
                </a:tc>
                <a:tc>
                  <a:txBody>
                    <a:bodyPr wrap="square"/>
                    <a:lstStyle/>
                    <a:p>
                      <a:pPr algn="ctr">
                        <a:defRPr sz="1200" b="0">
                          <a:solidFill>
                            <a:srgbClr val="333333"/>
                          </a:solidFill>
                          <a:latin typeface="Calibri"/>
                        </a:defRPr>
                      </a:pPr>
                      <a:r>
                        <a:t>12.5%</a:t>
                      </a:r>
                    </a:p>
                  </a:txBody>
                  <a:tcPr marL="45720" marR="45720" marT="9144" marB="9144" anchor="ctr"/>
                </a:tc>
              </a:tr>
              <a:tr h="384048">
                <a:tc>
                  <a:txBody>
                    <a:bodyPr wrap="square"/>
                    <a:lstStyle/>
                    <a:p>
                      <a:pPr algn="l">
                        <a:defRPr sz="1200" b="0">
                          <a:solidFill>
                            <a:srgbClr val="333333"/>
                          </a:solidFill>
                          <a:latin typeface="Calibri"/>
                        </a:defRPr>
                      </a:pPr>
                      <a:r>
                        <a:t>Product &amp; loan purpose</a:t>
                      </a:r>
                    </a:p>
                  </a:txBody>
                  <a:tcPr marL="45720" marR="45720" marT="9144" marB="9144" anchor="ctr">
                    <a:solidFill>
                      <a:srgbClr val="F2F2F2"/>
                    </a:solidFill>
                  </a:tcPr>
                </a:tc>
                <a:tc>
                  <a:txBody>
                    <a:bodyPr wrap="square"/>
                    <a:lstStyle/>
                    <a:p>
                      <a:pPr algn="ctr">
                        <a:defRPr sz="1200" b="0">
                          <a:solidFill>
                            <a:srgbClr val="333333"/>
                          </a:solidFill>
                          <a:latin typeface="Calibri"/>
                        </a:defRPr>
                      </a:pPr>
                      <a:r>
                        <a:t>24.7%</a:t>
                      </a:r>
                    </a:p>
                  </a:txBody>
                  <a:tcPr marL="45720" marR="45720" marT="9144" marB="9144" anchor="ctr">
                    <a:solidFill>
                      <a:srgbClr val="F2F2F2"/>
                    </a:solidFill>
                  </a:tcPr>
                </a:tc>
                <a:tc>
                  <a:txBody>
                    <a:bodyPr wrap="square"/>
                    <a:lstStyle/>
                    <a:p>
                      <a:pPr algn="ctr">
                        <a:defRPr sz="1200" b="0">
                          <a:solidFill>
                            <a:srgbClr val="333333"/>
                          </a:solidFill>
                          <a:latin typeface="Calibri"/>
                        </a:defRPr>
                      </a:pPr>
                      <a:r>
                        <a:t>7.1%</a:t>
                      </a:r>
                    </a:p>
                  </a:txBody>
                  <a:tcPr marL="45720" marR="45720" marT="9144" marB="9144" anchor="ctr">
                    <a:solidFill>
                      <a:srgbClr val="F2F2F2"/>
                    </a:solidFill>
                  </a:tcPr>
                </a:tc>
                <a:tc>
                  <a:txBody>
                    <a:bodyPr wrap="square"/>
                    <a:lstStyle/>
                    <a:p>
                      <a:pPr algn="ctr">
                        <a:defRPr sz="1200" b="0">
                          <a:solidFill>
                            <a:srgbClr val="333333"/>
                          </a:solidFill>
                          <a:latin typeface="Calibri"/>
                        </a:defRPr>
                      </a:pPr>
                      <a:r>
                        <a:t>21.7%</a:t>
                      </a:r>
                    </a:p>
                  </a:txBody>
                  <a:tcPr marL="45720" marR="45720" marT="9144" marB="9144" anchor="ctr">
                    <a:solidFill>
                      <a:srgbClr val="F2F2F2"/>
                    </a:solidFill>
                  </a:tcPr>
                </a:tc>
                <a:tc>
                  <a:txBody>
                    <a:bodyPr wrap="square"/>
                    <a:lstStyle/>
                    <a:p>
                      <a:pPr algn="ctr">
                        <a:defRPr sz="1200" b="0">
                          <a:solidFill>
                            <a:srgbClr val="333333"/>
                          </a:solidFill>
                          <a:latin typeface="Calibri"/>
                        </a:defRPr>
                      </a:pPr>
                      <a:r>
                        <a:t>5.7%</a:t>
                      </a:r>
                    </a:p>
                  </a:txBody>
                  <a:tcPr marL="45720" marR="45720" marT="9144" marB="9144" anchor="ctr">
                    <a:solidFill>
                      <a:srgbClr val="F2F2F2"/>
                    </a:solidFill>
                  </a:tcPr>
                </a:tc>
              </a:tr>
              <a:tr h="384048">
                <a:tc>
                  <a:txBody>
                    <a:bodyPr wrap="square"/>
                    <a:lstStyle/>
                    <a:p>
                      <a:pPr algn="l">
                        <a:defRPr sz="1200" b="0">
                          <a:solidFill>
                            <a:srgbClr val="333333"/>
                          </a:solidFill>
                          <a:latin typeface="Calibri"/>
                        </a:defRPr>
                      </a:pPr>
                      <a:r>
                        <a:t>Interest rate</a:t>
                      </a:r>
                    </a:p>
                  </a:txBody>
                  <a:tcPr marL="45720" marR="45720" marT="9144" marB="9144" anchor="ctr"/>
                </a:tc>
                <a:tc>
                  <a:txBody>
                    <a:bodyPr wrap="square"/>
                    <a:lstStyle/>
                    <a:p>
                      <a:pPr algn="ctr">
                        <a:defRPr sz="1200" b="0">
                          <a:solidFill>
                            <a:srgbClr val="333333"/>
                          </a:solidFill>
                          <a:latin typeface="Calibri"/>
                        </a:defRPr>
                      </a:pPr>
                      <a:r>
                        <a:t>7.7%</a:t>
                      </a:r>
                    </a:p>
                  </a:txBody>
                  <a:tcPr marL="45720" marR="45720" marT="9144" marB="9144" anchor="ctr"/>
                </a:tc>
                <a:tc>
                  <a:txBody>
                    <a:bodyPr wrap="square"/>
                    <a:lstStyle/>
                    <a:p>
                      <a:pPr algn="ctr">
                        <a:defRPr sz="1200" b="0">
                          <a:solidFill>
                            <a:srgbClr val="333333"/>
                          </a:solidFill>
                          <a:latin typeface="Calibri"/>
                        </a:defRPr>
                      </a:pPr>
                      <a:r>
                        <a:t>4.4%</a:t>
                      </a:r>
                    </a:p>
                  </a:txBody>
                  <a:tcPr marL="45720" marR="45720" marT="9144" marB="9144" anchor="ctr"/>
                </a:tc>
                <a:tc>
                  <a:txBody>
                    <a:bodyPr wrap="square"/>
                    <a:lstStyle/>
                    <a:p>
                      <a:pPr algn="ctr">
                        <a:defRPr sz="1200" b="0">
                          <a:solidFill>
                            <a:srgbClr val="333333"/>
                          </a:solidFill>
                          <a:latin typeface="Calibri"/>
                        </a:defRPr>
                      </a:pPr>
                      <a:r>
                        <a:t>9.0%</a:t>
                      </a:r>
                    </a:p>
                  </a:txBody>
                  <a:tcPr marL="45720" marR="45720" marT="9144" marB="9144" anchor="ctr"/>
                </a:tc>
                <a:tc>
                  <a:txBody>
                    <a:bodyPr wrap="square"/>
                    <a:lstStyle/>
                    <a:p>
                      <a:pPr algn="ctr">
                        <a:defRPr sz="1200" b="0">
                          <a:solidFill>
                            <a:srgbClr val="333333"/>
                          </a:solidFill>
                          <a:latin typeface="Calibri"/>
                        </a:defRPr>
                      </a:pPr>
                      <a:r>
                        <a:t>6.2%</a:t>
                      </a:r>
                    </a:p>
                  </a:txBody>
                  <a:tcPr marL="45720" marR="45720" marT="9144" marB="9144" anchor="ctr"/>
                </a:tc>
              </a:tr>
              <a:tr h="384048">
                <a:tc>
                  <a:txBody>
                    <a:bodyPr wrap="square"/>
                    <a:lstStyle/>
                    <a:p>
                      <a:pPr algn="l">
                        <a:defRPr sz="1200" b="0">
                          <a:solidFill>
                            <a:srgbClr val="333333"/>
                          </a:solidFill>
                          <a:latin typeface="Calibri"/>
                        </a:defRPr>
                      </a:pPr>
                      <a:r>
                        <a:t>Demographics (low IV)</a:t>
                      </a:r>
                    </a:p>
                  </a:txBody>
                  <a:tcPr marL="45720" marR="45720" marT="9144" marB="9144" anchor="ctr">
                    <a:solidFill>
                      <a:srgbClr val="F2F2F2"/>
                    </a:solidFill>
                  </a:tcPr>
                </a:tc>
                <a:tc>
                  <a:txBody>
                    <a:bodyPr wrap="square"/>
                    <a:lstStyle/>
                    <a:p>
                      <a:pPr algn="ctr">
                        <a:defRPr sz="1200" b="0">
                          <a:solidFill>
                            <a:srgbClr val="333333"/>
                          </a:solidFill>
                          <a:latin typeface="Calibri"/>
                        </a:defRPr>
                      </a:pPr>
                      <a:r>
                        <a:t>5.6%</a:t>
                      </a:r>
                    </a:p>
                  </a:txBody>
                  <a:tcPr marL="45720" marR="45720" marT="9144" marB="9144" anchor="ctr">
                    <a:solidFill>
                      <a:srgbClr val="F2F2F2"/>
                    </a:solidFill>
                  </a:tcPr>
                </a:tc>
                <a:tc>
                  <a:txBody>
                    <a:bodyPr wrap="square"/>
                    <a:lstStyle/>
                    <a:p>
                      <a:pPr algn="ctr">
                        <a:defRPr sz="1200" b="0">
                          <a:solidFill>
                            <a:srgbClr val="333333"/>
                          </a:solidFill>
                          <a:latin typeface="Calibri"/>
                        </a:defRPr>
                      </a:pPr>
                      <a:r>
                        <a:t>1.1%</a:t>
                      </a:r>
                    </a:p>
                  </a:txBody>
                  <a:tcPr marL="45720" marR="45720" marT="9144" marB="9144" anchor="ctr">
                    <a:solidFill>
                      <a:srgbClr val="F2F2F2"/>
                    </a:solidFill>
                  </a:tcPr>
                </a:tc>
                <a:tc>
                  <a:txBody>
                    <a:bodyPr wrap="square"/>
                    <a:lstStyle/>
                    <a:p>
                      <a:pPr algn="ctr">
                        <a:defRPr sz="1200" b="0">
                          <a:solidFill>
                            <a:srgbClr val="333333"/>
                          </a:solidFill>
                          <a:latin typeface="Calibri"/>
                        </a:defRPr>
                      </a:pPr>
                      <a:r>
                        <a:t>9.7%</a:t>
                      </a:r>
                    </a:p>
                  </a:txBody>
                  <a:tcPr marL="45720" marR="45720" marT="9144" marB="9144" anchor="ctr">
                    <a:solidFill>
                      <a:srgbClr val="F2F2F2"/>
                    </a:solidFill>
                  </a:tcPr>
                </a:tc>
                <a:tc>
                  <a:txBody>
                    <a:bodyPr wrap="square"/>
                    <a:lstStyle/>
                    <a:p>
                      <a:pPr algn="ctr">
                        <a:defRPr sz="1200" b="0">
                          <a:solidFill>
                            <a:srgbClr val="333333"/>
                          </a:solidFill>
                          <a:latin typeface="Calibri"/>
                        </a:defRPr>
                      </a:pPr>
                      <a:r>
                        <a:t>1.6%</a:t>
                      </a:r>
                    </a:p>
                  </a:txBody>
                  <a:tcPr marL="45720" marR="45720" marT="9144" marB="9144" anchor="ctr">
                    <a:solidFill>
                      <a:srgbClr val="F2F2F2"/>
                    </a:solidFill>
                  </a:tcPr>
                </a:tc>
              </a:tr>
            </a:tbl>
          </a:graphicData>
        </a:graphic>
      </p:graphicFrame>
      <p:sp>
        <p:nvSpPr>
          <p:cNvPr id="8" name="TextBox 7"/>
          <p:cNvSpPr txBox="1"/>
          <p:nvPr/>
        </p:nvSpPr>
        <p:spPr>
          <a:xfrm>
            <a:off x="6309360" y="1078992"/>
            <a:ext cx="5029200" cy="310896"/>
          </a:xfrm>
          <a:prstGeom prst="rect">
            <a:avLst/>
          </a:prstGeom>
          <a:noFill/>
        </p:spPr>
        <p:txBody>
          <a:bodyPr wrap="square" lIns="64008" rIns="64008" tIns="18288" bIns="18288">
            <a:noAutofit/>
          </a:bodyPr>
          <a:lstStyle/>
          <a:p>
            <a:pPr algn="l">
              <a:lnSpc>
                <a:spcPct val="124000"/>
              </a:lnSpc>
              <a:spcAft>
                <a:spcPts val="700"/>
              </a:spcAft>
              <a:defRPr sz="1600" b="1" i="0">
                <a:solidFill>
                  <a:srgbClr val="008000"/>
                </a:solidFill>
                <a:latin typeface="Calibri"/>
              </a:defRPr>
            </a:pPr>
            <a:r>
              <a:t>SHAP-based  —  stable</a:t>
            </a:r>
          </a:p>
        </p:txBody>
      </p:sp>
      <p:graphicFrame>
        <p:nvGraphicFramePr>
          <p:cNvPr id="9" name="Table 8"/>
          <p:cNvGraphicFramePr>
            <a:graphicFrameLocks noGrp="1"/>
          </p:cNvGraphicFramePr>
          <p:nvPr/>
        </p:nvGraphicFramePr>
        <p:xfrm>
          <a:off x="6309359" y="1444752"/>
          <a:ext cx="5394960" cy="2688336"/>
        </p:xfrm>
        <a:graphic>
          <a:graphicData uri="http://schemas.openxmlformats.org/drawingml/2006/table">
            <a:tbl>
              <a:tblPr firstRow="1" bandRow="1">
                <a:tableStyleId>{5C22544A-7EE6-4342-B048-85BDC9FD1C3A}</a:tableStyleId>
              </a:tblPr>
              <a:tblGrid>
                <a:gridCol w="1956816"/>
                <a:gridCol w="859536"/>
                <a:gridCol w="859536"/>
                <a:gridCol w="859536"/>
                <a:gridCol w="859536"/>
              </a:tblGrid>
              <a:tr h="384048">
                <a:tc>
                  <a:txBody>
                    <a:bodyPr wrap="square"/>
                    <a:lstStyle/>
                    <a:p>
                      <a:pPr algn="ctr">
                        <a:defRPr sz="1200" b="1">
                          <a:solidFill>
                            <a:srgbClr val="FFFFFF"/>
                          </a:solidFill>
                          <a:latin typeface="Calibri"/>
                        </a:defRPr>
                      </a:pPr>
                      <a:r>
                        <a:t>Business group</a:t>
                      </a:r>
                    </a:p>
                  </a:txBody>
                  <a:tcPr marL="45720" marR="45720" marT="9144" marB="9144" anchor="ctr">
                    <a:solidFill>
                      <a:srgbClr val="006000"/>
                    </a:solidFill>
                  </a:tcPr>
                </a:tc>
                <a:tc>
                  <a:txBody>
                    <a:bodyPr wrap="square"/>
                    <a:lstStyle/>
                    <a:p>
                      <a:pPr algn="ctr">
                        <a:defRPr sz="1200" b="1">
                          <a:solidFill>
                            <a:srgbClr val="FFFFFF"/>
                          </a:solidFill>
                          <a:latin typeface="Calibri"/>
                        </a:defRPr>
                      </a:pPr>
                      <a:r>
                        <a:t>XGB</a:t>
                      </a:r>
                    </a:p>
                    <a:p>
                      <a:pPr algn="ctr">
                        <a:defRPr sz="1200" b="1">
                          <a:solidFill>
                            <a:srgbClr val="FFFFFF"/>
                          </a:solidFill>
                          <a:latin typeface="Calibri"/>
                        </a:defRPr>
                      </a:pPr>
                      <a:r>
                        <a:t>none</a:t>
                      </a:r>
                    </a:p>
                  </a:txBody>
                  <a:tcPr marL="45720" marR="45720" marT="9144" marB="9144" anchor="ctr">
                    <a:solidFill>
                      <a:srgbClr val="006000"/>
                    </a:solidFill>
                  </a:tcPr>
                </a:tc>
                <a:tc>
                  <a:txBody>
                    <a:bodyPr wrap="square"/>
                    <a:lstStyle/>
                    <a:p>
                      <a:pPr algn="ctr">
                        <a:defRPr sz="1200" b="1">
                          <a:solidFill>
                            <a:srgbClr val="FFFFFF"/>
                          </a:solidFill>
                          <a:latin typeface="Calibri"/>
                        </a:defRPr>
                      </a:pPr>
                      <a:r>
                        <a:t>LGBM</a:t>
                      </a:r>
                    </a:p>
                    <a:p>
                      <a:pPr algn="ctr">
                        <a:defRPr sz="1200" b="1">
                          <a:solidFill>
                            <a:srgbClr val="FFFFFF"/>
                          </a:solidFill>
                          <a:latin typeface="Calibri"/>
                        </a:defRPr>
                      </a:pPr>
                      <a:r>
                        <a:t>none</a:t>
                      </a:r>
                    </a:p>
                  </a:txBody>
                  <a:tcPr marL="45720" marR="45720" marT="9144" marB="9144" anchor="ctr">
                    <a:solidFill>
                      <a:srgbClr val="006000"/>
                    </a:solidFill>
                  </a:tcPr>
                </a:tc>
                <a:tc>
                  <a:txBody>
                    <a:bodyPr wrap="square"/>
                    <a:lstStyle/>
                    <a:p>
                      <a:pPr algn="ctr">
                        <a:defRPr sz="1200" b="1">
                          <a:solidFill>
                            <a:srgbClr val="FFFFFF"/>
                          </a:solidFill>
                          <a:latin typeface="Calibri"/>
                        </a:defRPr>
                      </a:pPr>
                      <a:r>
                        <a:t>XGB</a:t>
                      </a:r>
                    </a:p>
                    <a:p>
                      <a:pPr algn="ctr">
                        <a:defRPr sz="1200" b="1">
                          <a:solidFill>
                            <a:srgbClr val="FFFFFF"/>
                          </a:solidFill>
                          <a:latin typeface="Calibri"/>
                        </a:defRPr>
                      </a:pPr>
                      <a:r>
                        <a:t>wt.</a:t>
                      </a:r>
                    </a:p>
                  </a:txBody>
                  <a:tcPr marL="45720" marR="45720" marT="9144" marB="9144" anchor="ctr">
                    <a:solidFill>
                      <a:srgbClr val="006000"/>
                    </a:solidFill>
                  </a:tcPr>
                </a:tc>
                <a:tc>
                  <a:txBody>
                    <a:bodyPr wrap="square"/>
                    <a:lstStyle/>
                    <a:p>
                      <a:pPr algn="ctr">
                        <a:defRPr sz="1200" b="1">
                          <a:solidFill>
                            <a:srgbClr val="FFFFFF"/>
                          </a:solidFill>
                          <a:latin typeface="Calibri"/>
                        </a:defRPr>
                      </a:pPr>
                      <a:r>
                        <a:t>LGBM</a:t>
                      </a:r>
                    </a:p>
                    <a:p>
                      <a:pPr algn="ctr">
                        <a:defRPr sz="1200" b="1">
                          <a:solidFill>
                            <a:srgbClr val="FFFFFF"/>
                          </a:solidFill>
                          <a:latin typeface="Calibri"/>
                        </a:defRPr>
                      </a:pPr>
                      <a:r>
                        <a:t>wt.</a:t>
                      </a:r>
                    </a:p>
                  </a:txBody>
                  <a:tcPr marL="45720" marR="45720" marT="9144" marB="9144" anchor="ctr">
                    <a:solidFill>
                      <a:srgbClr val="006000"/>
                    </a:solidFill>
                  </a:tcPr>
                </a:tc>
              </a:tr>
              <a:tr h="384048">
                <a:tc>
                  <a:txBody>
                    <a:bodyPr wrap="square"/>
                    <a:lstStyle/>
                    <a:p>
                      <a:pPr algn="l">
                        <a:defRPr sz="1200" b="0">
                          <a:solidFill>
                            <a:srgbClr val="333333"/>
                          </a:solidFill>
                          <a:latin typeface="Calibri"/>
                        </a:defRPr>
                      </a:pPr>
                      <a:r>
                        <a:t>Loan tenure / maturity</a:t>
                      </a:r>
                    </a:p>
                  </a:txBody>
                  <a:tcPr marL="45720" marR="45720" marT="9144" marB="9144" anchor="ctr"/>
                </a:tc>
                <a:tc>
                  <a:txBody>
                    <a:bodyPr wrap="square"/>
                    <a:lstStyle/>
                    <a:p>
                      <a:pPr algn="ctr">
                        <a:defRPr sz="1200" b="0">
                          <a:solidFill>
                            <a:srgbClr val="333333"/>
                          </a:solidFill>
                          <a:latin typeface="Calibri"/>
                        </a:defRPr>
                      </a:pPr>
                      <a:r>
                        <a:t>40.8%</a:t>
                      </a:r>
                    </a:p>
                  </a:txBody>
                  <a:tcPr marL="45720" marR="45720" marT="9144" marB="9144" anchor="ctr"/>
                </a:tc>
                <a:tc>
                  <a:txBody>
                    <a:bodyPr wrap="square"/>
                    <a:lstStyle/>
                    <a:p>
                      <a:pPr algn="ctr">
                        <a:defRPr sz="1200" b="0">
                          <a:solidFill>
                            <a:srgbClr val="333333"/>
                          </a:solidFill>
                          <a:latin typeface="Calibri"/>
                        </a:defRPr>
                      </a:pPr>
                      <a:r>
                        <a:t>41.2%</a:t>
                      </a:r>
                    </a:p>
                  </a:txBody>
                  <a:tcPr marL="45720" marR="45720" marT="9144" marB="9144" anchor="ctr"/>
                </a:tc>
                <a:tc>
                  <a:txBody>
                    <a:bodyPr wrap="square"/>
                    <a:lstStyle/>
                    <a:p>
                      <a:pPr algn="ctr">
                        <a:defRPr sz="1200" b="0">
                          <a:solidFill>
                            <a:srgbClr val="333333"/>
                          </a:solidFill>
                          <a:latin typeface="Calibri"/>
                        </a:defRPr>
                      </a:pPr>
                      <a:r>
                        <a:t>42.0%</a:t>
                      </a:r>
                    </a:p>
                  </a:txBody>
                  <a:tcPr marL="45720" marR="45720" marT="9144" marB="9144" anchor="ctr"/>
                </a:tc>
                <a:tc>
                  <a:txBody>
                    <a:bodyPr wrap="square"/>
                    <a:lstStyle/>
                    <a:p>
                      <a:pPr algn="ctr">
                        <a:defRPr sz="1200" b="0">
                          <a:solidFill>
                            <a:srgbClr val="333333"/>
                          </a:solidFill>
                          <a:latin typeface="Calibri"/>
                        </a:defRPr>
                      </a:pPr>
                      <a:r>
                        <a:t>42.8%</a:t>
                      </a:r>
                    </a:p>
                  </a:txBody>
                  <a:tcPr marL="45720" marR="45720" marT="9144" marB="9144" anchor="ctr"/>
                </a:tc>
              </a:tr>
              <a:tr h="384048">
                <a:tc>
                  <a:txBody>
                    <a:bodyPr wrap="square"/>
                    <a:lstStyle/>
                    <a:p>
                      <a:pPr algn="l">
                        <a:defRPr sz="1200" b="0">
                          <a:solidFill>
                            <a:srgbClr val="333333"/>
                          </a:solidFill>
                          <a:latin typeface="Calibri"/>
                        </a:defRPr>
                      </a:pPr>
                      <a:r>
                        <a:t>Balance &amp; utilization</a:t>
                      </a:r>
                    </a:p>
                  </a:txBody>
                  <a:tcPr marL="45720" marR="45720" marT="9144" marB="9144" anchor="ctr">
                    <a:solidFill>
                      <a:srgbClr val="F2F2F2"/>
                    </a:solidFill>
                  </a:tcPr>
                </a:tc>
                <a:tc>
                  <a:txBody>
                    <a:bodyPr wrap="square"/>
                    <a:lstStyle/>
                    <a:p>
                      <a:pPr algn="ctr">
                        <a:defRPr sz="1200" b="0">
                          <a:solidFill>
                            <a:srgbClr val="333333"/>
                          </a:solidFill>
                          <a:latin typeface="Calibri"/>
                        </a:defRPr>
                      </a:pPr>
                      <a:r>
                        <a:t>26.1%</a:t>
                      </a:r>
                    </a:p>
                  </a:txBody>
                  <a:tcPr marL="45720" marR="45720" marT="9144" marB="9144" anchor="ctr">
                    <a:solidFill>
                      <a:srgbClr val="F2F2F2"/>
                    </a:solidFill>
                  </a:tcPr>
                </a:tc>
                <a:tc>
                  <a:txBody>
                    <a:bodyPr wrap="square"/>
                    <a:lstStyle/>
                    <a:p>
                      <a:pPr algn="ctr">
                        <a:defRPr sz="1200" b="0">
                          <a:solidFill>
                            <a:srgbClr val="333333"/>
                          </a:solidFill>
                          <a:latin typeface="Calibri"/>
                        </a:defRPr>
                      </a:pPr>
                      <a:r>
                        <a:t>27.9%</a:t>
                      </a:r>
                    </a:p>
                  </a:txBody>
                  <a:tcPr marL="45720" marR="45720" marT="9144" marB="9144" anchor="ctr">
                    <a:solidFill>
                      <a:srgbClr val="F2F2F2"/>
                    </a:solidFill>
                  </a:tcPr>
                </a:tc>
                <a:tc>
                  <a:txBody>
                    <a:bodyPr wrap="square"/>
                    <a:lstStyle/>
                    <a:p>
                      <a:pPr algn="ctr">
                        <a:defRPr sz="1200" b="0">
                          <a:solidFill>
                            <a:srgbClr val="333333"/>
                          </a:solidFill>
                          <a:latin typeface="Calibri"/>
                        </a:defRPr>
                      </a:pPr>
                      <a:r>
                        <a:t>28.0%</a:t>
                      </a:r>
                    </a:p>
                  </a:txBody>
                  <a:tcPr marL="45720" marR="45720" marT="9144" marB="9144" anchor="ctr">
                    <a:solidFill>
                      <a:srgbClr val="F2F2F2"/>
                    </a:solidFill>
                  </a:tcPr>
                </a:tc>
                <a:tc>
                  <a:txBody>
                    <a:bodyPr wrap="square"/>
                    <a:lstStyle/>
                    <a:p>
                      <a:pPr algn="ctr">
                        <a:defRPr sz="1200" b="0">
                          <a:solidFill>
                            <a:srgbClr val="333333"/>
                          </a:solidFill>
                          <a:latin typeface="Calibri"/>
                        </a:defRPr>
                      </a:pPr>
                      <a:r>
                        <a:t>28.7%</a:t>
                      </a:r>
                    </a:p>
                  </a:txBody>
                  <a:tcPr marL="45720" marR="45720" marT="9144" marB="9144" anchor="ctr">
                    <a:solidFill>
                      <a:srgbClr val="F2F2F2"/>
                    </a:solidFill>
                  </a:tcPr>
                </a:tc>
              </a:tr>
              <a:tr h="384048">
                <a:tc>
                  <a:txBody>
                    <a:bodyPr wrap="square"/>
                    <a:lstStyle/>
                    <a:p>
                      <a:pPr algn="l">
                        <a:defRPr sz="1200" b="0">
                          <a:solidFill>
                            <a:srgbClr val="333333"/>
                          </a:solidFill>
                          <a:latin typeface="Calibri"/>
                        </a:defRPr>
                      </a:pPr>
                      <a:r>
                        <a:t>Branch / org. unit</a:t>
                      </a:r>
                    </a:p>
                  </a:txBody>
                  <a:tcPr marL="45720" marR="45720" marT="9144" marB="9144" anchor="ctr"/>
                </a:tc>
                <a:tc>
                  <a:txBody>
                    <a:bodyPr wrap="square"/>
                    <a:lstStyle/>
                    <a:p>
                      <a:pPr algn="ctr">
                        <a:defRPr sz="1200" b="0">
                          <a:solidFill>
                            <a:srgbClr val="333333"/>
                          </a:solidFill>
                          <a:latin typeface="Calibri"/>
                        </a:defRPr>
                      </a:pPr>
                      <a:r>
                        <a:t>14.8%</a:t>
                      </a:r>
                    </a:p>
                  </a:txBody>
                  <a:tcPr marL="45720" marR="45720" marT="9144" marB="9144" anchor="ctr"/>
                </a:tc>
                <a:tc>
                  <a:txBody>
                    <a:bodyPr wrap="square"/>
                    <a:lstStyle/>
                    <a:p>
                      <a:pPr algn="ctr">
                        <a:defRPr sz="1200" b="0">
                          <a:solidFill>
                            <a:srgbClr val="333333"/>
                          </a:solidFill>
                          <a:latin typeface="Calibri"/>
                        </a:defRPr>
                      </a:pPr>
                      <a:r>
                        <a:t>14.1%</a:t>
                      </a:r>
                    </a:p>
                  </a:txBody>
                  <a:tcPr marL="45720" marR="45720" marT="9144" marB="9144" anchor="ctr"/>
                </a:tc>
                <a:tc>
                  <a:txBody>
                    <a:bodyPr wrap="square"/>
                    <a:lstStyle/>
                    <a:p>
                      <a:pPr algn="ctr">
                        <a:defRPr sz="1200" b="0">
                          <a:solidFill>
                            <a:srgbClr val="333333"/>
                          </a:solidFill>
                          <a:latin typeface="Calibri"/>
                        </a:defRPr>
                      </a:pPr>
                      <a:r>
                        <a:t>13.9%</a:t>
                      </a:r>
                    </a:p>
                  </a:txBody>
                  <a:tcPr marL="45720" marR="45720" marT="9144" marB="9144" anchor="ctr"/>
                </a:tc>
                <a:tc>
                  <a:txBody>
                    <a:bodyPr wrap="square"/>
                    <a:lstStyle/>
                    <a:p>
                      <a:pPr algn="ctr">
                        <a:defRPr sz="1200" b="0">
                          <a:solidFill>
                            <a:srgbClr val="333333"/>
                          </a:solidFill>
                          <a:latin typeface="Calibri"/>
                        </a:defRPr>
                      </a:pPr>
                      <a:r>
                        <a:t>13.7%</a:t>
                      </a:r>
                    </a:p>
                  </a:txBody>
                  <a:tcPr marL="45720" marR="45720" marT="9144" marB="9144" anchor="ctr"/>
                </a:tc>
              </a:tr>
              <a:tr h="384048">
                <a:tc>
                  <a:txBody>
                    <a:bodyPr wrap="square"/>
                    <a:lstStyle/>
                    <a:p>
                      <a:pPr algn="l">
                        <a:defRPr sz="1200" b="0">
                          <a:solidFill>
                            <a:srgbClr val="333333"/>
                          </a:solidFill>
                          <a:latin typeface="Calibri"/>
                        </a:defRPr>
                      </a:pPr>
                      <a:r>
                        <a:t>Interest rate</a:t>
                      </a:r>
                    </a:p>
                  </a:txBody>
                  <a:tcPr marL="45720" marR="45720" marT="9144" marB="9144" anchor="ctr">
                    <a:solidFill>
                      <a:srgbClr val="F2F2F2"/>
                    </a:solidFill>
                  </a:tcPr>
                </a:tc>
                <a:tc>
                  <a:txBody>
                    <a:bodyPr wrap="square"/>
                    <a:lstStyle/>
                    <a:p>
                      <a:pPr algn="ctr">
                        <a:defRPr sz="1200" b="0">
                          <a:solidFill>
                            <a:srgbClr val="333333"/>
                          </a:solidFill>
                          <a:latin typeface="Calibri"/>
                        </a:defRPr>
                      </a:pPr>
                      <a:r>
                        <a:t>9.8%</a:t>
                      </a:r>
                    </a:p>
                  </a:txBody>
                  <a:tcPr marL="45720" marR="45720" marT="9144" marB="9144" anchor="ctr">
                    <a:solidFill>
                      <a:srgbClr val="F2F2F2"/>
                    </a:solidFill>
                  </a:tcPr>
                </a:tc>
                <a:tc>
                  <a:txBody>
                    <a:bodyPr wrap="square"/>
                    <a:lstStyle/>
                    <a:p>
                      <a:pPr algn="ctr">
                        <a:defRPr sz="1200" b="0">
                          <a:solidFill>
                            <a:srgbClr val="333333"/>
                          </a:solidFill>
                          <a:latin typeface="Calibri"/>
                        </a:defRPr>
                      </a:pPr>
                      <a:r>
                        <a:t>8.8%</a:t>
                      </a:r>
                    </a:p>
                  </a:txBody>
                  <a:tcPr marL="45720" marR="45720" marT="9144" marB="9144" anchor="ctr">
                    <a:solidFill>
                      <a:srgbClr val="F2F2F2"/>
                    </a:solidFill>
                  </a:tcPr>
                </a:tc>
                <a:tc>
                  <a:txBody>
                    <a:bodyPr wrap="square"/>
                    <a:lstStyle/>
                    <a:p>
                      <a:pPr algn="ctr">
                        <a:defRPr sz="1200" b="0">
                          <a:solidFill>
                            <a:srgbClr val="333333"/>
                          </a:solidFill>
                          <a:latin typeface="Calibri"/>
                        </a:defRPr>
                      </a:pPr>
                      <a:r>
                        <a:t>8.3%</a:t>
                      </a:r>
                    </a:p>
                  </a:txBody>
                  <a:tcPr marL="45720" marR="45720" marT="9144" marB="9144" anchor="ctr">
                    <a:solidFill>
                      <a:srgbClr val="F2F2F2"/>
                    </a:solidFill>
                  </a:tcPr>
                </a:tc>
                <a:tc>
                  <a:txBody>
                    <a:bodyPr wrap="square"/>
                    <a:lstStyle/>
                    <a:p>
                      <a:pPr algn="ctr">
                        <a:defRPr sz="1200" b="0">
                          <a:solidFill>
                            <a:srgbClr val="333333"/>
                          </a:solidFill>
                          <a:latin typeface="Calibri"/>
                        </a:defRPr>
                      </a:pPr>
                      <a:r>
                        <a:t>6.7%</a:t>
                      </a:r>
                    </a:p>
                  </a:txBody>
                  <a:tcPr marL="45720" marR="45720" marT="9144" marB="9144" anchor="ctr">
                    <a:solidFill>
                      <a:srgbClr val="F2F2F2"/>
                    </a:solidFill>
                  </a:tcPr>
                </a:tc>
              </a:tr>
              <a:tr h="384048">
                <a:tc>
                  <a:txBody>
                    <a:bodyPr wrap="square"/>
                    <a:lstStyle/>
                    <a:p>
                      <a:pPr algn="l">
                        <a:defRPr sz="1200" b="0">
                          <a:solidFill>
                            <a:srgbClr val="333333"/>
                          </a:solidFill>
                          <a:latin typeface="Calibri"/>
                        </a:defRPr>
                      </a:pPr>
                      <a:r>
                        <a:t>Product &amp; loan purpose</a:t>
                      </a:r>
                    </a:p>
                  </a:txBody>
                  <a:tcPr marL="45720" marR="45720" marT="9144" marB="9144" anchor="ctr"/>
                </a:tc>
                <a:tc>
                  <a:txBody>
                    <a:bodyPr wrap="square"/>
                    <a:lstStyle/>
                    <a:p>
                      <a:pPr algn="ctr">
                        <a:defRPr sz="1200" b="0">
                          <a:solidFill>
                            <a:srgbClr val="333333"/>
                          </a:solidFill>
                          <a:latin typeface="Calibri"/>
                        </a:defRPr>
                      </a:pPr>
                      <a:r>
                        <a:t>8.5%</a:t>
                      </a:r>
                    </a:p>
                  </a:txBody>
                  <a:tcPr marL="45720" marR="45720" marT="9144" marB="9144" anchor="ctr"/>
                </a:tc>
                <a:tc>
                  <a:txBody>
                    <a:bodyPr wrap="square"/>
                    <a:lstStyle/>
                    <a:p>
                      <a:pPr algn="ctr">
                        <a:defRPr sz="1200" b="0">
                          <a:solidFill>
                            <a:srgbClr val="333333"/>
                          </a:solidFill>
                          <a:latin typeface="Calibri"/>
                        </a:defRPr>
                      </a:pPr>
                      <a:r>
                        <a:t>7.9%</a:t>
                      </a:r>
                    </a:p>
                  </a:txBody>
                  <a:tcPr marL="45720" marR="45720" marT="9144" marB="9144" anchor="ctr"/>
                </a:tc>
                <a:tc>
                  <a:txBody>
                    <a:bodyPr wrap="square"/>
                    <a:lstStyle/>
                    <a:p>
                      <a:pPr algn="ctr">
                        <a:defRPr sz="1200" b="0">
                          <a:solidFill>
                            <a:srgbClr val="333333"/>
                          </a:solidFill>
                          <a:latin typeface="Calibri"/>
                        </a:defRPr>
                      </a:pPr>
                      <a:r>
                        <a:t>7.8%</a:t>
                      </a:r>
                    </a:p>
                  </a:txBody>
                  <a:tcPr marL="45720" marR="45720" marT="9144" marB="9144" anchor="ctr"/>
                </a:tc>
                <a:tc>
                  <a:txBody>
                    <a:bodyPr wrap="square"/>
                    <a:lstStyle/>
                    <a:p>
                      <a:pPr algn="ctr">
                        <a:defRPr sz="1200" b="0">
                          <a:solidFill>
                            <a:srgbClr val="333333"/>
                          </a:solidFill>
                          <a:latin typeface="Calibri"/>
                        </a:defRPr>
                      </a:pPr>
                      <a:r>
                        <a:t>8.1%</a:t>
                      </a:r>
                    </a:p>
                  </a:txBody>
                  <a:tcPr marL="45720" marR="45720" marT="9144" marB="9144" anchor="ctr"/>
                </a:tc>
              </a:tr>
              <a:tr h="384048">
                <a:tc>
                  <a:txBody>
                    <a:bodyPr wrap="square"/>
                    <a:lstStyle/>
                    <a:p>
                      <a:pPr algn="l">
                        <a:defRPr sz="1200" b="0">
                          <a:solidFill>
                            <a:srgbClr val="333333"/>
                          </a:solidFill>
                          <a:latin typeface="Calibri"/>
                        </a:defRPr>
                      </a:pPr>
                      <a:r>
                        <a:t>Demographics</a:t>
                      </a:r>
                    </a:p>
                  </a:txBody>
                  <a:tcPr marL="45720" marR="45720" marT="9144" marB="9144" anchor="ctr">
                    <a:solidFill>
                      <a:srgbClr val="F2F2F2"/>
                    </a:solidFill>
                  </a:tcPr>
                </a:tc>
                <a:tc>
                  <a:txBody>
                    <a:bodyPr wrap="square"/>
                    <a:lstStyle/>
                    <a:p>
                      <a:pPr algn="ctr">
                        <a:defRPr sz="1200" b="0">
                          <a:solidFill>
                            <a:srgbClr val="333333"/>
                          </a:solidFill>
                          <a:latin typeface="Calibri"/>
                        </a:defRPr>
                      </a:pPr>
                      <a:r>
                        <a:t>—</a:t>
                      </a:r>
                    </a:p>
                  </a:txBody>
                  <a:tcPr marL="45720" marR="45720" marT="9144" marB="9144" anchor="ctr">
                    <a:solidFill>
                      <a:srgbClr val="F2F2F2"/>
                    </a:solidFill>
                  </a:tcPr>
                </a:tc>
                <a:tc>
                  <a:txBody>
                    <a:bodyPr wrap="square"/>
                    <a:lstStyle/>
                    <a:p>
                      <a:pPr algn="ctr">
                        <a:defRPr sz="1200" b="0">
                          <a:solidFill>
                            <a:srgbClr val="333333"/>
                          </a:solidFill>
                          <a:latin typeface="Calibri"/>
                        </a:defRPr>
                      </a:pPr>
                      <a:r>
                        <a:t>—</a:t>
                      </a:r>
                    </a:p>
                  </a:txBody>
                  <a:tcPr marL="45720" marR="45720" marT="9144" marB="9144" anchor="ctr">
                    <a:solidFill>
                      <a:srgbClr val="F2F2F2"/>
                    </a:solidFill>
                  </a:tcPr>
                </a:tc>
                <a:tc>
                  <a:txBody>
                    <a:bodyPr wrap="square"/>
                    <a:lstStyle/>
                    <a:p>
                      <a:pPr algn="ctr">
                        <a:defRPr sz="1200" b="0">
                          <a:solidFill>
                            <a:srgbClr val="333333"/>
                          </a:solidFill>
                          <a:latin typeface="Calibri"/>
                        </a:defRPr>
                      </a:pPr>
                      <a:r>
                        <a:t>—</a:t>
                      </a:r>
                    </a:p>
                  </a:txBody>
                  <a:tcPr marL="45720" marR="45720" marT="9144" marB="9144" anchor="ctr">
                    <a:solidFill>
                      <a:srgbClr val="F2F2F2"/>
                    </a:solidFill>
                  </a:tcPr>
                </a:tc>
                <a:tc>
                  <a:txBody>
                    <a:bodyPr wrap="square"/>
                    <a:lstStyle/>
                    <a:p>
                      <a:pPr algn="ctr">
                        <a:defRPr sz="1200" b="0">
                          <a:solidFill>
                            <a:srgbClr val="333333"/>
                          </a:solidFill>
                          <a:latin typeface="Calibri"/>
                        </a:defRPr>
                      </a:pPr>
                      <a:r>
                        <a:t>—</a:t>
                      </a:r>
                    </a:p>
                  </a:txBody>
                  <a:tcPr marL="45720" marR="45720" marT="9144" marB="9144" anchor="ctr">
                    <a:solidFill>
                      <a:srgbClr val="F2F2F2"/>
                    </a:solidFill>
                  </a:tcPr>
                </a:tc>
              </a:tr>
            </a:tbl>
          </a:graphicData>
        </a:graphic>
      </p:graphicFrame>
      <p:sp>
        <p:nvSpPr>
          <p:cNvPr id="10" name="TextBox 9"/>
          <p:cNvSpPr txBox="1"/>
          <p:nvPr/>
        </p:nvSpPr>
        <p:spPr>
          <a:xfrm>
            <a:off x="548640" y="4160520"/>
            <a:ext cx="11155680" cy="384048"/>
          </a:xfrm>
          <a:prstGeom prst="rect">
            <a:avLst/>
          </a:prstGeom>
          <a:noFill/>
        </p:spPr>
        <p:txBody>
          <a:bodyPr wrap="square" lIns="64008" rIns="64008" tIns="18288" bIns="18288">
            <a:noAutofit/>
          </a:bodyPr>
          <a:lstStyle/>
          <a:p>
            <a:pPr algn="l">
              <a:lnSpc>
                <a:spcPct val="115000"/>
              </a:lnSpc>
              <a:spcAft>
                <a:spcPts val="700"/>
              </a:spcAft>
              <a:defRPr sz="1200" b="0" i="1">
                <a:solidFill>
                  <a:srgbClr val="666666"/>
                </a:solidFill>
                <a:latin typeface="Calibri"/>
              </a:defRPr>
            </a:pPr>
            <a:r>
              <a:t>Feature sets differ by design: Gain is computed on the 13-variable pool (includes SEX and LOAIKH); SHAP on the 11-feature main configuration (excludes them). The stability contrast is read within each table, across the four model × treatment combinations.</a:t>
            </a:r>
          </a:p>
        </p:txBody>
      </p:sp>
      <p:sp>
        <p:nvSpPr>
          <p:cNvPr id="11" name="TextBox 10"/>
          <p:cNvSpPr txBox="1"/>
          <p:nvPr/>
        </p:nvSpPr>
        <p:spPr>
          <a:xfrm>
            <a:off x="548640" y="4663440"/>
            <a:ext cx="11155680" cy="1783080"/>
          </a:xfrm>
          <a:prstGeom prst="rect">
            <a:avLst/>
          </a:prstGeom>
          <a:noFill/>
        </p:spPr>
        <p:txBody>
          <a:bodyPr wrap="square" lIns="64008" rIns="64008" tIns="18288" bIns="18288">
            <a:noAutofit/>
          </a:bodyPr>
          <a:lstStyle/>
          <a:p>
            <a:pPr algn="l">
              <a:lnSpc>
                <a:spcPct val="120000"/>
              </a:lnSpc>
              <a:spcAft>
                <a:spcPts val="800"/>
              </a:spcAft>
              <a:defRPr sz="1500" b="0" i="0">
                <a:solidFill>
                  <a:srgbClr val="333333"/>
                </a:solidFill>
                <a:latin typeface="Calibri"/>
              </a:defRPr>
            </a:pPr>
            <a:r>
              <a:t>•  Gain agrees on the leader — loan tenure/maturity — but on nothing below it. Product &amp; loan purpose ranges from 5.7% to 24.7% across the four combinations: wide enough to reverse its rank.</a:t>
            </a:r>
          </a:p>
          <a:p>
            <a:pPr algn="l">
              <a:lnSpc>
                <a:spcPct val="120000"/>
              </a:lnSpc>
              <a:spcAft>
                <a:spcPts val="800"/>
              </a:spcAft>
              <a:defRPr sz="1500" b="0" i="0">
                <a:solidFill>
                  <a:srgbClr val="333333"/>
                </a:solidFill>
                <a:latin typeface="Calibri"/>
              </a:defRPr>
            </a:pPr>
            <a:r>
              <a:t>•  SHAP holds tenure/maturity at 40.8–42.8% and balance/utilization at 26.1–28.7%, preserving the same ordering in every combination.</a:t>
            </a:r>
          </a:p>
          <a:p>
            <a:pPr algn="l">
              <a:lnSpc>
                <a:spcPct val="120000"/>
              </a:lnSpc>
              <a:spcAft>
                <a:spcPts val="800"/>
              </a:spcAft>
              <a:defRPr sz="1500" b="0" i="0">
                <a:solidFill>
                  <a:srgbClr val="333333"/>
                </a:solidFill>
                <a:latin typeface="Calibri"/>
              </a:defRPr>
            </a:pPr>
            <a:r>
              <a:t>•  So Gain is not a stable property of the data — it depends materially on which tree-boosting library computed it and which imbalance treatment was in force.</a:t>
            </a:r>
          </a:p>
          <a:p>
            <a:pPr algn="l">
              <a:lnSpc>
                <a:spcPct val="120000"/>
              </a:lnSpc>
              <a:spcAft>
                <a:spcPts val="700"/>
              </a:spcAft>
              <a:defRPr sz="1500" b="1" i="0">
                <a:solidFill>
                  <a:srgbClr val="002B5C"/>
                </a:solidFill>
                <a:latin typeface="Calibri"/>
              </a:defRPr>
            </a:pPr>
            <a:r>
              <a:t>•  Practical implication: never base a data-investment decision on a single model's Gain ranking.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118872"/>
            <a:ext cx="10332720" cy="475488"/>
          </a:xfrm>
          <a:prstGeom prst="rect">
            <a:avLst/>
          </a:prstGeom>
          <a:noFill/>
        </p:spPr>
        <p:txBody>
          <a:bodyPr wrap="square" lIns="64008" rIns="64008" tIns="18288" bIns="18288">
            <a:noAutofit/>
          </a:bodyPr>
          <a:lstStyle/>
          <a:p>
            <a:pPr algn="l">
              <a:lnSpc>
                <a:spcPct val="105000"/>
              </a:lnSpc>
              <a:spcAft>
                <a:spcPts val="400"/>
              </a:spcAft>
              <a:defRPr sz="2800" b="1" i="0">
                <a:solidFill>
                  <a:srgbClr val="FFFFFF"/>
                </a:solidFill>
                <a:latin typeface="Calibri"/>
              </a:defRPr>
            </a:pPr>
            <a:r>
              <a:t>Statistical Robustness: A Corrected Paired Test</a:t>
            </a:r>
          </a:p>
        </p:txBody>
      </p:sp>
      <p:sp>
        <p:nvSpPr>
          <p:cNvPr id="4" name="TextBox 3"/>
          <p:cNvSpPr txBox="1"/>
          <p:nvPr/>
        </p:nvSpPr>
        <p:spPr>
          <a:xfrm>
            <a:off x="548640" y="621792"/>
            <a:ext cx="10332720" cy="329184"/>
          </a:xfrm>
          <a:prstGeom prst="rect">
            <a:avLst/>
          </a:prstGeom>
          <a:noFill/>
        </p:spPr>
        <p:txBody>
          <a:bodyPr wrap="square" lIns="64008" rIns="64008" tIns="18288" bIns="18288">
            <a:noAutofit/>
          </a:bodyPr>
          <a:lstStyle/>
          <a:p>
            <a:pPr algn="l">
              <a:lnSpc>
                <a:spcPct val="100000"/>
              </a:lnSpc>
              <a:spcAft>
                <a:spcPts val="400"/>
              </a:spcAft>
              <a:defRPr sz="1500" b="0" i="0">
                <a:solidFill>
                  <a:srgbClr val="BBDBF5"/>
                </a:solidFill>
                <a:latin typeface="Calibri"/>
              </a:defRPr>
            </a:pPr>
            <a:r>
              <a:t>Table 10 — 5-fold × 5-repeat CV on identical folds, Nadeau–Bengio correction, Holm adjustment</a:t>
            </a:r>
          </a:p>
        </p:txBody>
      </p:sp>
      <p:sp>
        <p:nvSpPr>
          <p:cNvPr id="5" name="TextBox 4"/>
          <p:cNvSpPr txBox="1"/>
          <p:nvPr/>
        </p:nvSpPr>
        <p:spPr>
          <a:xfrm>
            <a:off x="11201400" y="137160"/>
            <a:ext cx="777240" cy="365760"/>
          </a:xfrm>
          <a:prstGeom prst="rect">
            <a:avLst/>
          </a:prstGeom>
          <a:noFill/>
        </p:spPr>
        <p:txBody>
          <a:bodyPr wrap="square" lIns="64008" rIns="64008" tIns="18288" bIns="18288">
            <a:noAutofit/>
          </a:bodyPr>
          <a:lstStyle/>
          <a:p>
            <a:pPr algn="r">
              <a:spcAft>
                <a:spcPts val="400"/>
              </a:spcAft>
              <a:defRPr sz="1400" b="0" i="0">
                <a:solidFill>
                  <a:srgbClr val="FFFFFF"/>
                </a:solidFill>
                <a:latin typeface="Calibri"/>
              </a:defRPr>
            </a:pPr>
            <a:r>
              <a:t>12</a:t>
            </a:r>
          </a:p>
        </p:txBody>
      </p:sp>
      <p:graphicFrame>
        <p:nvGraphicFramePr>
          <p:cNvPr id="6" name="Table 5"/>
          <p:cNvGraphicFramePr>
            <a:graphicFrameLocks noGrp="1"/>
          </p:cNvGraphicFramePr>
          <p:nvPr/>
        </p:nvGraphicFramePr>
        <p:xfrm>
          <a:off x="548640" y="1097280"/>
          <a:ext cx="11064240" cy="4041648"/>
        </p:xfrm>
        <a:graphic>
          <a:graphicData uri="http://schemas.openxmlformats.org/drawingml/2006/table">
            <a:tbl>
              <a:tblPr firstRow="1" bandRow="1">
                <a:tableStyleId>{5C22544A-7EE6-4342-B048-85BDC9FD1C3A}</a:tableStyleId>
              </a:tblPr>
              <a:tblGrid>
                <a:gridCol w="3200400"/>
                <a:gridCol w="2240280"/>
                <a:gridCol w="2514600"/>
                <a:gridCol w="1508760"/>
                <a:gridCol w="1600200"/>
              </a:tblGrid>
              <a:tr h="310896">
                <a:tc>
                  <a:txBody>
                    <a:bodyPr wrap="square"/>
                    <a:lstStyle/>
                    <a:p>
                      <a:pPr algn="ctr">
                        <a:defRPr sz="1250" b="1">
                          <a:solidFill>
                            <a:srgbClr val="FFFFFF"/>
                          </a:solidFill>
                          <a:latin typeface="Calibri"/>
                        </a:defRPr>
                      </a:pPr>
                      <a:r>
                        <a:t>Configuration</a:t>
                      </a:r>
                    </a:p>
                  </a:txBody>
                  <a:tcPr marL="45720" marR="45720" marT="9144" marB="9144" anchor="ctr">
                    <a:solidFill>
                      <a:srgbClr val="002B5C"/>
                    </a:solidFill>
                  </a:tcPr>
                </a:tc>
                <a:tc>
                  <a:txBody>
                    <a:bodyPr wrap="square"/>
                    <a:lstStyle/>
                    <a:p>
                      <a:pPr algn="ctr">
                        <a:defRPr sz="1250" b="1">
                          <a:solidFill>
                            <a:srgbClr val="FFFFFF"/>
                          </a:solidFill>
                          <a:latin typeface="Calibri"/>
                        </a:defRPr>
                      </a:pPr>
                      <a:r>
                        <a:t>Macro-F1</a:t>
                      </a:r>
                    </a:p>
                    <a:p>
                      <a:pPr algn="ctr">
                        <a:defRPr sz="1250" b="1">
                          <a:solidFill>
                            <a:srgbClr val="FFFFFF"/>
                          </a:solidFill>
                          <a:latin typeface="Calibri"/>
                        </a:defRPr>
                      </a:pPr>
                      <a:r>
                        <a:t>(mean ± sd)</a:t>
                      </a:r>
                    </a:p>
                  </a:txBody>
                  <a:tcPr marL="45720" marR="45720" marT="9144" marB="9144" anchor="ctr">
                    <a:solidFill>
                      <a:srgbClr val="002B5C"/>
                    </a:solidFill>
                  </a:tcPr>
                </a:tc>
                <a:tc>
                  <a:txBody>
                    <a:bodyPr wrap="square"/>
                    <a:lstStyle/>
                    <a:p>
                      <a:pPr algn="ctr">
                        <a:defRPr sz="1250" b="1">
                          <a:solidFill>
                            <a:srgbClr val="FFFFFF"/>
                          </a:solidFill>
                          <a:latin typeface="Calibri"/>
                        </a:defRPr>
                      </a:pPr>
                      <a:r>
                        <a:t>DT–none</a:t>
                      </a:r>
                    </a:p>
                    <a:p>
                      <a:pPr algn="ctr">
                        <a:defRPr sz="1250" b="1">
                          <a:solidFill>
                            <a:srgbClr val="FFFFFF"/>
                          </a:solidFill>
                          <a:latin typeface="Calibri"/>
                        </a:defRPr>
                      </a:pPr>
                      <a:r>
                        <a:t>minus comparator</a:t>
                      </a:r>
                    </a:p>
                  </a:txBody>
                  <a:tcPr marL="45720" marR="45720" marT="9144" marB="9144" anchor="ctr">
                    <a:solidFill>
                      <a:srgbClr val="002B5C"/>
                    </a:solidFill>
                  </a:tcPr>
                </a:tc>
                <a:tc>
                  <a:txBody>
                    <a:bodyPr wrap="square"/>
                    <a:lstStyle/>
                    <a:p>
                      <a:pPr algn="ctr">
                        <a:defRPr sz="1250" b="1">
                          <a:solidFill>
                            <a:srgbClr val="FFFFFF"/>
                          </a:solidFill>
                          <a:latin typeface="Calibri"/>
                        </a:defRPr>
                      </a:pPr>
                      <a:r>
                        <a:t>t</a:t>
                      </a:r>
                    </a:p>
                  </a:txBody>
                  <a:tcPr marL="45720" marR="45720" marT="9144" marB="9144" anchor="ctr">
                    <a:solidFill>
                      <a:srgbClr val="002B5C"/>
                    </a:solidFill>
                  </a:tcPr>
                </a:tc>
                <a:tc>
                  <a:txBody>
                    <a:bodyPr wrap="square"/>
                    <a:lstStyle/>
                    <a:p>
                      <a:pPr algn="ctr">
                        <a:defRPr sz="1250" b="1">
                          <a:solidFill>
                            <a:srgbClr val="FFFFFF"/>
                          </a:solidFill>
                          <a:latin typeface="Calibri"/>
                        </a:defRPr>
                      </a:pPr>
                      <a:r>
                        <a:t>Holm p</a:t>
                      </a:r>
                    </a:p>
                  </a:txBody>
                  <a:tcPr marL="45720" marR="45720" marT="9144" marB="9144" anchor="ctr">
                    <a:solidFill>
                      <a:srgbClr val="002B5C"/>
                    </a:solidFill>
                  </a:tcPr>
                </a:tc>
              </a:tr>
              <a:tr h="310896">
                <a:tc>
                  <a:txBody>
                    <a:bodyPr wrap="square"/>
                    <a:lstStyle/>
                    <a:p>
                      <a:pPr algn="l">
                        <a:defRPr sz="1250" b="1">
                          <a:solidFill>
                            <a:srgbClr val="333333"/>
                          </a:solidFill>
                          <a:latin typeface="Calibri"/>
                        </a:defRPr>
                      </a:pPr>
                      <a:r>
                        <a:t>Decision Tree–none</a:t>
                      </a:r>
                    </a:p>
                  </a:txBody>
                  <a:tcPr marL="45720" marR="45720" marT="9144" marB="9144" anchor="ctr">
                    <a:solidFill>
                      <a:srgbClr val="DDEECC"/>
                    </a:solidFill>
                  </a:tcPr>
                </a:tc>
                <a:tc>
                  <a:txBody>
                    <a:bodyPr wrap="square"/>
                    <a:lstStyle/>
                    <a:p>
                      <a:pPr algn="ctr">
                        <a:defRPr sz="1250" b="1">
                          <a:solidFill>
                            <a:srgbClr val="333333"/>
                          </a:solidFill>
                          <a:latin typeface="Calibri"/>
                        </a:defRPr>
                      </a:pPr>
                      <a:r>
                        <a:t>0.6271 ± 0.0109</a:t>
                      </a:r>
                    </a:p>
                  </a:txBody>
                  <a:tcPr marL="45720" marR="45720" marT="9144" marB="9144" anchor="ctr">
                    <a:solidFill>
                      <a:srgbClr val="DDEECC"/>
                    </a:solidFill>
                  </a:tcPr>
                </a:tc>
                <a:tc>
                  <a:txBody>
                    <a:bodyPr wrap="square"/>
                    <a:lstStyle/>
                    <a:p>
                      <a:pPr algn="ctr">
                        <a:defRPr sz="1250" b="1">
                          <a:solidFill>
                            <a:srgbClr val="333333"/>
                          </a:solidFill>
                          <a:latin typeface="Calibri"/>
                        </a:defRPr>
                      </a:pPr>
                      <a:r>
                        <a:t>—</a:t>
                      </a:r>
                    </a:p>
                  </a:txBody>
                  <a:tcPr marL="45720" marR="45720" marT="9144" marB="9144" anchor="ctr">
                    <a:solidFill>
                      <a:srgbClr val="DDEECC"/>
                    </a:solidFill>
                  </a:tcPr>
                </a:tc>
                <a:tc>
                  <a:txBody>
                    <a:bodyPr wrap="square"/>
                    <a:lstStyle/>
                    <a:p>
                      <a:pPr algn="ctr">
                        <a:defRPr sz="1250" b="1">
                          <a:solidFill>
                            <a:srgbClr val="333333"/>
                          </a:solidFill>
                          <a:latin typeface="Calibri"/>
                        </a:defRPr>
                      </a:pPr>
                      <a:r>
                        <a:t>—</a:t>
                      </a:r>
                    </a:p>
                  </a:txBody>
                  <a:tcPr marL="45720" marR="45720" marT="9144" marB="9144" anchor="ctr">
                    <a:solidFill>
                      <a:srgbClr val="DDEECC"/>
                    </a:solidFill>
                  </a:tcPr>
                </a:tc>
                <a:tc>
                  <a:txBody>
                    <a:bodyPr wrap="square"/>
                    <a:lstStyle/>
                    <a:p>
                      <a:pPr algn="ctr">
                        <a:defRPr sz="1250" b="1">
                          <a:solidFill>
                            <a:srgbClr val="333333"/>
                          </a:solidFill>
                          <a:latin typeface="Calibri"/>
                        </a:defRPr>
                      </a:pPr>
                      <a:r>
                        <a:t>—</a:t>
                      </a:r>
                    </a:p>
                  </a:txBody>
                  <a:tcPr marL="45720" marR="45720" marT="9144" marB="9144" anchor="ctr">
                    <a:solidFill>
                      <a:srgbClr val="DDEECC"/>
                    </a:solidFill>
                  </a:tcPr>
                </a:tc>
              </a:tr>
              <a:tr h="310896">
                <a:tc>
                  <a:txBody>
                    <a:bodyPr wrap="square"/>
                    <a:lstStyle/>
                    <a:p>
                      <a:pPr algn="l">
                        <a:defRPr sz="1250" b="0">
                          <a:solidFill>
                            <a:srgbClr val="333333"/>
                          </a:solidFill>
                          <a:latin typeface="Calibri"/>
                        </a:defRPr>
                      </a:pPr>
                      <a:r>
                        <a:t>XGBoost–none</a:t>
                      </a:r>
                    </a:p>
                  </a:txBody>
                  <a:tcPr marL="45720" marR="45720" marT="9144" marB="9144" anchor="ctr">
                    <a:solidFill>
                      <a:srgbClr val="F2F2F2"/>
                    </a:solidFill>
                  </a:tcPr>
                </a:tc>
                <a:tc>
                  <a:txBody>
                    <a:bodyPr wrap="square"/>
                    <a:lstStyle/>
                    <a:p>
                      <a:pPr algn="ctr">
                        <a:defRPr sz="1250" b="0">
                          <a:solidFill>
                            <a:srgbClr val="333333"/>
                          </a:solidFill>
                          <a:latin typeface="Calibri"/>
                        </a:defRPr>
                      </a:pPr>
                      <a:r>
                        <a:t>0.6217 ± 0.0101</a:t>
                      </a:r>
                    </a:p>
                  </a:txBody>
                  <a:tcPr marL="45720" marR="45720" marT="9144" marB="9144" anchor="ctr">
                    <a:solidFill>
                      <a:srgbClr val="F2F2F2"/>
                    </a:solidFill>
                  </a:tcPr>
                </a:tc>
                <a:tc>
                  <a:txBody>
                    <a:bodyPr wrap="square"/>
                    <a:lstStyle/>
                    <a:p>
                      <a:pPr algn="ctr">
                        <a:defRPr sz="1250" b="0">
                          <a:solidFill>
                            <a:srgbClr val="333333"/>
                          </a:solidFill>
                          <a:latin typeface="Calibri"/>
                        </a:defRPr>
                      </a:pPr>
                      <a:r>
                        <a:t>+0.0053</a:t>
                      </a:r>
                    </a:p>
                  </a:txBody>
                  <a:tcPr marL="45720" marR="45720" marT="9144" marB="9144" anchor="ctr">
                    <a:solidFill>
                      <a:srgbClr val="F2F2F2"/>
                    </a:solidFill>
                  </a:tcPr>
                </a:tc>
                <a:tc>
                  <a:txBody>
                    <a:bodyPr wrap="square"/>
                    <a:lstStyle/>
                    <a:p>
                      <a:pPr algn="ctr">
                        <a:defRPr sz="1250" b="0">
                          <a:solidFill>
                            <a:srgbClr val="333333"/>
                          </a:solidFill>
                          <a:latin typeface="Calibri"/>
                        </a:defRPr>
                      </a:pPr>
                      <a:r>
                        <a:t>0.81</a:t>
                      </a:r>
                    </a:p>
                  </a:txBody>
                  <a:tcPr marL="45720" marR="45720" marT="9144" marB="9144" anchor="ctr">
                    <a:solidFill>
                      <a:srgbClr val="F2F2F2"/>
                    </a:solidFill>
                  </a:tcPr>
                </a:tc>
                <a:tc>
                  <a:txBody>
                    <a:bodyPr wrap="square"/>
                    <a:lstStyle/>
                    <a:p>
                      <a:pPr algn="ctr">
                        <a:defRPr sz="1250" b="0">
                          <a:solidFill>
                            <a:srgbClr val="333333"/>
                          </a:solidFill>
                          <a:latin typeface="Calibri"/>
                        </a:defRPr>
                      </a:pPr>
                      <a:r>
                        <a:t>0.7885</a:t>
                      </a:r>
                    </a:p>
                  </a:txBody>
                  <a:tcPr marL="45720" marR="45720" marT="9144" marB="9144" anchor="ctr">
                    <a:solidFill>
                      <a:srgbClr val="F2F2F2"/>
                    </a:solidFill>
                  </a:tcPr>
                </a:tc>
              </a:tr>
              <a:tr h="310896">
                <a:tc>
                  <a:txBody>
                    <a:bodyPr wrap="square"/>
                    <a:lstStyle/>
                    <a:p>
                      <a:pPr algn="l">
                        <a:defRPr sz="1250" b="0">
                          <a:solidFill>
                            <a:srgbClr val="333333"/>
                          </a:solidFill>
                          <a:latin typeface="Calibri"/>
                        </a:defRPr>
                      </a:pPr>
                      <a:r>
                        <a:t>Random Forest–none</a:t>
                      </a:r>
                    </a:p>
                  </a:txBody>
                  <a:tcPr marL="45720" marR="45720" marT="9144" marB="9144" anchor="ctr"/>
                </a:tc>
                <a:tc>
                  <a:txBody>
                    <a:bodyPr wrap="square"/>
                    <a:lstStyle/>
                    <a:p>
                      <a:pPr algn="ctr">
                        <a:defRPr sz="1250" b="0">
                          <a:solidFill>
                            <a:srgbClr val="333333"/>
                          </a:solidFill>
                          <a:latin typeface="Calibri"/>
                        </a:defRPr>
                      </a:pPr>
                      <a:r>
                        <a:t>0.6216 ± 0.0097</a:t>
                      </a:r>
                    </a:p>
                  </a:txBody>
                  <a:tcPr marL="45720" marR="45720" marT="9144" marB="9144" anchor="ctr"/>
                </a:tc>
                <a:tc>
                  <a:txBody>
                    <a:bodyPr wrap="square"/>
                    <a:lstStyle/>
                    <a:p>
                      <a:pPr algn="ctr">
                        <a:defRPr sz="1250" b="0">
                          <a:solidFill>
                            <a:srgbClr val="333333"/>
                          </a:solidFill>
                          <a:latin typeface="Calibri"/>
                        </a:defRPr>
                      </a:pPr>
                      <a:r>
                        <a:t>+0.0054</a:t>
                      </a:r>
                    </a:p>
                  </a:txBody>
                  <a:tcPr marL="45720" marR="45720" marT="9144" marB="9144" anchor="ctr"/>
                </a:tc>
                <a:tc>
                  <a:txBody>
                    <a:bodyPr wrap="square"/>
                    <a:lstStyle/>
                    <a:p>
                      <a:pPr algn="ctr">
                        <a:defRPr sz="1250" b="0">
                          <a:solidFill>
                            <a:srgbClr val="333333"/>
                          </a:solidFill>
                          <a:latin typeface="Calibri"/>
                        </a:defRPr>
                      </a:pPr>
                      <a:r>
                        <a:t>0.87</a:t>
                      </a:r>
                    </a:p>
                  </a:txBody>
                  <a:tcPr marL="45720" marR="45720" marT="9144" marB="9144" anchor="ctr"/>
                </a:tc>
                <a:tc>
                  <a:txBody>
                    <a:bodyPr wrap="square"/>
                    <a:lstStyle/>
                    <a:p>
                      <a:pPr algn="ctr">
                        <a:defRPr sz="1250" b="0">
                          <a:solidFill>
                            <a:srgbClr val="333333"/>
                          </a:solidFill>
                          <a:latin typeface="Calibri"/>
                        </a:defRPr>
                      </a:pPr>
                      <a:r>
                        <a:t>0.7885</a:t>
                      </a:r>
                    </a:p>
                  </a:txBody>
                  <a:tcPr marL="45720" marR="45720" marT="9144" marB="9144" anchor="ctr"/>
                </a:tc>
              </a:tr>
              <a:tr h="310896">
                <a:tc>
                  <a:txBody>
                    <a:bodyPr wrap="square"/>
                    <a:lstStyle/>
                    <a:p>
                      <a:pPr algn="l">
                        <a:defRPr sz="1250" b="0">
                          <a:solidFill>
                            <a:srgbClr val="333333"/>
                          </a:solidFill>
                          <a:latin typeface="Calibri"/>
                        </a:defRPr>
                      </a:pPr>
                      <a:r>
                        <a:t>LightGBM–none</a:t>
                      </a:r>
                    </a:p>
                  </a:txBody>
                  <a:tcPr marL="45720" marR="45720" marT="9144" marB="9144" anchor="ctr">
                    <a:solidFill>
                      <a:srgbClr val="F2F2F2"/>
                    </a:solidFill>
                  </a:tcPr>
                </a:tc>
                <a:tc>
                  <a:txBody>
                    <a:bodyPr wrap="square"/>
                    <a:lstStyle/>
                    <a:p>
                      <a:pPr algn="ctr">
                        <a:defRPr sz="1250" b="0">
                          <a:solidFill>
                            <a:srgbClr val="333333"/>
                          </a:solidFill>
                          <a:latin typeface="Calibri"/>
                        </a:defRPr>
                      </a:pPr>
                      <a:r>
                        <a:t>0.6183 ± 0.0095</a:t>
                      </a:r>
                    </a:p>
                  </a:txBody>
                  <a:tcPr marL="45720" marR="45720" marT="9144" marB="9144" anchor="ctr">
                    <a:solidFill>
                      <a:srgbClr val="F2F2F2"/>
                    </a:solidFill>
                  </a:tcPr>
                </a:tc>
                <a:tc>
                  <a:txBody>
                    <a:bodyPr wrap="square"/>
                    <a:lstStyle/>
                    <a:p>
                      <a:pPr algn="ctr">
                        <a:defRPr sz="1250" b="0">
                          <a:solidFill>
                            <a:srgbClr val="333333"/>
                          </a:solidFill>
                          <a:latin typeface="Calibri"/>
                        </a:defRPr>
                      </a:pPr>
                      <a:r>
                        <a:t>+0.0088</a:t>
                      </a:r>
                    </a:p>
                  </a:txBody>
                  <a:tcPr marL="45720" marR="45720" marT="9144" marB="9144" anchor="ctr">
                    <a:solidFill>
                      <a:srgbClr val="F2F2F2"/>
                    </a:solidFill>
                  </a:tcPr>
                </a:tc>
                <a:tc>
                  <a:txBody>
                    <a:bodyPr wrap="square"/>
                    <a:lstStyle/>
                    <a:p>
                      <a:pPr algn="ctr">
                        <a:defRPr sz="1250" b="0">
                          <a:solidFill>
                            <a:srgbClr val="333333"/>
                          </a:solidFill>
                          <a:latin typeface="Calibri"/>
                        </a:defRPr>
                      </a:pPr>
                      <a:r>
                        <a:t>1.26</a:t>
                      </a:r>
                    </a:p>
                  </a:txBody>
                  <a:tcPr marL="45720" marR="45720" marT="9144" marB="9144" anchor="ctr">
                    <a:solidFill>
                      <a:srgbClr val="F2F2F2"/>
                    </a:solidFill>
                  </a:tcPr>
                </a:tc>
                <a:tc>
                  <a:txBody>
                    <a:bodyPr wrap="square"/>
                    <a:lstStyle/>
                    <a:p>
                      <a:pPr algn="ctr">
                        <a:defRPr sz="1250" b="0">
                          <a:solidFill>
                            <a:srgbClr val="333333"/>
                          </a:solidFill>
                          <a:latin typeface="Calibri"/>
                        </a:defRPr>
                      </a:pPr>
                      <a:r>
                        <a:t>0.6634</a:t>
                      </a:r>
                    </a:p>
                  </a:txBody>
                  <a:tcPr marL="45720" marR="45720" marT="9144" marB="9144" anchor="ctr">
                    <a:solidFill>
                      <a:srgbClr val="F2F2F2"/>
                    </a:solidFill>
                  </a:tcPr>
                </a:tc>
              </a:tr>
              <a:tr h="310896">
                <a:tc>
                  <a:txBody>
                    <a:bodyPr wrap="square"/>
                    <a:lstStyle/>
                    <a:p>
                      <a:pPr algn="l">
                        <a:defRPr sz="1250" b="0">
                          <a:solidFill>
                            <a:srgbClr val="333333"/>
                          </a:solidFill>
                          <a:latin typeface="Calibri"/>
                        </a:defRPr>
                      </a:pPr>
                      <a:r>
                        <a:t>CatBoost–none</a:t>
                      </a:r>
                    </a:p>
                  </a:txBody>
                  <a:tcPr marL="45720" marR="45720" marT="9144" marB="9144" anchor="ctr"/>
                </a:tc>
                <a:tc>
                  <a:txBody>
                    <a:bodyPr wrap="square"/>
                    <a:lstStyle/>
                    <a:p>
                      <a:pPr algn="ctr">
                        <a:defRPr sz="1250" b="0">
                          <a:solidFill>
                            <a:srgbClr val="333333"/>
                          </a:solidFill>
                          <a:latin typeface="Calibri"/>
                        </a:defRPr>
                      </a:pPr>
                      <a:r>
                        <a:t>0.6042 ± 0.0116</a:t>
                      </a:r>
                    </a:p>
                  </a:txBody>
                  <a:tcPr marL="45720" marR="45720" marT="9144" marB="9144" anchor="ctr"/>
                </a:tc>
                <a:tc>
                  <a:txBody>
                    <a:bodyPr wrap="square"/>
                    <a:lstStyle/>
                    <a:p>
                      <a:pPr algn="ctr">
                        <a:defRPr sz="1250" b="0">
                          <a:solidFill>
                            <a:srgbClr val="333333"/>
                          </a:solidFill>
                          <a:latin typeface="Calibri"/>
                        </a:defRPr>
                      </a:pPr>
                      <a:r>
                        <a:t>+0.0229</a:t>
                      </a:r>
                    </a:p>
                  </a:txBody>
                  <a:tcPr marL="45720" marR="45720" marT="9144" marB="9144" anchor="ctr"/>
                </a:tc>
                <a:tc>
                  <a:txBody>
                    <a:bodyPr wrap="square"/>
                    <a:lstStyle/>
                    <a:p>
                      <a:pPr algn="ctr">
                        <a:defRPr sz="1250" b="0">
                          <a:solidFill>
                            <a:srgbClr val="333333"/>
                          </a:solidFill>
                          <a:latin typeface="Calibri"/>
                        </a:defRPr>
                      </a:pPr>
                      <a:r>
                        <a:t>3.42</a:t>
                      </a:r>
                    </a:p>
                  </a:txBody>
                  <a:tcPr marL="45720" marR="45720" marT="9144" marB="9144" anchor="ctr"/>
                </a:tc>
                <a:tc>
                  <a:txBody>
                    <a:bodyPr wrap="square"/>
                    <a:lstStyle/>
                    <a:p>
                      <a:pPr algn="ctr">
                        <a:defRPr sz="1250" b="0">
                          <a:solidFill>
                            <a:srgbClr val="333333"/>
                          </a:solidFill>
                          <a:latin typeface="Calibri"/>
                        </a:defRPr>
                      </a:pPr>
                      <a:r>
                        <a:t>0.0091</a:t>
                      </a:r>
                    </a:p>
                  </a:txBody>
                  <a:tcPr marL="45720" marR="45720" marT="9144" marB="9144" anchor="ctr"/>
                </a:tc>
              </a:tr>
              <a:tr h="310896">
                <a:tc>
                  <a:txBody>
                    <a:bodyPr wrap="square"/>
                    <a:lstStyle/>
                    <a:p>
                      <a:pPr algn="l">
                        <a:defRPr sz="1250" b="0">
                          <a:solidFill>
                            <a:srgbClr val="333333"/>
                          </a:solidFill>
                          <a:latin typeface="Calibri"/>
                        </a:defRPr>
                      </a:pPr>
                      <a:r>
                        <a:t>LightGBM–balanced</a:t>
                      </a:r>
                    </a:p>
                  </a:txBody>
                  <a:tcPr marL="45720" marR="45720" marT="9144" marB="9144" anchor="ctr">
                    <a:solidFill>
                      <a:srgbClr val="F2F2F2"/>
                    </a:solidFill>
                  </a:tcPr>
                </a:tc>
                <a:tc>
                  <a:txBody>
                    <a:bodyPr wrap="square"/>
                    <a:lstStyle/>
                    <a:p>
                      <a:pPr algn="ctr">
                        <a:defRPr sz="1250" b="0">
                          <a:solidFill>
                            <a:srgbClr val="333333"/>
                          </a:solidFill>
                          <a:latin typeface="Calibri"/>
                        </a:defRPr>
                      </a:pPr>
                      <a:r>
                        <a:t>0.5917 ± 0.0089</a:t>
                      </a:r>
                    </a:p>
                  </a:txBody>
                  <a:tcPr marL="45720" marR="45720" marT="9144" marB="9144" anchor="ctr">
                    <a:solidFill>
                      <a:srgbClr val="F2F2F2"/>
                    </a:solidFill>
                  </a:tcPr>
                </a:tc>
                <a:tc>
                  <a:txBody>
                    <a:bodyPr wrap="square"/>
                    <a:lstStyle/>
                    <a:p>
                      <a:pPr algn="ctr">
                        <a:defRPr sz="1250" b="0">
                          <a:solidFill>
                            <a:srgbClr val="333333"/>
                          </a:solidFill>
                          <a:latin typeface="Calibri"/>
                        </a:defRPr>
                      </a:pPr>
                      <a:r>
                        <a:t>+0.0354</a:t>
                      </a:r>
                    </a:p>
                  </a:txBody>
                  <a:tcPr marL="45720" marR="45720" marT="9144" marB="9144" anchor="ctr">
                    <a:solidFill>
                      <a:srgbClr val="F2F2F2"/>
                    </a:solidFill>
                  </a:tcPr>
                </a:tc>
                <a:tc>
                  <a:txBody>
                    <a:bodyPr wrap="square"/>
                    <a:lstStyle/>
                    <a:p>
                      <a:pPr algn="ctr">
                        <a:defRPr sz="1250" b="0">
                          <a:solidFill>
                            <a:srgbClr val="333333"/>
                          </a:solidFill>
                          <a:latin typeface="Calibri"/>
                        </a:defRPr>
                      </a:pPr>
                      <a:r>
                        <a:t>5.51</a:t>
                      </a:r>
                    </a:p>
                  </a:txBody>
                  <a:tcPr marL="45720" marR="45720" marT="9144" marB="9144" anchor="ctr">
                    <a:solidFill>
                      <a:srgbClr val="F2F2F2"/>
                    </a:solidFill>
                  </a:tcPr>
                </a:tc>
                <a:tc>
                  <a:txBody>
                    <a:bodyPr wrap="square"/>
                    <a:lstStyle/>
                    <a:p>
                      <a:pPr algn="ctr">
                        <a:defRPr sz="1250" b="0">
                          <a:solidFill>
                            <a:srgbClr val="333333"/>
                          </a:solidFill>
                          <a:latin typeface="Calibri"/>
                        </a:defRPr>
                      </a:pPr>
                      <a:r>
                        <a:t>&lt;0.0001</a:t>
                      </a:r>
                    </a:p>
                  </a:txBody>
                  <a:tcPr marL="45720" marR="45720" marT="9144" marB="9144" anchor="ctr">
                    <a:solidFill>
                      <a:srgbClr val="F2F2F2"/>
                    </a:solidFill>
                  </a:tcPr>
                </a:tc>
              </a:tr>
              <a:tr h="310896">
                <a:tc>
                  <a:txBody>
                    <a:bodyPr wrap="square"/>
                    <a:lstStyle/>
                    <a:p>
                      <a:pPr algn="l">
                        <a:defRPr sz="1250" b="0">
                          <a:solidFill>
                            <a:srgbClr val="333333"/>
                          </a:solidFill>
                          <a:latin typeface="Calibri"/>
                        </a:defRPr>
                      </a:pPr>
                      <a:r>
                        <a:t>XGBoost–balanced</a:t>
                      </a:r>
                    </a:p>
                  </a:txBody>
                  <a:tcPr marL="45720" marR="45720" marT="9144" marB="9144" anchor="ctr"/>
                </a:tc>
                <a:tc>
                  <a:txBody>
                    <a:bodyPr wrap="square"/>
                    <a:lstStyle/>
                    <a:p>
                      <a:pPr algn="ctr">
                        <a:defRPr sz="1250" b="0">
                          <a:solidFill>
                            <a:srgbClr val="333333"/>
                          </a:solidFill>
                          <a:latin typeface="Calibri"/>
                        </a:defRPr>
                      </a:pPr>
                      <a:r>
                        <a:t>0.5878 ± 0.0083</a:t>
                      </a:r>
                    </a:p>
                  </a:txBody>
                  <a:tcPr marL="45720" marR="45720" marT="9144" marB="9144" anchor="ctr"/>
                </a:tc>
                <a:tc>
                  <a:txBody>
                    <a:bodyPr wrap="square"/>
                    <a:lstStyle/>
                    <a:p>
                      <a:pPr algn="ctr">
                        <a:defRPr sz="1250" b="0">
                          <a:solidFill>
                            <a:srgbClr val="333333"/>
                          </a:solidFill>
                          <a:latin typeface="Calibri"/>
                        </a:defRPr>
                      </a:pPr>
                      <a:r>
                        <a:t>+0.0392</a:t>
                      </a:r>
                    </a:p>
                  </a:txBody>
                  <a:tcPr marL="45720" marR="45720" marT="9144" marB="9144" anchor="ctr"/>
                </a:tc>
                <a:tc>
                  <a:txBody>
                    <a:bodyPr wrap="square"/>
                    <a:lstStyle/>
                    <a:p>
                      <a:pPr algn="ctr">
                        <a:defRPr sz="1250" b="0">
                          <a:solidFill>
                            <a:srgbClr val="333333"/>
                          </a:solidFill>
                          <a:latin typeface="Calibri"/>
                        </a:defRPr>
                      </a:pPr>
                      <a:r>
                        <a:t>6.50</a:t>
                      </a:r>
                    </a:p>
                  </a:txBody>
                  <a:tcPr marL="45720" marR="45720" marT="9144" marB="9144" anchor="ctr"/>
                </a:tc>
                <a:tc>
                  <a:txBody>
                    <a:bodyPr wrap="square"/>
                    <a:lstStyle/>
                    <a:p>
                      <a:pPr algn="ctr">
                        <a:defRPr sz="1250" b="0">
                          <a:solidFill>
                            <a:srgbClr val="333333"/>
                          </a:solidFill>
                          <a:latin typeface="Calibri"/>
                        </a:defRPr>
                      </a:pPr>
                      <a:r>
                        <a:t>&lt;0.0001</a:t>
                      </a:r>
                    </a:p>
                  </a:txBody>
                  <a:tcPr marL="45720" marR="45720" marT="9144" marB="9144" anchor="ctr"/>
                </a:tc>
              </a:tr>
              <a:tr h="310896">
                <a:tc>
                  <a:txBody>
                    <a:bodyPr wrap="square"/>
                    <a:lstStyle/>
                    <a:p>
                      <a:pPr algn="l">
                        <a:defRPr sz="1250" b="0">
                          <a:solidFill>
                            <a:srgbClr val="333333"/>
                          </a:solidFill>
                          <a:latin typeface="Calibri"/>
                        </a:defRPr>
                      </a:pPr>
                      <a:r>
                        <a:t>Random Forest–balanced</a:t>
                      </a:r>
                    </a:p>
                  </a:txBody>
                  <a:tcPr marL="45720" marR="45720" marT="9144" marB="9144" anchor="ctr">
                    <a:solidFill>
                      <a:srgbClr val="F2F2F2"/>
                    </a:solidFill>
                  </a:tcPr>
                </a:tc>
                <a:tc>
                  <a:txBody>
                    <a:bodyPr wrap="square"/>
                    <a:lstStyle/>
                    <a:p>
                      <a:pPr algn="ctr">
                        <a:defRPr sz="1250" b="0">
                          <a:solidFill>
                            <a:srgbClr val="333333"/>
                          </a:solidFill>
                          <a:latin typeface="Calibri"/>
                        </a:defRPr>
                      </a:pPr>
                      <a:r>
                        <a:t>0.5637 ± 0.0072</a:t>
                      </a:r>
                    </a:p>
                  </a:txBody>
                  <a:tcPr marL="45720" marR="45720" marT="9144" marB="9144" anchor="ctr">
                    <a:solidFill>
                      <a:srgbClr val="F2F2F2"/>
                    </a:solidFill>
                  </a:tcPr>
                </a:tc>
                <a:tc>
                  <a:txBody>
                    <a:bodyPr wrap="square"/>
                    <a:lstStyle/>
                    <a:p>
                      <a:pPr algn="ctr">
                        <a:defRPr sz="1250" b="0">
                          <a:solidFill>
                            <a:srgbClr val="333333"/>
                          </a:solidFill>
                          <a:latin typeface="Calibri"/>
                        </a:defRPr>
                      </a:pPr>
                      <a:r>
                        <a:t>+0.0634</a:t>
                      </a:r>
                    </a:p>
                  </a:txBody>
                  <a:tcPr marL="45720" marR="45720" marT="9144" marB="9144" anchor="ctr">
                    <a:solidFill>
                      <a:srgbClr val="F2F2F2"/>
                    </a:solidFill>
                  </a:tcPr>
                </a:tc>
                <a:tc>
                  <a:txBody>
                    <a:bodyPr wrap="square"/>
                    <a:lstStyle/>
                    <a:p>
                      <a:pPr algn="ctr">
                        <a:defRPr sz="1250" b="0">
                          <a:solidFill>
                            <a:srgbClr val="333333"/>
                          </a:solidFill>
                          <a:latin typeface="Calibri"/>
                        </a:defRPr>
                      </a:pPr>
                      <a:r>
                        <a:t>10.98</a:t>
                      </a:r>
                    </a:p>
                  </a:txBody>
                  <a:tcPr marL="45720" marR="45720" marT="9144" marB="9144" anchor="ctr">
                    <a:solidFill>
                      <a:srgbClr val="F2F2F2"/>
                    </a:solidFill>
                  </a:tcPr>
                </a:tc>
                <a:tc>
                  <a:txBody>
                    <a:bodyPr wrap="square"/>
                    <a:lstStyle/>
                    <a:p>
                      <a:pPr algn="ctr">
                        <a:defRPr sz="1250" b="0">
                          <a:solidFill>
                            <a:srgbClr val="333333"/>
                          </a:solidFill>
                          <a:latin typeface="Calibri"/>
                        </a:defRPr>
                      </a:pPr>
                      <a:r>
                        <a:t>&lt;0.0001</a:t>
                      </a:r>
                    </a:p>
                  </a:txBody>
                  <a:tcPr marL="45720" marR="45720" marT="9144" marB="9144" anchor="ctr">
                    <a:solidFill>
                      <a:srgbClr val="F2F2F2"/>
                    </a:solidFill>
                  </a:tcPr>
                </a:tc>
              </a:tr>
              <a:tr h="310896">
                <a:tc>
                  <a:txBody>
                    <a:bodyPr wrap="square"/>
                    <a:lstStyle/>
                    <a:p>
                      <a:pPr algn="l">
                        <a:defRPr sz="1250" b="0">
                          <a:solidFill>
                            <a:srgbClr val="333333"/>
                          </a:solidFill>
                          <a:latin typeface="Calibri"/>
                        </a:defRPr>
                      </a:pPr>
                      <a:r>
                        <a:t>CatBoost–balanced</a:t>
                      </a:r>
                    </a:p>
                  </a:txBody>
                  <a:tcPr marL="45720" marR="45720" marT="9144" marB="9144" anchor="ctr"/>
                </a:tc>
                <a:tc>
                  <a:txBody>
                    <a:bodyPr wrap="square"/>
                    <a:lstStyle/>
                    <a:p>
                      <a:pPr algn="ctr">
                        <a:defRPr sz="1250" b="0">
                          <a:solidFill>
                            <a:srgbClr val="333333"/>
                          </a:solidFill>
                          <a:latin typeface="Calibri"/>
                        </a:defRPr>
                      </a:pPr>
                      <a:r>
                        <a:t>0.5471 ± 0.0091</a:t>
                      </a:r>
                    </a:p>
                  </a:txBody>
                  <a:tcPr marL="45720" marR="45720" marT="9144" marB="9144" anchor="ctr"/>
                </a:tc>
                <a:tc>
                  <a:txBody>
                    <a:bodyPr wrap="square"/>
                    <a:lstStyle/>
                    <a:p>
                      <a:pPr algn="ctr">
                        <a:defRPr sz="1250" b="0">
                          <a:solidFill>
                            <a:srgbClr val="333333"/>
                          </a:solidFill>
                          <a:latin typeface="Calibri"/>
                        </a:defRPr>
                      </a:pPr>
                      <a:r>
                        <a:t>+0.0800</a:t>
                      </a:r>
                    </a:p>
                  </a:txBody>
                  <a:tcPr marL="45720" marR="45720" marT="9144" marB="9144" anchor="ctr"/>
                </a:tc>
                <a:tc>
                  <a:txBody>
                    <a:bodyPr wrap="square"/>
                    <a:lstStyle/>
                    <a:p>
                      <a:pPr algn="ctr">
                        <a:defRPr sz="1250" b="0">
                          <a:solidFill>
                            <a:srgbClr val="333333"/>
                          </a:solidFill>
                          <a:latin typeface="Calibri"/>
                        </a:defRPr>
                      </a:pPr>
                      <a:r>
                        <a:t>13.11</a:t>
                      </a:r>
                    </a:p>
                  </a:txBody>
                  <a:tcPr marL="45720" marR="45720" marT="9144" marB="9144" anchor="ctr"/>
                </a:tc>
                <a:tc>
                  <a:txBody>
                    <a:bodyPr wrap="square"/>
                    <a:lstStyle/>
                    <a:p>
                      <a:pPr algn="ctr">
                        <a:defRPr sz="1250" b="0">
                          <a:solidFill>
                            <a:srgbClr val="333333"/>
                          </a:solidFill>
                          <a:latin typeface="Calibri"/>
                        </a:defRPr>
                      </a:pPr>
                      <a:r>
                        <a:t>&lt;0.0001</a:t>
                      </a:r>
                    </a:p>
                  </a:txBody>
                  <a:tcPr marL="45720" marR="45720" marT="9144" marB="9144" anchor="ctr"/>
                </a:tc>
              </a:tr>
              <a:tr h="310896">
                <a:tc>
                  <a:txBody>
                    <a:bodyPr wrap="square"/>
                    <a:lstStyle/>
                    <a:p>
                      <a:pPr algn="l">
                        <a:defRPr sz="1250" b="0">
                          <a:solidFill>
                            <a:srgbClr val="333333"/>
                          </a:solidFill>
                          <a:latin typeface="Calibri"/>
                        </a:defRPr>
                      </a:pPr>
                      <a:r>
                        <a:t>Decision Tree–balanced</a:t>
                      </a:r>
                    </a:p>
                  </a:txBody>
                  <a:tcPr marL="45720" marR="45720" marT="9144" marB="9144" anchor="ctr">
                    <a:solidFill>
                      <a:srgbClr val="F2F2F2"/>
                    </a:solidFill>
                  </a:tcPr>
                </a:tc>
                <a:tc>
                  <a:txBody>
                    <a:bodyPr wrap="square"/>
                    <a:lstStyle/>
                    <a:p>
                      <a:pPr algn="ctr">
                        <a:defRPr sz="1250" b="0">
                          <a:solidFill>
                            <a:srgbClr val="333333"/>
                          </a:solidFill>
                          <a:latin typeface="Calibri"/>
                        </a:defRPr>
                      </a:pPr>
                      <a:r>
                        <a:t>0.4990 ± 0.0144</a:t>
                      </a:r>
                    </a:p>
                  </a:txBody>
                  <a:tcPr marL="45720" marR="45720" marT="9144" marB="9144" anchor="ctr">
                    <a:solidFill>
                      <a:srgbClr val="F2F2F2"/>
                    </a:solidFill>
                  </a:tcPr>
                </a:tc>
                <a:tc>
                  <a:txBody>
                    <a:bodyPr wrap="square"/>
                    <a:lstStyle/>
                    <a:p>
                      <a:pPr algn="ctr">
                        <a:defRPr sz="1250" b="0">
                          <a:solidFill>
                            <a:srgbClr val="333333"/>
                          </a:solidFill>
                          <a:latin typeface="Calibri"/>
                        </a:defRPr>
                      </a:pPr>
                      <a:r>
                        <a:t>+0.1281</a:t>
                      </a:r>
                    </a:p>
                  </a:txBody>
                  <a:tcPr marL="45720" marR="45720" marT="9144" marB="9144" anchor="ctr">
                    <a:solidFill>
                      <a:srgbClr val="F2F2F2"/>
                    </a:solidFill>
                  </a:tcPr>
                </a:tc>
                <a:tc>
                  <a:txBody>
                    <a:bodyPr wrap="square"/>
                    <a:lstStyle/>
                    <a:p>
                      <a:pPr algn="ctr">
                        <a:defRPr sz="1250" b="0">
                          <a:solidFill>
                            <a:srgbClr val="333333"/>
                          </a:solidFill>
                          <a:latin typeface="Calibri"/>
                        </a:defRPr>
                      </a:pPr>
                      <a:r>
                        <a:t>14.24</a:t>
                      </a:r>
                    </a:p>
                  </a:txBody>
                  <a:tcPr marL="45720" marR="45720" marT="9144" marB="9144" anchor="ctr">
                    <a:solidFill>
                      <a:srgbClr val="F2F2F2"/>
                    </a:solidFill>
                  </a:tcPr>
                </a:tc>
                <a:tc>
                  <a:txBody>
                    <a:bodyPr wrap="square"/>
                    <a:lstStyle/>
                    <a:p>
                      <a:pPr algn="ctr">
                        <a:defRPr sz="1250" b="0">
                          <a:solidFill>
                            <a:srgbClr val="333333"/>
                          </a:solidFill>
                          <a:latin typeface="Calibri"/>
                        </a:defRPr>
                      </a:pPr>
                      <a:r>
                        <a:t>&lt;0.0001</a:t>
                      </a:r>
                    </a:p>
                  </a:txBody>
                  <a:tcPr marL="45720" marR="45720" marT="9144" marB="9144" anchor="ctr">
                    <a:solidFill>
                      <a:srgbClr val="F2F2F2"/>
                    </a:solidFill>
                  </a:tcPr>
                </a:tc>
              </a:tr>
              <a:tr h="310896">
                <a:tc>
                  <a:txBody>
                    <a:bodyPr wrap="square"/>
                    <a:lstStyle/>
                    <a:p>
                      <a:pPr algn="l">
                        <a:defRPr sz="1250" b="0">
                          <a:solidFill>
                            <a:srgbClr val="333333"/>
                          </a:solidFill>
                          <a:latin typeface="Calibri"/>
                        </a:defRPr>
                      </a:pPr>
                      <a:r>
                        <a:t>Logistic Regression–balanced</a:t>
                      </a:r>
                    </a:p>
                  </a:txBody>
                  <a:tcPr marL="45720" marR="45720" marT="9144" marB="9144" anchor="ctr"/>
                </a:tc>
                <a:tc>
                  <a:txBody>
                    <a:bodyPr wrap="square"/>
                    <a:lstStyle/>
                    <a:p>
                      <a:pPr algn="ctr">
                        <a:defRPr sz="1250" b="0">
                          <a:solidFill>
                            <a:srgbClr val="333333"/>
                          </a:solidFill>
                          <a:latin typeface="Calibri"/>
                        </a:defRPr>
                      </a:pPr>
                      <a:r>
                        <a:t>0.3876 ± 0.0055</a:t>
                      </a:r>
                    </a:p>
                  </a:txBody>
                  <a:tcPr marL="45720" marR="45720" marT="9144" marB="9144" anchor="ctr"/>
                </a:tc>
                <a:tc>
                  <a:txBody>
                    <a:bodyPr wrap="square"/>
                    <a:lstStyle/>
                    <a:p>
                      <a:pPr algn="ctr">
                        <a:defRPr sz="1250" b="0">
                          <a:solidFill>
                            <a:srgbClr val="333333"/>
                          </a:solidFill>
                          <a:latin typeface="Calibri"/>
                        </a:defRPr>
                      </a:pPr>
                      <a:r>
                        <a:t>+0.2394</a:t>
                      </a:r>
                    </a:p>
                  </a:txBody>
                  <a:tcPr marL="45720" marR="45720" marT="9144" marB="9144" anchor="ctr"/>
                </a:tc>
                <a:tc>
                  <a:txBody>
                    <a:bodyPr wrap="square"/>
                    <a:lstStyle/>
                    <a:p>
                      <a:pPr algn="ctr">
                        <a:defRPr sz="1250" b="0">
                          <a:solidFill>
                            <a:srgbClr val="333333"/>
                          </a:solidFill>
                          <a:latin typeface="Calibri"/>
                        </a:defRPr>
                      </a:pPr>
                      <a:r>
                        <a:t>41.55</a:t>
                      </a:r>
                    </a:p>
                  </a:txBody>
                  <a:tcPr marL="45720" marR="45720" marT="9144" marB="9144" anchor="ctr"/>
                </a:tc>
                <a:tc>
                  <a:txBody>
                    <a:bodyPr wrap="square"/>
                    <a:lstStyle/>
                    <a:p>
                      <a:pPr algn="ctr">
                        <a:defRPr sz="1250" b="0">
                          <a:solidFill>
                            <a:srgbClr val="333333"/>
                          </a:solidFill>
                          <a:latin typeface="Calibri"/>
                        </a:defRPr>
                      </a:pPr>
                      <a:r>
                        <a:t>&lt;0.0001</a:t>
                      </a:r>
                    </a:p>
                  </a:txBody>
                  <a:tcPr marL="45720" marR="45720" marT="9144" marB="9144" anchor="ctr"/>
                </a:tc>
              </a:tr>
              <a:tr h="310896">
                <a:tc>
                  <a:txBody>
                    <a:bodyPr wrap="square"/>
                    <a:lstStyle/>
                    <a:p>
                      <a:pPr algn="l">
                        <a:defRPr sz="1250" b="0">
                          <a:solidFill>
                            <a:srgbClr val="333333"/>
                          </a:solidFill>
                          <a:latin typeface="Calibri"/>
                        </a:defRPr>
                      </a:pPr>
                      <a:r>
                        <a:t>Logistic Regression–none</a:t>
                      </a:r>
                    </a:p>
                  </a:txBody>
                  <a:tcPr marL="45720" marR="45720" marT="9144" marB="9144" anchor="ctr">
                    <a:solidFill>
                      <a:srgbClr val="F2F2F2"/>
                    </a:solidFill>
                  </a:tcPr>
                </a:tc>
                <a:tc>
                  <a:txBody>
                    <a:bodyPr wrap="square"/>
                    <a:lstStyle/>
                    <a:p>
                      <a:pPr algn="ctr">
                        <a:defRPr sz="1250" b="0">
                          <a:solidFill>
                            <a:srgbClr val="333333"/>
                          </a:solidFill>
                          <a:latin typeface="Calibri"/>
                        </a:defRPr>
                      </a:pPr>
                      <a:r>
                        <a:t>0.3699 ± 0.0089</a:t>
                      </a:r>
                    </a:p>
                  </a:txBody>
                  <a:tcPr marL="45720" marR="45720" marT="9144" marB="9144" anchor="ctr">
                    <a:solidFill>
                      <a:srgbClr val="F2F2F2"/>
                    </a:solidFill>
                  </a:tcPr>
                </a:tc>
                <a:tc>
                  <a:txBody>
                    <a:bodyPr wrap="square"/>
                    <a:lstStyle/>
                    <a:p>
                      <a:pPr algn="ctr">
                        <a:defRPr sz="1250" b="0">
                          <a:solidFill>
                            <a:srgbClr val="333333"/>
                          </a:solidFill>
                          <a:latin typeface="Calibri"/>
                        </a:defRPr>
                      </a:pPr>
                      <a:r>
                        <a:t>+0.2572</a:t>
                      </a:r>
                    </a:p>
                  </a:txBody>
                  <a:tcPr marL="45720" marR="45720" marT="9144" marB="9144" anchor="ctr">
                    <a:solidFill>
                      <a:srgbClr val="F2F2F2"/>
                    </a:solidFill>
                  </a:tcPr>
                </a:tc>
                <a:tc>
                  <a:txBody>
                    <a:bodyPr wrap="square"/>
                    <a:lstStyle/>
                    <a:p>
                      <a:pPr algn="ctr">
                        <a:defRPr sz="1250" b="0">
                          <a:solidFill>
                            <a:srgbClr val="333333"/>
                          </a:solidFill>
                          <a:latin typeface="Calibri"/>
                        </a:defRPr>
                      </a:pPr>
                      <a:r>
                        <a:t>31.54</a:t>
                      </a:r>
                    </a:p>
                  </a:txBody>
                  <a:tcPr marL="45720" marR="45720" marT="9144" marB="9144" anchor="ctr">
                    <a:solidFill>
                      <a:srgbClr val="F2F2F2"/>
                    </a:solidFill>
                  </a:tcPr>
                </a:tc>
                <a:tc>
                  <a:txBody>
                    <a:bodyPr wrap="square"/>
                    <a:lstStyle/>
                    <a:p>
                      <a:pPr algn="ctr">
                        <a:defRPr sz="1250" b="0">
                          <a:solidFill>
                            <a:srgbClr val="333333"/>
                          </a:solidFill>
                          <a:latin typeface="Calibri"/>
                        </a:defRPr>
                      </a:pPr>
                      <a:r>
                        <a:t>&lt;0.0001</a:t>
                      </a:r>
                    </a:p>
                  </a:txBody>
                  <a:tcPr marL="45720" marR="45720" marT="9144" marB="9144" anchor="ctr">
                    <a:solidFill>
                      <a:srgbClr val="F2F2F2"/>
                    </a:solidFill>
                  </a:tcPr>
                </a:tc>
              </a:tr>
            </a:tbl>
          </a:graphicData>
        </a:graphic>
      </p:graphicFrame>
      <p:sp>
        <p:nvSpPr>
          <p:cNvPr id="7" name="TextBox 6"/>
          <p:cNvSpPr txBox="1"/>
          <p:nvPr/>
        </p:nvSpPr>
        <p:spPr>
          <a:xfrm>
            <a:off x="548640" y="5230368"/>
            <a:ext cx="11064240" cy="1417320"/>
          </a:xfrm>
          <a:prstGeom prst="rect">
            <a:avLst/>
          </a:prstGeom>
          <a:noFill/>
        </p:spPr>
        <p:txBody>
          <a:bodyPr wrap="square" lIns="64008" rIns="64008" tIns="18288" bIns="18288">
            <a:noAutofit/>
          </a:bodyPr>
          <a:lstStyle/>
          <a:p>
            <a:pPr algn="l">
              <a:lnSpc>
                <a:spcPct val="120000"/>
              </a:lnSpc>
              <a:spcAft>
                <a:spcPts val="700"/>
              </a:spcAft>
              <a:defRPr sz="1350" b="0" i="0">
                <a:solidFill>
                  <a:srgbClr val="666666"/>
                </a:solidFill>
                <a:latin typeface="Calibri"/>
              </a:defRPr>
            </a:pPr>
            <a:r>
              <a:t>Nadeau–Bengio replaces the naive variance factor 1/25 = 0.04 with 1/25 + 1/4 = 0.29, because folds in repeated k-fold CV share data. Holm controls the family of eleven comparisons.</a:t>
            </a:r>
          </a:p>
          <a:p>
            <a:pPr algn="l">
              <a:lnSpc>
                <a:spcPct val="120000"/>
              </a:lnSpc>
              <a:spcAft>
                <a:spcPts val="700"/>
              </a:spcAft>
              <a:defRPr sz="1500" b="1" i="0">
                <a:solidFill>
                  <a:srgbClr val="0070C0"/>
                </a:solidFill>
                <a:latin typeface="Calibri"/>
              </a:defRPr>
            </a:pPr>
            <a:r>
              <a:t>Three of eleven comparisons fail to reject: the four leading unweighted tree-based configurations (Macro-F1 0.6183–0.6271) are statistically indistinguishable, so this paper names no best algorithm. What survives correction is a treatment effect — every tree-based model beats its own class-weighted counterpart, all five contrasts rejecting.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118872"/>
            <a:ext cx="10332720" cy="475488"/>
          </a:xfrm>
          <a:prstGeom prst="rect">
            <a:avLst/>
          </a:prstGeom>
          <a:noFill/>
        </p:spPr>
        <p:txBody>
          <a:bodyPr wrap="square" lIns="64008" rIns="64008" tIns="18288" bIns="18288">
            <a:noAutofit/>
          </a:bodyPr>
          <a:lstStyle/>
          <a:p>
            <a:pPr algn="l">
              <a:lnSpc>
                <a:spcPct val="105000"/>
              </a:lnSpc>
              <a:spcAft>
                <a:spcPts val="400"/>
              </a:spcAft>
              <a:defRPr sz="2800" b="1" i="0">
                <a:solidFill>
                  <a:srgbClr val="FFFFFF"/>
                </a:solidFill>
                <a:latin typeface="Calibri"/>
              </a:defRPr>
            </a:pPr>
            <a:r>
              <a:t>When a Ranking Flips</a:t>
            </a:r>
          </a:p>
        </p:txBody>
      </p:sp>
      <p:sp>
        <p:nvSpPr>
          <p:cNvPr id="4" name="TextBox 3"/>
          <p:cNvSpPr txBox="1"/>
          <p:nvPr/>
        </p:nvSpPr>
        <p:spPr>
          <a:xfrm>
            <a:off x="548640" y="621792"/>
            <a:ext cx="10332720" cy="329184"/>
          </a:xfrm>
          <a:prstGeom prst="rect">
            <a:avLst/>
          </a:prstGeom>
          <a:noFill/>
        </p:spPr>
        <p:txBody>
          <a:bodyPr wrap="square" lIns="64008" rIns="64008" tIns="18288" bIns="18288">
            <a:noAutofit/>
          </a:bodyPr>
          <a:lstStyle/>
          <a:p>
            <a:pPr algn="l">
              <a:lnSpc>
                <a:spcPct val="100000"/>
              </a:lnSpc>
              <a:spcAft>
                <a:spcPts val="400"/>
              </a:spcAft>
              <a:defRPr sz="1500" b="0" i="0">
                <a:solidFill>
                  <a:srgbClr val="BBDBF5"/>
                </a:solidFill>
                <a:latin typeface="Calibri"/>
              </a:defRPr>
            </a:pPr>
            <a:r>
              <a:t>Section 4.6 — the same discipline applied to our own model ranking</a:t>
            </a:r>
          </a:p>
        </p:txBody>
      </p:sp>
      <p:sp>
        <p:nvSpPr>
          <p:cNvPr id="5" name="TextBox 4"/>
          <p:cNvSpPr txBox="1"/>
          <p:nvPr/>
        </p:nvSpPr>
        <p:spPr>
          <a:xfrm>
            <a:off x="11201400" y="137160"/>
            <a:ext cx="777240" cy="365760"/>
          </a:xfrm>
          <a:prstGeom prst="rect">
            <a:avLst/>
          </a:prstGeom>
          <a:noFill/>
        </p:spPr>
        <p:txBody>
          <a:bodyPr wrap="square" lIns="64008" rIns="64008" tIns="18288" bIns="18288">
            <a:noAutofit/>
          </a:bodyPr>
          <a:lstStyle/>
          <a:p>
            <a:pPr algn="r">
              <a:spcAft>
                <a:spcPts val="400"/>
              </a:spcAft>
              <a:defRPr sz="1400" b="0" i="0">
                <a:solidFill>
                  <a:srgbClr val="FFFFFF"/>
                </a:solidFill>
                <a:latin typeface="Calibri"/>
              </a:defRPr>
            </a:pPr>
            <a:r>
              <a:t>13</a:t>
            </a:r>
          </a:p>
        </p:txBody>
      </p:sp>
      <p:graphicFrame>
        <p:nvGraphicFramePr>
          <p:cNvPr id="6" name="Table 5"/>
          <p:cNvGraphicFramePr>
            <a:graphicFrameLocks noGrp="1"/>
          </p:cNvGraphicFramePr>
          <p:nvPr/>
        </p:nvGraphicFramePr>
        <p:xfrm>
          <a:off x="1188720" y="1234440"/>
          <a:ext cx="9784080" cy="2523744"/>
        </p:xfrm>
        <a:graphic>
          <a:graphicData uri="http://schemas.openxmlformats.org/drawingml/2006/table">
            <a:tbl>
              <a:tblPr firstRow="1" bandRow="1">
                <a:tableStyleId>{5C22544A-7EE6-4342-B048-85BDC9FD1C3A}</a:tableStyleId>
              </a:tblPr>
              <a:tblGrid>
                <a:gridCol w="3291840"/>
                <a:gridCol w="3108960"/>
                <a:gridCol w="3383280"/>
              </a:tblGrid>
              <a:tr h="420624">
                <a:tc>
                  <a:txBody>
                    <a:bodyPr wrap="square"/>
                    <a:lstStyle/>
                    <a:p>
                      <a:pPr algn="ctr">
                        <a:defRPr sz="1400" b="1">
                          <a:solidFill>
                            <a:srgbClr val="FFFFFF"/>
                          </a:solidFill>
                          <a:latin typeface="Calibri"/>
                        </a:defRPr>
                      </a:pPr>
                      <a:r>
                        <a:t>Configuration</a:t>
                      </a:r>
                    </a:p>
                  </a:txBody>
                  <a:tcPr marL="45720" marR="45720" marT="9144" marB="9144" anchor="ctr">
                    <a:solidFill>
                      <a:srgbClr val="002B5C"/>
                    </a:solidFill>
                  </a:tcPr>
                </a:tc>
                <a:tc>
                  <a:txBody>
                    <a:bodyPr wrap="square"/>
                    <a:lstStyle/>
                    <a:p>
                      <a:pPr algn="ctr">
                        <a:defRPr sz="1400" b="1">
                          <a:solidFill>
                            <a:srgbClr val="FFFFFF"/>
                          </a:solidFill>
                          <a:latin typeface="Calibri"/>
                        </a:defRPr>
                      </a:pPr>
                      <a:r>
                        <a:t>Hold-out Macro-F1</a:t>
                      </a:r>
                    </a:p>
                  </a:txBody>
                  <a:tcPr marL="45720" marR="45720" marT="9144" marB="9144" anchor="ctr">
                    <a:solidFill>
                      <a:srgbClr val="002B5C"/>
                    </a:solidFill>
                  </a:tcPr>
                </a:tc>
                <a:tc>
                  <a:txBody>
                    <a:bodyPr wrap="square"/>
                    <a:lstStyle/>
                    <a:p>
                      <a:pPr algn="ctr">
                        <a:defRPr sz="1400" b="1">
                          <a:solidFill>
                            <a:srgbClr val="FFFFFF"/>
                          </a:solidFill>
                          <a:latin typeface="Calibri"/>
                        </a:defRPr>
                      </a:pPr>
                      <a:r>
                        <a:t>Repeated-CV Macro-F1</a:t>
                      </a:r>
                    </a:p>
                  </a:txBody>
                  <a:tcPr marL="45720" marR="45720" marT="9144" marB="9144" anchor="ctr">
                    <a:solidFill>
                      <a:srgbClr val="002B5C"/>
                    </a:solidFill>
                  </a:tcPr>
                </a:tc>
              </a:tr>
              <a:tr h="420624">
                <a:tc>
                  <a:txBody>
                    <a:bodyPr wrap="square"/>
                    <a:lstStyle/>
                    <a:p>
                      <a:pPr algn="l">
                        <a:defRPr sz="1400" b="0">
                          <a:solidFill>
                            <a:srgbClr val="333333"/>
                          </a:solidFill>
                          <a:latin typeface="Calibri"/>
                        </a:defRPr>
                      </a:pPr>
                      <a:r>
                        <a:t>Decision Tree–none</a:t>
                      </a:r>
                    </a:p>
                  </a:txBody>
                  <a:tcPr marL="45720" marR="45720" marT="9144" marB="9144" anchor="ctr"/>
                </a:tc>
                <a:tc>
                  <a:txBody>
                    <a:bodyPr wrap="square"/>
                    <a:lstStyle/>
                    <a:p>
                      <a:pPr algn="ctr">
                        <a:defRPr sz="1400" b="0">
                          <a:solidFill>
                            <a:srgbClr val="333333"/>
                          </a:solidFill>
                          <a:latin typeface="Calibri"/>
                        </a:defRPr>
                      </a:pPr>
                      <a:r>
                        <a:t>0.6245   (3rd)</a:t>
                      </a:r>
                    </a:p>
                  </a:txBody>
                  <a:tcPr marL="45720" marR="45720" marT="9144" marB="9144" anchor="ctr"/>
                </a:tc>
                <a:tc>
                  <a:txBody>
                    <a:bodyPr wrap="square"/>
                    <a:lstStyle/>
                    <a:p>
                      <a:pPr algn="ctr">
                        <a:defRPr sz="1400" b="0">
                          <a:solidFill>
                            <a:srgbClr val="333333"/>
                          </a:solidFill>
                          <a:latin typeface="Calibri"/>
                        </a:defRPr>
                      </a:pPr>
                      <a:r>
                        <a:t>0.6271 ± 0.0109   (1st)</a:t>
                      </a:r>
                    </a:p>
                  </a:txBody>
                  <a:tcPr marL="45720" marR="45720" marT="9144" marB="9144" anchor="ctr"/>
                </a:tc>
              </a:tr>
              <a:tr h="420624">
                <a:tc>
                  <a:txBody>
                    <a:bodyPr wrap="square"/>
                    <a:lstStyle/>
                    <a:p>
                      <a:pPr algn="l">
                        <a:defRPr sz="1400" b="0">
                          <a:solidFill>
                            <a:srgbClr val="333333"/>
                          </a:solidFill>
                          <a:latin typeface="Calibri"/>
                        </a:defRPr>
                      </a:pPr>
                      <a:r>
                        <a:t>XGBoost–none</a:t>
                      </a:r>
                    </a:p>
                  </a:txBody>
                  <a:tcPr marL="45720" marR="45720" marT="9144" marB="9144" anchor="ctr">
                    <a:solidFill>
                      <a:srgbClr val="F2F2F2"/>
                    </a:solidFill>
                  </a:tcPr>
                </a:tc>
                <a:tc>
                  <a:txBody>
                    <a:bodyPr wrap="square"/>
                    <a:lstStyle/>
                    <a:p>
                      <a:pPr algn="ctr">
                        <a:defRPr sz="1400" b="0">
                          <a:solidFill>
                            <a:srgbClr val="333333"/>
                          </a:solidFill>
                          <a:latin typeface="Calibri"/>
                        </a:defRPr>
                      </a:pPr>
                      <a:r>
                        <a:t>0.6197   (4th)</a:t>
                      </a:r>
                    </a:p>
                  </a:txBody>
                  <a:tcPr marL="45720" marR="45720" marT="9144" marB="9144" anchor="ctr">
                    <a:solidFill>
                      <a:srgbClr val="F2F2F2"/>
                    </a:solidFill>
                  </a:tcPr>
                </a:tc>
                <a:tc>
                  <a:txBody>
                    <a:bodyPr wrap="square"/>
                    <a:lstStyle/>
                    <a:p>
                      <a:pPr algn="ctr">
                        <a:defRPr sz="1400" b="0">
                          <a:solidFill>
                            <a:srgbClr val="333333"/>
                          </a:solidFill>
                          <a:latin typeface="Calibri"/>
                        </a:defRPr>
                      </a:pPr>
                      <a:r>
                        <a:t>0.6217 ± 0.0101   (2nd)</a:t>
                      </a:r>
                    </a:p>
                  </a:txBody>
                  <a:tcPr marL="45720" marR="45720" marT="9144" marB="9144" anchor="ctr">
                    <a:solidFill>
                      <a:srgbClr val="F2F2F2"/>
                    </a:solidFill>
                  </a:tcPr>
                </a:tc>
              </a:tr>
              <a:tr h="420624">
                <a:tc>
                  <a:txBody>
                    <a:bodyPr wrap="square"/>
                    <a:lstStyle/>
                    <a:p>
                      <a:pPr algn="l">
                        <a:defRPr sz="1400" b="0">
                          <a:solidFill>
                            <a:srgbClr val="333333"/>
                          </a:solidFill>
                          <a:latin typeface="Calibri"/>
                        </a:defRPr>
                      </a:pPr>
                      <a:r>
                        <a:t>Random Forest–none</a:t>
                      </a:r>
                    </a:p>
                  </a:txBody>
                  <a:tcPr marL="45720" marR="45720" marT="9144" marB="9144" anchor="ctr"/>
                </a:tc>
                <a:tc>
                  <a:txBody>
                    <a:bodyPr wrap="square"/>
                    <a:lstStyle/>
                    <a:p>
                      <a:pPr algn="ctr">
                        <a:defRPr sz="1400" b="0">
                          <a:solidFill>
                            <a:srgbClr val="333333"/>
                          </a:solidFill>
                          <a:latin typeface="Calibri"/>
                        </a:defRPr>
                      </a:pPr>
                      <a:r>
                        <a:t>0.6149   (5th)</a:t>
                      </a:r>
                    </a:p>
                  </a:txBody>
                  <a:tcPr marL="45720" marR="45720" marT="9144" marB="9144" anchor="ctr"/>
                </a:tc>
                <a:tc>
                  <a:txBody>
                    <a:bodyPr wrap="square"/>
                    <a:lstStyle/>
                    <a:p>
                      <a:pPr algn="ctr">
                        <a:defRPr sz="1400" b="0">
                          <a:solidFill>
                            <a:srgbClr val="333333"/>
                          </a:solidFill>
                          <a:latin typeface="Calibri"/>
                        </a:defRPr>
                      </a:pPr>
                      <a:r>
                        <a:t>0.6216 ± 0.0097   (3rd)</a:t>
                      </a:r>
                    </a:p>
                  </a:txBody>
                  <a:tcPr marL="45720" marR="45720" marT="9144" marB="9144" anchor="ctr"/>
                </a:tc>
              </a:tr>
              <a:tr h="420624">
                <a:tc>
                  <a:txBody>
                    <a:bodyPr wrap="square"/>
                    <a:lstStyle/>
                    <a:p>
                      <a:pPr algn="l">
                        <a:defRPr sz="1400" b="1">
                          <a:solidFill>
                            <a:srgbClr val="333333"/>
                          </a:solidFill>
                          <a:latin typeface="Calibri"/>
                        </a:defRPr>
                      </a:pPr>
                      <a:r>
                        <a:t>LightGBM–none</a:t>
                      </a:r>
                    </a:p>
                  </a:txBody>
                  <a:tcPr marL="45720" marR="45720" marT="9144" marB="9144" anchor="ctr">
                    <a:solidFill>
                      <a:srgbClr val="DDEECC"/>
                    </a:solidFill>
                  </a:tcPr>
                </a:tc>
                <a:tc>
                  <a:txBody>
                    <a:bodyPr wrap="square"/>
                    <a:lstStyle/>
                    <a:p>
                      <a:pPr algn="ctr">
                        <a:defRPr sz="1400" b="1">
                          <a:solidFill>
                            <a:srgbClr val="333333"/>
                          </a:solidFill>
                          <a:latin typeface="Calibri"/>
                        </a:defRPr>
                      </a:pPr>
                      <a:r>
                        <a:t>0.6248   (1st)</a:t>
                      </a:r>
                    </a:p>
                  </a:txBody>
                  <a:tcPr marL="45720" marR="45720" marT="9144" marB="9144" anchor="ctr">
                    <a:solidFill>
                      <a:srgbClr val="DDEECC"/>
                    </a:solidFill>
                  </a:tcPr>
                </a:tc>
                <a:tc>
                  <a:txBody>
                    <a:bodyPr wrap="square"/>
                    <a:lstStyle/>
                    <a:p>
                      <a:pPr algn="ctr">
                        <a:defRPr sz="1400" b="1">
                          <a:solidFill>
                            <a:srgbClr val="333333"/>
                          </a:solidFill>
                          <a:latin typeface="Calibri"/>
                        </a:defRPr>
                      </a:pPr>
                      <a:r>
                        <a:t>0.6183 ± 0.0095   (4th)</a:t>
                      </a:r>
                    </a:p>
                  </a:txBody>
                  <a:tcPr marL="45720" marR="45720" marT="9144" marB="9144" anchor="ctr">
                    <a:solidFill>
                      <a:srgbClr val="DDEECC"/>
                    </a:solidFill>
                  </a:tcPr>
                </a:tc>
              </a:tr>
              <a:tr h="420624">
                <a:tc>
                  <a:txBody>
                    <a:bodyPr wrap="square"/>
                    <a:lstStyle/>
                    <a:p>
                      <a:pPr algn="l">
                        <a:defRPr sz="1400" b="0">
                          <a:solidFill>
                            <a:srgbClr val="333333"/>
                          </a:solidFill>
                          <a:latin typeface="Calibri"/>
                        </a:defRPr>
                      </a:pPr>
                      <a:r>
                        <a:t>CatBoost–none</a:t>
                      </a:r>
                    </a:p>
                  </a:txBody>
                  <a:tcPr marL="45720" marR="45720" marT="9144" marB="9144" anchor="ctr"/>
                </a:tc>
                <a:tc>
                  <a:txBody>
                    <a:bodyPr wrap="square"/>
                    <a:lstStyle/>
                    <a:p>
                      <a:pPr algn="ctr">
                        <a:defRPr sz="1400" b="0">
                          <a:solidFill>
                            <a:srgbClr val="333333"/>
                          </a:solidFill>
                          <a:latin typeface="Calibri"/>
                        </a:defRPr>
                      </a:pPr>
                      <a:r>
                        <a:t>0.6074   (6th)</a:t>
                      </a:r>
                    </a:p>
                  </a:txBody>
                  <a:tcPr marL="45720" marR="45720" marT="9144" marB="9144" anchor="ctr"/>
                </a:tc>
                <a:tc>
                  <a:txBody>
                    <a:bodyPr wrap="square"/>
                    <a:lstStyle/>
                    <a:p>
                      <a:pPr algn="ctr">
                        <a:defRPr sz="1400" b="0">
                          <a:solidFill>
                            <a:srgbClr val="333333"/>
                          </a:solidFill>
                          <a:latin typeface="Calibri"/>
                        </a:defRPr>
                      </a:pPr>
                      <a:r>
                        <a:t>0.6042 ± 0.0116   (5th)</a:t>
                      </a:r>
                    </a:p>
                  </a:txBody>
                  <a:tcPr marL="45720" marR="45720" marT="9144" marB="9144" anchor="ctr"/>
                </a:tc>
              </a:tr>
            </a:tbl>
          </a:graphicData>
        </a:graphic>
      </p:graphicFrame>
      <p:sp>
        <p:nvSpPr>
          <p:cNvPr id="7" name="TextBox 6"/>
          <p:cNvSpPr txBox="1"/>
          <p:nvPr/>
        </p:nvSpPr>
        <p:spPr>
          <a:xfrm>
            <a:off x="548640" y="4023360"/>
            <a:ext cx="11155680" cy="1874519"/>
          </a:xfrm>
          <a:prstGeom prst="rect">
            <a:avLst/>
          </a:prstGeom>
          <a:noFill/>
        </p:spPr>
        <p:txBody>
          <a:bodyPr wrap="square" lIns="64008" rIns="64008" tIns="18288" bIns="18288">
            <a:noAutofit/>
          </a:bodyPr>
          <a:lstStyle/>
          <a:p>
            <a:pPr algn="l">
              <a:lnSpc>
                <a:spcPct val="120000"/>
              </a:lnSpc>
              <a:spcAft>
                <a:spcPts val="800"/>
              </a:spcAft>
              <a:defRPr sz="1500" b="0" i="0">
                <a:solidFill>
                  <a:srgbClr val="333333"/>
                </a:solidFill>
                <a:latin typeface="Calibri"/>
              </a:defRPr>
            </a:pPr>
            <a:r>
              <a:t>•  On the single hold-out split, LightGBM–none leads XGBoost–none (0.6248 against 0.6197) — which invites the conclusion that LightGBM is the better algorithm here.</a:t>
            </a:r>
          </a:p>
          <a:p>
            <a:pPr algn="l">
              <a:lnSpc>
                <a:spcPct val="120000"/>
              </a:lnSpc>
              <a:spcAft>
                <a:spcPts val="800"/>
              </a:spcAft>
              <a:defRPr sz="1500" b="0" i="0">
                <a:solidFill>
                  <a:srgbClr val="333333"/>
                </a:solidFill>
                <a:latin typeface="Calibri"/>
              </a:defRPr>
            </a:pPr>
            <a:r>
              <a:t>•  Under repeated cross-validation the ordering reverses (0.6183 against 0.6217), and the corrected paired test gives p = 0.3844 — not close to rejecting in either direction. The apparent ranking was an artefact of one split.</a:t>
            </a:r>
          </a:p>
          <a:p>
            <a:pPr algn="l">
              <a:lnSpc>
                <a:spcPct val="120000"/>
              </a:lnSpc>
              <a:spcAft>
                <a:spcPts val="800"/>
              </a:spcAft>
              <a:defRPr sz="1500" b="0" i="0">
                <a:solidFill>
                  <a:srgbClr val="333333"/>
                </a:solidFill>
                <a:latin typeface="Calibri"/>
              </a:defRPr>
            </a:pPr>
            <a:r>
              <a:t>•  We re-tested one other claim the same way. Comparing two non-reference rows of Table 10 is not valid, and an earlier version of this paper did exactly that. Tested directly, CatBoost–none over LightGBM–balanced gives Δ = 0.0125, t = 2.29, p = 0.0313 unadjusted but 0.0626 after Holm — direction reproduced, evidence weaker than the bare p-value suggested.</a:t>
            </a:r>
          </a:p>
          <a:p>
            <a:pPr algn="l">
              <a:lnSpc>
                <a:spcPct val="120000"/>
              </a:lnSpc>
              <a:spcAft>
                <a:spcPts val="700"/>
              </a:spcAft>
              <a:defRPr sz="1500" b="1" i="0">
                <a:solidFill>
                  <a:srgbClr val="002B5C"/>
                </a:solidFill>
                <a:latin typeface="Calibri"/>
              </a:defRPr>
            </a:pPr>
            <a:r>
              <a:t>•  A test that fails to reject is as much a governance result as one that rejects.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118872"/>
            <a:ext cx="10332720" cy="475488"/>
          </a:xfrm>
          <a:prstGeom prst="rect">
            <a:avLst/>
          </a:prstGeom>
          <a:noFill/>
        </p:spPr>
        <p:txBody>
          <a:bodyPr wrap="square" lIns="64008" rIns="64008" tIns="18288" bIns="18288">
            <a:noAutofit/>
          </a:bodyPr>
          <a:lstStyle/>
          <a:p>
            <a:pPr algn="l">
              <a:lnSpc>
                <a:spcPct val="105000"/>
              </a:lnSpc>
              <a:spcAft>
                <a:spcPts val="400"/>
              </a:spcAft>
              <a:defRPr sz="2800" b="1" i="0">
                <a:solidFill>
                  <a:srgbClr val="FFFFFF"/>
                </a:solidFill>
                <a:latin typeface="Calibri"/>
              </a:defRPr>
            </a:pPr>
            <a:r>
              <a:t>Implications for Sustainable Credit Governance</a:t>
            </a:r>
          </a:p>
        </p:txBody>
      </p:sp>
      <p:sp>
        <p:nvSpPr>
          <p:cNvPr id="4" name="TextBox 3"/>
          <p:cNvSpPr txBox="1"/>
          <p:nvPr/>
        </p:nvSpPr>
        <p:spPr>
          <a:xfrm>
            <a:off x="548640" y="621792"/>
            <a:ext cx="10332720" cy="329184"/>
          </a:xfrm>
          <a:prstGeom prst="rect">
            <a:avLst/>
          </a:prstGeom>
          <a:noFill/>
        </p:spPr>
        <p:txBody>
          <a:bodyPr wrap="square" lIns="64008" rIns="64008" tIns="18288" bIns="18288">
            <a:noAutofit/>
          </a:bodyPr>
          <a:lstStyle/>
          <a:p>
            <a:pPr algn="l">
              <a:lnSpc>
                <a:spcPct val="100000"/>
              </a:lnSpc>
              <a:spcAft>
                <a:spcPts val="400"/>
              </a:spcAft>
              <a:defRPr sz="1500" b="0" i="0">
                <a:solidFill>
                  <a:srgbClr val="BBDBF5"/>
                </a:solidFill>
                <a:latin typeface="Calibri"/>
              </a:defRPr>
            </a:pPr>
            <a:r>
              <a:t>Four conditional recommendations — Section 4.6</a:t>
            </a:r>
          </a:p>
        </p:txBody>
      </p:sp>
      <p:sp>
        <p:nvSpPr>
          <p:cNvPr id="5" name="TextBox 4"/>
          <p:cNvSpPr txBox="1"/>
          <p:nvPr/>
        </p:nvSpPr>
        <p:spPr>
          <a:xfrm>
            <a:off x="11201400" y="137160"/>
            <a:ext cx="777240" cy="365760"/>
          </a:xfrm>
          <a:prstGeom prst="rect">
            <a:avLst/>
          </a:prstGeom>
          <a:noFill/>
        </p:spPr>
        <p:txBody>
          <a:bodyPr wrap="square" lIns="64008" rIns="64008" tIns="18288" bIns="18288">
            <a:noAutofit/>
          </a:bodyPr>
          <a:lstStyle/>
          <a:p>
            <a:pPr algn="r">
              <a:spcAft>
                <a:spcPts val="400"/>
              </a:spcAft>
              <a:defRPr sz="1400" b="0" i="0">
                <a:solidFill>
                  <a:srgbClr val="FFFFFF"/>
                </a:solidFill>
                <a:latin typeface="Calibri"/>
              </a:defRPr>
            </a:pPr>
            <a:r>
              <a:t>14</a:t>
            </a:r>
          </a:p>
        </p:txBody>
      </p:sp>
      <p:sp>
        <p:nvSpPr>
          <p:cNvPr id="6" name="TextBox 5"/>
          <p:cNvSpPr txBox="1"/>
          <p:nvPr/>
        </p:nvSpPr>
        <p:spPr>
          <a:xfrm>
            <a:off x="548640" y="1170432"/>
            <a:ext cx="11155680" cy="4160520"/>
          </a:xfrm>
          <a:prstGeom prst="rect">
            <a:avLst/>
          </a:prstGeom>
          <a:noFill/>
        </p:spPr>
        <p:txBody>
          <a:bodyPr wrap="square" lIns="64008" rIns="64008" tIns="18288" bIns="18288">
            <a:noAutofit/>
          </a:bodyPr>
          <a:lstStyle/>
          <a:p>
            <a:pPr algn="l">
              <a:lnSpc>
                <a:spcPct val="115000"/>
              </a:lnSpc>
              <a:spcAft>
                <a:spcPts val="200"/>
              </a:spcAft>
              <a:defRPr sz="1700" b="1" i="0">
                <a:solidFill>
                  <a:srgbClr val="002B5C"/>
                </a:solidFill>
                <a:latin typeface="Calibri"/>
              </a:defRPr>
            </a:pPr>
            <a:r>
              <a:t>1.   Imbalance-aware, multi-metric evaluation is a governance safeguard.</a:t>
            </a:r>
          </a:p>
          <a:p>
            <a:pPr algn="l">
              <a:lnSpc>
                <a:spcPct val="118000"/>
              </a:lnSpc>
              <a:spcAft>
                <a:spcPts val="1200"/>
              </a:spcAft>
              <a:defRPr sz="1500" b="0" i="0">
                <a:solidFill>
                  <a:srgbClr val="333333"/>
                </a:solidFill>
                <a:latin typeface="Calibri"/>
              </a:defRPr>
            </a:pPr>
            <a:r>
              <a:t>      Two configurations of the same algorithm reach comparable Macro-F1 while behaving in opposite ways. Choosing on Macro-F1 alone is choosing blind between a model that rarely raises a false alarm and one that rarely misses a deteriorating loan.</a:t>
            </a:r>
          </a:p>
          <a:p>
            <a:pPr algn="l">
              <a:lnSpc>
                <a:spcPct val="115000"/>
              </a:lnSpc>
              <a:spcAft>
                <a:spcPts val="200"/>
              </a:spcAft>
              <a:defRPr sz="1700" b="1" i="0">
                <a:solidFill>
                  <a:srgbClr val="002B5C"/>
                </a:solidFill>
                <a:latin typeface="Calibri"/>
              </a:defRPr>
            </a:pPr>
            <a:r>
              <a:t>2.   Feature efficiency lowers governance cost.</a:t>
            </a:r>
          </a:p>
          <a:p>
            <a:pPr algn="l">
              <a:lnSpc>
                <a:spcPct val="118000"/>
              </a:lnSpc>
              <a:spcAft>
                <a:spcPts val="1200"/>
              </a:spcAft>
              <a:defRPr sz="1500" b="0" i="0">
                <a:solidFill>
                  <a:srgbClr val="333333"/>
                </a:solidFill>
                <a:latin typeface="Calibri"/>
              </a:defRPr>
            </a:pPr>
            <a:r>
              <a:t>      Nine of thirteen features recover 98–99%, and honest in-fold selection costs under 1%. Each feature dropped is one fewer data feed to source, document, monitor for drift and explain to a supervisor.</a:t>
            </a:r>
          </a:p>
          <a:p>
            <a:pPr algn="l">
              <a:lnSpc>
                <a:spcPct val="115000"/>
              </a:lnSpc>
              <a:spcAft>
                <a:spcPts val="200"/>
              </a:spcAft>
              <a:defRPr sz="1700" b="1" i="0">
                <a:solidFill>
                  <a:srgbClr val="002B5C"/>
                </a:solidFill>
                <a:latin typeface="Calibri"/>
              </a:defRPr>
            </a:pPr>
            <a:r>
              <a:t>3.   No single measure should be trusted until checked against an independent one.</a:t>
            </a:r>
          </a:p>
          <a:p>
            <a:pPr algn="l">
              <a:lnSpc>
                <a:spcPct val="118000"/>
              </a:lnSpc>
              <a:spcAft>
                <a:spcPts val="1200"/>
              </a:spcAft>
              <a:defRPr sz="1500" b="0" i="0">
                <a:solidFill>
                  <a:srgbClr val="333333"/>
                </a:solidFill>
                <a:latin typeface="Calibri"/>
              </a:defRPr>
            </a:pPr>
            <a:r>
              <a:t>      Gain alone would support different conclusions depending on the library and the treatment; only SHAP, cross-checked, supports a stable ordering. The same discipline applied to our own model ranking overturned a claim we would otherwise have made.</a:t>
            </a:r>
          </a:p>
          <a:p>
            <a:pPr algn="l">
              <a:lnSpc>
                <a:spcPct val="115000"/>
              </a:lnSpc>
              <a:spcAft>
                <a:spcPts val="200"/>
              </a:spcAft>
              <a:defRPr sz="1700" b="1" i="0">
                <a:solidFill>
                  <a:srgbClr val="002B5C"/>
                </a:solidFill>
                <a:latin typeface="Calibri"/>
              </a:defRPr>
            </a:pPr>
            <a:r>
              <a:t>4.   An automated flag should trigger a documented, falsifiable check — not a plausible justification.</a:t>
            </a:r>
          </a:p>
          <a:p>
            <a:pPr algn="l">
              <a:lnSpc>
                <a:spcPct val="118000"/>
              </a:lnSpc>
              <a:spcAft>
                <a:spcPts val="700"/>
              </a:spcAft>
              <a:defRPr sz="1500" b="0" i="0">
                <a:solidFill>
                  <a:srgbClr val="333333"/>
                </a:solidFill>
                <a:latin typeface="Calibri"/>
              </a:defRPr>
            </a:pPr>
            <a:r>
              <a:t>      IV &gt; 1.0 is a prompt for human review, not automatic exclusion. The ablation, the univariate rule and the reference-date check each test — rather than assert — that DAYS_TO_MATURITY is a genuine risk signal.</a:t>
            </a:r>
          </a:p>
        </p:txBody>
      </p:sp>
      <p:sp>
        <p:nvSpPr>
          <p:cNvPr id="7" name="Rectangle 6"/>
          <p:cNvSpPr/>
          <p:nvPr/>
        </p:nvSpPr>
        <p:spPr>
          <a:xfrm>
            <a:off x="548640" y="5468112"/>
            <a:ext cx="11155680" cy="841248"/>
          </a:xfrm>
          <a:prstGeom prst="rect">
            <a:avLst/>
          </a:prstGeom>
          <a:solidFill>
            <a:srgbClr val="D6E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31520" y="5577840"/>
            <a:ext cx="10789919" cy="621792"/>
          </a:xfrm>
          <a:prstGeom prst="rect">
            <a:avLst/>
          </a:prstGeom>
          <a:noFill/>
        </p:spPr>
        <p:txBody>
          <a:bodyPr wrap="square" lIns="64008" rIns="64008" tIns="18288" bIns="18288">
            <a:noAutofit/>
          </a:bodyPr>
          <a:lstStyle/>
          <a:p>
            <a:pPr algn="l">
              <a:lnSpc>
                <a:spcPct val="120000"/>
              </a:lnSpc>
              <a:spcAft>
                <a:spcPts val="700"/>
              </a:spcAft>
              <a:defRPr sz="1400" b="1" i="0">
                <a:solidFill>
                  <a:srgbClr val="002B5C"/>
                </a:solidFill>
                <a:latin typeface="Calibri"/>
              </a:defRPr>
            </a:pPr>
            <a:r>
              <a:t>Stated as conditional recommendations.   Every result behind them comes from one institution and one classification snapshot, resampled randomly. None has been validated out-of-time. What transfers is the ordering of the checks, not the specific coefficients.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118872"/>
            <a:ext cx="10332720" cy="475488"/>
          </a:xfrm>
          <a:prstGeom prst="rect">
            <a:avLst/>
          </a:prstGeom>
          <a:noFill/>
        </p:spPr>
        <p:txBody>
          <a:bodyPr wrap="square" lIns="64008" rIns="64008" tIns="18288" bIns="18288">
            <a:noAutofit/>
          </a:bodyPr>
          <a:lstStyle/>
          <a:p>
            <a:pPr algn="l">
              <a:lnSpc>
                <a:spcPct val="105000"/>
              </a:lnSpc>
              <a:spcAft>
                <a:spcPts val="400"/>
              </a:spcAft>
              <a:defRPr sz="2800" b="1" i="0">
                <a:solidFill>
                  <a:srgbClr val="FFFFFF"/>
                </a:solidFill>
                <a:latin typeface="Calibri"/>
              </a:defRPr>
            </a:pPr>
            <a:r>
              <a:t>Conclusion</a:t>
            </a:r>
          </a:p>
        </p:txBody>
      </p:sp>
      <p:sp>
        <p:nvSpPr>
          <p:cNvPr id="4" name="TextBox 3"/>
          <p:cNvSpPr txBox="1"/>
          <p:nvPr/>
        </p:nvSpPr>
        <p:spPr>
          <a:xfrm>
            <a:off x="548640" y="621792"/>
            <a:ext cx="10332720" cy="329184"/>
          </a:xfrm>
          <a:prstGeom prst="rect">
            <a:avLst/>
          </a:prstGeom>
          <a:noFill/>
        </p:spPr>
        <p:txBody>
          <a:bodyPr wrap="square" lIns="64008" rIns="64008" tIns="18288" bIns="18288">
            <a:noAutofit/>
          </a:bodyPr>
          <a:lstStyle/>
          <a:p>
            <a:pPr algn="l">
              <a:lnSpc>
                <a:spcPct val="100000"/>
              </a:lnSpc>
              <a:spcAft>
                <a:spcPts val="400"/>
              </a:spcAft>
              <a:defRPr sz="1500" b="0" i="0">
                <a:solidFill>
                  <a:srgbClr val="BBDBF5"/>
                </a:solidFill>
                <a:latin typeface="Calibri"/>
              </a:defRPr>
            </a:pPr>
            <a:r>
              <a:t>Three contributions, corresponding to RQ1–RQ3</a:t>
            </a:r>
          </a:p>
        </p:txBody>
      </p:sp>
      <p:sp>
        <p:nvSpPr>
          <p:cNvPr id="5" name="TextBox 4"/>
          <p:cNvSpPr txBox="1"/>
          <p:nvPr/>
        </p:nvSpPr>
        <p:spPr>
          <a:xfrm>
            <a:off x="11201400" y="137160"/>
            <a:ext cx="777240" cy="365760"/>
          </a:xfrm>
          <a:prstGeom prst="rect">
            <a:avLst/>
          </a:prstGeom>
          <a:noFill/>
        </p:spPr>
        <p:txBody>
          <a:bodyPr wrap="square" lIns="64008" rIns="64008" tIns="18288" bIns="18288">
            <a:noAutofit/>
          </a:bodyPr>
          <a:lstStyle/>
          <a:p>
            <a:pPr algn="r">
              <a:spcAft>
                <a:spcPts val="400"/>
              </a:spcAft>
              <a:defRPr sz="1400" b="0" i="0">
                <a:solidFill>
                  <a:srgbClr val="FFFFFF"/>
                </a:solidFill>
                <a:latin typeface="Calibri"/>
              </a:defRPr>
            </a:pPr>
            <a:r>
              <a:t>15</a:t>
            </a:r>
          </a:p>
        </p:txBody>
      </p:sp>
      <p:sp>
        <p:nvSpPr>
          <p:cNvPr id="6" name="TextBox 5"/>
          <p:cNvSpPr txBox="1"/>
          <p:nvPr/>
        </p:nvSpPr>
        <p:spPr>
          <a:xfrm>
            <a:off x="548640" y="1188720"/>
            <a:ext cx="11155680" cy="4800600"/>
          </a:xfrm>
          <a:prstGeom prst="rect">
            <a:avLst/>
          </a:prstGeom>
          <a:noFill/>
        </p:spPr>
        <p:txBody>
          <a:bodyPr wrap="square" lIns="64008" rIns="64008" tIns="18288" bIns="18288">
            <a:noAutofit/>
          </a:bodyPr>
          <a:lstStyle/>
          <a:p>
            <a:pPr algn="l">
              <a:lnSpc>
                <a:spcPct val="115000"/>
              </a:lnSpc>
              <a:spcAft>
                <a:spcPts val="300"/>
              </a:spcAft>
              <a:defRPr sz="1800" b="1" i="0">
                <a:solidFill>
                  <a:srgbClr val="002B5C"/>
                </a:solidFill>
                <a:latin typeface="Calibri"/>
              </a:defRPr>
            </a:pPr>
            <a:r>
              <a:t>RQ1 — The imbalance treatment is better identified than the algorithm.</a:t>
            </a:r>
          </a:p>
          <a:p>
            <a:pPr algn="l">
              <a:lnSpc>
                <a:spcPct val="120000"/>
              </a:lnSpc>
              <a:spcAft>
                <a:spcPts val="1600"/>
              </a:spcAft>
              <a:defRPr sz="1500" b="0" i="0">
                <a:solidFill>
                  <a:srgbClr val="333333"/>
                </a:solidFill>
                <a:latin typeface="Calibri"/>
              </a:defRPr>
            </a:pPr>
            <a:r>
              <a:t>For every tree-based classifier, turning class weighting off improves repeated-CV Macro-F1, and the improvement survives Holm adjustment. The four leading configurations — Decision Tree–none, XGBoost–none, Random Forest–none, LightGBM–none, spanning 0.6183 to 0.6271 — cannot be separated by the same corrected test. The highest point estimate is Decision Tree–none (0.6271 ± 0.0109); the best hold-out configuration is LightGBM–none (0.6248). We report both and claim neither as a winner.</a:t>
            </a:r>
          </a:p>
          <a:p>
            <a:pPr algn="l">
              <a:lnSpc>
                <a:spcPct val="115000"/>
              </a:lnSpc>
              <a:spcAft>
                <a:spcPts val="300"/>
              </a:spcAft>
              <a:defRPr sz="1800" b="1" i="0">
                <a:solidFill>
                  <a:srgbClr val="002B5C"/>
                </a:solidFill>
                <a:latin typeface="Calibri"/>
              </a:defRPr>
            </a:pPr>
            <a:r>
              <a:t>RQ2 — Nine of thirteen features recover 98–99% of peak performance.</a:t>
            </a:r>
          </a:p>
          <a:p>
            <a:pPr algn="l">
              <a:lnSpc>
                <a:spcPct val="120000"/>
              </a:lnSpc>
              <a:spcAft>
                <a:spcPts val="1600"/>
              </a:spcAft>
              <a:defRPr sz="1500" b="0" i="0">
                <a:solidFill>
                  <a:srgbClr val="333333"/>
                </a:solidFill>
                <a:latin typeface="Calibri"/>
              </a:defRPr>
            </a:pPr>
            <a:r>
              <a:t>DAYS_TO_MATURITY is the dominant predictor — removing it costs 16–23% of Macro-F1 — and honest in-fold selection costs under 1%. This supports a more parsimonious and auditable specification.</a:t>
            </a:r>
          </a:p>
          <a:p>
            <a:pPr algn="l">
              <a:lnSpc>
                <a:spcPct val="115000"/>
              </a:lnSpc>
              <a:spcAft>
                <a:spcPts val="300"/>
              </a:spcAft>
              <a:defRPr sz="1800" b="1" i="0">
                <a:solidFill>
                  <a:srgbClr val="002B5C"/>
                </a:solidFill>
                <a:latin typeface="Calibri"/>
              </a:defRPr>
            </a:pPr>
            <a:r>
              <a:t>RQ3 — SHAP is stable across algorithms and treatments; Gain is not.</a:t>
            </a:r>
          </a:p>
          <a:p>
            <a:pPr algn="l">
              <a:lnSpc>
                <a:spcPct val="120000"/>
              </a:lnSpc>
              <a:spcAft>
                <a:spcPts val="1600"/>
              </a:spcAft>
              <a:defRPr sz="1500" b="0" i="0">
                <a:solidFill>
                  <a:srgbClr val="333333"/>
                </a:solidFill>
                <a:latin typeface="Calibri"/>
              </a:defRPr>
            </a:pPr>
            <a:r>
              <a:t>Consistently defined Gain agrees on the leading information group but not on the ranks below it. Data-investment decisions should triangulate importance measures rather than trust a single Gain ranking.</a:t>
            </a:r>
          </a:p>
          <a:p>
            <a:pPr algn="l">
              <a:lnSpc>
                <a:spcPct val="120000"/>
              </a:lnSpc>
              <a:spcAft>
                <a:spcPts val="700"/>
              </a:spcAft>
              <a:defRPr sz="1550" b="1" i="0">
                <a:solidFill>
                  <a:srgbClr val="0070C0"/>
                </a:solidFill>
                <a:latin typeface="Calibri"/>
              </a:defRPr>
            </a:pPr>
            <a:r>
              <a:t>Together: a verification-oriented framework in which predictive performance, feature economy and interpretability are evaluated jointly rather than treated as separate governance objectives.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118872"/>
            <a:ext cx="10332720" cy="475488"/>
          </a:xfrm>
          <a:prstGeom prst="rect">
            <a:avLst/>
          </a:prstGeom>
          <a:noFill/>
        </p:spPr>
        <p:txBody>
          <a:bodyPr wrap="square" lIns="64008" rIns="64008" tIns="18288" bIns="18288">
            <a:noAutofit/>
          </a:bodyPr>
          <a:lstStyle/>
          <a:p>
            <a:pPr algn="l">
              <a:lnSpc>
                <a:spcPct val="105000"/>
              </a:lnSpc>
              <a:spcAft>
                <a:spcPts val="400"/>
              </a:spcAft>
              <a:defRPr sz="2800" b="1" i="0">
                <a:solidFill>
                  <a:srgbClr val="FFFFFF"/>
                </a:solidFill>
                <a:latin typeface="Calibri"/>
              </a:defRPr>
            </a:pPr>
            <a:r>
              <a:t>Limitations &amp; Future Work</a:t>
            </a:r>
          </a:p>
        </p:txBody>
      </p:sp>
      <p:sp>
        <p:nvSpPr>
          <p:cNvPr id="4" name="TextBox 3"/>
          <p:cNvSpPr txBox="1"/>
          <p:nvPr/>
        </p:nvSpPr>
        <p:spPr>
          <a:xfrm>
            <a:off x="11201400" y="137160"/>
            <a:ext cx="777240" cy="365760"/>
          </a:xfrm>
          <a:prstGeom prst="rect">
            <a:avLst/>
          </a:prstGeom>
          <a:noFill/>
        </p:spPr>
        <p:txBody>
          <a:bodyPr wrap="square" lIns="64008" rIns="64008" tIns="18288" bIns="18288">
            <a:noAutofit/>
          </a:bodyPr>
          <a:lstStyle/>
          <a:p>
            <a:pPr algn="r">
              <a:spcAft>
                <a:spcPts val="400"/>
              </a:spcAft>
              <a:defRPr sz="1400" b="0" i="0">
                <a:solidFill>
                  <a:srgbClr val="FFFFFF"/>
                </a:solidFill>
                <a:latin typeface="Calibri"/>
              </a:defRPr>
            </a:pPr>
            <a:r>
              <a:t>16</a:t>
            </a:r>
          </a:p>
        </p:txBody>
      </p:sp>
      <p:sp>
        <p:nvSpPr>
          <p:cNvPr id="5" name="TextBox 4"/>
          <p:cNvSpPr txBox="1"/>
          <p:nvPr/>
        </p:nvSpPr>
        <p:spPr>
          <a:xfrm>
            <a:off x="548640" y="1188720"/>
            <a:ext cx="11155680" cy="4434840"/>
          </a:xfrm>
          <a:prstGeom prst="rect">
            <a:avLst/>
          </a:prstGeom>
          <a:noFill/>
        </p:spPr>
        <p:txBody>
          <a:bodyPr wrap="square" lIns="64008" rIns="64008" tIns="18288" bIns="18288">
            <a:noAutofit/>
          </a:bodyPr>
          <a:lstStyle/>
          <a:p>
            <a:pPr algn="l">
              <a:lnSpc>
                <a:spcPct val="120000"/>
              </a:lnSpc>
              <a:spcAft>
                <a:spcPts val="1300"/>
              </a:spcAft>
              <a:defRPr sz="1600" b="0" i="0">
                <a:solidFill>
                  <a:srgbClr val="333333"/>
                </a:solidFill>
                <a:latin typeface="Calibri"/>
              </a:defRPr>
            </a:pPr>
            <a:r>
              <a:t>1.   Small minority-group samples.   Only 121 Group-3 loans in the test set, so per-class estimates in Tables 4–5 carry real uncertainty. Model comparisons should rely on the repeated-CV figures — and even there several configurations are indistinguishable.</a:t>
            </a:r>
          </a:p>
          <a:p>
            <a:pPr algn="l">
              <a:lnSpc>
                <a:spcPct val="120000"/>
              </a:lnSpc>
              <a:spcAft>
                <a:spcPts val="1300"/>
              </a:spcAft>
              <a:defRPr sz="1600" b="0" i="0">
                <a:solidFill>
                  <a:srgbClr val="333333"/>
                </a:solidFill>
                <a:latin typeface="Calibri"/>
              </a:defRPr>
            </a:pPr>
            <a:r>
              <a:t>2.   Single institution, single snapshot.   The file records no classification date, so all resampling is random rather than temporal. An out-of-time evaluation — train on an earlier date, test on a later one — is the necessary next step before any operational use, and the Group-5 legacy stock suggests in-sample performance may be flattering relative to what such a test would show.</a:t>
            </a:r>
          </a:p>
          <a:p>
            <a:pPr algn="l">
              <a:lnSpc>
                <a:spcPct val="120000"/>
              </a:lnSpc>
              <a:spcAft>
                <a:spcPts val="1300"/>
              </a:spcAft>
              <a:defRPr sz="1600" b="0" i="0">
                <a:solidFill>
                  <a:srgbClr val="333333"/>
                </a:solidFill>
                <a:latin typeface="Calibri"/>
              </a:defRPr>
            </a:pPr>
            <a:r>
              <a:t>3.   Label encoding.   Categorical variables are label-encoded for the non-CatBoost models, imposing an arbitrary ordering on nominal codes such as branch identifiers. Native categorical handling was verified for CatBoost only.</a:t>
            </a:r>
          </a:p>
          <a:p>
            <a:pPr algn="l">
              <a:lnSpc>
                <a:spcPct val="120000"/>
              </a:lnSpc>
              <a:spcAft>
                <a:spcPts val="700"/>
              </a:spcAft>
              <a:defRPr sz="1600" b="0" i="0">
                <a:solidFill>
                  <a:srgbClr val="333333"/>
                </a:solidFill>
                <a:latin typeface="Calibri"/>
              </a:defRPr>
            </a:pPr>
            <a:r>
              <a:t>4.   Hyperparameters fixed a priori, not tuned.   This keeps the comparison clean — no configuration received a search budget the others did not — but it compares algorithm families at sensible defaults, not at their optima. A tuning budget could plausibly reorder the four inseparable configurations; it is less likely to overturn the treatment effect, which is an order of magnitude larger and consistent in sign.</a:t>
            </a:r>
          </a:p>
        </p:txBody>
      </p:sp>
      <p:sp>
        <p:nvSpPr>
          <p:cNvPr id="6" name="Rectangle 5"/>
          <p:cNvSpPr/>
          <p:nvPr/>
        </p:nvSpPr>
        <p:spPr>
          <a:xfrm>
            <a:off x="548640" y="5623560"/>
            <a:ext cx="11155680" cy="932688"/>
          </a:xfrm>
          <a:prstGeom prst="rect">
            <a:avLst/>
          </a:prstGeom>
          <a:solidFill>
            <a:srgbClr val="FB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31520" y="5733288"/>
            <a:ext cx="10789919" cy="713232"/>
          </a:xfrm>
          <a:prstGeom prst="rect">
            <a:avLst/>
          </a:prstGeom>
          <a:noFill/>
        </p:spPr>
        <p:txBody>
          <a:bodyPr wrap="square" lIns="64008" rIns="64008" tIns="18288" bIns="18288">
            <a:noAutofit/>
          </a:bodyPr>
          <a:lstStyle/>
          <a:p>
            <a:pPr algn="l">
              <a:lnSpc>
                <a:spcPct val="120000"/>
              </a:lnSpc>
              <a:spcAft>
                <a:spcPts val="700"/>
              </a:spcAft>
              <a:defRPr sz="1400" b="1" i="0">
                <a:solidFill>
                  <a:srgbClr val="C00000"/>
                </a:solidFill>
                <a:latin typeface="Calibri"/>
              </a:defRPr>
            </a:pPr>
            <a:r>
              <a:t>And throughout: the temporal availability of DAYS_TO_MATURITY cannot be confirmed from the dataset alone — it requires the bank's actual classification methodology. Every governance claim in this paper is conditional on out-of-time validation this single-snapshot dataset cannot supply.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2B5C"/>
        </a:solidFill>
        <a:effectLst/>
      </p:bgPr>
    </p:bg>
    <p:spTree>
      <p:nvGrpSpPr>
        <p:cNvPr id="1" name=""/>
        <p:cNvGrpSpPr/>
        <p:nvPr/>
      </p:nvGrpSpPr>
      <p:grpSpPr/>
      <p:sp>
        <p:nvSpPr>
          <p:cNvPr id="2" name="TextBox 1"/>
          <p:cNvSpPr txBox="1"/>
          <p:nvPr/>
        </p:nvSpPr>
        <p:spPr>
          <a:xfrm>
            <a:off x="914400" y="1874519"/>
            <a:ext cx="10332720" cy="914400"/>
          </a:xfrm>
          <a:prstGeom prst="rect">
            <a:avLst/>
          </a:prstGeom>
          <a:noFill/>
        </p:spPr>
        <p:txBody>
          <a:bodyPr wrap="square" lIns="64008" rIns="64008" tIns="18288" bIns="18288">
            <a:noAutofit/>
          </a:bodyPr>
          <a:lstStyle/>
          <a:p>
            <a:pPr algn="ctr">
              <a:lnSpc>
                <a:spcPct val="120000"/>
              </a:lnSpc>
              <a:spcAft>
                <a:spcPts val="400"/>
              </a:spcAft>
              <a:defRPr sz="4400" b="1" i="0">
                <a:solidFill>
                  <a:srgbClr val="FFFFFF"/>
                </a:solidFill>
                <a:latin typeface="Calibri"/>
              </a:defRPr>
            </a:pPr>
            <a:r>
              <a:t>Thank You</a:t>
            </a:r>
          </a:p>
        </p:txBody>
      </p:sp>
      <p:sp>
        <p:nvSpPr>
          <p:cNvPr id="3" name="Rectangle 2"/>
          <p:cNvSpPr/>
          <p:nvPr/>
        </p:nvSpPr>
        <p:spPr>
          <a:xfrm>
            <a:off x="3657600" y="3063240"/>
            <a:ext cx="4873752" cy="27432"/>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14400" y="3474720"/>
            <a:ext cx="10332720" cy="1280160"/>
          </a:xfrm>
          <a:prstGeom prst="rect">
            <a:avLst/>
          </a:prstGeom>
          <a:noFill/>
        </p:spPr>
        <p:txBody>
          <a:bodyPr wrap="square" lIns="64008" rIns="64008" tIns="18288" bIns="18288">
            <a:noAutofit/>
          </a:bodyPr>
          <a:lstStyle/>
          <a:p>
            <a:pPr algn="ctr">
              <a:spcAft>
                <a:spcPts val="600"/>
              </a:spcAft>
              <a:defRPr sz="2200" b="1" i="0">
                <a:solidFill>
                  <a:srgbClr val="FFFFFF"/>
                </a:solidFill>
                <a:latin typeface="Calibri"/>
              </a:defRPr>
            </a:pPr>
            <a:r>
              <a:t>Đàm Công Danh</a:t>
            </a:r>
          </a:p>
          <a:p>
            <a:pPr algn="ctr">
              <a:spcAft>
                <a:spcPts val="400"/>
              </a:spcAft>
              <a:defRPr sz="1800" b="0" i="0">
                <a:solidFill>
                  <a:srgbClr val="BBDBF5"/>
                </a:solidFill>
                <a:latin typeface="Calibri"/>
              </a:defRPr>
            </a:pPr>
            <a:r>
              <a:t>danh.dc251317m@sis.hust.edu.vn</a:t>
            </a:r>
          </a:p>
          <a:p>
            <a:pPr algn="ctr">
              <a:spcAft>
                <a:spcPts val="400"/>
              </a:spcAft>
              <a:defRPr sz="1800" b="0" i="0">
                <a:solidFill>
                  <a:srgbClr val="BBDBF5"/>
                </a:solidFill>
                <a:latin typeface="Calibri"/>
              </a:defRPr>
            </a:pPr>
            <a:r>
              <a:t>Tel.: +84 966 565 830</a:t>
            </a:r>
          </a:p>
        </p:txBody>
      </p:sp>
      <p:sp>
        <p:nvSpPr>
          <p:cNvPr id="5" name="TextBox 4"/>
          <p:cNvSpPr txBox="1"/>
          <p:nvPr/>
        </p:nvSpPr>
        <p:spPr>
          <a:xfrm>
            <a:off x="914400" y="4983480"/>
            <a:ext cx="10332720" cy="457200"/>
          </a:xfrm>
          <a:prstGeom prst="rect">
            <a:avLst/>
          </a:prstGeom>
          <a:noFill/>
        </p:spPr>
        <p:txBody>
          <a:bodyPr wrap="square" lIns="64008" rIns="64008" tIns="18288" bIns="18288">
            <a:noAutofit/>
          </a:bodyPr>
          <a:lstStyle/>
          <a:p>
            <a:pPr algn="ctr">
              <a:lnSpc>
                <a:spcPct val="120000"/>
              </a:lnSpc>
              <a:spcAft>
                <a:spcPts val="400"/>
              </a:spcAft>
              <a:defRPr sz="1300" b="0" i="0">
                <a:solidFill>
                  <a:srgbClr val="88BBDD"/>
                </a:solidFill>
                <a:latin typeface="Calibri"/>
              </a:defRPr>
            </a:pPr>
            <a:r>
              <a:t>Code, console logs and CSV outputs for every table are retained alongside the paper. The loan-level dataset is proprietary and not publicly released.</a:t>
            </a:r>
          </a:p>
        </p:txBody>
      </p:sp>
      <p:sp>
        <p:nvSpPr>
          <p:cNvPr id="6" name="TextBox 5"/>
          <p:cNvSpPr txBox="1"/>
          <p:nvPr/>
        </p:nvSpPr>
        <p:spPr>
          <a:xfrm>
            <a:off x="914400" y="5715000"/>
            <a:ext cx="10332720" cy="457200"/>
          </a:xfrm>
          <a:prstGeom prst="rect">
            <a:avLst/>
          </a:prstGeom>
          <a:noFill/>
        </p:spPr>
        <p:txBody>
          <a:bodyPr wrap="square" lIns="64008" rIns="64008" tIns="18288" bIns="18288">
            <a:noAutofit/>
          </a:bodyPr>
          <a:lstStyle/>
          <a:p>
            <a:pPr algn="ctr">
              <a:spcAft>
                <a:spcPts val="400"/>
              </a:spcAft>
              <a:defRPr sz="2000" b="1" i="0">
                <a:solidFill>
                  <a:srgbClr val="0070C0"/>
                </a:solidFill>
                <a:latin typeface="Calibri"/>
              </a:defRPr>
            </a:pPr>
            <a:r>
              <a:t>Questions &amp; Discussion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2B5C"/>
        </a:solidFill>
        <a:effectLst/>
      </p:bgPr>
    </p:bg>
    <p:spTree>
      <p:nvGrpSpPr>
        <p:cNvPr id="1" name=""/>
        <p:cNvGrpSpPr/>
        <p:nvPr/>
      </p:nvGrpSpPr>
      <p:grpSpPr/>
      <p:sp>
        <p:nvSpPr>
          <p:cNvPr id="2" name="TextBox 1"/>
          <p:cNvSpPr txBox="1"/>
          <p:nvPr/>
        </p:nvSpPr>
        <p:spPr>
          <a:xfrm>
            <a:off x="914400" y="2743200"/>
            <a:ext cx="10332720" cy="1097280"/>
          </a:xfrm>
          <a:prstGeom prst="rect">
            <a:avLst/>
          </a:prstGeom>
          <a:noFill/>
        </p:spPr>
        <p:txBody>
          <a:bodyPr wrap="square" lIns="64008" rIns="64008" tIns="18288" bIns="18288">
            <a:noAutofit/>
          </a:bodyPr>
          <a:lstStyle/>
          <a:p>
            <a:pPr algn="ctr">
              <a:lnSpc>
                <a:spcPct val="120000"/>
              </a:lnSpc>
              <a:spcAft>
                <a:spcPts val="800"/>
              </a:spcAft>
              <a:defRPr sz="4000" b="1" i="0">
                <a:solidFill>
                  <a:srgbClr val="FFFFFF"/>
                </a:solidFill>
                <a:latin typeface="Calibri"/>
              </a:defRPr>
            </a:pPr>
            <a:r>
              <a:t>Backup Slides</a:t>
            </a:r>
          </a:p>
          <a:p>
            <a:pPr algn="ctr">
              <a:spcAft>
                <a:spcPts val="400"/>
              </a:spcAft>
              <a:defRPr sz="1500" b="0" i="0">
                <a:solidFill>
                  <a:srgbClr val="BBDBF5"/>
                </a:solidFill>
                <a:latin typeface="Calibri"/>
              </a:defRPr>
            </a:pPr>
            <a:r>
              <a:t>B1  Class distribution &amp; DAYS_TO_MATURITY   ·   B2  Information Value   ·   B3  Confusion matrices</a:t>
            </a:r>
          </a:p>
          <a:p>
            <a:pPr algn="ctr">
              <a:spcAft>
                <a:spcPts val="400"/>
              </a:spcAft>
              <a:defRPr sz="1500" b="0" i="0">
                <a:solidFill>
                  <a:srgbClr val="BBDBF5"/>
                </a:solidFill>
                <a:latin typeface="Calibri"/>
              </a:defRPr>
            </a:pPr>
            <a:r>
              <a:t>B4  Ablation   ·   B5  Per-feature SHAP   ·   B6  Hyperparameters &amp; reproducibility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118872"/>
            <a:ext cx="10332720" cy="475488"/>
          </a:xfrm>
          <a:prstGeom prst="rect">
            <a:avLst/>
          </a:prstGeom>
          <a:noFill/>
        </p:spPr>
        <p:txBody>
          <a:bodyPr wrap="square" lIns="64008" rIns="64008" tIns="18288" bIns="18288">
            <a:noAutofit/>
          </a:bodyPr>
          <a:lstStyle/>
          <a:p>
            <a:pPr algn="l">
              <a:lnSpc>
                <a:spcPct val="105000"/>
              </a:lnSpc>
              <a:spcAft>
                <a:spcPts val="400"/>
              </a:spcAft>
              <a:defRPr sz="2800" b="1" i="0">
                <a:solidFill>
                  <a:srgbClr val="FFFFFF"/>
                </a:solidFill>
                <a:latin typeface="Calibri"/>
              </a:defRPr>
            </a:pPr>
            <a:r>
              <a:t>B1 — Class Distribution &amp; DAYS_TO_MATURITY</a:t>
            </a:r>
          </a:p>
        </p:txBody>
      </p:sp>
      <p:sp>
        <p:nvSpPr>
          <p:cNvPr id="4" name="TextBox 3"/>
          <p:cNvSpPr txBox="1"/>
          <p:nvPr/>
        </p:nvSpPr>
        <p:spPr>
          <a:xfrm>
            <a:off x="548640" y="621792"/>
            <a:ext cx="10332720" cy="329184"/>
          </a:xfrm>
          <a:prstGeom prst="rect">
            <a:avLst/>
          </a:prstGeom>
          <a:noFill/>
        </p:spPr>
        <p:txBody>
          <a:bodyPr wrap="square" lIns="64008" rIns="64008" tIns="18288" bIns="18288">
            <a:noAutofit/>
          </a:bodyPr>
          <a:lstStyle/>
          <a:p>
            <a:pPr algn="l">
              <a:lnSpc>
                <a:spcPct val="100000"/>
              </a:lnSpc>
              <a:spcAft>
                <a:spcPts val="400"/>
              </a:spcAft>
              <a:defRPr sz="1500" b="0" i="0">
                <a:solidFill>
                  <a:srgbClr val="BBDBF5"/>
                </a:solidFill>
                <a:latin typeface="Calibri"/>
              </a:defRPr>
            </a:pPr>
            <a:r>
              <a:t>Tables 1 and 2b</a:t>
            </a:r>
          </a:p>
        </p:txBody>
      </p:sp>
      <p:sp>
        <p:nvSpPr>
          <p:cNvPr id="5" name="TextBox 4"/>
          <p:cNvSpPr txBox="1"/>
          <p:nvPr/>
        </p:nvSpPr>
        <p:spPr>
          <a:xfrm>
            <a:off x="11201400" y="137160"/>
            <a:ext cx="777240" cy="365760"/>
          </a:xfrm>
          <a:prstGeom prst="rect">
            <a:avLst/>
          </a:prstGeom>
          <a:noFill/>
        </p:spPr>
        <p:txBody>
          <a:bodyPr wrap="square" lIns="64008" rIns="64008" tIns="18288" bIns="18288">
            <a:noAutofit/>
          </a:bodyPr>
          <a:lstStyle/>
          <a:p>
            <a:pPr algn="r">
              <a:spcAft>
                <a:spcPts val="400"/>
              </a:spcAft>
              <a:defRPr sz="1400" b="0" i="0">
                <a:solidFill>
                  <a:srgbClr val="FFFFFF"/>
                </a:solidFill>
                <a:latin typeface="Calibri"/>
              </a:defRPr>
            </a:pPr>
            <a:r>
              <a:t>B1</a:t>
            </a:r>
          </a:p>
        </p:txBody>
      </p:sp>
      <p:graphicFrame>
        <p:nvGraphicFramePr>
          <p:cNvPr id="6" name="Table 5"/>
          <p:cNvGraphicFramePr>
            <a:graphicFrameLocks noGrp="1"/>
          </p:cNvGraphicFramePr>
          <p:nvPr/>
        </p:nvGraphicFramePr>
        <p:xfrm>
          <a:off x="548640" y="1234440"/>
          <a:ext cx="5394960" cy="2688336"/>
        </p:xfrm>
        <a:graphic>
          <a:graphicData uri="http://schemas.openxmlformats.org/drawingml/2006/table">
            <a:tbl>
              <a:tblPr firstRow="1" bandRow="1">
                <a:tableStyleId>{5C22544A-7EE6-4342-B048-85BDC9FD1C3A}</a:tableStyleId>
              </a:tblPr>
              <a:tblGrid>
                <a:gridCol w="1691640"/>
                <a:gridCol w="960120"/>
                <a:gridCol w="1005840"/>
                <a:gridCol w="868680"/>
                <a:gridCol w="868680"/>
              </a:tblGrid>
              <a:tr h="384048">
                <a:tc>
                  <a:txBody>
                    <a:bodyPr wrap="square"/>
                    <a:lstStyle/>
                    <a:p>
                      <a:pPr algn="ctr">
                        <a:defRPr sz="1250" b="1">
                          <a:solidFill>
                            <a:srgbClr val="FFFFFF"/>
                          </a:solidFill>
                          <a:latin typeface="Calibri"/>
                        </a:defRPr>
                      </a:pPr>
                      <a:r>
                        <a:t>Debt group</a:t>
                      </a:r>
                    </a:p>
                  </a:txBody>
                  <a:tcPr marL="45720" marR="45720" marT="9144" marB="9144" anchor="ctr">
                    <a:solidFill>
                      <a:srgbClr val="002B5C"/>
                    </a:solidFill>
                  </a:tcPr>
                </a:tc>
                <a:tc>
                  <a:txBody>
                    <a:bodyPr wrap="square"/>
                    <a:lstStyle/>
                    <a:p>
                      <a:pPr algn="ctr">
                        <a:defRPr sz="1250" b="1">
                          <a:solidFill>
                            <a:srgbClr val="FFFFFF"/>
                          </a:solidFill>
                          <a:latin typeface="Calibri"/>
                        </a:defRPr>
                      </a:pPr>
                      <a:r>
                        <a:t>Total</a:t>
                      </a:r>
                    </a:p>
                  </a:txBody>
                  <a:tcPr marL="45720" marR="45720" marT="9144" marB="9144" anchor="ctr">
                    <a:solidFill>
                      <a:srgbClr val="002B5C"/>
                    </a:solidFill>
                  </a:tcPr>
                </a:tc>
                <a:tc>
                  <a:txBody>
                    <a:bodyPr wrap="square"/>
                    <a:lstStyle/>
                    <a:p>
                      <a:pPr algn="ctr">
                        <a:defRPr sz="1250" b="1">
                          <a:solidFill>
                            <a:srgbClr val="FFFFFF"/>
                          </a:solidFill>
                          <a:latin typeface="Calibri"/>
                        </a:defRPr>
                      </a:pPr>
                      <a:r>
                        <a:t>Share (%)</a:t>
                      </a:r>
                    </a:p>
                  </a:txBody>
                  <a:tcPr marL="45720" marR="45720" marT="9144" marB="9144" anchor="ctr">
                    <a:solidFill>
                      <a:srgbClr val="002B5C"/>
                    </a:solidFill>
                  </a:tcPr>
                </a:tc>
                <a:tc>
                  <a:txBody>
                    <a:bodyPr wrap="square"/>
                    <a:lstStyle/>
                    <a:p>
                      <a:pPr algn="ctr">
                        <a:defRPr sz="1250" b="1">
                          <a:solidFill>
                            <a:srgbClr val="FFFFFF"/>
                          </a:solidFill>
                          <a:latin typeface="Calibri"/>
                        </a:defRPr>
                      </a:pPr>
                      <a:r>
                        <a:t>Train</a:t>
                      </a:r>
                    </a:p>
                  </a:txBody>
                  <a:tcPr marL="45720" marR="45720" marT="9144" marB="9144" anchor="ctr">
                    <a:solidFill>
                      <a:srgbClr val="002B5C"/>
                    </a:solidFill>
                  </a:tcPr>
                </a:tc>
                <a:tc>
                  <a:txBody>
                    <a:bodyPr wrap="square"/>
                    <a:lstStyle/>
                    <a:p>
                      <a:pPr algn="ctr">
                        <a:defRPr sz="1250" b="1">
                          <a:solidFill>
                            <a:srgbClr val="FFFFFF"/>
                          </a:solidFill>
                          <a:latin typeface="Calibri"/>
                        </a:defRPr>
                      </a:pPr>
                      <a:r>
                        <a:t>Test</a:t>
                      </a:r>
                    </a:p>
                  </a:txBody>
                  <a:tcPr marL="45720" marR="45720" marT="9144" marB="9144" anchor="ctr">
                    <a:solidFill>
                      <a:srgbClr val="002B5C"/>
                    </a:solidFill>
                  </a:tcPr>
                </a:tc>
              </a:tr>
              <a:tr h="384048">
                <a:tc>
                  <a:txBody>
                    <a:bodyPr wrap="square"/>
                    <a:lstStyle/>
                    <a:p>
                      <a:pPr algn="l">
                        <a:defRPr sz="1250" b="0">
                          <a:solidFill>
                            <a:srgbClr val="333333"/>
                          </a:solidFill>
                          <a:latin typeface="Calibri"/>
                        </a:defRPr>
                      </a:pPr>
                      <a:r>
                        <a:t>1 — Standard</a:t>
                      </a:r>
                    </a:p>
                  </a:txBody>
                  <a:tcPr marL="45720" marR="45720" marT="9144" marB="9144" anchor="ctr"/>
                </a:tc>
                <a:tc>
                  <a:txBody>
                    <a:bodyPr wrap="square"/>
                    <a:lstStyle/>
                    <a:p>
                      <a:pPr algn="ctr">
                        <a:defRPr sz="1250" b="0">
                          <a:solidFill>
                            <a:srgbClr val="333333"/>
                          </a:solidFill>
                          <a:latin typeface="Calibri"/>
                        </a:defRPr>
                      </a:pPr>
                      <a:r>
                        <a:t>20,965</a:t>
                      </a:r>
                    </a:p>
                  </a:txBody>
                  <a:tcPr marL="45720" marR="45720" marT="9144" marB="9144" anchor="ctr"/>
                </a:tc>
                <a:tc>
                  <a:txBody>
                    <a:bodyPr wrap="square"/>
                    <a:lstStyle/>
                    <a:p>
                      <a:pPr algn="ctr">
                        <a:defRPr sz="1250" b="0">
                          <a:solidFill>
                            <a:srgbClr val="333333"/>
                          </a:solidFill>
                          <a:latin typeface="Calibri"/>
                        </a:defRPr>
                      </a:pPr>
                      <a:r>
                        <a:t>77.65</a:t>
                      </a:r>
                    </a:p>
                  </a:txBody>
                  <a:tcPr marL="45720" marR="45720" marT="9144" marB="9144" anchor="ctr"/>
                </a:tc>
                <a:tc>
                  <a:txBody>
                    <a:bodyPr wrap="square"/>
                    <a:lstStyle/>
                    <a:p>
                      <a:pPr algn="ctr">
                        <a:defRPr sz="1250" b="0">
                          <a:solidFill>
                            <a:srgbClr val="333333"/>
                          </a:solidFill>
                          <a:latin typeface="Calibri"/>
                        </a:defRPr>
                      </a:pPr>
                      <a:r>
                        <a:t>16,771</a:t>
                      </a:r>
                    </a:p>
                  </a:txBody>
                  <a:tcPr marL="45720" marR="45720" marT="9144" marB="9144" anchor="ctr"/>
                </a:tc>
                <a:tc>
                  <a:txBody>
                    <a:bodyPr wrap="square"/>
                    <a:lstStyle/>
                    <a:p>
                      <a:pPr algn="ctr">
                        <a:defRPr sz="1250" b="0">
                          <a:solidFill>
                            <a:srgbClr val="333333"/>
                          </a:solidFill>
                          <a:latin typeface="Calibri"/>
                        </a:defRPr>
                      </a:pPr>
                      <a:r>
                        <a:t>4,194</a:t>
                      </a:r>
                    </a:p>
                  </a:txBody>
                  <a:tcPr marL="45720" marR="45720" marT="9144" marB="9144" anchor="ctr"/>
                </a:tc>
              </a:tr>
              <a:tr h="384048">
                <a:tc>
                  <a:txBody>
                    <a:bodyPr wrap="square"/>
                    <a:lstStyle/>
                    <a:p>
                      <a:pPr algn="l">
                        <a:defRPr sz="1250" b="0">
                          <a:solidFill>
                            <a:srgbClr val="333333"/>
                          </a:solidFill>
                          <a:latin typeface="Calibri"/>
                        </a:defRPr>
                      </a:pPr>
                      <a:r>
                        <a:t>2 — Special mention</a:t>
                      </a:r>
                    </a:p>
                  </a:txBody>
                  <a:tcPr marL="45720" marR="45720" marT="9144" marB="9144" anchor="ctr">
                    <a:solidFill>
                      <a:srgbClr val="F2F2F2"/>
                    </a:solidFill>
                  </a:tcPr>
                </a:tc>
                <a:tc>
                  <a:txBody>
                    <a:bodyPr wrap="square"/>
                    <a:lstStyle/>
                    <a:p>
                      <a:pPr algn="ctr">
                        <a:defRPr sz="1250" b="0">
                          <a:solidFill>
                            <a:srgbClr val="333333"/>
                          </a:solidFill>
                          <a:latin typeface="Calibri"/>
                        </a:defRPr>
                      </a:pPr>
                      <a:r>
                        <a:t>1,287</a:t>
                      </a:r>
                    </a:p>
                  </a:txBody>
                  <a:tcPr marL="45720" marR="45720" marT="9144" marB="9144" anchor="ctr">
                    <a:solidFill>
                      <a:srgbClr val="F2F2F2"/>
                    </a:solidFill>
                  </a:tcPr>
                </a:tc>
                <a:tc>
                  <a:txBody>
                    <a:bodyPr wrap="square"/>
                    <a:lstStyle/>
                    <a:p>
                      <a:pPr algn="ctr">
                        <a:defRPr sz="1250" b="0">
                          <a:solidFill>
                            <a:srgbClr val="333333"/>
                          </a:solidFill>
                          <a:latin typeface="Calibri"/>
                        </a:defRPr>
                      </a:pPr>
                      <a:r>
                        <a:t>4.77</a:t>
                      </a:r>
                    </a:p>
                  </a:txBody>
                  <a:tcPr marL="45720" marR="45720" marT="9144" marB="9144" anchor="ctr">
                    <a:solidFill>
                      <a:srgbClr val="F2F2F2"/>
                    </a:solidFill>
                  </a:tcPr>
                </a:tc>
                <a:tc>
                  <a:txBody>
                    <a:bodyPr wrap="square"/>
                    <a:lstStyle/>
                    <a:p>
                      <a:pPr algn="ctr">
                        <a:defRPr sz="1250" b="0">
                          <a:solidFill>
                            <a:srgbClr val="333333"/>
                          </a:solidFill>
                          <a:latin typeface="Calibri"/>
                        </a:defRPr>
                      </a:pPr>
                      <a:r>
                        <a:t>1,030</a:t>
                      </a:r>
                    </a:p>
                  </a:txBody>
                  <a:tcPr marL="45720" marR="45720" marT="9144" marB="9144" anchor="ctr">
                    <a:solidFill>
                      <a:srgbClr val="F2F2F2"/>
                    </a:solidFill>
                  </a:tcPr>
                </a:tc>
                <a:tc>
                  <a:txBody>
                    <a:bodyPr wrap="square"/>
                    <a:lstStyle/>
                    <a:p>
                      <a:pPr algn="ctr">
                        <a:defRPr sz="1250" b="0">
                          <a:solidFill>
                            <a:srgbClr val="333333"/>
                          </a:solidFill>
                          <a:latin typeface="Calibri"/>
                        </a:defRPr>
                      </a:pPr>
                      <a:r>
                        <a:t>257</a:t>
                      </a:r>
                    </a:p>
                  </a:txBody>
                  <a:tcPr marL="45720" marR="45720" marT="9144" marB="9144" anchor="ctr">
                    <a:solidFill>
                      <a:srgbClr val="F2F2F2"/>
                    </a:solidFill>
                  </a:tcPr>
                </a:tc>
              </a:tr>
              <a:tr h="384048">
                <a:tc>
                  <a:txBody>
                    <a:bodyPr wrap="square"/>
                    <a:lstStyle/>
                    <a:p>
                      <a:pPr algn="l">
                        <a:defRPr sz="1250" b="0">
                          <a:solidFill>
                            <a:srgbClr val="333333"/>
                          </a:solidFill>
                          <a:latin typeface="Calibri"/>
                        </a:defRPr>
                      </a:pPr>
                      <a:r>
                        <a:t>3 — Sub-standard</a:t>
                      </a:r>
                    </a:p>
                  </a:txBody>
                  <a:tcPr marL="45720" marR="45720" marT="9144" marB="9144" anchor="ctr"/>
                </a:tc>
                <a:tc>
                  <a:txBody>
                    <a:bodyPr wrap="square"/>
                    <a:lstStyle/>
                    <a:p>
                      <a:pPr algn="ctr">
                        <a:defRPr sz="1250" b="0">
                          <a:solidFill>
                            <a:srgbClr val="333333"/>
                          </a:solidFill>
                          <a:latin typeface="Calibri"/>
                        </a:defRPr>
                      </a:pPr>
                      <a:r>
                        <a:t>604</a:t>
                      </a:r>
                    </a:p>
                  </a:txBody>
                  <a:tcPr marL="45720" marR="45720" marT="9144" marB="9144" anchor="ctr"/>
                </a:tc>
                <a:tc>
                  <a:txBody>
                    <a:bodyPr wrap="square"/>
                    <a:lstStyle/>
                    <a:p>
                      <a:pPr algn="ctr">
                        <a:defRPr sz="1250" b="0">
                          <a:solidFill>
                            <a:srgbClr val="333333"/>
                          </a:solidFill>
                          <a:latin typeface="Calibri"/>
                        </a:defRPr>
                      </a:pPr>
                      <a:r>
                        <a:t>2.24</a:t>
                      </a:r>
                    </a:p>
                  </a:txBody>
                  <a:tcPr marL="45720" marR="45720" marT="9144" marB="9144" anchor="ctr"/>
                </a:tc>
                <a:tc>
                  <a:txBody>
                    <a:bodyPr wrap="square"/>
                    <a:lstStyle/>
                    <a:p>
                      <a:pPr algn="ctr">
                        <a:defRPr sz="1250" b="0">
                          <a:solidFill>
                            <a:srgbClr val="333333"/>
                          </a:solidFill>
                          <a:latin typeface="Calibri"/>
                        </a:defRPr>
                      </a:pPr>
                      <a:r>
                        <a:t>483</a:t>
                      </a:r>
                    </a:p>
                  </a:txBody>
                  <a:tcPr marL="45720" marR="45720" marT="9144" marB="9144" anchor="ctr"/>
                </a:tc>
                <a:tc>
                  <a:txBody>
                    <a:bodyPr wrap="square"/>
                    <a:lstStyle/>
                    <a:p>
                      <a:pPr algn="ctr">
                        <a:defRPr sz="1250" b="0">
                          <a:solidFill>
                            <a:srgbClr val="333333"/>
                          </a:solidFill>
                          <a:latin typeface="Calibri"/>
                        </a:defRPr>
                      </a:pPr>
                      <a:r>
                        <a:t>121</a:t>
                      </a:r>
                    </a:p>
                  </a:txBody>
                  <a:tcPr marL="45720" marR="45720" marT="9144" marB="9144" anchor="ctr"/>
                </a:tc>
              </a:tr>
              <a:tr h="384048">
                <a:tc>
                  <a:txBody>
                    <a:bodyPr wrap="square"/>
                    <a:lstStyle/>
                    <a:p>
                      <a:pPr algn="l">
                        <a:defRPr sz="1250" b="0">
                          <a:solidFill>
                            <a:srgbClr val="333333"/>
                          </a:solidFill>
                          <a:latin typeface="Calibri"/>
                        </a:defRPr>
                      </a:pPr>
                      <a:r>
                        <a:t>4 — Doubtful</a:t>
                      </a:r>
                    </a:p>
                  </a:txBody>
                  <a:tcPr marL="45720" marR="45720" marT="9144" marB="9144" anchor="ctr">
                    <a:solidFill>
                      <a:srgbClr val="F2F2F2"/>
                    </a:solidFill>
                  </a:tcPr>
                </a:tc>
                <a:tc>
                  <a:txBody>
                    <a:bodyPr wrap="square"/>
                    <a:lstStyle/>
                    <a:p>
                      <a:pPr algn="ctr">
                        <a:defRPr sz="1250" b="0">
                          <a:solidFill>
                            <a:srgbClr val="333333"/>
                          </a:solidFill>
                          <a:latin typeface="Calibri"/>
                        </a:defRPr>
                      </a:pPr>
                      <a:r>
                        <a:t>784</a:t>
                      </a:r>
                    </a:p>
                  </a:txBody>
                  <a:tcPr marL="45720" marR="45720" marT="9144" marB="9144" anchor="ctr">
                    <a:solidFill>
                      <a:srgbClr val="F2F2F2"/>
                    </a:solidFill>
                  </a:tcPr>
                </a:tc>
                <a:tc>
                  <a:txBody>
                    <a:bodyPr wrap="square"/>
                    <a:lstStyle/>
                    <a:p>
                      <a:pPr algn="ctr">
                        <a:defRPr sz="1250" b="0">
                          <a:solidFill>
                            <a:srgbClr val="333333"/>
                          </a:solidFill>
                          <a:latin typeface="Calibri"/>
                        </a:defRPr>
                      </a:pPr>
                      <a:r>
                        <a:t>2.90</a:t>
                      </a:r>
                    </a:p>
                  </a:txBody>
                  <a:tcPr marL="45720" marR="45720" marT="9144" marB="9144" anchor="ctr">
                    <a:solidFill>
                      <a:srgbClr val="F2F2F2"/>
                    </a:solidFill>
                  </a:tcPr>
                </a:tc>
                <a:tc>
                  <a:txBody>
                    <a:bodyPr wrap="square"/>
                    <a:lstStyle/>
                    <a:p>
                      <a:pPr algn="ctr">
                        <a:defRPr sz="1250" b="0">
                          <a:solidFill>
                            <a:srgbClr val="333333"/>
                          </a:solidFill>
                          <a:latin typeface="Calibri"/>
                        </a:defRPr>
                      </a:pPr>
                      <a:r>
                        <a:t>627</a:t>
                      </a:r>
                    </a:p>
                  </a:txBody>
                  <a:tcPr marL="45720" marR="45720" marT="9144" marB="9144" anchor="ctr">
                    <a:solidFill>
                      <a:srgbClr val="F2F2F2"/>
                    </a:solidFill>
                  </a:tcPr>
                </a:tc>
                <a:tc>
                  <a:txBody>
                    <a:bodyPr wrap="square"/>
                    <a:lstStyle/>
                    <a:p>
                      <a:pPr algn="ctr">
                        <a:defRPr sz="1250" b="0">
                          <a:solidFill>
                            <a:srgbClr val="333333"/>
                          </a:solidFill>
                          <a:latin typeface="Calibri"/>
                        </a:defRPr>
                      </a:pPr>
                      <a:r>
                        <a:t>157</a:t>
                      </a:r>
                    </a:p>
                  </a:txBody>
                  <a:tcPr marL="45720" marR="45720" marT="9144" marB="9144" anchor="ctr">
                    <a:solidFill>
                      <a:srgbClr val="F2F2F2"/>
                    </a:solidFill>
                  </a:tcPr>
                </a:tc>
              </a:tr>
              <a:tr h="384048">
                <a:tc>
                  <a:txBody>
                    <a:bodyPr wrap="square"/>
                    <a:lstStyle/>
                    <a:p>
                      <a:pPr algn="l">
                        <a:defRPr sz="1250" b="0">
                          <a:solidFill>
                            <a:srgbClr val="333333"/>
                          </a:solidFill>
                          <a:latin typeface="Calibri"/>
                        </a:defRPr>
                      </a:pPr>
                      <a:r>
                        <a:t>5 — Loss</a:t>
                      </a:r>
                    </a:p>
                  </a:txBody>
                  <a:tcPr marL="45720" marR="45720" marT="9144" marB="9144" anchor="ctr"/>
                </a:tc>
                <a:tc>
                  <a:txBody>
                    <a:bodyPr wrap="square"/>
                    <a:lstStyle/>
                    <a:p>
                      <a:pPr algn="ctr">
                        <a:defRPr sz="1250" b="0">
                          <a:solidFill>
                            <a:srgbClr val="333333"/>
                          </a:solidFill>
                          <a:latin typeface="Calibri"/>
                        </a:defRPr>
                      </a:pPr>
                      <a:r>
                        <a:t>3,361</a:t>
                      </a:r>
                    </a:p>
                  </a:txBody>
                  <a:tcPr marL="45720" marR="45720" marT="9144" marB="9144" anchor="ctr"/>
                </a:tc>
                <a:tc>
                  <a:txBody>
                    <a:bodyPr wrap="square"/>
                    <a:lstStyle/>
                    <a:p>
                      <a:pPr algn="ctr">
                        <a:defRPr sz="1250" b="0">
                          <a:solidFill>
                            <a:srgbClr val="333333"/>
                          </a:solidFill>
                          <a:latin typeface="Calibri"/>
                        </a:defRPr>
                      </a:pPr>
                      <a:r>
                        <a:t>12.45</a:t>
                      </a:r>
                    </a:p>
                  </a:txBody>
                  <a:tcPr marL="45720" marR="45720" marT="9144" marB="9144" anchor="ctr"/>
                </a:tc>
                <a:tc>
                  <a:txBody>
                    <a:bodyPr wrap="square"/>
                    <a:lstStyle/>
                    <a:p>
                      <a:pPr algn="ctr">
                        <a:defRPr sz="1250" b="0">
                          <a:solidFill>
                            <a:srgbClr val="333333"/>
                          </a:solidFill>
                          <a:latin typeface="Calibri"/>
                        </a:defRPr>
                      </a:pPr>
                      <a:r>
                        <a:t>2,689</a:t>
                      </a:r>
                    </a:p>
                  </a:txBody>
                  <a:tcPr marL="45720" marR="45720" marT="9144" marB="9144" anchor="ctr"/>
                </a:tc>
                <a:tc>
                  <a:txBody>
                    <a:bodyPr wrap="square"/>
                    <a:lstStyle/>
                    <a:p>
                      <a:pPr algn="ctr">
                        <a:defRPr sz="1250" b="0">
                          <a:solidFill>
                            <a:srgbClr val="333333"/>
                          </a:solidFill>
                          <a:latin typeface="Calibri"/>
                        </a:defRPr>
                      </a:pPr>
                      <a:r>
                        <a:t>672</a:t>
                      </a:r>
                    </a:p>
                  </a:txBody>
                  <a:tcPr marL="45720" marR="45720" marT="9144" marB="9144" anchor="ctr"/>
                </a:tc>
              </a:tr>
              <a:tr h="384048">
                <a:tc>
                  <a:txBody>
                    <a:bodyPr wrap="square"/>
                    <a:lstStyle/>
                    <a:p>
                      <a:pPr algn="l">
                        <a:defRPr sz="1250" b="1">
                          <a:solidFill>
                            <a:srgbClr val="333333"/>
                          </a:solidFill>
                          <a:latin typeface="Calibri"/>
                        </a:defRPr>
                      </a:pPr>
                      <a:r>
                        <a:t>Total</a:t>
                      </a:r>
                    </a:p>
                  </a:txBody>
                  <a:tcPr marL="45720" marR="45720" marT="9144" marB="9144" anchor="ctr">
                    <a:solidFill>
                      <a:srgbClr val="DDEECC"/>
                    </a:solidFill>
                  </a:tcPr>
                </a:tc>
                <a:tc>
                  <a:txBody>
                    <a:bodyPr wrap="square"/>
                    <a:lstStyle/>
                    <a:p>
                      <a:pPr algn="ctr">
                        <a:defRPr sz="1250" b="1">
                          <a:solidFill>
                            <a:srgbClr val="333333"/>
                          </a:solidFill>
                          <a:latin typeface="Calibri"/>
                        </a:defRPr>
                      </a:pPr>
                      <a:r>
                        <a:t>27,001</a:t>
                      </a:r>
                    </a:p>
                  </a:txBody>
                  <a:tcPr marL="45720" marR="45720" marT="9144" marB="9144" anchor="ctr">
                    <a:solidFill>
                      <a:srgbClr val="DDEECC"/>
                    </a:solidFill>
                  </a:tcPr>
                </a:tc>
                <a:tc>
                  <a:txBody>
                    <a:bodyPr wrap="square"/>
                    <a:lstStyle/>
                    <a:p>
                      <a:pPr algn="ctr">
                        <a:defRPr sz="1250" b="1">
                          <a:solidFill>
                            <a:srgbClr val="333333"/>
                          </a:solidFill>
                          <a:latin typeface="Calibri"/>
                        </a:defRPr>
                      </a:pPr>
                      <a:r>
                        <a:t>100.00</a:t>
                      </a:r>
                    </a:p>
                  </a:txBody>
                  <a:tcPr marL="45720" marR="45720" marT="9144" marB="9144" anchor="ctr">
                    <a:solidFill>
                      <a:srgbClr val="DDEECC"/>
                    </a:solidFill>
                  </a:tcPr>
                </a:tc>
                <a:tc>
                  <a:txBody>
                    <a:bodyPr wrap="square"/>
                    <a:lstStyle/>
                    <a:p>
                      <a:pPr algn="ctr">
                        <a:defRPr sz="1250" b="1">
                          <a:solidFill>
                            <a:srgbClr val="333333"/>
                          </a:solidFill>
                          <a:latin typeface="Calibri"/>
                        </a:defRPr>
                      </a:pPr>
                      <a:r>
                        <a:t>21,600</a:t>
                      </a:r>
                    </a:p>
                  </a:txBody>
                  <a:tcPr marL="45720" marR="45720" marT="9144" marB="9144" anchor="ctr">
                    <a:solidFill>
                      <a:srgbClr val="DDEECC"/>
                    </a:solidFill>
                  </a:tcPr>
                </a:tc>
                <a:tc>
                  <a:txBody>
                    <a:bodyPr wrap="square"/>
                    <a:lstStyle/>
                    <a:p>
                      <a:pPr algn="ctr">
                        <a:defRPr sz="1250" b="1">
                          <a:solidFill>
                            <a:srgbClr val="333333"/>
                          </a:solidFill>
                          <a:latin typeface="Calibri"/>
                        </a:defRPr>
                      </a:pPr>
                      <a:r>
                        <a:t>5,401</a:t>
                      </a:r>
                    </a:p>
                  </a:txBody>
                  <a:tcPr marL="45720" marR="45720" marT="9144" marB="9144" anchor="ctr">
                    <a:solidFill>
                      <a:srgbClr val="DDEECC"/>
                    </a:solidFill>
                  </a:tcPr>
                </a:tc>
              </a:tr>
            </a:tbl>
          </a:graphicData>
        </a:graphic>
      </p:graphicFrame>
      <p:graphicFrame>
        <p:nvGraphicFramePr>
          <p:cNvPr id="7" name="Table 6"/>
          <p:cNvGraphicFramePr>
            <a:graphicFrameLocks noGrp="1"/>
          </p:cNvGraphicFramePr>
          <p:nvPr/>
        </p:nvGraphicFramePr>
        <p:xfrm>
          <a:off x="6263640" y="1234440"/>
          <a:ext cx="5486400" cy="2304288"/>
        </p:xfrm>
        <a:graphic>
          <a:graphicData uri="http://schemas.openxmlformats.org/drawingml/2006/table">
            <a:tbl>
              <a:tblPr firstRow="1" bandRow="1">
                <a:tableStyleId>{5C22544A-7EE6-4342-B048-85BDC9FD1C3A}</a:tableStyleId>
              </a:tblPr>
              <a:tblGrid>
                <a:gridCol w="1600200"/>
                <a:gridCol w="822960"/>
                <a:gridCol w="777240"/>
                <a:gridCol w="777240"/>
                <a:gridCol w="777240"/>
                <a:gridCol w="731520"/>
              </a:tblGrid>
              <a:tr h="384048">
                <a:tc>
                  <a:txBody>
                    <a:bodyPr wrap="square"/>
                    <a:lstStyle/>
                    <a:p>
                      <a:pPr algn="ctr">
                        <a:defRPr sz="1150" b="1">
                          <a:solidFill>
                            <a:srgbClr val="FFFFFF"/>
                          </a:solidFill>
                          <a:latin typeface="Calibri"/>
                        </a:defRPr>
                      </a:pPr>
                      <a:r>
                        <a:t>Debt group</a:t>
                      </a:r>
                    </a:p>
                  </a:txBody>
                  <a:tcPr marL="45720" marR="45720" marT="9144" marB="9144" anchor="ctr">
                    <a:solidFill>
                      <a:srgbClr val="002B5C"/>
                    </a:solidFill>
                  </a:tcPr>
                </a:tc>
                <a:tc>
                  <a:txBody>
                    <a:bodyPr wrap="square"/>
                    <a:lstStyle/>
                    <a:p>
                      <a:pPr algn="ctr">
                        <a:defRPr sz="1150" b="1">
                          <a:solidFill>
                            <a:srgbClr val="FFFFFF"/>
                          </a:solidFill>
                          <a:latin typeface="Calibri"/>
                        </a:defRPr>
                      </a:pPr>
                      <a:r>
                        <a:t>Mean</a:t>
                      </a:r>
                    </a:p>
                  </a:txBody>
                  <a:tcPr marL="45720" marR="45720" marT="9144" marB="9144" anchor="ctr">
                    <a:solidFill>
                      <a:srgbClr val="002B5C"/>
                    </a:solidFill>
                  </a:tcPr>
                </a:tc>
                <a:tc>
                  <a:txBody>
                    <a:bodyPr wrap="square"/>
                    <a:lstStyle/>
                    <a:p>
                      <a:pPr algn="ctr">
                        <a:defRPr sz="1150" b="1">
                          <a:solidFill>
                            <a:srgbClr val="FFFFFF"/>
                          </a:solidFill>
                          <a:latin typeface="Calibri"/>
                        </a:defRPr>
                      </a:pPr>
                      <a:r>
                        <a:t>Median</a:t>
                      </a:r>
                    </a:p>
                  </a:txBody>
                  <a:tcPr marL="45720" marR="45720" marT="9144" marB="9144" anchor="ctr">
                    <a:solidFill>
                      <a:srgbClr val="002B5C"/>
                    </a:solidFill>
                  </a:tcPr>
                </a:tc>
                <a:tc>
                  <a:txBody>
                    <a:bodyPr wrap="square"/>
                    <a:lstStyle/>
                    <a:p>
                      <a:pPr algn="ctr">
                        <a:defRPr sz="1150" b="1">
                          <a:solidFill>
                            <a:srgbClr val="FFFFFF"/>
                          </a:solidFill>
                          <a:latin typeface="Calibri"/>
                        </a:defRPr>
                      </a:pPr>
                      <a:r>
                        <a:t>Min</a:t>
                      </a:r>
                    </a:p>
                  </a:txBody>
                  <a:tcPr marL="45720" marR="45720" marT="9144" marB="9144" anchor="ctr">
                    <a:solidFill>
                      <a:srgbClr val="002B5C"/>
                    </a:solidFill>
                  </a:tcPr>
                </a:tc>
                <a:tc>
                  <a:txBody>
                    <a:bodyPr wrap="square"/>
                    <a:lstStyle/>
                    <a:p>
                      <a:pPr algn="ctr">
                        <a:defRPr sz="1150" b="1">
                          <a:solidFill>
                            <a:srgbClr val="FFFFFF"/>
                          </a:solidFill>
                          <a:latin typeface="Calibri"/>
                        </a:defRPr>
                      </a:pPr>
                      <a:r>
                        <a:t>Max</a:t>
                      </a:r>
                    </a:p>
                  </a:txBody>
                  <a:tcPr marL="45720" marR="45720" marT="9144" marB="9144" anchor="ctr">
                    <a:solidFill>
                      <a:srgbClr val="002B5C"/>
                    </a:solidFill>
                  </a:tcPr>
                </a:tc>
                <a:tc>
                  <a:txBody>
                    <a:bodyPr wrap="square"/>
                    <a:lstStyle/>
                    <a:p>
                      <a:pPr algn="ctr">
                        <a:defRPr sz="1150" b="1">
                          <a:solidFill>
                            <a:srgbClr val="FFFFFF"/>
                          </a:solidFill>
                          <a:latin typeface="Calibri"/>
                        </a:defRPr>
                      </a:pPr>
                      <a:r>
                        <a:t>Past</a:t>
                      </a:r>
                    </a:p>
                    <a:p>
                      <a:pPr algn="ctr">
                        <a:defRPr sz="1150" b="1">
                          <a:solidFill>
                            <a:srgbClr val="FFFFFF"/>
                          </a:solidFill>
                          <a:latin typeface="Calibri"/>
                        </a:defRPr>
                      </a:pPr>
                      <a:r>
                        <a:t>maturity</a:t>
                      </a:r>
                    </a:p>
                  </a:txBody>
                  <a:tcPr marL="45720" marR="45720" marT="9144" marB="9144" anchor="ctr">
                    <a:solidFill>
                      <a:srgbClr val="002B5C"/>
                    </a:solidFill>
                  </a:tcPr>
                </a:tc>
              </a:tr>
              <a:tr h="384048">
                <a:tc>
                  <a:txBody>
                    <a:bodyPr wrap="square"/>
                    <a:lstStyle/>
                    <a:p>
                      <a:pPr algn="l">
                        <a:defRPr sz="1150" b="0">
                          <a:solidFill>
                            <a:srgbClr val="333333"/>
                          </a:solidFill>
                          <a:latin typeface="Calibri"/>
                        </a:defRPr>
                      </a:pPr>
                      <a:r>
                        <a:t>1 — Standard</a:t>
                      </a:r>
                    </a:p>
                  </a:txBody>
                  <a:tcPr marL="45720" marR="45720" marT="9144" marB="9144" anchor="ctr"/>
                </a:tc>
                <a:tc>
                  <a:txBody>
                    <a:bodyPr wrap="square"/>
                    <a:lstStyle/>
                    <a:p>
                      <a:pPr algn="ctr">
                        <a:defRPr sz="1150" b="0">
                          <a:solidFill>
                            <a:srgbClr val="333333"/>
                          </a:solidFill>
                          <a:latin typeface="Calibri"/>
                        </a:defRPr>
                      </a:pPr>
                      <a:r>
                        <a:t>1,112.0</a:t>
                      </a:r>
                    </a:p>
                  </a:txBody>
                  <a:tcPr marL="45720" marR="45720" marT="9144" marB="9144" anchor="ctr"/>
                </a:tc>
                <a:tc>
                  <a:txBody>
                    <a:bodyPr wrap="square"/>
                    <a:lstStyle/>
                    <a:p>
                      <a:pPr algn="ctr">
                        <a:defRPr sz="1150" b="0">
                          <a:solidFill>
                            <a:srgbClr val="333333"/>
                          </a:solidFill>
                          <a:latin typeface="Calibri"/>
                        </a:defRPr>
                      </a:pPr>
                      <a:r>
                        <a:t>224</a:t>
                      </a:r>
                    </a:p>
                  </a:txBody>
                  <a:tcPr marL="45720" marR="45720" marT="9144" marB="9144" anchor="ctr"/>
                </a:tc>
                <a:tc>
                  <a:txBody>
                    <a:bodyPr wrap="square"/>
                    <a:lstStyle/>
                    <a:p>
                      <a:pPr algn="ctr">
                        <a:defRPr sz="1150" b="0">
                          <a:solidFill>
                            <a:srgbClr val="333333"/>
                          </a:solidFill>
                          <a:latin typeface="Calibri"/>
                        </a:defRPr>
                      </a:pPr>
                      <a:r>
                        <a:t>−3,252</a:t>
                      </a:r>
                    </a:p>
                  </a:txBody>
                  <a:tcPr marL="45720" marR="45720" marT="9144" marB="9144" anchor="ctr"/>
                </a:tc>
                <a:tc>
                  <a:txBody>
                    <a:bodyPr wrap="square"/>
                    <a:lstStyle/>
                    <a:p>
                      <a:pPr algn="ctr">
                        <a:defRPr sz="1150" b="0">
                          <a:solidFill>
                            <a:srgbClr val="333333"/>
                          </a:solidFill>
                          <a:latin typeface="Calibri"/>
                        </a:defRPr>
                      </a:pPr>
                      <a:r>
                        <a:t>16,798</a:t>
                      </a:r>
                    </a:p>
                  </a:txBody>
                  <a:tcPr marL="45720" marR="45720" marT="9144" marB="9144" anchor="ctr"/>
                </a:tc>
                <a:tc>
                  <a:txBody>
                    <a:bodyPr wrap="square"/>
                    <a:lstStyle/>
                    <a:p>
                      <a:pPr algn="ctr">
                        <a:defRPr sz="1150" b="0">
                          <a:solidFill>
                            <a:srgbClr val="333333"/>
                          </a:solidFill>
                          <a:latin typeface="Calibri"/>
                        </a:defRPr>
                      </a:pPr>
                      <a:r>
                        <a:t>35.1%</a:t>
                      </a:r>
                    </a:p>
                  </a:txBody>
                  <a:tcPr marL="45720" marR="45720" marT="9144" marB="9144" anchor="ctr"/>
                </a:tc>
              </a:tr>
              <a:tr h="384048">
                <a:tc>
                  <a:txBody>
                    <a:bodyPr wrap="square"/>
                    <a:lstStyle/>
                    <a:p>
                      <a:pPr algn="l">
                        <a:defRPr sz="1150" b="0">
                          <a:solidFill>
                            <a:srgbClr val="333333"/>
                          </a:solidFill>
                          <a:latin typeface="Calibri"/>
                        </a:defRPr>
                      </a:pPr>
                      <a:r>
                        <a:t>2 — Special mention</a:t>
                      </a:r>
                    </a:p>
                  </a:txBody>
                  <a:tcPr marL="45720" marR="45720" marT="9144" marB="9144" anchor="ctr">
                    <a:solidFill>
                      <a:srgbClr val="F2F2F2"/>
                    </a:solidFill>
                  </a:tcPr>
                </a:tc>
                <a:tc>
                  <a:txBody>
                    <a:bodyPr wrap="square"/>
                    <a:lstStyle/>
                    <a:p>
                      <a:pPr algn="ctr">
                        <a:defRPr sz="1150" b="0">
                          <a:solidFill>
                            <a:srgbClr val="333333"/>
                          </a:solidFill>
                          <a:latin typeface="Calibri"/>
                        </a:defRPr>
                      </a:pPr>
                      <a:r>
                        <a:t>733.2</a:t>
                      </a:r>
                    </a:p>
                  </a:txBody>
                  <a:tcPr marL="45720" marR="45720" marT="9144" marB="9144" anchor="ctr">
                    <a:solidFill>
                      <a:srgbClr val="F2F2F2"/>
                    </a:solidFill>
                  </a:tcPr>
                </a:tc>
                <a:tc>
                  <a:txBody>
                    <a:bodyPr wrap="square"/>
                    <a:lstStyle/>
                    <a:p>
                      <a:pPr algn="ctr">
                        <a:defRPr sz="1150" b="0">
                          <a:solidFill>
                            <a:srgbClr val="333333"/>
                          </a:solidFill>
                          <a:latin typeface="Calibri"/>
                        </a:defRPr>
                      </a:pPr>
                      <a:r>
                        <a:t>172</a:t>
                      </a:r>
                    </a:p>
                  </a:txBody>
                  <a:tcPr marL="45720" marR="45720" marT="9144" marB="9144" anchor="ctr">
                    <a:solidFill>
                      <a:srgbClr val="F2F2F2"/>
                    </a:solidFill>
                  </a:tcPr>
                </a:tc>
                <a:tc>
                  <a:txBody>
                    <a:bodyPr wrap="square"/>
                    <a:lstStyle/>
                    <a:p>
                      <a:pPr algn="ctr">
                        <a:defRPr sz="1150" b="0">
                          <a:solidFill>
                            <a:srgbClr val="333333"/>
                          </a:solidFill>
                          <a:latin typeface="Calibri"/>
                        </a:defRPr>
                      </a:pPr>
                      <a:r>
                        <a:t>−724</a:t>
                      </a:r>
                    </a:p>
                  </a:txBody>
                  <a:tcPr marL="45720" marR="45720" marT="9144" marB="9144" anchor="ctr">
                    <a:solidFill>
                      <a:srgbClr val="F2F2F2"/>
                    </a:solidFill>
                  </a:tcPr>
                </a:tc>
                <a:tc>
                  <a:txBody>
                    <a:bodyPr wrap="square"/>
                    <a:lstStyle/>
                    <a:p>
                      <a:pPr algn="ctr">
                        <a:defRPr sz="1150" b="0">
                          <a:solidFill>
                            <a:srgbClr val="333333"/>
                          </a:solidFill>
                          <a:latin typeface="Calibri"/>
                        </a:defRPr>
                      </a:pPr>
                      <a:r>
                        <a:t>6,549</a:t>
                      </a:r>
                    </a:p>
                  </a:txBody>
                  <a:tcPr marL="45720" marR="45720" marT="9144" marB="9144" anchor="ctr">
                    <a:solidFill>
                      <a:srgbClr val="F2F2F2"/>
                    </a:solidFill>
                  </a:tcPr>
                </a:tc>
                <a:tc>
                  <a:txBody>
                    <a:bodyPr wrap="square"/>
                    <a:lstStyle/>
                    <a:p>
                      <a:pPr algn="ctr">
                        <a:defRPr sz="1150" b="0">
                          <a:solidFill>
                            <a:srgbClr val="333333"/>
                          </a:solidFill>
                          <a:latin typeface="Calibri"/>
                        </a:defRPr>
                      </a:pPr>
                      <a:r>
                        <a:t>44.2%</a:t>
                      </a:r>
                    </a:p>
                  </a:txBody>
                  <a:tcPr marL="45720" marR="45720" marT="9144" marB="9144" anchor="ctr">
                    <a:solidFill>
                      <a:srgbClr val="F2F2F2"/>
                    </a:solidFill>
                  </a:tcPr>
                </a:tc>
              </a:tr>
              <a:tr h="384048">
                <a:tc>
                  <a:txBody>
                    <a:bodyPr wrap="square"/>
                    <a:lstStyle/>
                    <a:p>
                      <a:pPr algn="l">
                        <a:defRPr sz="1150" b="0">
                          <a:solidFill>
                            <a:srgbClr val="333333"/>
                          </a:solidFill>
                          <a:latin typeface="Calibri"/>
                        </a:defRPr>
                      </a:pPr>
                      <a:r>
                        <a:t>3 — Sub-standard</a:t>
                      </a:r>
                    </a:p>
                  </a:txBody>
                  <a:tcPr marL="45720" marR="45720" marT="9144" marB="9144" anchor="ctr"/>
                </a:tc>
                <a:tc>
                  <a:txBody>
                    <a:bodyPr wrap="square"/>
                    <a:lstStyle/>
                    <a:p>
                      <a:pPr algn="ctr">
                        <a:defRPr sz="1150" b="0">
                          <a:solidFill>
                            <a:srgbClr val="333333"/>
                          </a:solidFill>
                          <a:latin typeface="Calibri"/>
                        </a:defRPr>
                      </a:pPr>
                      <a:r>
                        <a:t>327.8</a:t>
                      </a:r>
                    </a:p>
                  </a:txBody>
                  <a:tcPr marL="45720" marR="45720" marT="9144" marB="9144" anchor="ctr"/>
                </a:tc>
                <a:tc>
                  <a:txBody>
                    <a:bodyPr wrap="square"/>
                    <a:lstStyle/>
                    <a:p>
                      <a:pPr algn="ctr">
                        <a:defRPr sz="1150" b="0">
                          <a:solidFill>
                            <a:srgbClr val="333333"/>
                          </a:solidFill>
                          <a:latin typeface="Calibri"/>
                        </a:defRPr>
                      </a:pPr>
                      <a:r>
                        <a:t>−418</a:t>
                      </a:r>
                    </a:p>
                  </a:txBody>
                  <a:tcPr marL="45720" marR="45720" marT="9144" marB="9144" anchor="ctr"/>
                </a:tc>
                <a:tc>
                  <a:txBody>
                    <a:bodyPr wrap="square"/>
                    <a:lstStyle/>
                    <a:p>
                      <a:pPr algn="ctr">
                        <a:defRPr sz="1150" b="0">
                          <a:solidFill>
                            <a:srgbClr val="333333"/>
                          </a:solidFill>
                          <a:latin typeface="Calibri"/>
                        </a:defRPr>
                      </a:pPr>
                      <a:r>
                        <a:t>−727</a:t>
                      </a:r>
                    </a:p>
                  </a:txBody>
                  <a:tcPr marL="45720" marR="45720" marT="9144" marB="9144" anchor="ctr"/>
                </a:tc>
                <a:tc>
                  <a:txBody>
                    <a:bodyPr wrap="square"/>
                    <a:lstStyle/>
                    <a:p>
                      <a:pPr algn="ctr">
                        <a:defRPr sz="1150" b="0">
                          <a:solidFill>
                            <a:srgbClr val="333333"/>
                          </a:solidFill>
                          <a:latin typeface="Calibri"/>
                        </a:defRPr>
                      </a:pPr>
                      <a:r>
                        <a:t>6,547</a:t>
                      </a:r>
                    </a:p>
                  </a:txBody>
                  <a:tcPr marL="45720" marR="45720" marT="9144" marB="9144" anchor="ctr"/>
                </a:tc>
                <a:tc>
                  <a:txBody>
                    <a:bodyPr wrap="square"/>
                    <a:lstStyle/>
                    <a:p>
                      <a:pPr algn="ctr">
                        <a:defRPr sz="1150" b="0">
                          <a:solidFill>
                            <a:srgbClr val="333333"/>
                          </a:solidFill>
                          <a:latin typeface="Calibri"/>
                        </a:defRPr>
                      </a:pPr>
                      <a:r>
                        <a:t>60.3%</a:t>
                      </a:r>
                    </a:p>
                  </a:txBody>
                  <a:tcPr marL="45720" marR="45720" marT="9144" marB="9144" anchor="ctr"/>
                </a:tc>
              </a:tr>
              <a:tr h="384048">
                <a:tc>
                  <a:txBody>
                    <a:bodyPr wrap="square"/>
                    <a:lstStyle/>
                    <a:p>
                      <a:pPr algn="l">
                        <a:defRPr sz="1150" b="0">
                          <a:solidFill>
                            <a:srgbClr val="333333"/>
                          </a:solidFill>
                          <a:latin typeface="Calibri"/>
                        </a:defRPr>
                      </a:pPr>
                      <a:r>
                        <a:t>4 — Doubtful</a:t>
                      </a:r>
                    </a:p>
                  </a:txBody>
                  <a:tcPr marL="45720" marR="45720" marT="9144" marB="9144" anchor="ctr">
                    <a:solidFill>
                      <a:srgbClr val="F2F2F2"/>
                    </a:solidFill>
                  </a:tcPr>
                </a:tc>
                <a:tc>
                  <a:txBody>
                    <a:bodyPr wrap="square"/>
                    <a:lstStyle/>
                    <a:p>
                      <a:pPr algn="ctr">
                        <a:defRPr sz="1150" b="0">
                          <a:solidFill>
                            <a:srgbClr val="333333"/>
                          </a:solidFill>
                          <a:latin typeface="Calibri"/>
                        </a:defRPr>
                      </a:pPr>
                      <a:r>
                        <a:t>54.4</a:t>
                      </a:r>
                    </a:p>
                  </a:txBody>
                  <a:tcPr marL="45720" marR="45720" marT="9144" marB="9144" anchor="ctr">
                    <a:solidFill>
                      <a:srgbClr val="F2F2F2"/>
                    </a:solidFill>
                  </a:tcPr>
                </a:tc>
                <a:tc>
                  <a:txBody>
                    <a:bodyPr wrap="square"/>
                    <a:lstStyle/>
                    <a:p>
                      <a:pPr algn="ctr">
                        <a:defRPr sz="1150" b="0">
                          <a:solidFill>
                            <a:srgbClr val="333333"/>
                          </a:solidFill>
                          <a:latin typeface="Calibri"/>
                        </a:defRPr>
                      </a:pPr>
                      <a:r>
                        <a:t>−517</a:t>
                      </a:r>
                    </a:p>
                  </a:txBody>
                  <a:tcPr marL="45720" marR="45720" marT="9144" marB="9144" anchor="ctr">
                    <a:solidFill>
                      <a:srgbClr val="F2F2F2"/>
                    </a:solidFill>
                  </a:tcPr>
                </a:tc>
                <a:tc>
                  <a:txBody>
                    <a:bodyPr wrap="square"/>
                    <a:lstStyle/>
                    <a:p>
                      <a:pPr algn="ctr">
                        <a:defRPr sz="1150" b="0">
                          <a:solidFill>
                            <a:srgbClr val="333333"/>
                          </a:solidFill>
                          <a:latin typeface="Calibri"/>
                        </a:defRPr>
                      </a:pPr>
                      <a:r>
                        <a:t>−1,085</a:t>
                      </a:r>
                    </a:p>
                  </a:txBody>
                  <a:tcPr marL="45720" marR="45720" marT="9144" marB="9144" anchor="ctr">
                    <a:solidFill>
                      <a:srgbClr val="F2F2F2"/>
                    </a:solidFill>
                  </a:tcPr>
                </a:tc>
                <a:tc>
                  <a:txBody>
                    <a:bodyPr wrap="square"/>
                    <a:lstStyle/>
                    <a:p>
                      <a:pPr algn="ctr">
                        <a:defRPr sz="1150" b="0">
                          <a:solidFill>
                            <a:srgbClr val="333333"/>
                          </a:solidFill>
                          <a:latin typeface="Calibri"/>
                        </a:defRPr>
                      </a:pPr>
                      <a:r>
                        <a:t>6,520</a:t>
                      </a:r>
                    </a:p>
                  </a:txBody>
                  <a:tcPr marL="45720" marR="45720" marT="9144" marB="9144" anchor="ctr">
                    <a:solidFill>
                      <a:srgbClr val="F2F2F2"/>
                    </a:solidFill>
                  </a:tcPr>
                </a:tc>
                <a:tc>
                  <a:txBody>
                    <a:bodyPr wrap="square"/>
                    <a:lstStyle/>
                    <a:p>
                      <a:pPr algn="ctr">
                        <a:defRPr sz="1150" b="0">
                          <a:solidFill>
                            <a:srgbClr val="333333"/>
                          </a:solidFill>
                          <a:latin typeface="Calibri"/>
                        </a:defRPr>
                      </a:pPr>
                      <a:r>
                        <a:t>68.1%</a:t>
                      </a:r>
                    </a:p>
                  </a:txBody>
                  <a:tcPr marL="45720" marR="45720" marT="9144" marB="9144" anchor="ctr">
                    <a:solidFill>
                      <a:srgbClr val="F2F2F2"/>
                    </a:solidFill>
                  </a:tcPr>
                </a:tc>
              </a:tr>
              <a:tr h="384048">
                <a:tc>
                  <a:txBody>
                    <a:bodyPr wrap="square"/>
                    <a:lstStyle/>
                    <a:p>
                      <a:pPr algn="l">
                        <a:defRPr sz="1150" b="0">
                          <a:solidFill>
                            <a:srgbClr val="333333"/>
                          </a:solidFill>
                          <a:latin typeface="Calibri"/>
                        </a:defRPr>
                      </a:pPr>
                      <a:r>
                        <a:t>5 — Loss</a:t>
                      </a:r>
                    </a:p>
                  </a:txBody>
                  <a:tcPr marL="45720" marR="45720" marT="9144" marB="9144" anchor="ctr"/>
                </a:tc>
                <a:tc>
                  <a:txBody>
                    <a:bodyPr wrap="square"/>
                    <a:lstStyle/>
                    <a:p>
                      <a:pPr algn="ctr">
                        <a:defRPr sz="1150" b="0">
                          <a:solidFill>
                            <a:srgbClr val="333333"/>
                          </a:solidFill>
                          <a:latin typeface="Calibri"/>
                        </a:defRPr>
                      </a:pPr>
                      <a:r>
                        <a:t>−1,884.8</a:t>
                      </a:r>
                    </a:p>
                  </a:txBody>
                  <a:tcPr marL="45720" marR="45720" marT="9144" marB="9144" anchor="ctr"/>
                </a:tc>
                <a:tc>
                  <a:txBody>
                    <a:bodyPr wrap="square"/>
                    <a:lstStyle/>
                    <a:p>
                      <a:pPr algn="ctr">
                        <a:defRPr sz="1150" b="0">
                          <a:solidFill>
                            <a:srgbClr val="333333"/>
                          </a:solidFill>
                          <a:latin typeface="Calibri"/>
                        </a:defRPr>
                      </a:pPr>
                      <a:r>
                        <a:t>−2,236</a:t>
                      </a:r>
                    </a:p>
                  </a:txBody>
                  <a:tcPr marL="45720" marR="45720" marT="9144" marB="9144" anchor="ctr"/>
                </a:tc>
                <a:tc>
                  <a:txBody>
                    <a:bodyPr wrap="square"/>
                    <a:lstStyle/>
                    <a:p>
                      <a:pPr algn="ctr">
                        <a:defRPr sz="1150" b="0">
                          <a:solidFill>
                            <a:srgbClr val="333333"/>
                          </a:solidFill>
                          <a:latin typeface="Calibri"/>
                        </a:defRPr>
                      </a:pPr>
                      <a:r>
                        <a:t>−5,513</a:t>
                      </a:r>
                    </a:p>
                  </a:txBody>
                  <a:tcPr marL="45720" marR="45720" marT="9144" marB="9144" anchor="ctr"/>
                </a:tc>
                <a:tc>
                  <a:txBody>
                    <a:bodyPr wrap="square"/>
                    <a:lstStyle/>
                    <a:p>
                      <a:pPr algn="ctr">
                        <a:defRPr sz="1150" b="0">
                          <a:solidFill>
                            <a:srgbClr val="333333"/>
                          </a:solidFill>
                          <a:latin typeface="Calibri"/>
                        </a:defRPr>
                      </a:pPr>
                      <a:r>
                        <a:t>6,495</a:t>
                      </a:r>
                    </a:p>
                  </a:txBody>
                  <a:tcPr marL="45720" marR="45720" marT="9144" marB="9144" anchor="ctr"/>
                </a:tc>
                <a:tc>
                  <a:txBody>
                    <a:bodyPr wrap="square"/>
                    <a:lstStyle/>
                    <a:p>
                      <a:pPr algn="ctr">
                        <a:defRPr sz="1150" b="0">
                          <a:solidFill>
                            <a:srgbClr val="333333"/>
                          </a:solidFill>
                          <a:latin typeface="Calibri"/>
                        </a:defRPr>
                      </a:pPr>
                      <a:r>
                        <a:t>92.1%</a:t>
                      </a:r>
                    </a:p>
                  </a:txBody>
                  <a:tcPr marL="45720" marR="45720" marT="9144" marB="9144" anchor="ctr"/>
                </a:tc>
              </a:tr>
            </a:tbl>
          </a:graphicData>
        </a:graphic>
      </p:graphicFrame>
      <p:sp>
        <p:nvSpPr>
          <p:cNvPr id="8" name="TextBox 7"/>
          <p:cNvSpPr txBox="1"/>
          <p:nvPr/>
        </p:nvSpPr>
        <p:spPr>
          <a:xfrm>
            <a:off x="548640" y="3931920"/>
            <a:ext cx="11109960" cy="2194560"/>
          </a:xfrm>
          <a:prstGeom prst="rect">
            <a:avLst/>
          </a:prstGeom>
          <a:noFill/>
        </p:spPr>
        <p:txBody>
          <a:bodyPr wrap="square" lIns="64008" rIns="64008" tIns="18288" bIns="18288">
            <a:noAutofit/>
          </a:bodyPr>
          <a:lstStyle/>
          <a:p>
            <a:pPr algn="l">
              <a:lnSpc>
                <a:spcPct val="120000"/>
              </a:lnSpc>
              <a:spcAft>
                <a:spcPts val="800"/>
              </a:spcAft>
              <a:defRPr sz="1400" b="0" i="0">
                <a:solidFill>
                  <a:srgbClr val="333333"/>
                </a:solidFill>
                <a:latin typeface="Calibri"/>
              </a:defRPr>
            </a:pPr>
            <a:r>
              <a:t>•  Imbalance ratio ≈ 35 : 1 between Group 1 and Group 3. DAYS_TO_MATURITY is reported in days relative to d₀ = 31 December 2021; negative means already past the original contractual maturity date.</a:t>
            </a:r>
          </a:p>
          <a:p>
            <a:pPr algn="l">
              <a:lnSpc>
                <a:spcPct val="120000"/>
              </a:lnSpc>
              <a:spcAft>
                <a:spcPts val="800"/>
              </a:spcAft>
              <a:defRPr sz="1400" b="0" i="0">
                <a:solidFill>
                  <a:srgbClr val="333333"/>
                </a:solidFill>
                <a:latin typeface="Calibri"/>
              </a:defRPr>
            </a:pPr>
            <a:r>
              <a:t>•  The median Group-5 loan is 2,236 days — about six years — past original maturity. 92.1% of Group-5 loans are past maturity, against 44.2% in Group 2.</a:t>
            </a:r>
          </a:p>
          <a:p>
            <a:pPr algn="l">
              <a:lnSpc>
                <a:spcPct val="120000"/>
              </a:lnSpc>
              <a:spcAft>
                <a:spcPts val="800"/>
              </a:spcAft>
              <a:defRPr sz="1400" b="0" i="0">
                <a:solidFill>
                  <a:srgbClr val="333333"/>
                </a:solidFill>
                <a:latin typeface="Calibri"/>
              </a:defRPr>
            </a:pPr>
            <a:r>
              <a:t>•  But 35.1% of Group-1 loans are also past original maturity while remaining classified standard, and 7.9% of Group-5 loans are not past maturity — so the variable is not a step function at any group boundary.</a:t>
            </a:r>
          </a:p>
          <a:p>
            <a:pPr algn="l">
              <a:lnSpc>
                <a:spcPct val="120000"/>
              </a:lnSpc>
              <a:spcAft>
                <a:spcPts val="700"/>
              </a:spcAft>
              <a:defRPr sz="1400" b="0" i="0">
                <a:solidFill>
                  <a:srgbClr val="333333"/>
                </a:solidFill>
                <a:latin typeface="Calibri"/>
              </a:defRPr>
            </a:pPr>
            <a:r>
              <a:t>•  DAYS_TO_MATURITY has the highest IQR-outlier rate (23.08%) because it is legitimately bimodal, not because of a data error. It correlates r = 0.942 with LOAN_TENURE_DAYS; no pair in the numeric set exceeds |r| = 0.95.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118872"/>
            <a:ext cx="10332720" cy="475488"/>
          </a:xfrm>
          <a:prstGeom prst="rect">
            <a:avLst/>
          </a:prstGeom>
          <a:noFill/>
        </p:spPr>
        <p:txBody>
          <a:bodyPr wrap="square" lIns="64008" rIns="64008" tIns="18288" bIns="18288">
            <a:noAutofit/>
          </a:bodyPr>
          <a:lstStyle/>
          <a:p>
            <a:pPr algn="l">
              <a:lnSpc>
                <a:spcPct val="105000"/>
              </a:lnSpc>
              <a:spcAft>
                <a:spcPts val="400"/>
              </a:spcAft>
              <a:defRPr sz="2800" b="1" i="0">
                <a:solidFill>
                  <a:srgbClr val="FFFFFF"/>
                </a:solidFill>
                <a:latin typeface="Calibri"/>
              </a:defRPr>
            </a:pPr>
            <a:r>
              <a:t>B2 — Information Value of the 13-Variable Pool</a:t>
            </a:r>
          </a:p>
        </p:txBody>
      </p:sp>
      <p:sp>
        <p:nvSpPr>
          <p:cNvPr id="4" name="TextBox 3"/>
          <p:cNvSpPr txBox="1"/>
          <p:nvPr/>
        </p:nvSpPr>
        <p:spPr>
          <a:xfrm>
            <a:off x="548640" y="621792"/>
            <a:ext cx="10332720" cy="329184"/>
          </a:xfrm>
          <a:prstGeom prst="rect">
            <a:avLst/>
          </a:prstGeom>
          <a:noFill/>
        </p:spPr>
        <p:txBody>
          <a:bodyPr wrap="square" lIns="64008" rIns="64008" tIns="18288" bIns="18288">
            <a:noAutofit/>
          </a:bodyPr>
          <a:lstStyle/>
          <a:p>
            <a:pPr algn="l">
              <a:lnSpc>
                <a:spcPct val="100000"/>
              </a:lnSpc>
              <a:spcAft>
                <a:spcPts val="400"/>
              </a:spcAft>
              <a:defRPr sz="1500" b="0" i="0">
                <a:solidFill>
                  <a:srgbClr val="BBDBF5"/>
                </a:solidFill>
                <a:latin typeface="Calibri"/>
              </a:defRPr>
            </a:pPr>
            <a:r>
              <a:t>Table 2 — WOE/IV screening (Siddiqi 2006); IV &gt; 1.0 flags a possible leakage risk</a:t>
            </a:r>
          </a:p>
        </p:txBody>
      </p:sp>
      <p:sp>
        <p:nvSpPr>
          <p:cNvPr id="5" name="TextBox 4"/>
          <p:cNvSpPr txBox="1"/>
          <p:nvPr/>
        </p:nvSpPr>
        <p:spPr>
          <a:xfrm>
            <a:off x="11201400" y="137160"/>
            <a:ext cx="777240" cy="365760"/>
          </a:xfrm>
          <a:prstGeom prst="rect">
            <a:avLst/>
          </a:prstGeom>
          <a:noFill/>
        </p:spPr>
        <p:txBody>
          <a:bodyPr wrap="square" lIns="64008" rIns="64008" tIns="18288" bIns="18288">
            <a:noAutofit/>
          </a:bodyPr>
          <a:lstStyle/>
          <a:p>
            <a:pPr algn="r">
              <a:spcAft>
                <a:spcPts val="400"/>
              </a:spcAft>
              <a:defRPr sz="1400" b="0" i="0">
                <a:solidFill>
                  <a:srgbClr val="FFFFFF"/>
                </a:solidFill>
                <a:latin typeface="Calibri"/>
              </a:defRPr>
            </a:pPr>
            <a:r>
              <a:t>B2</a:t>
            </a:r>
          </a:p>
        </p:txBody>
      </p:sp>
      <p:graphicFrame>
        <p:nvGraphicFramePr>
          <p:cNvPr id="6" name="Table 5"/>
          <p:cNvGraphicFramePr>
            <a:graphicFrameLocks noGrp="1"/>
          </p:cNvGraphicFramePr>
          <p:nvPr/>
        </p:nvGraphicFramePr>
        <p:xfrm>
          <a:off x="548640" y="1188720"/>
          <a:ext cx="11064240" cy="4544568"/>
        </p:xfrm>
        <a:graphic>
          <a:graphicData uri="http://schemas.openxmlformats.org/drawingml/2006/table">
            <a:tbl>
              <a:tblPr firstRow="1" bandRow="1">
                <a:tableStyleId>{5C22544A-7EE6-4342-B048-85BDC9FD1C3A}</a:tableStyleId>
              </a:tblPr>
              <a:tblGrid>
                <a:gridCol w="3017520"/>
                <a:gridCol w="1188720"/>
                <a:gridCol w="6858000"/>
              </a:tblGrid>
              <a:tr h="324612">
                <a:tc>
                  <a:txBody>
                    <a:bodyPr wrap="square"/>
                    <a:lstStyle/>
                    <a:p>
                      <a:pPr algn="ctr">
                        <a:defRPr sz="1250" b="1">
                          <a:solidFill>
                            <a:srgbClr val="FFFFFF"/>
                          </a:solidFill>
                          <a:latin typeface="Calibri"/>
                        </a:defRPr>
                      </a:pPr>
                      <a:r>
                        <a:t>Feature</a:t>
                      </a:r>
                    </a:p>
                  </a:txBody>
                  <a:tcPr marL="45720" marR="45720" marT="9144" marB="9144" anchor="ctr">
                    <a:solidFill>
                      <a:srgbClr val="002B5C"/>
                    </a:solidFill>
                  </a:tcPr>
                </a:tc>
                <a:tc>
                  <a:txBody>
                    <a:bodyPr wrap="square"/>
                    <a:lstStyle/>
                    <a:p>
                      <a:pPr algn="ctr">
                        <a:defRPr sz="1250" b="1">
                          <a:solidFill>
                            <a:srgbClr val="FFFFFF"/>
                          </a:solidFill>
                          <a:latin typeface="Calibri"/>
                        </a:defRPr>
                      </a:pPr>
                      <a:r>
                        <a:t>IV</a:t>
                      </a:r>
                    </a:p>
                  </a:txBody>
                  <a:tcPr marL="45720" marR="45720" marT="9144" marB="9144" anchor="ctr">
                    <a:solidFill>
                      <a:srgbClr val="002B5C"/>
                    </a:solidFill>
                  </a:tcPr>
                </a:tc>
                <a:tc>
                  <a:txBody>
                    <a:bodyPr wrap="square"/>
                    <a:lstStyle/>
                    <a:p>
                      <a:pPr algn="ctr">
                        <a:defRPr sz="1250" b="1">
                          <a:solidFill>
                            <a:srgbClr val="FFFFFF"/>
                          </a:solidFill>
                          <a:latin typeface="Calibri"/>
                        </a:defRPr>
                      </a:pPr>
                      <a:r>
                        <a:t>Level / decision</a:t>
                      </a:r>
                    </a:p>
                  </a:txBody>
                  <a:tcPr marL="45720" marR="45720" marT="9144" marB="9144" anchor="ctr">
                    <a:solidFill>
                      <a:srgbClr val="002B5C"/>
                    </a:solidFill>
                  </a:tcPr>
                </a:tc>
              </a:tr>
              <a:tr h="324612">
                <a:tc>
                  <a:txBody>
                    <a:bodyPr wrap="square"/>
                    <a:lstStyle/>
                    <a:p>
                      <a:pPr algn="l">
                        <a:defRPr sz="1250" b="1">
                          <a:solidFill>
                            <a:srgbClr val="333333"/>
                          </a:solidFill>
                          <a:latin typeface="Calibri"/>
                        </a:defRPr>
                      </a:pPr>
                      <a:r>
                        <a:t>DAYS_TO_MATURITY</a:t>
                      </a:r>
                    </a:p>
                  </a:txBody>
                  <a:tcPr marL="45720" marR="45720" marT="9144" marB="9144" anchor="ctr">
                    <a:solidFill>
                      <a:srgbClr val="DDEECC"/>
                    </a:solidFill>
                  </a:tcPr>
                </a:tc>
                <a:tc>
                  <a:txBody>
                    <a:bodyPr wrap="square"/>
                    <a:lstStyle/>
                    <a:p>
                      <a:pPr algn="ctr">
                        <a:defRPr sz="1250" b="1">
                          <a:solidFill>
                            <a:srgbClr val="333333"/>
                          </a:solidFill>
                          <a:latin typeface="Calibri"/>
                        </a:defRPr>
                      </a:pPr>
                      <a:r>
                        <a:t>4.554</a:t>
                      </a:r>
                    </a:p>
                  </a:txBody>
                  <a:tcPr marL="45720" marR="45720" marT="9144" marB="9144" anchor="ctr">
                    <a:solidFill>
                      <a:srgbClr val="DDEECC"/>
                    </a:solidFill>
                  </a:tcPr>
                </a:tc>
                <a:tc>
                  <a:txBody>
                    <a:bodyPr wrap="square"/>
                    <a:lstStyle/>
                    <a:p>
                      <a:pPr algn="ctr">
                        <a:defRPr sz="1250" b="1">
                          <a:solidFill>
                            <a:srgbClr val="333333"/>
                          </a:solidFill>
                          <a:latin typeface="Calibri"/>
                        </a:defRPr>
                      </a:pPr>
                      <a:r>
                        <a:t>High IV — reviewed, retained (available at scoring time)</a:t>
                      </a:r>
                    </a:p>
                  </a:txBody>
                  <a:tcPr marL="45720" marR="45720" marT="9144" marB="9144" anchor="ctr">
                    <a:solidFill>
                      <a:srgbClr val="DDEECC"/>
                    </a:solidFill>
                  </a:tcPr>
                </a:tc>
              </a:tr>
              <a:tr h="324612">
                <a:tc>
                  <a:txBody>
                    <a:bodyPr wrap="square"/>
                    <a:lstStyle/>
                    <a:p>
                      <a:pPr algn="l">
                        <a:defRPr sz="1250" b="0">
                          <a:solidFill>
                            <a:srgbClr val="333333"/>
                          </a:solidFill>
                          <a:latin typeface="Calibri"/>
                        </a:defRPr>
                      </a:pPr>
                      <a:r>
                        <a:t>CURRMIACCTTYPCD</a:t>
                      </a:r>
                    </a:p>
                  </a:txBody>
                  <a:tcPr marL="45720" marR="45720" marT="9144" marB="9144" anchor="ctr">
                    <a:solidFill>
                      <a:srgbClr val="F2F2F2"/>
                    </a:solidFill>
                  </a:tcPr>
                </a:tc>
                <a:tc>
                  <a:txBody>
                    <a:bodyPr wrap="square"/>
                    <a:lstStyle/>
                    <a:p>
                      <a:pPr algn="ctr">
                        <a:defRPr sz="1250" b="0">
                          <a:solidFill>
                            <a:srgbClr val="333333"/>
                          </a:solidFill>
                          <a:latin typeface="Calibri"/>
                        </a:defRPr>
                      </a:pPr>
                      <a:r>
                        <a:t>1.992</a:t>
                      </a:r>
                    </a:p>
                  </a:txBody>
                  <a:tcPr marL="45720" marR="45720" marT="9144" marB="9144" anchor="ctr">
                    <a:solidFill>
                      <a:srgbClr val="F2F2F2"/>
                    </a:solidFill>
                  </a:tcPr>
                </a:tc>
                <a:tc>
                  <a:txBody>
                    <a:bodyPr wrap="square"/>
                    <a:lstStyle/>
                    <a:p>
                      <a:pPr algn="ctr">
                        <a:defRPr sz="1250" b="0">
                          <a:solidFill>
                            <a:srgbClr val="333333"/>
                          </a:solidFill>
                          <a:latin typeface="Calibri"/>
                        </a:defRPr>
                      </a:pPr>
                      <a:r>
                        <a:t>High IV — reviewed, retained</a:t>
                      </a:r>
                    </a:p>
                  </a:txBody>
                  <a:tcPr marL="45720" marR="45720" marT="9144" marB="9144" anchor="ctr">
                    <a:solidFill>
                      <a:srgbClr val="F2F2F2"/>
                    </a:solidFill>
                  </a:tcPr>
                </a:tc>
              </a:tr>
              <a:tr h="324612">
                <a:tc>
                  <a:txBody>
                    <a:bodyPr wrap="square"/>
                    <a:lstStyle/>
                    <a:p>
                      <a:pPr algn="l">
                        <a:defRPr sz="1250" b="0">
                          <a:solidFill>
                            <a:srgbClr val="333333"/>
                          </a:solidFill>
                          <a:latin typeface="Calibri"/>
                        </a:defRPr>
                      </a:pPr>
                      <a:r>
                        <a:t>LOAN_TENURE_DAYS</a:t>
                      </a:r>
                    </a:p>
                  </a:txBody>
                  <a:tcPr marL="45720" marR="45720" marT="9144" marB="9144" anchor="ctr"/>
                </a:tc>
                <a:tc>
                  <a:txBody>
                    <a:bodyPr wrap="square"/>
                    <a:lstStyle/>
                    <a:p>
                      <a:pPr algn="ctr">
                        <a:defRPr sz="1250" b="0">
                          <a:solidFill>
                            <a:srgbClr val="333333"/>
                          </a:solidFill>
                          <a:latin typeface="Calibri"/>
                        </a:defRPr>
                      </a:pPr>
                      <a:r>
                        <a:t>1.941</a:t>
                      </a:r>
                    </a:p>
                  </a:txBody>
                  <a:tcPr marL="45720" marR="45720" marT="9144" marB="9144" anchor="ctr"/>
                </a:tc>
                <a:tc>
                  <a:txBody>
                    <a:bodyPr wrap="square"/>
                    <a:lstStyle/>
                    <a:p>
                      <a:pPr algn="ctr">
                        <a:defRPr sz="1250" b="0">
                          <a:solidFill>
                            <a:srgbClr val="333333"/>
                          </a:solidFill>
                          <a:latin typeface="Calibri"/>
                        </a:defRPr>
                      </a:pPr>
                      <a:r>
                        <a:t>High IV — reviewed, retained</a:t>
                      </a:r>
                    </a:p>
                  </a:txBody>
                  <a:tcPr marL="45720" marR="45720" marT="9144" marB="9144" anchor="ctr"/>
                </a:tc>
              </a:tr>
              <a:tr h="324612">
                <a:tc>
                  <a:txBody>
                    <a:bodyPr wrap="square"/>
                    <a:lstStyle/>
                    <a:p>
                      <a:pPr algn="l">
                        <a:defRPr sz="1250" b="0">
                          <a:solidFill>
                            <a:srgbClr val="333333"/>
                          </a:solidFill>
                          <a:latin typeface="Calibri"/>
                        </a:defRPr>
                      </a:pPr>
                      <a:r>
                        <a:t>MUCDICHVAY</a:t>
                      </a:r>
                    </a:p>
                  </a:txBody>
                  <a:tcPr marL="45720" marR="45720" marT="9144" marB="9144" anchor="ctr">
                    <a:solidFill>
                      <a:srgbClr val="F2F2F2"/>
                    </a:solidFill>
                  </a:tcPr>
                </a:tc>
                <a:tc>
                  <a:txBody>
                    <a:bodyPr wrap="square"/>
                    <a:lstStyle/>
                    <a:p>
                      <a:pPr algn="ctr">
                        <a:defRPr sz="1250" b="0">
                          <a:solidFill>
                            <a:srgbClr val="333333"/>
                          </a:solidFill>
                          <a:latin typeface="Calibri"/>
                        </a:defRPr>
                      </a:pPr>
                      <a:r>
                        <a:t>1.414</a:t>
                      </a:r>
                    </a:p>
                  </a:txBody>
                  <a:tcPr marL="45720" marR="45720" marT="9144" marB="9144" anchor="ctr">
                    <a:solidFill>
                      <a:srgbClr val="F2F2F2"/>
                    </a:solidFill>
                  </a:tcPr>
                </a:tc>
                <a:tc>
                  <a:txBody>
                    <a:bodyPr wrap="square"/>
                    <a:lstStyle/>
                    <a:p>
                      <a:pPr algn="ctr">
                        <a:defRPr sz="1250" b="0">
                          <a:solidFill>
                            <a:srgbClr val="333333"/>
                          </a:solidFill>
                          <a:latin typeface="Calibri"/>
                        </a:defRPr>
                      </a:pPr>
                      <a:r>
                        <a:t>High IV — reviewed, retained</a:t>
                      </a:r>
                    </a:p>
                  </a:txBody>
                  <a:tcPr marL="45720" marR="45720" marT="9144" marB="9144" anchor="ctr">
                    <a:solidFill>
                      <a:srgbClr val="F2F2F2"/>
                    </a:solidFill>
                  </a:tcPr>
                </a:tc>
              </a:tr>
              <a:tr h="324612">
                <a:tc>
                  <a:txBody>
                    <a:bodyPr wrap="square"/>
                    <a:lstStyle/>
                    <a:p>
                      <a:pPr algn="l">
                        <a:defRPr sz="1250" b="0">
                          <a:solidFill>
                            <a:srgbClr val="333333"/>
                          </a:solidFill>
                          <a:latin typeface="Calibri"/>
                        </a:defRPr>
                      </a:pPr>
                      <a:r>
                        <a:t>UTIL_RATE</a:t>
                      </a:r>
                    </a:p>
                  </a:txBody>
                  <a:tcPr marL="45720" marR="45720" marT="9144" marB="9144" anchor="ctr"/>
                </a:tc>
                <a:tc>
                  <a:txBody>
                    <a:bodyPr wrap="square"/>
                    <a:lstStyle/>
                    <a:p>
                      <a:pPr algn="ctr">
                        <a:defRPr sz="1250" b="0">
                          <a:solidFill>
                            <a:srgbClr val="333333"/>
                          </a:solidFill>
                          <a:latin typeface="Calibri"/>
                        </a:defRPr>
                      </a:pPr>
                      <a:r>
                        <a:t>1.333</a:t>
                      </a:r>
                    </a:p>
                  </a:txBody>
                  <a:tcPr marL="45720" marR="45720" marT="9144" marB="9144" anchor="ctr"/>
                </a:tc>
                <a:tc>
                  <a:txBody>
                    <a:bodyPr wrap="square"/>
                    <a:lstStyle/>
                    <a:p>
                      <a:pPr algn="ctr">
                        <a:defRPr sz="1250" b="0">
                          <a:solidFill>
                            <a:srgbClr val="333333"/>
                          </a:solidFill>
                          <a:latin typeface="Calibri"/>
                        </a:defRPr>
                      </a:pPr>
                      <a:r>
                        <a:t>High IV — reviewed, retained</a:t>
                      </a:r>
                    </a:p>
                  </a:txBody>
                  <a:tcPr marL="45720" marR="45720" marT="9144" marB="9144" anchor="ctr"/>
                </a:tc>
              </a:tr>
              <a:tr h="324612">
                <a:tc>
                  <a:txBody>
                    <a:bodyPr wrap="square"/>
                    <a:lstStyle/>
                    <a:p>
                      <a:pPr algn="l">
                        <a:defRPr sz="1250" b="0">
                          <a:solidFill>
                            <a:srgbClr val="333333"/>
                          </a:solidFill>
                          <a:latin typeface="Calibri"/>
                        </a:defRPr>
                      </a:pPr>
                      <a:r>
                        <a:t>MJACCTTYPCD</a:t>
                      </a:r>
                    </a:p>
                  </a:txBody>
                  <a:tcPr marL="45720" marR="45720" marT="9144" marB="9144" anchor="ctr">
                    <a:solidFill>
                      <a:srgbClr val="F2F2F2"/>
                    </a:solidFill>
                  </a:tcPr>
                </a:tc>
                <a:tc>
                  <a:txBody>
                    <a:bodyPr wrap="square"/>
                    <a:lstStyle/>
                    <a:p>
                      <a:pPr algn="ctr">
                        <a:defRPr sz="1250" b="0">
                          <a:solidFill>
                            <a:srgbClr val="333333"/>
                          </a:solidFill>
                          <a:latin typeface="Calibri"/>
                        </a:defRPr>
                      </a:pPr>
                      <a:r>
                        <a:t>0.970</a:t>
                      </a:r>
                    </a:p>
                  </a:txBody>
                  <a:tcPr marL="45720" marR="45720" marT="9144" marB="9144" anchor="ctr">
                    <a:solidFill>
                      <a:srgbClr val="F2F2F2"/>
                    </a:solidFill>
                  </a:tcPr>
                </a:tc>
                <a:tc>
                  <a:txBody>
                    <a:bodyPr wrap="square"/>
                    <a:lstStyle/>
                    <a:p>
                      <a:pPr algn="ctr">
                        <a:defRPr sz="1250" b="0">
                          <a:solidFill>
                            <a:srgbClr val="333333"/>
                          </a:solidFill>
                          <a:latin typeface="Calibri"/>
                        </a:defRPr>
                      </a:pPr>
                      <a:r>
                        <a:t>Very strong</a:t>
                      </a:r>
                    </a:p>
                  </a:txBody>
                  <a:tcPr marL="45720" marR="45720" marT="9144" marB="9144" anchor="ctr">
                    <a:solidFill>
                      <a:srgbClr val="F2F2F2"/>
                    </a:solidFill>
                  </a:tcPr>
                </a:tc>
              </a:tr>
              <a:tr h="324612">
                <a:tc>
                  <a:txBody>
                    <a:bodyPr wrap="square"/>
                    <a:lstStyle/>
                    <a:p>
                      <a:pPr algn="l">
                        <a:defRPr sz="1250" b="0">
                          <a:solidFill>
                            <a:srgbClr val="333333"/>
                          </a:solidFill>
                          <a:latin typeface="Calibri"/>
                        </a:defRPr>
                      </a:pPr>
                      <a:r>
                        <a:t>LAISUAT (interest rate)</a:t>
                      </a:r>
                    </a:p>
                  </a:txBody>
                  <a:tcPr marL="45720" marR="45720" marT="9144" marB="9144" anchor="ctr"/>
                </a:tc>
                <a:tc>
                  <a:txBody>
                    <a:bodyPr wrap="square"/>
                    <a:lstStyle/>
                    <a:p>
                      <a:pPr algn="ctr">
                        <a:defRPr sz="1250" b="0">
                          <a:solidFill>
                            <a:srgbClr val="333333"/>
                          </a:solidFill>
                          <a:latin typeface="Calibri"/>
                        </a:defRPr>
                      </a:pPr>
                      <a:r>
                        <a:t>0.785</a:t>
                      </a:r>
                    </a:p>
                  </a:txBody>
                  <a:tcPr marL="45720" marR="45720" marT="9144" marB="9144" anchor="ctr"/>
                </a:tc>
                <a:tc>
                  <a:txBody>
                    <a:bodyPr wrap="square"/>
                    <a:lstStyle/>
                    <a:p>
                      <a:pPr algn="ctr">
                        <a:defRPr sz="1250" b="0">
                          <a:solidFill>
                            <a:srgbClr val="333333"/>
                          </a:solidFill>
                          <a:latin typeface="Calibri"/>
                        </a:defRPr>
                      </a:pPr>
                      <a:r>
                        <a:t>Very strong</a:t>
                      </a:r>
                    </a:p>
                  </a:txBody>
                  <a:tcPr marL="45720" marR="45720" marT="9144" marB="9144" anchor="ctr"/>
                </a:tc>
              </a:tr>
              <a:tr h="324612">
                <a:tc>
                  <a:txBody>
                    <a:bodyPr wrap="square"/>
                    <a:lstStyle/>
                    <a:p>
                      <a:pPr algn="l">
                        <a:defRPr sz="1250" b="0">
                          <a:solidFill>
                            <a:srgbClr val="333333"/>
                          </a:solidFill>
                          <a:latin typeface="Calibri"/>
                        </a:defRPr>
                      </a:pPr>
                      <a:r>
                        <a:t>BASE_BAL</a:t>
                      </a:r>
                    </a:p>
                  </a:txBody>
                  <a:tcPr marL="45720" marR="45720" marT="9144" marB="9144" anchor="ctr">
                    <a:solidFill>
                      <a:srgbClr val="F2F2F2"/>
                    </a:solidFill>
                  </a:tcPr>
                </a:tc>
                <a:tc>
                  <a:txBody>
                    <a:bodyPr wrap="square"/>
                    <a:lstStyle/>
                    <a:p>
                      <a:pPr algn="ctr">
                        <a:defRPr sz="1250" b="0">
                          <a:solidFill>
                            <a:srgbClr val="333333"/>
                          </a:solidFill>
                          <a:latin typeface="Calibri"/>
                        </a:defRPr>
                      </a:pPr>
                      <a:r>
                        <a:t>0.536</a:t>
                      </a:r>
                    </a:p>
                  </a:txBody>
                  <a:tcPr marL="45720" marR="45720" marT="9144" marB="9144" anchor="ctr">
                    <a:solidFill>
                      <a:srgbClr val="F2F2F2"/>
                    </a:solidFill>
                  </a:tcPr>
                </a:tc>
                <a:tc>
                  <a:txBody>
                    <a:bodyPr wrap="square"/>
                    <a:lstStyle/>
                    <a:p>
                      <a:pPr algn="ctr">
                        <a:defRPr sz="1250" b="0">
                          <a:solidFill>
                            <a:srgbClr val="333333"/>
                          </a:solidFill>
                          <a:latin typeface="Calibri"/>
                        </a:defRPr>
                      </a:pPr>
                      <a:r>
                        <a:t>Very strong</a:t>
                      </a:r>
                    </a:p>
                  </a:txBody>
                  <a:tcPr marL="45720" marR="45720" marT="9144" marB="9144" anchor="ctr">
                    <a:solidFill>
                      <a:srgbClr val="F2F2F2"/>
                    </a:solidFill>
                  </a:tcPr>
                </a:tc>
              </a:tr>
              <a:tr h="324612">
                <a:tc>
                  <a:txBody>
                    <a:bodyPr wrap="square"/>
                    <a:lstStyle/>
                    <a:p>
                      <a:pPr algn="l">
                        <a:defRPr sz="1250" b="0">
                          <a:solidFill>
                            <a:srgbClr val="333333"/>
                          </a:solidFill>
                          <a:latin typeface="Calibri"/>
                        </a:defRPr>
                      </a:pPr>
                      <a:r>
                        <a:t>PARENTORGNBR</a:t>
                      </a:r>
                    </a:p>
                  </a:txBody>
                  <a:tcPr marL="45720" marR="45720" marT="9144" marB="9144" anchor="ctr"/>
                </a:tc>
                <a:tc>
                  <a:txBody>
                    <a:bodyPr wrap="square"/>
                    <a:lstStyle/>
                    <a:p>
                      <a:pPr algn="ctr">
                        <a:defRPr sz="1250" b="0">
                          <a:solidFill>
                            <a:srgbClr val="333333"/>
                          </a:solidFill>
                          <a:latin typeface="Calibri"/>
                        </a:defRPr>
                      </a:pPr>
                      <a:r>
                        <a:t>0.320</a:t>
                      </a:r>
                    </a:p>
                  </a:txBody>
                  <a:tcPr marL="45720" marR="45720" marT="9144" marB="9144" anchor="ctr"/>
                </a:tc>
                <a:tc>
                  <a:txBody>
                    <a:bodyPr wrap="square"/>
                    <a:lstStyle/>
                    <a:p>
                      <a:pPr algn="ctr">
                        <a:defRPr sz="1250" b="0">
                          <a:solidFill>
                            <a:srgbClr val="333333"/>
                          </a:solidFill>
                          <a:latin typeface="Calibri"/>
                        </a:defRPr>
                      </a:pPr>
                      <a:r>
                        <a:t>Strong</a:t>
                      </a:r>
                    </a:p>
                  </a:txBody>
                  <a:tcPr marL="45720" marR="45720" marT="9144" marB="9144" anchor="ctr"/>
                </a:tc>
              </a:tr>
              <a:tr h="324612">
                <a:tc>
                  <a:txBody>
                    <a:bodyPr wrap="square"/>
                    <a:lstStyle/>
                    <a:p>
                      <a:pPr algn="l">
                        <a:defRPr sz="1250" b="0">
                          <a:solidFill>
                            <a:srgbClr val="333333"/>
                          </a:solidFill>
                          <a:latin typeface="Calibri"/>
                        </a:defRPr>
                      </a:pPr>
                      <a:r>
                        <a:t>CURR_BAL</a:t>
                      </a:r>
                    </a:p>
                  </a:txBody>
                  <a:tcPr marL="45720" marR="45720" marT="9144" marB="9144" anchor="ctr">
                    <a:solidFill>
                      <a:srgbClr val="F2F2F2"/>
                    </a:solidFill>
                  </a:tcPr>
                </a:tc>
                <a:tc>
                  <a:txBody>
                    <a:bodyPr wrap="square"/>
                    <a:lstStyle/>
                    <a:p>
                      <a:pPr algn="ctr">
                        <a:defRPr sz="1250" b="0">
                          <a:solidFill>
                            <a:srgbClr val="333333"/>
                          </a:solidFill>
                          <a:latin typeface="Calibri"/>
                        </a:defRPr>
                      </a:pPr>
                      <a:r>
                        <a:t>0.259</a:t>
                      </a:r>
                    </a:p>
                  </a:txBody>
                  <a:tcPr marL="45720" marR="45720" marT="9144" marB="9144" anchor="ctr">
                    <a:solidFill>
                      <a:srgbClr val="F2F2F2"/>
                    </a:solidFill>
                  </a:tcPr>
                </a:tc>
                <a:tc>
                  <a:txBody>
                    <a:bodyPr wrap="square"/>
                    <a:lstStyle/>
                    <a:p>
                      <a:pPr algn="ctr">
                        <a:defRPr sz="1250" b="0">
                          <a:solidFill>
                            <a:srgbClr val="333333"/>
                          </a:solidFill>
                          <a:latin typeface="Calibri"/>
                        </a:defRPr>
                      </a:pPr>
                      <a:r>
                        <a:t>Medium</a:t>
                      </a:r>
                    </a:p>
                  </a:txBody>
                  <a:tcPr marL="45720" marR="45720" marT="9144" marB="9144" anchor="ctr">
                    <a:solidFill>
                      <a:srgbClr val="F2F2F2"/>
                    </a:solidFill>
                  </a:tcPr>
                </a:tc>
              </a:tr>
              <a:tr h="324612">
                <a:tc>
                  <a:txBody>
                    <a:bodyPr wrap="square"/>
                    <a:lstStyle/>
                    <a:p>
                      <a:pPr algn="l">
                        <a:defRPr sz="1250" b="0">
                          <a:solidFill>
                            <a:srgbClr val="333333"/>
                          </a:solidFill>
                          <a:latin typeface="Calibri"/>
                        </a:defRPr>
                      </a:pPr>
                      <a:r>
                        <a:t>ORGNBR</a:t>
                      </a:r>
                    </a:p>
                  </a:txBody>
                  <a:tcPr marL="45720" marR="45720" marT="9144" marB="9144" anchor="ctr"/>
                </a:tc>
                <a:tc>
                  <a:txBody>
                    <a:bodyPr wrap="square"/>
                    <a:lstStyle/>
                    <a:p>
                      <a:pPr algn="ctr">
                        <a:defRPr sz="1250" b="0">
                          <a:solidFill>
                            <a:srgbClr val="333333"/>
                          </a:solidFill>
                          <a:latin typeface="Calibri"/>
                        </a:defRPr>
                      </a:pPr>
                      <a:r>
                        <a:t>0.182</a:t>
                      </a:r>
                    </a:p>
                  </a:txBody>
                  <a:tcPr marL="45720" marR="45720" marT="9144" marB="9144" anchor="ctr"/>
                </a:tc>
                <a:tc>
                  <a:txBody>
                    <a:bodyPr wrap="square"/>
                    <a:lstStyle/>
                    <a:p>
                      <a:pPr algn="ctr">
                        <a:defRPr sz="1250" b="0">
                          <a:solidFill>
                            <a:srgbClr val="333333"/>
                          </a:solidFill>
                          <a:latin typeface="Calibri"/>
                        </a:defRPr>
                      </a:pPr>
                      <a:r>
                        <a:t>Medium</a:t>
                      </a:r>
                    </a:p>
                  </a:txBody>
                  <a:tcPr marL="45720" marR="45720" marT="9144" marB="9144" anchor="ctr"/>
                </a:tc>
              </a:tr>
              <a:tr h="324612">
                <a:tc>
                  <a:txBody>
                    <a:bodyPr wrap="square"/>
                    <a:lstStyle/>
                    <a:p>
                      <a:pPr algn="l">
                        <a:defRPr sz="1250" b="0">
                          <a:solidFill>
                            <a:srgbClr val="333333"/>
                          </a:solidFill>
                          <a:latin typeface="Calibri"/>
                        </a:defRPr>
                      </a:pPr>
                      <a:r>
                        <a:t>SEX</a:t>
                      </a:r>
                    </a:p>
                  </a:txBody>
                  <a:tcPr marL="45720" marR="45720" marT="9144" marB="9144" anchor="ctr">
                    <a:solidFill>
                      <a:srgbClr val="F2F2F2"/>
                    </a:solidFill>
                  </a:tcPr>
                </a:tc>
                <a:tc>
                  <a:txBody>
                    <a:bodyPr wrap="square"/>
                    <a:lstStyle/>
                    <a:p>
                      <a:pPr algn="ctr">
                        <a:defRPr sz="1250" b="0">
                          <a:solidFill>
                            <a:srgbClr val="333333"/>
                          </a:solidFill>
                          <a:latin typeface="Calibri"/>
                        </a:defRPr>
                      </a:pPr>
                      <a:r>
                        <a:t>0.008</a:t>
                      </a:r>
                    </a:p>
                  </a:txBody>
                  <a:tcPr marL="45720" marR="45720" marT="9144" marB="9144" anchor="ctr">
                    <a:solidFill>
                      <a:srgbClr val="F2F2F2"/>
                    </a:solidFill>
                  </a:tcPr>
                </a:tc>
                <a:tc>
                  <a:txBody>
                    <a:bodyPr wrap="square"/>
                    <a:lstStyle/>
                    <a:p>
                      <a:pPr algn="ctr">
                        <a:defRPr sz="1250" b="0">
                          <a:solidFill>
                            <a:srgbClr val="333333"/>
                          </a:solidFill>
                          <a:latin typeface="Calibri"/>
                        </a:defRPr>
                      </a:pPr>
                      <a:r>
                        <a:t>Useless — dropped from 11-feature config</a:t>
                      </a:r>
                    </a:p>
                  </a:txBody>
                  <a:tcPr marL="45720" marR="45720" marT="9144" marB="9144" anchor="ctr">
                    <a:solidFill>
                      <a:srgbClr val="F2F2F2"/>
                    </a:solidFill>
                  </a:tcPr>
                </a:tc>
              </a:tr>
              <a:tr h="324612">
                <a:tc>
                  <a:txBody>
                    <a:bodyPr wrap="square"/>
                    <a:lstStyle/>
                    <a:p>
                      <a:pPr algn="l">
                        <a:defRPr sz="1250" b="0">
                          <a:solidFill>
                            <a:srgbClr val="333333"/>
                          </a:solidFill>
                          <a:latin typeface="Calibri"/>
                        </a:defRPr>
                      </a:pPr>
                      <a:r>
                        <a:t>LOAIKH (customer type)</a:t>
                      </a:r>
                    </a:p>
                  </a:txBody>
                  <a:tcPr marL="45720" marR="45720" marT="9144" marB="9144" anchor="ctr"/>
                </a:tc>
                <a:tc>
                  <a:txBody>
                    <a:bodyPr wrap="square"/>
                    <a:lstStyle/>
                    <a:p>
                      <a:pPr algn="ctr">
                        <a:defRPr sz="1250" b="0">
                          <a:solidFill>
                            <a:srgbClr val="333333"/>
                          </a:solidFill>
                          <a:latin typeface="Calibri"/>
                        </a:defRPr>
                      </a:pPr>
                      <a:r>
                        <a:t>0.000</a:t>
                      </a:r>
                    </a:p>
                  </a:txBody>
                  <a:tcPr marL="45720" marR="45720" marT="9144" marB="9144" anchor="ctr"/>
                </a:tc>
                <a:tc>
                  <a:txBody>
                    <a:bodyPr wrap="square"/>
                    <a:lstStyle/>
                    <a:p>
                      <a:pPr algn="ctr">
                        <a:defRPr sz="1250" b="0">
                          <a:solidFill>
                            <a:srgbClr val="333333"/>
                          </a:solidFill>
                          <a:latin typeface="Calibri"/>
                        </a:defRPr>
                      </a:pPr>
                      <a:r>
                        <a:t>Useless — dropped from 11-feature config</a:t>
                      </a:r>
                    </a:p>
                  </a:txBody>
                  <a:tcPr marL="45720" marR="45720" marT="9144" marB="9144" anchor="ctr"/>
                </a:tc>
              </a:tr>
            </a:tbl>
          </a:graphicData>
        </a:graphic>
      </p:graphicFrame>
      <p:sp>
        <p:nvSpPr>
          <p:cNvPr id="7" name="TextBox 6"/>
          <p:cNvSpPr txBox="1"/>
          <p:nvPr/>
        </p:nvSpPr>
        <p:spPr>
          <a:xfrm>
            <a:off x="548640" y="5715000"/>
            <a:ext cx="11064240" cy="868680"/>
          </a:xfrm>
          <a:prstGeom prst="rect">
            <a:avLst/>
          </a:prstGeom>
          <a:noFill/>
        </p:spPr>
        <p:txBody>
          <a:bodyPr wrap="square" lIns="64008" rIns="64008" tIns="18288" bIns="18288">
            <a:noAutofit/>
          </a:bodyPr>
          <a:lstStyle/>
          <a:p>
            <a:pPr algn="l">
              <a:lnSpc>
                <a:spcPct val="120000"/>
              </a:lnSpc>
              <a:spcAft>
                <a:spcPts val="700"/>
              </a:spcAft>
              <a:defRPr sz="1300" b="0" i="0">
                <a:solidFill>
                  <a:srgbClr val="002B5C"/>
                </a:solidFill>
                <a:latin typeface="Calibri"/>
              </a:defRPr>
            </a:pPr>
            <a:r>
              <a:t>Five variables exceed IV = 1.0. Rather than excluding them automatically, each was checked against the two-part admissibility criterion — available no later than the intended classification point, and not a direct or derived restatement of the target. CURRMIACCTTYPCD (31-category product sub-type) and MUCDICHVAY (79-category loan purpose) are contractual attributes fixed at origination, not outcomes of the classification process. This is what distinguishes them from NHOMNO and NHOMNO_TCBS.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118872"/>
            <a:ext cx="10332720" cy="475488"/>
          </a:xfrm>
          <a:prstGeom prst="rect">
            <a:avLst/>
          </a:prstGeom>
          <a:noFill/>
        </p:spPr>
        <p:txBody>
          <a:bodyPr wrap="square" lIns="64008" rIns="64008" tIns="18288" bIns="18288">
            <a:noAutofit/>
          </a:bodyPr>
          <a:lstStyle/>
          <a:p>
            <a:pPr algn="l">
              <a:lnSpc>
                <a:spcPct val="105000"/>
              </a:lnSpc>
              <a:spcAft>
                <a:spcPts val="400"/>
              </a:spcAft>
              <a:defRPr sz="2800" b="1" i="0">
                <a:solidFill>
                  <a:srgbClr val="FFFFFF"/>
                </a:solidFill>
                <a:latin typeface="Calibri"/>
              </a:defRPr>
            </a:pPr>
            <a:r>
              <a:t>B3 — Confusion Matrices, Both Treatments</a:t>
            </a:r>
          </a:p>
        </p:txBody>
      </p:sp>
      <p:sp>
        <p:nvSpPr>
          <p:cNvPr id="4" name="TextBox 3"/>
          <p:cNvSpPr txBox="1"/>
          <p:nvPr/>
        </p:nvSpPr>
        <p:spPr>
          <a:xfrm>
            <a:off x="548640" y="621792"/>
            <a:ext cx="10332720" cy="329184"/>
          </a:xfrm>
          <a:prstGeom prst="rect">
            <a:avLst/>
          </a:prstGeom>
          <a:noFill/>
        </p:spPr>
        <p:txBody>
          <a:bodyPr wrap="square" lIns="64008" rIns="64008" tIns="18288" bIns="18288">
            <a:noAutofit/>
          </a:bodyPr>
          <a:lstStyle/>
          <a:p>
            <a:pPr algn="l">
              <a:lnSpc>
                <a:spcPct val="100000"/>
              </a:lnSpc>
              <a:spcAft>
                <a:spcPts val="400"/>
              </a:spcAft>
              <a:defRPr sz="1500" b="0" i="0">
                <a:solidFill>
                  <a:srgbClr val="BBDBF5"/>
                </a:solidFill>
                <a:latin typeface="Calibri"/>
              </a:defRPr>
            </a:pPr>
            <a:r>
              <a:t>Tables 4 and B1 — LightGBM, 11-feature configuration, hold-out set</a:t>
            </a:r>
          </a:p>
        </p:txBody>
      </p:sp>
      <p:sp>
        <p:nvSpPr>
          <p:cNvPr id="5" name="TextBox 4"/>
          <p:cNvSpPr txBox="1"/>
          <p:nvPr/>
        </p:nvSpPr>
        <p:spPr>
          <a:xfrm>
            <a:off x="11201400" y="137160"/>
            <a:ext cx="777240" cy="365760"/>
          </a:xfrm>
          <a:prstGeom prst="rect">
            <a:avLst/>
          </a:prstGeom>
          <a:noFill/>
        </p:spPr>
        <p:txBody>
          <a:bodyPr wrap="square" lIns="64008" rIns="64008" tIns="18288" bIns="18288">
            <a:noAutofit/>
          </a:bodyPr>
          <a:lstStyle/>
          <a:p>
            <a:pPr algn="r">
              <a:spcAft>
                <a:spcPts val="400"/>
              </a:spcAft>
              <a:defRPr sz="1400" b="0" i="0">
                <a:solidFill>
                  <a:srgbClr val="FFFFFF"/>
                </a:solidFill>
                <a:latin typeface="Calibri"/>
              </a:defRPr>
            </a:pPr>
            <a:r>
              <a:t>B3</a:t>
            </a:r>
          </a:p>
        </p:txBody>
      </p:sp>
      <p:sp>
        <p:nvSpPr>
          <p:cNvPr id="6" name="TextBox 5"/>
          <p:cNvSpPr txBox="1"/>
          <p:nvPr/>
        </p:nvSpPr>
        <p:spPr>
          <a:xfrm>
            <a:off x="548640" y="1115568"/>
            <a:ext cx="11064240" cy="274320"/>
          </a:xfrm>
          <a:prstGeom prst="rect">
            <a:avLst/>
          </a:prstGeom>
          <a:noFill/>
        </p:spPr>
        <p:txBody>
          <a:bodyPr wrap="square" lIns="64008" rIns="64008" tIns="18288" bIns="18288">
            <a:noAutofit/>
          </a:bodyPr>
          <a:lstStyle/>
          <a:p>
            <a:pPr algn="l">
              <a:lnSpc>
                <a:spcPct val="124000"/>
              </a:lnSpc>
              <a:spcAft>
                <a:spcPts val="700"/>
              </a:spcAft>
              <a:defRPr sz="1500" b="1" i="0">
                <a:solidFill>
                  <a:srgbClr val="002B5C"/>
                </a:solidFill>
                <a:latin typeface="Calibri"/>
              </a:defRPr>
            </a:pPr>
            <a:r>
              <a:t>No weighting  —  Macro-F1 0.6248</a:t>
            </a:r>
          </a:p>
        </p:txBody>
      </p:sp>
      <p:graphicFrame>
        <p:nvGraphicFramePr>
          <p:cNvPr id="7" name="Table 6"/>
          <p:cNvGraphicFramePr>
            <a:graphicFrameLocks noGrp="1"/>
          </p:cNvGraphicFramePr>
          <p:nvPr/>
        </p:nvGraphicFramePr>
        <p:xfrm>
          <a:off x="548640" y="1444752"/>
          <a:ext cx="11064240" cy="1975104"/>
        </p:xfrm>
        <a:graphic>
          <a:graphicData uri="http://schemas.openxmlformats.org/drawingml/2006/table">
            <a:tbl>
              <a:tblPr firstRow="1" bandRow="1">
                <a:tableStyleId>{5C22544A-7EE6-4342-B048-85BDC9FD1C3A}</a:tableStyleId>
              </a:tblPr>
              <a:tblGrid>
                <a:gridCol w="1463040"/>
                <a:gridCol w="960120"/>
                <a:gridCol w="960120"/>
                <a:gridCol w="960120"/>
                <a:gridCol w="960120"/>
                <a:gridCol w="960120"/>
                <a:gridCol w="1097280"/>
                <a:gridCol w="1097280"/>
                <a:gridCol w="1097280"/>
                <a:gridCol w="1508760"/>
              </a:tblGrid>
              <a:tr h="329184">
                <a:tc>
                  <a:txBody>
                    <a:bodyPr wrap="square"/>
                    <a:lstStyle/>
                    <a:p>
                      <a:pPr algn="ctr">
                        <a:defRPr sz="1200" b="1">
                          <a:solidFill>
                            <a:srgbClr val="FFFFFF"/>
                          </a:solidFill>
                          <a:latin typeface="Calibri"/>
                        </a:defRPr>
                      </a:pPr>
                      <a:r>
                        <a:t>True \ Pred</a:t>
                      </a:r>
                    </a:p>
                  </a:txBody>
                  <a:tcPr marL="45720" marR="45720" marT="9144" marB="9144" anchor="ctr">
                    <a:solidFill>
                      <a:srgbClr val="002B5C"/>
                    </a:solidFill>
                  </a:tcPr>
                </a:tc>
                <a:tc>
                  <a:txBody>
                    <a:bodyPr wrap="square"/>
                    <a:lstStyle/>
                    <a:p>
                      <a:pPr algn="ctr">
                        <a:defRPr sz="1200" b="1">
                          <a:solidFill>
                            <a:srgbClr val="FFFFFF"/>
                          </a:solidFill>
                          <a:latin typeface="Calibri"/>
                        </a:defRPr>
                      </a:pPr>
                      <a:r>
                        <a:t>1</a:t>
                      </a:r>
                    </a:p>
                  </a:txBody>
                  <a:tcPr marL="45720" marR="45720" marT="9144" marB="9144" anchor="ctr">
                    <a:solidFill>
                      <a:srgbClr val="002B5C"/>
                    </a:solidFill>
                  </a:tcPr>
                </a:tc>
                <a:tc>
                  <a:txBody>
                    <a:bodyPr wrap="square"/>
                    <a:lstStyle/>
                    <a:p>
                      <a:pPr algn="ctr">
                        <a:defRPr sz="1200" b="1">
                          <a:solidFill>
                            <a:srgbClr val="FFFFFF"/>
                          </a:solidFill>
                          <a:latin typeface="Calibri"/>
                        </a:defRPr>
                      </a:pPr>
                      <a:r>
                        <a:t>2</a:t>
                      </a:r>
                    </a:p>
                  </a:txBody>
                  <a:tcPr marL="45720" marR="45720" marT="9144" marB="9144" anchor="ctr">
                    <a:solidFill>
                      <a:srgbClr val="002B5C"/>
                    </a:solidFill>
                  </a:tcPr>
                </a:tc>
                <a:tc>
                  <a:txBody>
                    <a:bodyPr wrap="square"/>
                    <a:lstStyle/>
                    <a:p>
                      <a:pPr algn="ctr">
                        <a:defRPr sz="1200" b="1">
                          <a:solidFill>
                            <a:srgbClr val="FFFFFF"/>
                          </a:solidFill>
                          <a:latin typeface="Calibri"/>
                        </a:defRPr>
                      </a:pPr>
                      <a:r>
                        <a:t>3</a:t>
                      </a:r>
                    </a:p>
                  </a:txBody>
                  <a:tcPr marL="45720" marR="45720" marT="9144" marB="9144" anchor="ctr">
                    <a:solidFill>
                      <a:srgbClr val="002B5C"/>
                    </a:solidFill>
                  </a:tcPr>
                </a:tc>
                <a:tc>
                  <a:txBody>
                    <a:bodyPr wrap="square"/>
                    <a:lstStyle/>
                    <a:p>
                      <a:pPr algn="ctr">
                        <a:defRPr sz="1200" b="1">
                          <a:solidFill>
                            <a:srgbClr val="FFFFFF"/>
                          </a:solidFill>
                          <a:latin typeface="Calibri"/>
                        </a:defRPr>
                      </a:pPr>
                      <a:r>
                        <a:t>4</a:t>
                      </a:r>
                    </a:p>
                  </a:txBody>
                  <a:tcPr marL="45720" marR="45720" marT="9144" marB="9144" anchor="ctr">
                    <a:solidFill>
                      <a:srgbClr val="002B5C"/>
                    </a:solidFill>
                  </a:tcPr>
                </a:tc>
                <a:tc>
                  <a:txBody>
                    <a:bodyPr wrap="square"/>
                    <a:lstStyle/>
                    <a:p>
                      <a:pPr algn="ctr">
                        <a:defRPr sz="1200" b="1">
                          <a:solidFill>
                            <a:srgbClr val="FFFFFF"/>
                          </a:solidFill>
                          <a:latin typeface="Calibri"/>
                        </a:defRPr>
                      </a:pPr>
                      <a:r>
                        <a:t>5</a:t>
                      </a:r>
                    </a:p>
                  </a:txBody>
                  <a:tcPr marL="45720" marR="45720" marT="9144" marB="9144" anchor="ctr">
                    <a:solidFill>
                      <a:srgbClr val="002B5C"/>
                    </a:solidFill>
                  </a:tcPr>
                </a:tc>
                <a:tc>
                  <a:txBody>
                    <a:bodyPr wrap="square"/>
                    <a:lstStyle/>
                    <a:p>
                      <a:pPr algn="ctr">
                        <a:defRPr sz="1200" b="1">
                          <a:solidFill>
                            <a:srgbClr val="FFFFFF"/>
                          </a:solidFill>
                          <a:latin typeface="Calibri"/>
                        </a:defRPr>
                      </a:pPr>
                      <a:r>
                        <a:t>Prec.</a:t>
                      </a:r>
                    </a:p>
                  </a:txBody>
                  <a:tcPr marL="45720" marR="45720" marT="9144" marB="9144" anchor="ctr">
                    <a:solidFill>
                      <a:srgbClr val="002B5C"/>
                    </a:solidFill>
                  </a:tcPr>
                </a:tc>
                <a:tc>
                  <a:txBody>
                    <a:bodyPr wrap="square"/>
                    <a:lstStyle/>
                    <a:p>
                      <a:pPr algn="ctr">
                        <a:defRPr sz="1200" b="1">
                          <a:solidFill>
                            <a:srgbClr val="FFFFFF"/>
                          </a:solidFill>
                          <a:latin typeface="Calibri"/>
                        </a:defRPr>
                      </a:pPr>
                      <a:r>
                        <a:t>Recall</a:t>
                      </a:r>
                    </a:p>
                  </a:txBody>
                  <a:tcPr marL="45720" marR="45720" marT="9144" marB="9144" anchor="ctr">
                    <a:solidFill>
                      <a:srgbClr val="002B5C"/>
                    </a:solidFill>
                  </a:tcPr>
                </a:tc>
                <a:tc>
                  <a:txBody>
                    <a:bodyPr wrap="square"/>
                    <a:lstStyle/>
                    <a:p>
                      <a:pPr algn="ctr">
                        <a:defRPr sz="1200" b="1">
                          <a:solidFill>
                            <a:srgbClr val="FFFFFF"/>
                          </a:solidFill>
                          <a:latin typeface="Calibri"/>
                        </a:defRPr>
                      </a:pPr>
                      <a:r>
                        <a:t>F1</a:t>
                      </a:r>
                    </a:p>
                  </a:txBody>
                  <a:tcPr marL="45720" marR="45720" marT="9144" marB="9144" anchor="ctr">
                    <a:solidFill>
                      <a:srgbClr val="002B5C"/>
                    </a:solidFill>
                  </a:tcPr>
                </a:tc>
                <a:tc>
                  <a:txBody>
                    <a:bodyPr wrap="square"/>
                    <a:lstStyle/>
                    <a:p>
                      <a:pPr algn="ctr">
                        <a:defRPr sz="1200" b="1">
                          <a:solidFill>
                            <a:srgbClr val="FFFFFF"/>
                          </a:solidFill>
                          <a:latin typeface="Calibri"/>
                        </a:defRPr>
                      </a:pPr>
                      <a:r>
                        <a:t>n</a:t>
                      </a:r>
                    </a:p>
                  </a:txBody>
                  <a:tcPr marL="45720" marR="45720" marT="9144" marB="9144" anchor="ctr">
                    <a:solidFill>
                      <a:srgbClr val="002B5C"/>
                    </a:solidFill>
                  </a:tcPr>
                </a:tc>
              </a:tr>
              <a:tr h="329184">
                <a:tc>
                  <a:txBody>
                    <a:bodyPr wrap="square"/>
                    <a:lstStyle/>
                    <a:p>
                      <a:pPr algn="l">
                        <a:defRPr sz="1200" b="0">
                          <a:solidFill>
                            <a:srgbClr val="333333"/>
                          </a:solidFill>
                          <a:latin typeface="Calibri"/>
                        </a:defRPr>
                      </a:pPr>
                      <a:r>
                        <a:t>1</a:t>
                      </a:r>
                    </a:p>
                  </a:txBody>
                  <a:tcPr marL="45720" marR="45720" marT="9144" marB="9144" anchor="ctr"/>
                </a:tc>
                <a:tc>
                  <a:txBody>
                    <a:bodyPr wrap="square"/>
                    <a:lstStyle/>
                    <a:p>
                      <a:pPr algn="ctr">
                        <a:defRPr sz="1200" b="0">
                          <a:solidFill>
                            <a:srgbClr val="333333"/>
                          </a:solidFill>
                          <a:latin typeface="Calibri"/>
                        </a:defRPr>
                      </a:pPr>
                      <a:r>
                        <a:t>4,153</a:t>
                      </a:r>
                    </a:p>
                  </a:txBody>
                  <a:tcPr marL="45720" marR="45720" marT="9144" marB="9144" anchor="ctr"/>
                </a:tc>
                <a:tc>
                  <a:txBody>
                    <a:bodyPr wrap="square"/>
                    <a:lstStyle/>
                    <a:p>
                      <a:pPr algn="ctr">
                        <a:defRPr sz="1200" b="0">
                          <a:solidFill>
                            <a:srgbClr val="333333"/>
                          </a:solidFill>
                          <a:latin typeface="Calibri"/>
                        </a:defRPr>
                      </a:pPr>
                      <a:r>
                        <a:t>22</a:t>
                      </a:r>
                    </a:p>
                  </a:txBody>
                  <a:tcPr marL="45720" marR="45720" marT="9144" marB="9144" anchor="ctr"/>
                </a:tc>
                <a:tc>
                  <a:txBody>
                    <a:bodyPr wrap="square"/>
                    <a:lstStyle/>
                    <a:p>
                      <a:pPr algn="ctr">
                        <a:defRPr sz="1200" b="0">
                          <a:solidFill>
                            <a:srgbClr val="333333"/>
                          </a:solidFill>
                          <a:latin typeface="Calibri"/>
                        </a:defRPr>
                      </a:pPr>
                      <a:r>
                        <a:t>6</a:t>
                      </a:r>
                    </a:p>
                  </a:txBody>
                  <a:tcPr marL="45720" marR="45720" marT="9144" marB="9144" anchor="ctr"/>
                </a:tc>
                <a:tc>
                  <a:txBody>
                    <a:bodyPr wrap="square"/>
                    <a:lstStyle/>
                    <a:p>
                      <a:pPr algn="ctr">
                        <a:defRPr sz="1200" b="0">
                          <a:solidFill>
                            <a:srgbClr val="333333"/>
                          </a:solidFill>
                          <a:latin typeface="Calibri"/>
                        </a:defRPr>
                      </a:pPr>
                      <a:r>
                        <a:t>3</a:t>
                      </a:r>
                    </a:p>
                  </a:txBody>
                  <a:tcPr marL="45720" marR="45720" marT="9144" marB="9144" anchor="ctr"/>
                </a:tc>
                <a:tc>
                  <a:txBody>
                    <a:bodyPr wrap="square"/>
                    <a:lstStyle/>
                    <a:p>
                      <a:pPr algn="ctr">
                        <a:defRPr sz="1200" b="0">
                          <a:solidFill>
                            <a:srgbClr val="333333"/>
                          </a:solidFill>
                          <a:latin typeface="Calibri"/>
                        </a:defRPr>
                      </a:pPr>
                      <a:r>
                        <a:t>10</a:t>
                      </a:r>
                    </a:p>
                  </a:txBody>
                  <a:tcPr marL="45720" marR="45720" marT="9144" marB="9144" anchor="ctr"/>
                </a:tc>
                <a:tc>
                  <a:txBody>
                    <a:bodyPr wrap="square"/>
                    <a:lstStyle/>
                    <a:p>
                      <a:pPr algn="ctr">
                        <a:defRPr sz="1200" b="0">
                          <a:solidFill>
                            <a:srgbClr val="333333"/>
                          </a:solidFill>
                          <a:latin typeface="Calibri"/>
                        </a:defRPr>
                      </a:pPr>
                      <a:r>
                        <a:t>0.921</a:t>
                      </a:r>
                    </a:p>
                  </a:txBody>
                  <a:tcPr marL="45720" marR="45720" marT="9144" marB="9144" anchor="ctr"/>
                </a:tc>
                <a:tc>
                  <a:txBody>
                    <a:bodyPr wrap="square"/>
                    <a:lstStyle/>
                    <a:p>
                      <a:pPr algn="ctr">
                        <a:defRPr sz="1200" b="0">
                          <a:solidFill>
                            <a:srgbClr val="333333"/>
                          </a:solidFill>
                          <a:latin typeface="Calibri"/>
                        </a:defRPr>
                      </a:pPr>
                      <a:r>
                        <a:t>0.990</a:t>
                      </a:r>
                    </a:p>
                  </a:txBody>
                  <a:tcPr marL="45720" marR="45720" marT="9144" marB="9144" anchor="ctr"/>
                </a:tc>
                <a:tc>
                  <a:txBody>
                    <a:bodyPr wrap="square"/>
                    <a:lstStyle/>
                    <a:p>
                      <a:pPr algn="ctr">
                        <a:defRPr sz="1200" b="0">
                          <a:solidFill>
                            <a:srgbClr val="333333"/>
                          </a:solidFill>
                          <a:latin typeface="Calibri"/>
                        </a:defRPr>
                      </a:pPr>
                      <a:r>
                        <a:t>0.954</a:t>
                      </a:r>
                    </a:p>
                  </a:txBody>
                  <a:tcPr marL="45720" marR="45720" marT="9144" marB="9144" anchor="ctr"/>
                </a:tc>
                <a:tc>
                  <a:txBody>
                    <a:bodyPr wrap="square"/>
                    <a:lstStyle/>
                    <a:p>
                      <a:pPr algn="ctr">
                        <a:defRPr sz="1200" b="0">
                          <a:solidFill>
                            <a:srgbClr val="333333"/>
                          </a:solidFill>
                          <a:latin typeface="Calibri"/>
                        </a:defRPr>
                      </a:pPr>
                      <a:r>
                        <a:t>4,194</a:t>
                      </a:r>
                    </a:p>
                  </a:txBody>
                  <a:tcPr marL="45720" marR="45720" marT="9144" marB="9144" anchor="ctr"/>
                </a:tc>
              </a:tr>
              <a:tr h="329184">
                <a:tc>
                  <a:txBody>
                    <a:bodyPr wrap="square"/>
                    <a:lstStyle/>
                    <a:p>
                      <a:pPr algn="l">
                        <a:defRPr sz="1200" b="0">
                          <a:solidFill>
                            <a:srgbClr val="333333"/>
                          </a:solidFill>
                          <a:latin typeface="Calibri"/>
                        </a:defRPr>
                      </a:pPr>
                      <a:r>
                        <a:t>2</a:t>
                      </a:r>
                    </a:p>
                  </a:txBody>
                  <a:tcPr marL="45720" marR="45720" marT="9144" marB="9144" anchor="ctr">
                    <a:solidFill>
                      <a:srgbClr val="F2F2F2"/>
                    </a:solidFill>
                  </a:tcPr>
                </a:tc>
                <a:tc>
                  <a:txBody>
                    <a:bodyPr wrap="square"/>
                    <a:lstStyle/>
                    <a:p>
                      <a:pPr algn="ctr">
                        <a:defRPr sz="1200" b="0">
                          <a:solidFill>
                            <a:srgbClr val="333333"/>
                          </a:solidFill>
                          <a:latin typeface="Calibri"/>
                        </a:defRPr>
                      </a:pPr>
                      <a:r>
                        <a:t>195</a:t>
                      </a:r>
                    </a:p>
                  </a:txBody>
                  <a:tcPr marL="45720" marR="45720" marT="9144" marB="9144" anchor="ctr">
                    <a:solidFill>
                      <a:srgbClr val="F2F2F2"/>
                    </a:solidFill>
                  </a:tcPr>
                </a:tc>
                <a:tc>
                  <a:txBody>
                    <a:bodyPr wrap="square"/>
                    <a:lstStyle/>
                    <a:p>
                      <a:pPr algn="ctr">
                        <a:defRPr sz="1200" b="0">
                          <a:solidFill>
                            <a:srgbClr val="333333"/>
                          </a:solidFill>
                          <a:latin typeface="Calibri"/>
                        </a:defRPr>
                      </a:pPr>
                      <a:r>
                        <a:t>47</a:t>
                      </a:r>
                    </a:p>
                  </a:txBody>
                  <a:tcPr marL="45720" marR="45720" marT="9144" marB="9144" anchor="ctr">
                    <a:solidFill>
                      <a:srgbClr val="F2F2F2"/>
                    </a:solidFill>
                  </a:tcPr>
                </a:tc>
                <a:tc>
                  <a:txBody>
                    <a:bodyPr wrap="square"/>
                    <a:lstStyle/>
                    <a:p>
                      <a:pPr algn="ctr">
                        <a:defRPr sz="1200" b="0">
                          <a:solidFill>
                            <a:srgbClr val="333333"/>
                          </a:solidFill>
                          <a:latin typeface="Calibri"/>
                        </a:defRPr>
                      </a:pPr>
                      <a:r>
                        <a:t>10</a:t>
                      </a:r>
                    </a:p>
                  </a:txBody>
                  <a:tcPr marL="45720" marR="45720" marT="9144" marB="9144" anchor="ctr">
                    <a:solidFill>
                      <a:srgbClr val="F2F2F2"/>
                    </a:solidFill>
                  </a:tcPr>
                </a:tc>
                <a:tc>
                  <a:txBody>
                    <a:bodyPr wrap="square"/>
                    <a:lstStyle/>
                    <a:p>
                      <a:pPr algn="ctr">
                        <a:defRPr sz="1200" b="0">
                          <a:solidFill>
                            <a:srgbClr val="333333"/>
                          </a:solidFill>
                          <a:latin typeface="Calibri"/>
                        </a:defRPr>
                      </a:pPr>
                      <a:r>
                        <a:t>3</a:t>
                      </a:r>
                    </a:p>
                  </a:txBody>
                  <a:tcPr marL="45720" marR="45720" marT="9144" marB="9144" anchor="ctr">
                    <a:solidFill>
                      <a:srgbClr val="F2F2F2"/>
                    </a:solidFill>
                  </a:tcPr>
                </a:tc>
                <a:tc>
                  <a:txBody>
                    <a:bodyPr wrap="square"/>
                    <a:lstStyle/>
                    <a:p>
                      <a:pPr algn="ctr">
                        <a:defRPr sz="1200" b="0">
                          <a:solidFill>
                            <a:srgbClr val="333333"/>
                          </a:solidFill>
                          <a:latin typeface="Calibri"/>
                        </a:defRPr>
                      </a:pPr>
                      <a:r>
                        <a:t>2</a:t>
                      </a:r>
                    </a:p>
                  </a:txBody>
                  <a:tcPr marL="45720" marR="45720" marT="9144" marB="9144" anchor="ctr">
                    <a:solidFill>
                      <a:srgbClr val="F2F2F2"/>
                    </a:solidFill>
                  </a:tcPr>
                </a:tc>
                <a:tc>
                  <a:txBody>
                    <a:bodyPr wrap="square"/>
                    <a:lstStyle/>
                    <a:p>
                      <a:pPr algn="ctr">
                        <a:defRPr sz="1200" b="0">
                          <a:solidFill>
                            <a:srgbClr val="333333"/>
                          </a:solidFill>
                          <a:latin typeface="Calibri"/>
                        </a:defRPr>
                      </a:pPr>
                      <a:r>
                        <a:t>0.603</a:t>
                      </a:r>
                    </a:p>
                  </a:txBody>
                  <a:tcPr marL="45720" marR="45720" marT="9144" marB="9144" anchor="ctr">
                    <a:solidFill>
                      <a:srgbClr val="F2F2F2"/>
                    </a:solidFill>
                  </a:tcPr>
                </a:tc>
                <a:tc>
                  <a:txBody>
                    <a:bodyPr wrap="square"/>
                    <a:lstStyle/>
                    <a:p>
                      <a:pPr algn="ctr">
                        <a:defRPr sz="1200" b="0">
                          <a:solidFill>
                            <a:srgbClr val="333333"/>
                          </a:solidFill>
                          <a:latin typeface="Calibri"/>
                        </a:defRPr>
                      </a:pPr>
                      <a:r>
                        <a:t>0.183</a:t>
                      </a:r>
                    </a:p>
                  </a:txBody>
                  <a:tcPr marL="45720" marR="45720" marT="9144" marB="9144" anchor="ctr">
                    <a:solidFill>
                      <a:srgbClr val="F2F2F2"/>
                    </a:solidFill>
                  </a:tcPr>
                </a:tc>
                <a:tc>
                  <a:txBody>
                    <a:bodyPr wrap="square"/>
                    <a:lstStyle/>
                    <a:p>
                      <a:pPr algn="ctr">
                        <a:defRPr sz="1200" b="0">
                          <a:solidFill>
                            <a:srgbClr val="333333"/>
                          </a:solidFill>
                          <a:latin typeface="Calibri"/>
                        </a:defRPr>
                      </a:pPr>
                      <a:r>
                        <a:t>0.281</a:t>
                      </a:r>
                    </a:p>
                  </a:txBody>
                  <a:tcPr marL="45720" marR="45720" marT="9144" marB="9144" anchor="ctr">
                    <a:solidFill>
                      <a:srgbClr val="F2F2F2"/>
                    </a:solidFill>
                  </a:tcPr>
                </a:tc>
                <a:tc>
                  <a:txBody>
                    <a:bodyPr wrap="square"/>
                    <a:lstStyle/>
                    <a:p>
                      <a:pPr algn="ctr">
                        <a:defRPr sz="1200" b="0">
                          <a:solidFill>
                            <a:srgbClr val="333333"/>
                          </a:solidFill>
                          <a:latin typeface="Calibri"/>
                        </a:defRPr>
                      </a:pPr>
                      <a:r>
                        <a:t>257</a:t>
                      </a:r>
                    </a:p>
                  </a:txBody>
                  <a:tcPr marL="45720" marR="45720" marT="9144" marB="9144" anchor="ctr">
                    <a:solidFill>
                      <a:srgbClr val="F2F2F2"/>
                    </a:solidFill>
                  </a:tcPr>
                </a:tc>
              </a:tr>
              <a:tr h="329184">
                <a:tc>
                  <a:txBody>
                    <a:bodyPr wrap="square"/>
                    <a:lstStyle/>
                    <a:p>
                      <a:pPr algn="l">
                        <a:defRPr sz="1200" b="0">
                          <a:solidFill>
                            <a:srgbClr val="333333"/>
                          </a:solidFill>
                          <a:latin typeface="Calibri"/>
                        </a:defRPr>
                      </a:pPr>
                      <a:r>
                        <a:t>3</a:t>
                      </a:r>
                    </a:p>
                  </a:txBody>
                  <a:tcPr marL="45720" marR="45720" marT="9144" marB="9144" anchor="ctr"/>
                </a:tc>
                <a:tc>
                  <a:txBody>
                    <a:bodyPr wrap="square"/>
                    <a:lstStyle/>
                    <a:p>
                      <a:pPr algn="ctr">
                        <a:defRPr sz="1200" b="0">
                          <a:solidFill>
                            <a:srgbClr val="333333"/>
                          </a:solidFill>
                          <a:latin typeface="Calibri"/>
                        </a:defRPr>
                      </a:pPr>
                      <a:r>
                        <a:t>68</a:t>
                      </a:r>
                    </a:p>
                  </a:txBody>
                  <a:tcPr marL="45720" marR="45720" marT="9144" marB="9144" anchor="ctr"/>
                </a:tc>
                <a:tc>
                  <a:txBody>
                    <a:bodyPr wrap="square"/>
                    <a:lstStyle/>
                    <a:p>
                      <a:pPr algn="ctr">
                        <a:defRPr sz="1200" b="0">
                          <a:solidFill>
                            <a:srgbClr val="333333"/>
                          </a:solidFill>
                          <a:latin typeface="Calibri"/>
                        </a:defRPr>
                      </a:pPr>
                      <a:r>
                        <a:t>3</a:t>
                      </a:r>
                    </a:p>
                  </a:txBody>
                  <a:tcPr marL="45720" marR="45720" marT="9144" marB="9144" anchor="ctr"/>
                </a:tc>
                <a:tc>
                  <a:txBody>
                    <a:bodyPr wrap="square"/>
                    <a:lstStyle/>
                    <a:p>
                      <a:pPr algn="ctr">
                        <a:defRPr sz="1200" b="0">
                          <a:solidFill>
                            <a:srgbClr val="333333"/>
                          </a:solidFill>
                          <a:latin typeface="Calibri"/>
                        </a:defRPr>
                      </a:pPr>
                      <a:r>
                        <a:t>38</a:t>
                      </a:r>
                    </a:p>
                  </a:txBody>
                  <a:tcPr marL="45720" marR="45720" marT="9144" marB="9144" anchor="ctr"/>
                </a:tc>
                <a:tc>
                  <a:txBody>
                    <a:bodyPr wrap="square"/>
                    <a:lstStyle/>
                    <a:p>
                      <a:pPr algn="ctr">
                        <a:defRPr sz="1200" b="0">
                          <a:solidFill>
                            <a:srgbClr val="333333"/>
                          </a:solidFill>
                          <a:latin typeface="Calibri"/>
                        </a:defRPr>
                      </a:pPr>
                      <a:r>
                        <a:t>10</a:t>
                      </a:r>
                    </a:p>
                  </a:txBody>
                  <a:tcPr marL="45720" marR="45720" marT="9144" marB="9144" anchor="ctr"/>
                </a:tc>
                <a:tc>
                  <a:txBody>
                    <a:bodyPr wrap="square"/>
                    <a:lstStyle/>
                    <a:p>
                      <a:pPr algn="ctr">
                        <a:defRPr sz="1200" b="0">
                          <a:solidFill>
                            <a:srgbClr val="333333"/>
                          </a:solidFill>
                          <a:latin typeface="Calibri"/>
                        </a:defRPr>
                      </a:pPr>
                      <a:r>
                        <a:t>2</a:t>
                      </a:r>
                    </a:p>
                  </a:txBody>
                  <a:tcPr marL="45720" marR="45720" marT="9144" marB="9144" anchor="ctr"/>
                </a:tc>
                <a:tc>
                  <a:txBody>
                    <a:bodyPr wrap="square"/>
                    <a:lstStyle/>
                    <a:p>
                      <a:pPr algn="ctr">
                        <a:defRPr sz="1200" b="0">
                          <a:solidFill>
                            <a:srgbClr val="333333"/>
                          </a:solidFill>
                          <a:latin typeface="Calibri"/>
                        </a:defRPr>
                      </a:pPr>
                      <a:r>
                        <a:t>0.613</a:t>
                      </a:r>
                    </a:p>
                  </a:txBody>
                  <a:tcPr marL="45720" marR="45720" marT="9144" marB="9144" anchor="ctr"/>
                </a:tc>
                <a:tc>
                  <a:txBody>
                    <a:bodyPr wrap="square"/>
                    <a:lstStyle/>
                    <a:p>
                      <a:pPr algn="ctr">
                        <a:defRPr sz="1200" b="0">
                          <a:solidFill>
                            <a:srgbClr val="333333"/>
                          </a:solidFill>
                          <a:latin typeface="Calibri"/>
                        </a:defRPr>
                      </a:pPr>
                      <a:r>
                        <a:t>0.314</a:t>
                      </a:r>
                    </a:p>
                  </a:txBody>
                  <a:tcPr marL="45720" marR="45720" marT="9144" marB="9144" anchor="ctr"/>
                </a:tc>
                <a:tc>
                  <a:txBody>
                    <a:bodyPr wrap="square"/>
                    <a:lstStyle/>
                    <a:p>
                      <a:pPr algn="ctr">
                        <a:defRPr sz="1200" b="0">
                          <a:solidFill>
                            <a:srgbClr val="333333"/>
                          </a:solidFill>
                          <a:latin typeface="Calibri"/>
                        </a:defRPr>
                      </a:pPr>
                      <a:r>
                        <a:t>0.415</a:t>
                      </a:r>
                    </a:p>
                  </a:txBody>
                  <a:tcPr marL="45720" marR="45720" marT="9144" marB="9144" anchor="ctr"/>
                </a:tc>
                <a:tc>
                  <a:txBody>
                    <a:bodyPr wrap="square"/>
                    <a:lstStyle/>
                    <a:p>
                      <a:pPr algn="ctr">
                        <a:defRPr sz="1200" b="0">
                          <a:solidFill>
                            <a:srgbClr val="333333"/>
                          </a:solidFill>
                          <a:latin typeface="Calibri"/>
                        </a:defRPr>
                      </a:pPr>
                      <a:r>
                        <a:t>121</a:t>
                      </a:r>
                    </a:p>
                  </a:txBody>
                  <a:tcPr marL="45720" marR="45720" marT="9144" marB="9144" anchor="ctr"/>
                </a:tc>
              </a:tr>
              <a:tr h="329184">
                <a:tc>
                  <a:txBody>
                    <a:bodyPr wrap="square"/>
                    <a:lstStyle/>
                    <a:p>
                      <a:pPr algn="l">
                        <a:defRPr sz="1200" b="0">
                          <a:solidFill>
                            <a:srgbClr val="333333"/>
                          </a:solidFill>
                          <a:latin typeface="Calibri"/>
                        </a:defRPr>
                      </a:pPr>
                      <a:r>
                        <a:t>4</a:t>
                      </a:r>
                    </a:p>
                  </a:txBody>
                  <a:tcPr marL="45720" marR="45720" marT="9144" marB="9144" anchor="ctr">
                    <a:solidFill>
                      <a:srgbClr val="F2F2F2"/>
                    </a:solidFill>
                  </a:tcPr>
                </a:tc>
                <a:tc>
                  <a:txBody>
                    <a:bodyPr wrap="square"/>
                    <a:lstStyle/>
                    <a:p>
                      <a:pPr algn="ctr">
                        <a:defRPr sz="1200" b="0">
                          <a:solidFill>
                            <a:srgbClr val="333333"/>
                          </a:solidFill>
                          <a:latin typeface="Calibri"/>
                        </a:defRPr>
                      </a:pPr>
                      <a:r>
                        <a:t>59</a:t>
                      </a:r>
                    </a:p>
                  </a:txBody>
                  <a:tcPr marL="45720" marR="45720" marT="9144" marB="9144" anchor="ctr">
                    <a:solidFill>
                      <a:srgbClr val="F2F2F2"/>
                    </a:solidFill>
                  </a:tcPr>
                </a:tc>
                <a:tc>
                  <a:txBody>
                    <a:bodyPr wrap="square"/>
                    <a:lstStyle/>
                    <a:p>
                      <a:pPr algn="ctr">
                        <a:defRPr sz="1200" b="0">
                          <a:solidFill>
                            <a:srgbClr val="333333"/>
                          </a:solidFill>
                          <a:latin typeface="Calibri"/>
                        </a:defRPr>
                      </a:pPr>
                      <a:r>
                        <a:t>2</a:t>
                      </a:r>
                    </a:p>
                  </a:txBody>
                  <a:tcPr marL="45720" marR="45720" marT="9144" marB="9144" anchor="ctr">
                    <a:solidFill>
                      <a:srgbClr val="F2F2F2"/>
                    </a:solidFill>
                  </a:tcPr>
                </a:tc>
                <a:tc>
                  <a:txBody>
                    <a:bodyPr wrap="square"/>
                    <a:lstStyle/>
                    <a:p>
                      <a:pPr algn="ctr">
                        <a:defRPr sz="1200" b="0">
                          <a:solidFill>
                            <a:srgbClr val="333333"/>
                          </a:solidFill>
                          <a:latin typeface="Calibri"/>
                        </a:defRPr>
                      </a:pPr>
                      <a:r>
                        <a:t>7</a:t>
                      </a:r>
                    </a:p>
                  </a:txBody>
                  <a:tcPr marL="45720" marR="45720" marT="9144" marB="9144" anchor="ctr">
                    <a:solidFill>
                      <a:srgbClr val="F2F2F2"/>
                    </a:solidFill>
                  </a:tcPr>
                </a:tc>
                <a:tc>
                  <a:txBody>
                    <a:bodyPr wrap="square"/>
                    <a:lstStyle/>
                    <a:p>
                      <a:pPr algn="ctr">
                        <a:defRPr sz="1200" b="0">
                          <a:solidFill>
                            <a:srgbClr val="333333"/>
                          </a:solidFill>
                          <a:latin typeface="Calibri"/>
                        </a:defRPr>
                      </a:pPr>
                      <a:r>
                        <a:t>73</a:t>
                      </a:r>
                    </a:p>
                  </a:txBody>
                  <a:tcPr marL="45720" marR="45720" marT="9144" marB="9144" anchor="ctr">
                    <a:solidFill>
                      <a:srgbClr val="F2F2F2"/>
                    </a:solidFill>
                  </a:tcPr>
                </a:tc>
                <a:tc>
                  <a:txBody>
                    <a:bodyPr wrap="square"/>
                    <a:lstStyle/>
                    <a:p>
                      <a:pPr algn="ctr">
                        <a:defRPr sz="1200" b="0">
                          <a:solidFill>
                            <a:srgbClr val="333333"/>
                          </a:solidFill>
                          <a:latin typeface="Calibri"/>
                        </a:defRPr>
                      </a:pPr>
                      <a:r>
                        <a:t>16</a:t>
                      </a:r>
                    </a:p>
                  </a:txBody>
                  <a:tcPr marL="45720" marR="45720" marT="9144" marB="9144" anchor="ctr">
                    <a:solidFill>
                      <a:srgbClr val="F2F2F2"/>
                    </a:solidFill>
                  </a:tcPr>
                </a:tc>
                <a:tc>
                  <a:txBody>
                    <a:bodyPr wrap="square"/>
                    <a:lstStyle/>
                    <a:p>
                      <a:pPr algn="ctr">
                        <a:defRPr sz="1200" b="0">
                          <a:solidFill>
                            <a:srgbClr val="333333"/>
                          </a:solidFill>
                          <a:latin typeface="Calibri"/>
                        </a:defRPr>
                      </a:pPr>
                      <a:r>
                        <a:t>0.652</a:t>
                      </a:r>
                    </a:p>
                  </a:txBody>
                  <a:tcPr marL="45720" marR="45720" marT="9144" marB="9144" anchor="ctr">
                    <a:solidFill>
                      <a:srgbClr val="F2F2F2"/>
                    </a:solidFill>
                  </a:tcPr>
                </a:tc>
                <a:tc>
                  <a:txBody>
                    <a:bodyPr wrap="square"/>
                    <a:lstStyle/>
                    <a:p>
                      <a:pPr algn="ctr">
                        <a:defRPr sz="1200" b="0">
                          <a:solidFill>
                            <a:srgbClr val="333333"/>
                          </a:solidFill>
                          <a:latin typeface="Calibri"/>
                        </a:defRPr>
                      </a:pPr>
                      <a:r>
                        <a:t>0.465</a:t>
                      </a:r>
                    </a:p>
                  </a:txBody>
                  <a:tcPr marL="45720" marR="45720" marT="9144" marB="9144" anchor="ctr">
                    <a:solidFill>
                      <a:srgbClr val="F2F2F2"/>
                    </a:solidFill>
                  </a:tcPr>
                </a:tc>
                <a:tc>
                  <a:txBody>
                    <a:bodyPr wrap="square"/>
                    <a:lstStyle/>
                    <a:p>
                      <a:pPr algn="ctr">
                        <a:defRPr sz="1200" b="0">
                          <a:solidFill>
                            <a:srgbClr val="333333"/>
                          </a:solidFill>
                          <a:latin typeface="Calibri"/>
                        </a:defRPr>
                      </a:pPr>
                      <a:r>
                        <a:t>0.543</a:t>
                      </a:r>
                    </a:p>
                  </a:txBody>
                  <a:tcPr marL="45720" marR="45720" marT="9144" marB="9144" anchor="ctr">
                    <a:solidFill>
                      <a:srgbClr val="F2F2F2"/>
                    </a:solidFill>
                  </a:tcPr>
                </a:tc>
                <a:tc>
                  <a:txBody>
                    <a:bodyPr wrap="square"/>
                    <a:lstStyle/>
                    <a:p>
                      <a:pPr algn="ctr">
                        <a:defRPr sz="1200" b="0">
                          <a:solidFill>
                            <a:srgbClr val="333333"/>
                          </a:solidFill>
                          <a:latin typeface="Calibri"/>
                        </a:defRPr>
                      </a:pPr>
                      <a:r>
                        <a:t>157</a:t>
                      </a:r>
                    </a:p>
                  </a:txBody>
                  <a:tcPr marL="45720" marR="45720" marT="9144" marB="9144" anchor="ctr">
                    <a:solidFill>
                      <a:srgbClr val="F2F2F2"/>
                    </a:solidFill>
                  </a:tcPr>
                </a:tc>
              </a:tr>
              <a:tr h="329184">
                <a:tc>
                  <a:txBody>
                    <a:bodyPr wrap="square"/>
                    <a:lstStyle/>
                    <a:p>
                      <a:pPr algn="l">
                        <a:defRPr sz="1200" b="0">
                          <a:solidFill>
                            <a:srgbClr val="333333"/>
                          </a:solidFill>
                          <a:latin typeface="Calibri"/>
                        </a:defRPr>
                      </a:pPr>
                      <a:r>
                        <a:t>5</a:t>
                      </a:r>
                    </a:p>
                  </a:txBody>
                  <a:tcPr marL="45720" marR="45720" marT="9144" marB="9144" anchor="ctr"/>
                </a:tc>
                <a:tc>
                  <a:txBody>
                    <a:bodyPr wrap="square"/>
                    <a:lstStyle/>
                    <a:p>
                      <a:pPr algn="ctr">
                        <a:defRPr sz="1200" b="0">
                          <a:solidFill>
                            <a:srgbClr val="333333"/>
                          </a:solidFill>
                          <a:latin typeface="Calibri"/>
                        </a:defRPr>
                      </a:pPr>
                      <a:r>
                        <a:t>33</a:t>
                      </a:r>
                    </a:p>
                  </a:txBody>
                  <a:tcPr marL="45720" marR="45720" marT="9144" marB="9144" anchor="ctr"/>
                </a:tc>
                <a:tc>
                  <a:txBody>
                    <a:bodyPr wrap="square"/>
                    <a:lstStyle/>
                    <a:p>
                      <a:pPr algn="ctr">
                        <a:defRPr sz="1200" b="0">
                          <a:solidFill>
                            <a:srgbClr val="333333"/>
                          </a:solidFill>
                          <a:latin typeface="Calibri"/>
                        </a:defRPr>
                      </a:pPr>
                      <a:r>
                        <a:t>4</a:t>
                      </a:r>
                    </a:p>
                  </a:txBody>
                  <a:tcPr marL="45720" marR="45720" marT="9144" marB="9144" anchor="ctr"/>
                </a:tc>
                <a:tc>
                  <a:txBody>
                    <a:bodyPr wrap="square"/>
                    <a:lstStyle/>
                    <a:p>
                      <a:pPr algn="ctr">
                        <a:defRPr sz="1200" b="0">
                          <a:solidFill>
                            <a:srgbClr val="333333"/>
                          </a:solidFill>
                          <a:latin typeface="Calibri"/>
                        </a:defRPr>
                      </a:pPr>
                      <a:r>
                        <a:t>1</a:t>
                      </a:r>
                    </a:p>
                  </a:txBody>
                  <a:tcPr marL="45720" marR="45720" marT="9144" marB="9144" anchor="ctr"/>
                </a:tc>
                <a:tc>
                  <a:txBody>
                    <a:bodyPr wrap="square"/>
                    <a:lstStyle/>
                    <a:p>
                      <a:pPr algn="ctr">
                        <a:defRPr sz="1200" b="0">
                          <a:solidFill>
                            <a:srgbClr val="333333"/>
                          </a:solidFill>
                          <a:latin typeface="Calibri"/>
                        </a:defRPr>
                      </a:pPr>
                      <a:r>
                        <a:t>23</a:t>
                      </a:r>
                    </a:p>
                  </a:txBody>
                  <a:tcPr marL="45720" marR="45720" marT="9144" marB="9144" anchor="ctr"/>
                </a:tc>
                <a:tc>
                  <a:txBody>
                    <a:bodyPr wrap="square"/>
                    <a:lstStyle/>
                    <a:p>
                      <a:pPr algn="ctr">
                        <a:defRPr sz="1200" b="0">
                          <a:solidFill>
                            <a:srgbClr val="333333"/>
                          </a:solidFill>
                          <a:latin typeface="Calibri"/>
                        </a:defRPr>
                      </a:pPr>
                      <a:r>
                        <a:t>611</a:t>
                      </a:r>
                    </a:p>
                  </a:txBody>
                  <a:tcPr marL="45720" marR="45720" marT="9144" marB="9144" anchor="ctr"/>
                </a:tc>
                <a:tc>
                  <a:txBody>
                    <a:bodyPr wrap="square"/>
                    <a:lstStyle/>
                    <a:p>
                      <a:pPr algn="ctr">
                        <a:defRPr sz="1200" b="0">
                          <a:solidFill>
                            <a:srgbClr val="333333"/>
                          </a:solidFill>
                          <a:latin typeface="Calibri"/>
                        </a:defRPr>
                      </a:pPr>
                      <a:r>
                        <a:t>0.953</a:t>
                      </a:r>
                    </a:p>
                  </a:txBody>
                  <a:tcPr marL="45720" marR="45720" marT="9144" marB="9144" anchor="ctr"/>
                </a:tc>
                <a:tc>
                  <a:txBody>
                    <a:bodyPr wrap="square"/>
                    <a:lstStyle/>
                    <a:p>
                      <a:pPr algn="ctr">
                        <a:defRPr sz="1200" b="0">
                          <a:solidFill>
                            <a:srgbClr val="333333"/>
                          </a:solidFill>
                          <a:latin typeface="Calibri"/>
                        </a:defRPr>
                      </a:pPr>
                      <a:r>
                        <a:t>0.909</a:t>
                      </a:r>
                    </a:p>
                  </a:txBody>
                  <a:tcPr marL="45720" marR="45720" marT="9144" marB="9144" anchor="ctr"/>
                </a:tc>
                <a:tc>
                  <a:txBody>
                    <a:bodyPr wrap="square"/>
                    <a:lstStyle/>
                    <a:p>
                      <a:pPr algn="ctr">
                        <a:defRPr sz="1200" b="0">
                          <a:solidFill>
                            <a:srgbClr val="333333"/>
                          </a:solidFill>
                          <a:latin typeface="Calibri"/>
                        </a:defRPr>
                      </a:pPr>
                      <a:r>
                        <a:t>0.931</a:t>
                      </a:r>
                    </a:p>
                  </a:txBody>
                  <a:tcPr marL="45720" marR="45720" marT="9144" marB="9144" anchor="ctr"/>
                </a:tc>
                <a:tc>
                  <a:txBody>
                    <a:bodyPr wrap="square"/>
                    <a:lstStyle/>
                    <a:p>
                      <a:pPr algn="ctr">
                        <a:defRPr sz="1200" b="0">
                          <a:solidFill>
                            <a:srgbClr val="333333"/>
                          </a:solidFill>
                          <a:latin typeface="Calibri"/>
                        </a:defRPr>
                      </a:pPr>
                      <a:r>
                        <a:t>672</a:t>
                      </a:r>
                    </a:p>
                  </a:txBody>
                  <a:tcPr marL="45720" marR="45720" marT="9144" marB="9144" anchor="ctr"/>
                </a:tc>
              </a:tr>
            </a:tbl>
          </a:graphicData>
        </a:graphic>
      </p:graphicFrame>
      <p:sp>
        <p:nvSpPr>
          <p:cNvPr id="8" name="TextBox 7"/>
          <p:cNvSpPr txBox="1"/>
          <p:nvPr/>
        </p:nvSpPr>
        <p:spPr>
          <a:xfrm>
            <a:off x="548640" y="3566160"/>
            <a:ext cx="11064240" cy="274320"/>
          </a:xfrm>
          <a:prstGeom prst="rect">
            <a:avLst/>
          </a:prstGeom>
          <a:noFill/>
        </p:spPr>
        <p:txBody>
          <a:bodyPr wrap="square" lIns="64008" rIns="64008" tIns="18288" bIns="18288">
            <a:noAutofit/>
          </a:bodyPr>
          <a:lstStyle/>
          <a:p>
            <a:pPr algn="l">
              <a:lnSpc>
                <a:spcPct val="124000"/>
              </a:lnSpc>
              <a:spcAft>
                <a:spcPts val="700"/>
              </a:spcAft>
              <a:defRPr sz="1500" b="1" i="0">
                <a:solidFill>
                  <a:srgbClr val="002B5C"/>
                </a:solidFill>
                <a:latin typeface="Calibri"/>
              </a:defRPr>
            </a:pPr>
            <a:r>
              <a:t>Class weighting  —  Macro-F1 0.6044</a:t>
            </a:r>
          </a:p>
        </p:txBody>
      </p:sp>
      <p:graphicFrame>
        <p:nvGraphicFramePr>
          <p:cNvPr id="9" name="Table 8"/>
          <p:cNvGraphicFramePr>
            <a:graphicFrameLocks noGrp="1"/>
          </p:cNvGraphicFramePr>
          <p:nvPr/>
        </p:nvGraphicFramePr>
        <p:xfrm>
          <a:off x="548640" y="3895344"/>
          <a:ext cx="11064240" cy="1975104"/>
        </p:xfrm>
        <a:graphic>
          <a:graphicData uri="http://schemas.openxmlformats.org/drawingml/2006/table">
            <a:tbl>
              <a:tblPr firstRow="1" bandRow="1">
                <a:tableStyleId>{5C22544A-7EE6-4342-B048-85BDC9FD1C3A}</a:tableStyleId>
              </a:tblPr>
              <a:tblGrid>
                <a:gridCol w="1463040"/>
                <a:gridCol w="960120"/>
                <a:gridCol w="960120"/>
                <a:gridCol w="960120"/>
                <a:gridCol w="960120"/>
                <a:gridCol w="960120"/>
                <a:gridCol w="1097280"/>
                <a:gridCol w="1097280"/>
                <a:gridCol w="1097280"/>
                <a:gridCol w="1508760"/>
              </a:tblGrid>
              <a:tr h="329184">
                <a:tc>
                  <a:txBody>
                    <a:bodyPr wrap="square"/>
                    <a:lstStyle/>
                    <a:p>
                      <a:pPr algn="ctr">
                        <a:defRPr sz="1200" b="1">
                          <a:solidFill>
                            <a:srgbClr val="FFFFFF"/>
                          </a:solidFill>
                          <a:latin typeface="Calibri"/>
                        </a:defRPr>
                      </a:pPr>
                      <a:r>
                        <a:t>True \ Pred</a:t>
                      </a:r>
                    </a:p>
                  </a:txBody>
                  <a:tcPr marL="45720" marR="45720" marT="9144" marB="9144" anchor="ctr">
                    <a:solidFill>
                      <a:srgbClr val="002B5C"/>
                    </a:solidFill>
                  </a:tcPr>
                </a:tc>
                <a:tc>
                  <a:txBody>
                    <a:bodyPr wrap="square"/>
                    <a:lstStyle/>
                    <a:p>
                      <a:pPr algn="ctr">
                        <a:defRPr sz="1200" b="1">
                          <a:solidFill>
                            <a:srgbClr val="FFFFFF"/>
                          </a:solidFill>
                          <a:latin typeface="Calibri"/>
                        </a:defRPr>
                      </a:pPr>
                      <a:r>
                        <a:t>1</a:t>
                      </a:r>
                    </a:p>
                  </a:txBody>
                  <a:tcPr marL="45720" marR="45720" marT="9144" marB="9144" anchor="ctr">
                    <a:solidFill>
                      <a:srgbClr val="002B5C"/>
                    </a:solidFill>
                  </a:tcPr>
                </a:tc>
                <a:tc>
                  <a:txBody>
                    <a:bodyPr wrap="square"/>
                    <a:lstStyle/>
                    <a:p>
                      <a:pPr algn="ctr">
                        <a:defRPr sz="1200" b="1">
                          <a:solidFill>
                            <a:srgbClr val="FFFFFF"/>
                          </a:solidFill>
                          <a:latin typeface="Calibri"/>
                        </a:defRPr>
                      </a:pPr>
                      <a:r>
                        <a:t>2</a:t>
                      </a:r>
                    </a:p>
                  </a:txBody>
                  <a:tcPr marL="45720" marR="45720" marT="9144" marB="9144" anchor="ctr">
                    <a:solidFill>
                      <a:srgbClr val="002B5C"/>
                    </a:solidFill>
                  </a:tcPr>
                </a:tc>
                <a:tc>
                  <a:txBody>
                    <a:bodyPr wrap="square"/>
                    <a:lstStyle/>
                    <a:p>
                      <a:pPr algn="ctr">
                        <a:defRPr sz="1200" b="1">
                          <a:solidFill>
                            <a:srgbClr val="FFFFFF"/>
                          </a:solidFill>
                          <a:latin typeface="Calibri"/>
                        </a:defRPr>
                      </a:pPr>
                      <a:r>
                        <a:t>3</a:t>
                      </a:r>
                    </a:p>
                  </a:txBody>
                  <a:tcPr marL="45720" marR="45720" marT="9144" marB="9144" anchor="ctr">
                    <a:solidFill>
                      <a:srgbClr val="002B5C"/>
                    </a:solidFill>
                  </a:tcPr>
                </a:tc>
                <a:tc>
                  <a:txBody>
                    <a:bodyPr wrap="square"/>
                    <a:lstStyle/>
                    <a:p>
                      <a:pPr algn="ctr">
                        <a:defRPr sz="1200" b="1">
                          <a:solidFill>
                            <a:srgbClr val="FFFFFF"/>
                          </a:solidFill>
                          <a:latin typeface="Calibri"/>
                        </a:defRPr>
                      </a:pPr>
                      <a:r>
                        <a:t>4</a:t>
                      </a:r>
                    </a:p>
                  </a:txBody>
                  <a:tcPr marL="45720" marR="45720" marT="9144" marB="9144" anchor="ctr">
                    <a:solidFill>
                      <a:srgbClr val="002B5C"/>
                    </a:solidFill>
                  </a:tcPr>
                </a:tc>
                <a:tc>
                  <a:txBody>
                    <a:bodyPr wrap="square"/>
                    <a:lstStyle/>
                    <a:p>
                      <a:pPr algn="ctr">
                        <a:defRPr sz="1200" b="1">
                          <a:solidFill>
                            <a:srgbClr val="FFFFFF"/>
                          </a:solidFill>
                          <a:latin typeface="Calibri"/>
                        </a:defRPr>
                      </a:pPr>
                      <a:r>
                        <a:t>5</a:t>
                      </a:r>
                    </a:p>
                  </a:txBody>
                  <a:tcPr marL="45720" marR="45720" marT="9144" marB="9144" anchor="ctr">
                    <a:solidFill>
                      <a:srgbClr val="002B5C"/>
                    </a:solidFill>
                  </a:tcPr>
                </a:tc>
                <a:tc>
                  <a:txBody>
                    <a:bodyPr wrap="square"/>
                    <a:lstStyle/>
                    <a:p>
                      <a:pPr algn="ctr">
                        <a:defRPr sz="1200" b="1">
                          <a:solidFill>
                            <a:srgbClr val="FFFFFF"/>
                          </a:solidFill>
                          <a:latin typeface="Calibri"/>
                        </a:defRPr>
                      </a:pPr>
                      <a:r>
                        <a:t>Prec.</a:t>
                      </a:r>
                    </a:p>
                  </a:txBody>
                  <a:tcPr marL="45720" marR="45720" marT="9144" marB="9144" anchor="ctr">
                    <a:solidFill>
                      <a:srgbClr val="002B5C"/>
                    </a:solidFill>
                  </a:tcPr>
                </a:tc>
                <a:tc>
                  <a:txBody>
                    <a:bodyPr wrap="square"/>
                    <a:lstStyle/>
                    <a:p>
                      <a:pPr algn="ctr">
                        <a:defRPr sz="1200" b="1">
                          <a:solidFill>
                            <a:srgbClr val="FFFFFF"/>
                          </a:solidFill>
                          <a:latin typeface="Calibri"/>
                        </a:defRPr>
                      </a:pPr>
                      <a:r>
                        <a:t>Recall</a:t>
                      </a:r>
                    </a:p>
                  </a:txBody>
                  <a:tcPr marL="45720" marR="45720" marT="9144" marB="9144" anchor="ctr">
                    <a:solidFill>
                      <a:srgbClr val="002B5C"/>
                    </a:solidFill>
                  </a:tcPr>
                </a:tc>
                <a:tc>
                  <a:txBody>
                    <a:bodyPr wrap="square"/>
                    <a:lstStyle/>
                    <a:p>
                      <a:pPr algn="ctr">
                        <a:defRPr sz="1200" b="1">
                          <a:solidFill>
                            <a:srgbClr val="FFFFFF"/>
                          </a:solidFill>
                          <a:latin typeface="Calibri"/>
                        </a:defRPr>
                      </a:pPr>
                      <a:r>
                        <a:t>F1</a:t>
                      </a:r>
                    </a:p>
                  </a:txBody>
                  <a:tcPr marL="45720" marR="45720" marT="9144" marB="9144" anchor="ctr">
                    <a:solidFill>
                      <a:srgbClr val="002B5C"/>
                    </a:solidFill>
                  </a:tcPr>
                </a:tc>
                <a:tc>
                  <a:txBody>
                    <a:bodyPr wrap="square"/>
                    <a:lstStyle/>
                    <a:p>
                      <a:pPr algn="ctr">
                        <a:defRPr sz="1200" b="1">
                          <a:solidFill>
                            <a:srgbClr val="FFFFFF"/>
                          </a:solidFill>
                          <a:latin typeface="Calibri"/>
                        </a:defRPr>
                      </a:pPr>
                      <a:r>
                        <a:t>n</a:t>
                      </a:r>
                    </a:p>
                  </a:txBody>
                  <a:tcPr marL="45720" marR="45720" marT="9144" marB="9144" anchor="ctr">
                    <a:solidFill>
                      <a:srgbClr val="002B5C"/>
                    </a:solidFill>
                  </a:tcPr>
                </a:tc>
              </a:tr>
              <a:tr h="329184">
                <a:tc>
                  <a:txBody>
                    <a:bodyPr wrap="square"/>
                    <a:lstStyle/>
                    <a:p>
                      <a:pPr algn="l">
                        <a:defRPr sz="1200" b="0">
                          <a:solidFill>
                            <a:srgbClr val="333333"/>
                          </a:solidFill>
                          <a:latin typeface="Calibri"/>
                        </a:defRPr>
                      </a:pPr>
                      <a:r>
                        <a:t>1</a:t>
                      </a:r>
                    </a:p>
                  </a:txBody>
                  <a:tcPr marL="45720" marR="45720" marT="9144" marB="9144" anchor="ctr"/>
                </a:tc>
                <a:tc>
                  <a:txBody>
                    <a:bodyPr wrap="square"/>
                    <a:lstStyle/>
                    <a:p>
                      <a:pPr algn="ctr">
                        <a:defRPr sz="1200" b="0">
                          <a:solidFill>
                            <a:srgbClr val="333333"/>
                          </a:solidFill>
                          <a:latin typeface="Calibri"/>
                        </a:defRPr>
                      </a:pPr>
                      <a:r>
                        <a:t>3,755</a:t>
                      </a:r>
                    </a:p>
                  </a:txBody>
                  <a:tcPr marL="45720" marR="45720" marT="9144" marB="9144" anchor="ctr"/>
                </a:tc>
                <a:tc>
                  <a:txBody>
                    <a:bodyPr wrap="square"/>
                    <a:lstStyle/>
                    <a:p>
                      <a:pPr algn="ctr">
                        <a:defRPr sz="1200" b="0">
                          <a:solidFill>
                            <a:srgbClr val="333333"/>
                          </a:solidFill>
                          <a:latin typeface="Calibri"/>
                        </a:defRPr>
                      </a:pPr>
                      <a:r>
                        <a:t>323</a:t>
                      </a:r>
                    </a:p>
                  </a:txBody>
                  <a:tcPr marL="45720" marR="45720" marT="9144" marB="9144" anchor="ctr"/>
                </a:tc>
                <a:tc>
                  <a:txBody>
                    <a:bodyPr wrap="square"/>
                    <a:lstStyle/>
                    <a:p>
                      <a:pPr algn="ctr">
                        <a:defRPr sz="1200" b="0">
                          <a:solidFill>
                            <a:srgbClr val="333333"/>
                          </a:solidFill>
                          <a:latin typeface="Calibri"/>
                        </a:defRPr>
                      </a:pPr>
                      <a:r>
                        <a:t>54</a:t>
                      </a:r>
                    </a:p>
                  </a:txBody>
                  <a:tcPr marL="45720" marR="45720" marT="9144" marB="9144" anchor="ctr"/>
                </a:tc>
                <a:tc>
                  <a:txBody>
                    <a:bodyPr wrap="square"/>
                    <a:lstStyle/>
                    <a:p>
                      <a:pPr algn="ctr">
                        <a:defRPr sz="1200" b="0">
                          <a:solidFill>
                            <a:srgbClr val="333333"/>
                          </a:solidFill>
                          <a:latin typeface="Calibri"/>
                        </a:defRPr>
                      </a:pPr>
                      <a:r>
                        <a:t>47</a:t>
                      </a:r>
                    </a:p>
                  </a:txBody>
                  <a:tcPr marL="45720" marR="45720" marT="9144" marB="9144" anchor="ctr"/>
                </a:tc>
                <a:tc>
                  <a:txBody>
                    <a:bodyPr wrap="square"/>
                    <a:lstStyle/>
                    <a:p>
                      <a:pPr algn="ctr">
                        <a:defRPr sz="1200" b="0">
                          <a:solidFill>
                            <a:srgbClr val="333333"/>
                          </a:solidFill>
                          <a:latin typeface="Calibri"/>
                        </a:defRPr>
                      </a:pPr>
                      <a:r>
                        <a:t>15</a:t>
                      </a:r>
                    </a:p>
                  </a:txBody>
                  <a:tcPr marL="45720" marR="45720" marT="9144" marB="9144" anchor="ctr"/>
                </a:tc>
                <a:tc>
                  <a:txBody>
                    <a:bodyPr wrap="square"/>
                    <a:lstStyle/>
                    <a:p>
                      <a:pPr algn="ctr">
                        <a:defRPr sz="1200" b="0">
                          <a:solidFill>
                            <a:srgbClr val="333333"/>
                          </a:solidFill>
                          <a:latin typeface="Calibri"/>
                        </a:defRPr>
                      </a:pPr>
                      <a:r>
                        <a:t>0.958</a:t>
                      </a:r>
                    </a:p>
                  </a:txBody>
                  <a:tcPr marL="45720" marR="45720" marT="9144" marB="9144" anchor="ctr"/>
                </a:tc>
                <a:tc>
                  <a:txBody>
                    <a:bodyPr wrap="square"/>
                    <a:lstStyle/>
                    <a:p>
                      <a:pPr algn="ctr">
                        <a:defRPr sz="1200" b="0">
                          <a:solidFill>
                            <a:srgbClr val="333333"/>
                          </a:solidFill>
                          <a:latin typeface="Calibri"/>
                        </a:defRPr>
                      </a:pPr>
                      <a:r>
                        <a:t>0.895</a:t>
                      </a:r>
                    </a:p>
                  </a:txBody>
                  <a:tcPr marL="45720" marR="45720" marT="9144" marB="9144" anchor="ctr"/>
                </a:tc>
                <a:tc>
                  <a:txBody>
                    <a:bodyPr wrap="square"/>
                    <a:lstStyle/>
                    <a:p>
                      <a:pPr algn="ctr">
                        <a:defRPr sz="1200" b="0">
                          <a:solidFill>
                            <a:srgbClr val="333333"/>
                          </a:solidFill>
                          <a:latin typeface="Calibri"/>
                        </a:defRPr>
                      </a:pPr>
                      <a:r>
                        <a:t>0.926</a:t>
                      </a:r>
                    </a:p>
                  </a:txBody>
                  <a:tcPr marL="45720" marR="45720" marT="9144" marB="9144" anchor="ctr"/>
                </a:tc>
                <a:tc>
                  <a:txBody>
                    <a:bodyPr wrap="square"/>
                    <a:lstStyle/>
                    <a:p>
                      <a:pPr algn="ctr">
                        <a:defRPr sz="1200" b="0">
                          <a:solidFill>
                            <a:srgbClr val="333333"/>
                          </a:solidFill>
                          <a:latin typeface="Calibri"/>
                        </a:defRPr>
                      </a:pPr>
                      <a:r>
                        <a:t>4,194</a:t>
                      </a:r>
                    </a:p>
                  </a:txBody>
                  <a:tcPr marL="45720" marR="45720" marT="9144" marB="9144" anchor="ctr"/>
                </a:tc>
              </a:tr>
              <a:tr h="329184">
                <a:tc>
                  <a:txBody>
                    <a:bodyPr wrap="square"/>
                    <a:lstStyle/>
                    <a:p>
                      <a:pPr algn="l">
                        <a:defRPr sz="1200" b="0">
                          <a:solidFill>
                            <a:srgbClr val="333333"/>
                          </a:solidFill>
                          <a:latin typeface="Calibri"/>
                        </a:defRPr>
                      </a:pPr>
                      <a:r>
                        <a:t>2</a:t>
                      </a:r>
                    </a:p>
                  </a:txBody>
                  <a:tcPr marL="45720" marR="45720" marT="9144" marB="9144" anchor="ctr">
                    <a:solidFill>
                      <a:srgbClr val="F2F2F2"/>
                    </a:solidFill>
                  </a:tcPr>
                </a:tc>
                <a:tc>
                  <a:txBody>
                    <a:bodyPr wrap="square"/>
                    <a:lstStyle/>
                    <a:p>
                      <a:pPr algn="ctr">
                        <a:defRPr sz="1200" b="0">
                          <a:solidFill>
                            <a:srgbClr val="333333"/>
                          </a:solidFill>
                          <a:latin typeface="Calibri"/>
                        </a:defRPr>
                      </a:pPr>
                      <a:r>
                        <a:t>99</a:t>
                      </a:r>
                    </a:p>
                  </a:txBody>
                  <a:tcPr marL="45720" marR="45720" marT="9144" marB="9144" anchor="ctr">
                    <a:solidFill>
                      <a:srgbClr val="F2F2F2"/>
                    </a:solidFill>
                  </a:tcPr>
                </a:tc>
                <a:tc>
                  <a:txBody>
                    <a:bodyPr wrap="square"/>
                    <a:lstStyle/>
                    <a:p>
                      <a:pPr algn="ctr">
                        <a:defRPr sz="1200" b="0">
                          <a:solidFill>
                            <a:srgbClr val="333333"/>
                          </a:solidFill>
                          <a:latin typeface="Calibri"/>
                        </a:defRPr>
                      </a:pPr>
                      <a:r>
                        <a:t>121</a:t>
                      </a:r>
                    </a:p>
                  </a:txBody>
                  <a:tcPr marL="45720" marR="45720" marT="9144" marB="9144" anchor="ctr">
                    <a:solidFill>
                      <a:srgbClr val="F2F2F2"/>
                    </a:solidFill>
                  </a:tcPr>
                </a:tc>
                <a:tc>
                  <a:txBody>
                    <a:bodyPr wrap="square"/>
                    <a:lstStyle/>
                    <a:p>
                      <a:pPr algn="ctr">
                        <a:defRPr sz="1200" b="0">
                          <a:solidFill>
                            <a:srgbClr val="333333"/>
                          </a:solidFill>
                          <a:latin typeface="Calibri"/>
                        </a:defRPr>
                      </a:pPr>
                      <a:r>
                        <a:t>21</a:t>
                      </a:r>
                    </a:p>
                  </a:txBody>
                  <a:tcPr marL="45720" marR="45720" marT="9144" marB="9144" anchor="ctr">
                    <a:solidFill>
                      <a:srgbClr val="F2F2F2"/>
                    </a:solidFill>
                  </a:tcPr>
                </a:tc>
                <a:tc>
                  <a:txBody>
                    <a:bodyPr wrap="square"/>
                    <a:lstStyle/>
                    <a:p>
                      <a:pPr algn="ctr">
                        <a:defRPr sz="1200" b="0">
                          <a:solidFill>
                            <a:srgbClr val="333333"/>
                          </a:solidFill>
                          <a:latin typeface="Calibri"/>
                        </a:defRPr>
                      </a:pPr>
                      <a:r>
                        <a:t>15</a:t>
                      </a:r>
                    </a:p>
                  </a:txBody>
                  <a:tcPr marL="45720" marR="45720" marT="9144" marB="9144" anchor="ctr">
                    <a:solidFill>
                      <a:srgbClr val="F2F2F2"/>
                    </a:solidFill>
                  </a:tcPr>
                </a:tc>
                <a:tc>
                  <a:txBody>
                    <a:bodyPr wrap="square"/>
                    <a:lstStyle/>
                    <a:p>
                      <a:pPr algn="ctr">
                        <a:defRPr sz="1200" b="0">
                          <a:solidFill>
                            <a:srgbClr val="333333"/>
                          </a:solidFill>
                          <a:latin typeface="Calibri"/>
                        </a:defRPr>
                      </a:pPr>
                      <a:r>
                        <a:t>1</a:t>
                      </a:r>
                    </a:p>
                  </a:txBody>
                  <a:tcPr marL="45720" marR="45720" marT="9144" marB="9144" anchor="ctr">
                    <a:solidFill>
                      <a:srgbClr val="F2F2F2"/>
                    </a:solidFill>
                  </a:tcPr>
                </a:tc>
                <a:tc>
                  <a:txBody>
                    <a:bodyPr wrap="square"/>
                    <a:lstStyle/>
                    <a:p>
                      <a:pPr algn="ctr">
                        <a:defRPr sz="1200" b="0">
                          <a:solidFill>
                            <a:srgbClr val="333333"/>
                          </a:solidFill>
                          <a:latin typeface="Calibri"/>
                        </a:defRPr>
                      </a:pPr>
                      <a:r>
                        <a:t>0.245</a:t>
                      </a:r>
                    </a:p>
                  </a:txBody>
                  <a:tcPr marL="45720" marR="45720" marT="9144" marB="9144" anchor="ctr">
                    <a:solidFill>
                      <a:srgbClr val="F2F2F2"/>
                    </a:solidFill>
                  </a:tcPr>
                </a:tc>
                <a:tc>
                  <a:txBody>
                    <a:bodyPr wrap="square"/>
                    <a:lstStyle/>
                    <a:p>
                      <a:pPr algn="ctr">
                        <a:defRPr sz="1200" b="0">
                          <a:solidFill>
                            <a:srgbClr val="333333"/>
                          </a:solidFill>
                          <a:latin typeface="Calibri"/>
                        </a:defRPr>
                      </a:pPr>
                      <a:r>
                        <a:t>0.471</a:t>
                      </a:r>
                    </a:p>
                  </a:txBody>
                  <a:tcPr marL="45720" marR="45720" marT="9144" marB="9144" anchor="ctr">
                    <a:solidFill>
                      <a:srgbClr val="F2F2F2"/>
                    </a:solidFill>
                  </a:tcPr>
                </a:tc>
                <a:tc>
                  <a:txBody>
                    <a:bodyPr wrap="square"/>
                    <a:lstStyle/>
                    <a:p>
                      <a:pPr algn="ctr">
                        <a:defRPr sz="1200" b="0">
                          <a:solidFill>
                            <a:srgbClr val="333333"/>
                          </a:solidFill>
                          <a:latin typeface="Calibri"/>
                        </a:defRPr>
                      </a:pPr>
                      <a:r>
                        <a:t>0.323</a:t>
                      </a:r>
                    </a:p>
                  </a:txBody>
                  <a:tcPr marL="45720" marR="45720" marT="9144" marB="9144" anchor="ctr">
                    <a:solidFill>
                      <a:srgbClr val="F2F2F2"/>
                    </a:solidFill>
                  </a:tcPr>
                </a:tc>
                <a:tc>
                  <a:txBody>
                    <a:bodyPr wrap="square"/>
                    <a:lstStyle/>
                    <a:p>
                      <a:pPr algn="ctr">
                        <a:defRPr sz="1200" b="0">
                          <a:solidFill>
                            <a:srgbClr val="333333"/>
                          </a:solidFill>
                          <a:latin typeface="Calibri"/>
                        </a:defRPr>
                      </a:pPr>
                      <a:r>
                        <a:t>257</a:t>
                      </a:r>
                    </a:p>
                  </a:txBody>
                  <a:tcPr marL="45720" marR="45720" marT="9144" marB="9144" anchor="ctr">
                    <a:solidFill>
                      <a:srgbClr val="F2F2F2"/>
                    </a:solidFill>
                  </a:tcPr>
                </a:tc>
              </a:tr>
              <a:tr h="329184">
                <a:tc>
                  <a:txBody>
                    <a:bodyPr wrap="square"/>
                    <a:lstStyle/>
                    <a:p>
                      <a:pPr algn="l">
                        <a:defRPr sz="1200" b="0">
                          <a:solidFill>
                            <a:srgbClr val="333333"/>
                          </a:solidFill>
                          <a:latin typeface="Calibri"/>
                        </a:defRPr>
                      </a:pPr>
                      <a:r>
                        <a:t>3</a:t>
                      </a:r>
                    </a:p>
                  </a:txBody>
                  <a:tcPr marL="45720" marR="45720" marT="9144" marB="9144" anchor="ctr"/>
                </a:tc>
                <a:tc>
                  <a:txBody>
                    <a:bodyPr wrap="square"/>
                    <a:lstStyle/>
                    <a:p>
                      <a:pPr algn="ctr">
                        <a:defRPr sz="1200" b="0">
                          <a:solidFill>
                            <a:srgbClr val="333333"/>
                          </a:solidFill>
                          <a:latin typeface="Calibri"/>
                        </a:defRPr>
                      </a:pPr>
                      <a:r>
                        <a:t>24</a:t>
                      </a:r>
                    </a:p>
                  </a:txBody>
                  <a:tcPr marL="45720" marR="45720" marT="9144" marB="9144" anchor="ctr"/>
                </a:tc>
                <a:tc>
                  <a:txBody>
                    <a:bodyPr wrap="square"/>
                    <a:lstStyle/>
                    <a:p>
                      <a:pPr algn="ctr">
                        <a:defRPr sz="1200" b="0">
                          <a:solidFill>
                            <a:srgbClr val="333333"/>
                          </a:solidFill>
                          <a:latin typeface="Calibri"/>
                        </a:defRPr>
                      </a:pPr>
                      <a:r>
                        <a:t>27</a:t>
                      </a:r>
                    </a:p>
                  </a:txBody>
                  <a:tcPr marL="45720" marR="45720" marT="9144" marB="9144" anchor="ctr"/>
                </a:tc>
                <a:tc>
                  <a:txBody>
                    <a:bodyPr wrap="square"/>
                    <a:lstStyle/>
                    <a:p>
                      <a:pPr algn="ctr">
                        <a:defRPr sz="1200" b="0">
                          <a:solidFill>
                            <a:srgbClr val="333333"/>
                          </a:solidFill>
                          <a:latin typeface="Calibri"/>
                        </a:defRPr>
                      </a:pPr>
                      <a:r>
                        <a:t>50</a:t>
                      </a:r>
                    </a:p>
                  </a:txBody>
                  <a:tcPr marL="45720" marR="45720" marT="9144" marB="9144" anchor="ctr"/>
                </a:tc>
                <a:tc>
                  <a:txBody>
                    <a:bodyPr wrap="square"/>
                    <a:lstStyle/>
                    <a:p>
                      <a:pPr algn="ctr">
                        <a:defRPr sz="1200" b="0">
                          <a:solidFill>
                            <a:srgbClr val="333333"/>
                          </a:solidFill>
                          <a:latin typeface="Calibri"/>
                        </a:defRPr>
                      </a:pPr>
                      <a:r>
                        <a:t>18</a:t>
                      </a:r>
                    </a:p>
                  </a:txBody>
                  <a:tcPr marL="45720" marR="45720" marT="9144" marB="9144" anchor="ctr"/>
                </a:tc>
                <a:tc>
                  <a:txBody>
                    <a:bodyPr wrap="square"/>
                    <a:lstStyle/>
                    <a:p>
                      <a:pPr algn="ctr">
                        <a:defRPr sz="1200" b="0">
                          <a:solidFill>
                            <a:srgbClr val="333333"/>
                          </a:solidFill>
                          <a:latin typeface="Calibri"/>
                        </a:defRPr>
                      </a:pPr>
                      <a:r>
                        <a:t>2</a:t>
                      </a:r>
                    </a:p>
                  </a:txBody>
                  <a:tcPr marL="45720" marR="45720" marT="9144" marB="9144" anchor="ctr"/>
                </a:tc>
                <a:tc>
                  <a:txBody>
                    <a:bodyPr wrap="square"/>
                    <a:lstStyle/>
                    <a:p>
                      <a:pPr algn="ctr">
                        <a:defRPr sz="1200" b="0">
                          <a:solidFill>
                            <a:srgbClr val="333333"/>
                          </a:solidFill>
                          <a:latin typeface="Calibri"/>
                        </a:defRPr>
                      </a:pPr>
                      <a:r>
                        <a:t>0.350</a:t>
                      </a:r>
                    </a:p>
                  </a:txBody>
                  <a:tcPr marL="45720" marR="45720" marT="9144" marB="9144" anchor="ctr"/>
                </a:tc>
                <a:tc>
                  <a:txBody>
                    <a:bodyPr wrap="square"/>
                    <a:lstStyle/>
                    <a:p>
                      <a:pPr algn="ctr">
                        <a:defRPr sz="1200" b="0">
                          <a:solidFill>
                            <a:srgbClr val="333333"/>
                          </a:solidFill>
                          <a:latin typeface="Calibri"/>
                        </a:defRPr>
                      </a:pPr>
                      <a:r>
                        <a:t>0.413</a:t>
                      </a:r>
                    </a:p>
                  </a:txBody>
                  <a:tcPr marL="45720" marR="45720" marT="9144" marB="9144" anchor="ctr"/>
                </a:tc>
                <a:tc>
                  <a:txBody>
                    <a:bodyPr wrap="square"/>
                    <a:lstStyle/>
                    <a:p>
                      <a:pPr algn="ctr">
                        <a:defRPr sz="1200" b="0">
                          <a:solidFill>
                            <a:srgbClr val="333333"/>
                          </a:solidFill>
                          <a:latin typeface="Calibri"/>
                        </a:defRPr>
                      </a:pPr>
                      <a:r>
                        <a:t>0.379</a:t>
                      </a:r>
                    </a:p>
                  </a:txBody>
                  <a:tcPr marL="45720" marR="45720" marT="9144" marB="9144" anchor="ctr"/>
                </a:tc>
                <a:tc>
                  <a:txBody>
                    <a:bodyPr wrap="square"/>
                    <a:lstStyle/>
                    <a:p>
                      <a:pPr algn="ctr">
                        <a:defRPr sz="1200" b="0">
                          <a:solidFill>
                            <a:srgbClr val="333333"/>
                          </a:solidFill>
                          <a:latin typeface="Calibri"/>
                        </a:defRPr>
                      </a:pPr>
                      <a:r>
                        <a:t>121</a:t>
                      </a:r>
                    </a:p>
                  </a:txBody>
                  <a:tcPr marL="45720" marR="45720" marT="9144" marB="9144" anchor="ctr"/>
                </a:tc>
              </a:tr>
              <a:tr h="329184">
                <a:tc>
                  <a:txBody>
                    <a:bodyPr wrap="square"/>
                    <a:lstStyle/>
                    <a:p>
                      <a:pPr algn="l">
                        <a:defRPr sz="1200" b="0">
                          <a:solidFill>
                            <a:srgbClr val="333333"/>
                          </a:solidFill>
                          <a:latin typeface="Calibri"/>
                        </a:defRPr>
                      </a:pPr>
                      <a:r>
                        <a:t>4</a:t>
                      </a:r>
                    </a:p>
                  </a:txBody>
                  <a:tcPr marL="45720" marR="45720" marT="9144" marB="9144" anchor="ctr">
                    <a:solidFill>
                      <a:srgbClr val="F2F2F2"/>
                    </a:solidFill>
                  </a:tcPr>
                </a:tc>
                <a:tc>
                  <a:txBody>
                    <a:bodyPr wrap="square"/>
                    <a:lstStyle/>
                    <a:p>
                      <a:pPr algn="ctr">
                        <a:defRPr sz="1200" b="0">
                          <a:solidFill>
                            <a:srgbClr val="333333"/>
                          </a:solidFill>
                          <a:latin typeface="Calibri"/>
                        </a:defRPr>
                      </a:pPr>
                      <a:r>
                        <a:t>31</a:t>
                      </a:r>
                    </a:p>
                  </a:txBody>
                  <a:tcPr marL="45720" marR="45720" marT="9144" marB="9144" anchor="ctr">
                    <a:solidFill>
                      <a:srgbClr val="F2F2F2"/>
                    </a:solidFill>
                  </a:tcPr>
                </a:tc>
                <a:tc>
                  <a:txBody>
                    <a:bodyPr wrap="square"/>
                    <a:lstStyle/>
                    <a:p>
                      <a:pPr algn="ctr">
                        <a:defRPr sz="1200" b="0">
                          <a:solidFill>
                            <a:srgbClr val="333333"/>
                          </a:solidFill>
                          <a:latin typeface="Calibri"/>
                        </a:defRPr>
                      </a:pPr>
                      <a:r>
                        <a:t>13</a:t>
                      </a:r>
                    </a:p>
                  </a:txBody>
                  <a:tcPr marL="45720" marR="45720" marT="9144" marB="9144" anchor="ctr">
                    <a:solidFill>
                      <a:srgbClr val="F2F2F2"/>
                    </a:solidFill>
                  </a:tcPr>
                </a:tc>
                <a:tc>
                  <a:txBody>
                    <a:bodyPr wrap="square"/>
                    <a:lstStyle/>
                    <a:p>
                      <a:pPr algn="ctr">
                        <a:defRPr sz="1200" b="0">
                          <a:solidFill>
                            <a:srgbClr val="333333"/>
                          </a:solidFill>
                          <a:latin typeface="Calibri"/>
                        </a:defRPr>
                      </a:pPr>
                      <a:r>
                        <a:t>14</a:t>
                      </a:r>
                    </a:p>
                  </a:txBody>
                  <a:tcPr marL="45720" marR="45720" marT="9144" marB="9144" anchor="ctr">
                    <a:solidFill>
                      <a:srgbClr val="F2F2F2"/>
                    </a:solidFill>
                  </a:tcPr>
                </a:tc>
                <a:tc>
                  <a:txBody>
                    <a:bodyPr wrap="square"/>
                    <a:lstStyle/>
                    <a:p>
                      <a:pPr algn="ctr">
                        <a:defRPr sz="1200" b="0">
                          <a:solidFill>
                            <a:srgbClr val="333333"/>
                          </a:solidFill>
                          <a:latin typeface="Calibri"/>
                        </a:defRPr>
                      </a:pPr>
                      <a:r>
                        <a:t>86</a:t>
                      </a:r>
                    </a:p>
                  </a:txBody>
                  <a:tcPr marL="45720" marR="45720" marT="9144" marB="9144" anchor="ctr">
                    <a:solidFill>
                      <a:srgbClr val="F2F2F2"/>
                    </a:solidFill>
                  </a:tcPr>
                </a:tc>
                <a:tc>
                  <a:txBody>
                    <a:bodyPr wrap="square"/>
                    <a:lstStyle/>
                    <a:p>
                      <a:pPr algn="ctr">
                        <a:defRPr sz="1200" b="0">
                          <a:solidFill>
                            <a:srgbClr val="333333"/>
                          </a:solidFill>
                          <a:latin typeface="Calibri"/>
                        </a:defRPr>
                      </a:pPr>
                      <a:r>
                        <a:t>13</a:t>
                      </a:r>
                    </a:p>
                  </a:txBody>
                  <a:tcPr marL="45720" marR="45720" marT="9144" marB="9144" anchor="ctr">
                    <a:solidFill>
                      <a:srgbClr val="F2F2F2"/>
                    </a:solidFill>
                  </a:tcPr>
                </a:tc>
                <a:tc>
                  <a:txBody>
                    <a:bodyPr wrap="square"/>
                    <a:lstStyle/>
                    <a:p>
                      <a:pPr algn="ctr">
                        <a:defRPr sz="1200" b="0">
                          <a:solidFill>
                            <a:srgbClr val="333333"/>
                          </a:solidFill>
                          <a:latin typeface="Calibri"/>
                        </a:defRPr>
                      </a:pPr>
                      <a:r>
                        <a:t>0.411</a:t>
                      </a:r>
                    </a:p>
                  </a:txBody>
                  <a:tcPr marL="45720" marR="45720" marT="9144" marB="9144" anchor="ctr">
                    <a:solidFill>
                      <a:srgbClr val="F2F2F2"/>
                    </a:solidFill>
                  </a:tcPr>
                </a:tc>
                <a:tc>
                  <a:txBody>
                    <a:bodyPr wrap="square"/>
                    <a:lstStyle/>
                    <a:p>
                      <a:pPr algn="ctr">
                        <a:defRPr sz="1200" b="0">
                          <a:solidFill>
                            <a:srgbClr val="333333"/>
                          </a:solidFill>
                          <a:latin typeface="Calibri"/>
                        </a:defRPr>
                      </a:pPr>
                      <a:r>
                        <a:t>0.548</a:t>
                      </a:r>
                    </a:p>
                  </a:txBody>
                  <a:tcPr marL="45720" marR="45720" marT="9144" marB="9144" anchor="ctr">
                    <a:solidFill>
                      <a:srgbClr val="F2F2F2"/>
                    </a:solidFill>
                  </a:tcPr>
                </a:tc>
                <a:tc>
                  <a:txBody>
                    <a:bodyPr wrap="square"/>
                    <a:lstStyle/>
                    <a:p>
                      <a:pPr algn="ctr">
                        <a:defRPr sz="1200" b="0">
                          <a:solidFill>
                            <a:srgbClr val="333333"/>
                          </a:solidFill>
                          <a:latin typeface="Calibri"/>
                        </a:defRPr>
                      </a:pPr>
                      <a:r>
                        <a:t>0.470</a:t>
                      </a:r>
                    </a:p>
                  </a:txBody>
                  <a:tcPr marL="45720" marR="45720" marT="9144" marB="9144" anchor="ctr">
                    <a:solidFill>
                      <a:srgbClr val="F2F2F2"/>
                    </a:solidFill>
                  </a:tcPr>
                </a:tc>
                <a:tc>
                  <a:txBody>
                    <a:bodyPr wrap="square"/>
                    <a:lstStyle/>
                    <a:p>
                      <a:pPr algn="ctr">
                        <a:defRPr sz="1200" b="0">
                          <a:solidFill>
                            <a:srgbClr val="333333"/>
                          </a:solidFill>
                          <a:latin typeface="Calibri"/>
                        </a:defRPr>
                      </a:pPr>
                      <a:r>
                        <a:t>157</a:t>
                      </a:r>
                    </a:p>
                  </a:txBody>
                  <a:tcPr marL="45720" marR="45720" marT="9144" marB="9144" anchor="ctr">
                    <a:solidFill>
                      <a:srgbClr val="F2F2F2"/>
                    </a:solidFill>
                  </a:tcPr>
                </a:tc>
              </a:tr>
              <a:tr h="329184">
                <a:tc>
                  <a:txBody>
                    <a:bodyPr wrap="square"/>
                    <a:lstStyle/>
                    <a:p>
                      <a:pPr algn="l">
                        <a:defRPr sz="1200" b="0">
                          <a:solidFill>
                            <a:srgbClr val="333333"/>
                          </a:solidFill>
                          <a:latin typeface="Calibri"/>
                        </a:defRPr>
                      </a:pPr>
                      <a:r>
                        <a:t>5</a:t>
                      </a:r>
                    </a:p>
                  </a:txBody>
                  <a:tcPr marL="45720" marR="45720" marT="9144" marB="9144" anchor="ctr"/>
                </a:tc>
                <a:tc>
                  <a:txBody>
                    <a:bodyPr wrap="square"/>
                    <a:lstStyle/>
                    <a:p>
                      <a:pPr algn="ctr">
                        <a:defRPr sz="1200" b="0">
                          <a:solidFill>
                            <a:srgbClr val="333333"/>
                          </a:solidFill>
                          <a:latin typeface="Calibri"/>
                        </a:defRPr>
                      </a:pPr>
                      <a:r>
                        <a:t>11</a:t>
                      </a:r>
                    </a:p>
                  </a:txBody>
                  <a:tcPr marL="45720" marR="45720" marT="9144" marB="9144" anchor="ctr"/>
                </a:tc>
                <a:tc>
                  <a:txBody>
                    <a:bodyPr wrap="square"/>
                    <a:lstStyle/>
                    <a:p>
                      <a:pPr algn="ctr">
                        <a:defRPr sz="1200" b="0">
                          <a:solidFill>
                            <a:srgbClr val="333333"/>
                          </a:solidFill>
                          <a:latin typeface="Calibri"/>
                        </a:defRPr>
                      </a:pPr>
                      <a:r>
                        <a:t>9</a:t>
                      </a:r>
                    </a:p>
                  </a:txBody>
                  <a:tcPr marL="45720" marR="45720" marT="9144" marB="9144" anchor="ctr"/>
                </a:tc>
                <a:tc>
                  <a:txBody>
                    <a:bodyPr wrap="square"/>
                    <a:lstStyle/>
                    <a:p>
                      <a:pPr algn="ctr">
                        <a:defRPr sz="1200" b="0">
                          <a:solidFill>
                            <a:srgbClr val="333333"/>
                          </a:solidFill>
                          <a:latin typeface="Calibri"/>
                        </a:defRPr>
                      </a:pPr>
                      <a:r>
                        <a:t>4</a:t>
                      </a:r>
                    </a:p>
                  </a:txBody>
                  <a:tcPr marL="45720" marR="45720" marT="9144" marB="9144" anchor="ctr"/>
                </a:tc>
                <a:tc>
                  <a:txBody>
                    <a:bodyPr wrap="square"/>
                    <a:lstStyle/>
                    <a:p>
                      <a:pPr algn="ctr">
                        <a:defRPr sz="1200" b="0">
                          <a:solidFill>
                            <a:srgbClr val="333333"/>
                          </a:solidFill>
                          <a:latin typeface="Calibri"/>
                        </a:defRPr>
                      </a:pPr>
                      <a:r>
                        <a:t>43</a:t>
                      </a:r>
                    </a:p>
                  </a:txBody>
                  <a:tcPr marL="45720" marR="45720" marT="9144" marB="9144" anchor="ctr"/>
                </a:tc>
                <a:tc>
                  <a:txBody>
                    <a:bodyPr wrap="square"/>
                    <a:lstStyle/>
                    <a:p>
                      <a:pPr algn="ctr">
                        <a:defRPr sz="1200" b="0">
                          <a:solidFill>
                            <a:srgbClr val="333333"/>
                          </a:solidFill>
                          <a:latin typeface="Calibri"/>
                        </a:defRPr>
                      </a:pPr>
                      <a:r>
                        <a:t>605</a:t>
                      </a:r>
                    </a:p>
                  </a:txBody>
                  <a:tcPr marL="45720" marR="45720" marT="9144" marB="9144" anchor="ctr"/>
                </a:tc>
                <a:tc>
                  <a:txBody>
                    <a:bodyPr wrap="square"/>
                    <a:lstStyle/>
                    <a:p>
                      <a:pPr algn="ctr">
                        <a:defRPr sz="1200" b="0">
                          <a:solidFill>
                            <a:srgbClr val="333333"/>
                          </a:solidFill>
                          <a:latin typeface="Calibri"/>
                        </a:defRPr>
                      </a:pPr>
                      <a:r>
                        <a:t>0.951</a:t>
                      </a:r>
                    </a:p>
                  </a:txBody>
                  <a:tcPr marL="45720" marR="45720" marT="9144" marB="9144" anchor="ctr"/>
                </a:tc>
                <a:tc>
                  <a:txBody>
                    <a:bodyPr wrap="square"/>
                    <a:lstStyle/>
                    <a:p>
                      <a:pPr algn="ctr">
                        <a:defRPr sz="1200" b="0">
                          <a:solidFill>
                            <a:srgbClr val="333333"/>
                          </a:solidFill>
                          <a:latin typeface="Calibri"/>
                        </a:defRPr>
                      </a:pPr>
                      <a:r>
                        <a:t>0.900</a:t>
                      </a:r>
                    </a:p>
                  </a:txBody>
                  <a:tcPr marL="45720" marR="45720" marT="9144" marB="9144" anchor="ctr"/>
                </a:tc>
                <a:tc>
                  <a:txBody>
                    <a:bodyPr wrap="square"/>
                    <a:lstStyle/>
                    <a:p>
                      <a:pPr algn="ctr">
                        <a:defRPr sz="1200" b="0">
                          <a:solidFill>
                            <a:srgbClr val="333333"/>
                          </a:solidFill>
                          <a:latin typeface="Calibri"/>
                        </a:defRPr>
                      </a:pPr>
                      <a:r>
                        <a:t>0.925</a:t>
                      </a:r>
                    </a:p>
                  </a:txBody>
                  <a:tcPr marL="45720" marR="45720" marT="9144" marB="9144" anchor="ctr"/>
                </a:tc>
                <a:tc>
                  <a:txBody>
                    <a:bodyPr wrap="square"/>
                    <a:lstStyle/>
                    <a:p>
                      <a:pPr algn="ctr">
                        <a:defRPr sz="1200" b="0">
                          <a:solidFill>
                            <a:srgbClr val="333333"/>
                          </a:solidFill>
                          <a:latin typeface="Calibri"/>
                        </a:defRPr>
                      </a:pPr>
                      <a:r>
                        <a:t>672</a:t>
                      </a:r>
                    </a:p>
                  </a:txBody>
                  <a:tcPr marL="45720" marR="45720" marT="9144" marB="9144" anchor="ctr"/>
                </a:tc>
              </a:tr>
            </a:tbl>
          </a:graphicData>
        </a:graphic>
      </p:graphicFrame>
      <p:sp>
        <p:nvSpPr>
          <p:cNvPr id="10" name="TextBox 9"/>
          <p:cNvSpPr txBox="1"/>
          <p:nvPr/>
        </p:nvSpPr>
        <p:spPr>
          <a:xfrm>
            <a:off x="548640" y="6035040"/>
            <a:ext cx="11064240" cy="640080"/>
          </a:xfrm>
          <a:prstGeom prst="rect">
            <a:avLst/>
          </a:prstGeom>
          <a:noFill/>
        </p:spPr>
        <p:txBody>
          <a:bodyPr wrap="square" lIns="64008" rIns="64008" tIns="18288" bIns="18288">
            <a:noAutofit/>
          </a:bodyPr>
          <a:lstStyle/>
          <a:p>
            <a:pPr algn="l">
              <a:lnSpc>
                <a:spcPct val="120000"/>
              </a:lnSpc>
              <a:spcAft>
                <a:spcPts val="700"/>
              </a:spcAft>
              <a:defRPr sz="1300" b="0" i="0">
                <a:solidFill>
                  <a:srgbClr val="002B5C"/>
                </a:solidFill>
                <a:latin typeface="Calibri"/>
              </a:defRPr>
            </a:pPr>
            <a:r>
              <a:t>Rows are true debt groups, columns predicted. Unweighted: errors are concentrated, not spread across adjacent groups — 68 true Group-3 and 59 true Group-4 loans go to Group 1, which is under-classification a provisioning process cannot absorb quietly. Weighted: 323 Group-1 loans are pushed into Group 2, which is where its Group-2 precision of 0.245 comes from.</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118872"/>
            <a:ext cx="10332720" cy="475488"/>
          </a:xfrm>
          <a:prstGeom prst="rect">
            <a:avLst/>
          </a:prstGeom>
          <a:noFill/>
        </p:spPr>
        <p:txBody>
          <a:bodyPr wrap="square" lIns="64008" rIns="64008" tIns="18288" bIns="18288">
            <a:noAutofit/>
          </a:bodyPr>
          <a:lstStyle/>
          <a:p>
            <a:pPr algn="l">
              <a:lnSpc>
                <a:spcPct val="105000"/>
              </a:lnSpc>
              <a:spcAft>
                <a:spcPts val="400"/>
              </a:spcAft>
              <a:defRPr sz="2800" b="1" i="0">
                <a:solidFill>
                  <a:srgbClr val="FFFFFF"/>
                </a:solidFill>
                <a:latin typeface="Calibri"/>
              </a:defRPr>
            </a:pPr>
            <a:r>
              <a:t>B4 — DAYS_TO_MATURITY Ablation</a:t>
            </a:r>
          </a:p>
        </p:txBody>
      </p:sp>
      <p:sp>
        <p:nvSpPr>
          <p:cNvPr id="4" name="TextBox 3"/>
          <p:cNvSpPr txBox="1"/>
          <p:nvPr/>
        </p:nvSpPr>
        <p:spPr>
          <a:xfrm>
            <a:off x="548640" y="621792"/>
            <a:ext cx="10332720" cy="329184"/>
          </a:xfrm>
          <a:prstGeom prst="rect">
            <a:avLst/>
          </a:prstGeom>
          <a:noFill/>
        </p:spPr>
        <p:txBody>
          <a:bodyPr wrap="square" lIns="64008" rIns="64008" tIns="18288" bIns="18288">
            <a:noAutofit/>
          </a:bodyPr>
          <a:lstStyle/>
          <a:p>
            <a:pPr algn="l">
              <a:lnSpc>
                <a:spcPct val="100000"/>
              </a:lnSpc>
              <a:spcAft>
                <a:spcPts val="400"/>
              </a:spcAft>
              <a:defRPr sz="1500" b="0" i="0">
                <a:solidFill>
                  <a:srgbClr val="BBDBF5"/>
                </a:solidFill>
                <a:latin typeface="Calibri"/>
              </a:defRPr>
            </a:pPr>
            <a:r>
              <a:t>Table 6 — refitting the main configuration with the dominant predictor removed</a:t>
            </a:r>
          </a:p>
        </p:txBody>
      </p:sp>
      <p:sp>
        <p:nvSpPr>
          <p:cNvPr id="5" name="TextBox 4"/>
          <p:cNvSpPr txBox="1"/>
          <p:nvPr/>
        </p:nvSpPr>
        <p:spPr>
          <a:xfrm>
            <a:off x="11201400" y="137160"/>
            <a:ext cx="777240" cy="365760"/>
          </a:xfrm>
          <a:prstGeom prst="rect">
            <a:avLst/>
          </a:prstGeom>
          <a:noFill/>
        </p:spPr>
        <p:txBody>
          <a:bodyPr wrap="square" lIns="64008" rIns="64008" tIns="18288" bIns="18288">
            <a:noAutofit/>
          </a:bodyPr>
          <a:lstStyle/>
          <a:p>
            <a:pPr algn="r">
              <a:spcAft>
                <a:spcPts val="400"/>
              </a:spcAft>
              <a:defRPr sz="1400" b="0" i="0">
                <a:solidFill>
                  <a:srgbClr val="FFFFFF"/>
                </a:solidFill>
                <a:latin typeface="Calibri"/>
              </a:defRPr>
            </a:pPr>
            <a:r>
              <a:t>B4</a:t>
            </a:r>
          </a:p>
        </p:txBody>
      </p:sp>
      <p:graphicFrame>
        <p:nvGraphicFramePr>
          <p:cNvPr id="6" name="Table 5"/>
          <p:cNvGraphicFramePr>
            <a:graphicFrameLocks noGrp="1"/>
          </p:cNvGraphicFramePr>
          <p:nvPr/>
        </p:nvGraphicFramePr>
        <p:xfrm>
          <a:off x="548640" y="1280160"/>
          <a:ext cx="11064240" cy="2377440"/>
        </p:xfrm>
        <a:graphic>
          <a:graphicData uri="http://schemas.openxmlformats.org/drawingml/2006/table">
            <a:tbl>
              <a:tblPr firstRow="1" bandRow="1">
                <a:tableStyleId>{5C22544A-7EE6-4342-B048-85BDC9FD1C3A}</a:tableStyleId>
              </a:tblPr>
              <a:tblGrid>
                <a:gridCol w="1691640"/>
                <a:gridCol w="1965960"/>
                <a:gridCol w="1920240"/>
                <a:gridCol w="2560320"/>
                <a:gridCol w="2011680"/>
                <a:gridCol w="914400"/>
              </a:tblGrid>
              <a:tr h="475488">
                <a:tc>
                  <a:txBody>
                    <a:bodyPr wrap="square"/>
                    <a:lstStyle/>
                    <a:p>
                      <a:pPr algn="ctr">
                        <a:defRPr sz="1300" b="1">
                          <a:solidFill>
                            <a:srgbClr val="FFFFFF"/>
                          </a:solidFill>
                          <a:latin typeface="Calibri"/>
                        </a:defRPr>
                      </a:pPr>
                      <a:r>
                        <a:t>Model</a:t>
                      </a:r>
                    </a:p>
                  </a:txBody>
                  <a:tcPr marL="45720" marR="45720" marT="9144" marB="9144" anchor="ctr">
                    <a:solidFill>
                      <a:srgbClr val="002B5C"/>
                    </a:solidFill>
                  </a:tcPr>
                </a:tc>
                <a:tc>
                  <a:txBody>
                    <a:bodyPr wrap="square"/>
                    <a:lstStyle/>
                    <a:p>
                      <a:pPr algn="ctr">
                        <a:defRPr sz="1300" b="1">
                          <a:solidFill>
                            <a:srgbClr val="FFFFFF"/>
                          </a:solidFill>
                          <a:latin typeface="Calibri"/>
                        </a:defRPr>
                      </a:pPr>
                      <a:r>
                        <a:t>Treatment</a:t>
                      </a:r>
                    </a:p>
                  </a:txBody>
                  <a:tcPr marL="45720" marR="45720" marT="9144" marB="9144" anchor="ctr">
                    <a:solidFill>
                      <a:srgbClr val="002B5C"/>
                    </a:solidFill>
                  </a:tcPr>
                </a:tc>
                <a:tc>
                  <a:txBody>
                    <a:bodyPr wrap="square"/>
                    <a:lstStyle/>
                    <a:p>
                      <a:pPr algn="ctr">
                        <a:defRPr sz="1300" b="1">
                          <a:solidFill>
                            <a:srgbClr val="FFFFFF"/>
                          </a:solidFill>
                          <a:latin typeface="Calibri"/>
                        </a:defRPr>
                      </a:pPr>
                      <a:r>
                        <a:t>Macro-F1</a:t>
                      </a:r>
                    </a:p>
                    <a:p>
                      <a:pPr algn="ctr">
                        <a:defRPr sz="1300" b="1">
                          <a:solidFill>
                            <a:srgbClr val="FFFFFF"/>
                          </a:solidFill>
                          <a:latin typeface="Calibri"/>
                        </a:defRPr>
                      </a:pPr>
                      <a:r>
                        <a:t>(11 feat.)</a:t>
                      </a:r>
                    </a:p>
                  </a:txBody>
                  <a:tcPr marL="45720" marR="45720" marT="9144" marB="9144" anchor="ctr">
                    <a:solidFill>
                      <a:srgbClr val="002B5C"/>
                    </a:solidFill>
                  </a:tcPr>
                </a:tc>
                <a:tc>
                  <a:txBody>
                    <a:bodyPr wrap="square"/>
                    <a:lstStyle/>
                    <a:p>
                      <a:pPr algn="ctr">
                        <a:defRPr sz="1300" b="1">
                          <a:solidFill>
                            <a:srgbClr val="FFFFFF"/>
                          </a:solidFill>
                          <a:latin typeface="Calibri"/>
                        </a:defRPr>
                      </a:pPr>
                      <a:r>
                        <a:t>Macro-F1</a:t>
                      </a:r>
                    </a:p>
                    <a:p>
                      <a:pPr algn="ctr">
                        <a:defRPr sz="1300" b="1">
                          <a:solidFill>
                            <a:srgbClr val="FFFFFF"/>
                          </a:solidFill>
                          <a:latin typeface="Calibri"/>
                        </a:defRPr>
                      </a:pPr>
                      <a:r>
                        <a:t>(10 feat., no DTM)</a:t>
                      </a:r>
                    </a:p>
                  </a:txBody>
                  <a:tcPr marL="45720" marR="45720" marT="9144" marB="9144" anchor="ctr">
                    <a:solidFill>
                      <a:srgbClr val="002B5C"/>
                    </a:solidFill>
                  </a:tcPr>
                </a:tc>
                <a:tc>
                  <a:txBody>
                    <a:bodyPr wrap="square"/>
                    <a:lstStyle/>
                    <a:p>
                      <a:pPr algn="ctr">
                        <a:defRPr sz="1300" b="1">
                          <a:solidFill>
                            <a:srgbClr val="FFFFFF"/>
                          </a:solidFill>
                          <a:latin typeface="Calibri"/>
                        </a:defRPr>
                      </a:pPr>
                      <a:r>
                        <a:t>Change</a:t>
                      </a:r>
                    </a:p>
                  </a:txBody>
                  <a:tcPr marL="45720" marR="45720" marT="9144" marB="9144" anchor="ctr">
                    <a:solidFill>
                      <a:srgbClr val="002B5C"/>
                    </a:solidFill>
                  </a:tcPr>
                </a:tc>
                <a:tc>
                  <a:txBody>
                    <a:bodyPr wrap="square"/>
                    <a:lstStyle/>
                    <a:p>
                      <a:pPr algn="ctr">
                        <a:defRPr sz="1300" b="1">
                          <a:solidFill>
                            <a:srgbClr val="FFFFFF"/>
                          </a:solidFill>
                          <a:latin typeface="Calibri"/>
                        </a:defRPr>
                      </a:pPr>
                      <a:r>
                        <a:t>ROC-AUC</a:t>
                      </a:r>
                    </a:p>
                    <a:p>
                      <a:pPr algn="ctr">
                        <a:defRPr sz="1300" b="1">
                          <a:solidFill>
                            <a:srgbClr val="FFFFFF"/>
                          </a:solidFill>
                          <a:latin typeface="Calibri"/>
                        </a:defRPr>
                      </a:pPr>
                      <a:r>
                        <a:t>(10 feat.)</a:t>
                      </a:r>
                    </a:p>
                  </a:txBody>
                  <a:tcPr marL="45720" marR="45720" marT="9144" marB="9144" anchor="ctr">
                    <a:solidFill>
                      <a:srgbClr val="002B5C"/>
                    </a:solidFill>
                  </a:tcPr>
                </a:tc>
              </a:tr>
              <a:tr h="475488">
                <a:tc>
                  <a:txBody>
                    <a:bodyPr wrap="square"/>
                    <a:lstStyle/>
                    <a:p>
                      <a:pPr algn="l">
                        <a:defRPr sz="1300" b="0">
                          <a:solidFill>
                            <a:srgbClr val="333333"/>
                          </a:solidFill>
                          <a:latin typeface="Calibri"/>
                        </a:defRPr>
                      </a:pPr>
                      <a:r>
                        <a:t>XGBoost</a:t>
                      </a:r>
                    </a:p>
                  </a:txBody>
                  <a:tcPr marL="45720" marR="45720" marT="9144" marB="9144" anchor="ctr"/>
                </a:tc>
                <a:tc>
                  <a:txBody>
                    <a:bodyPr wrap="square"/>
                    <a:lstStyle/>
                    <a:p>
                      <a:pPr algn="ctr">
                        <a:defRPr sz="1300" b="0">
                          <a:solidFill>
                            <a:srgbClr val="333333"/>
                          </a:solidFill>
                          <a:latin typeface="Calibri"/>
                        </a:defRPr>
                      </a:pPr>
                      <a:r>
                        <a:t>No weighting</a:t>
                      </a:r>
                    </a:p>
                  </a:txBody>
                  <a:tcPr marL="45720" marR="45720" marT="9144" marB="9144" anchor="ctr"/>
                </a:tc>
                <a:tc>
                  <a:txBody>
                    <a:bodyPr wrap="square"/>
                    <a:lstStyle/>
                    <a:p>
                      <a:pPr algn="ctr">
                        <a:defRPr sz="1300" b="0">
                          <a:solidFill>
                            <a:srgbClr val="333333"/>
                          </a:solidFill>
                          <a:latin typeface="Calibri"/>
                        </a:defRPr>
                      </a:pPr>
                      <a:r>
                        <a:t>0.6197</a:t>
                      </a:r>
                    </a:p>
                  </a:txBody>
                  <a:tcPr marL="45720" marR="45720" marT="9144" marB="9144" anchor="ctr"/>
                </a:tc>
                <a:tc>
                  <a:txBody>
                    <a:bodyPr wrap="square"/>
                    <a:lstStyle/>
                    <a:p>
                      <a:pPr algn="ctr">
                        <a:defRPr sz="1300" b="0">
                          <a:solidFill>
                            <a:srgbClr val="333333"/>
                          </a:solidFill>
                          <a:latin typeface="Calibri"/>
                        </a:defRPr>
                      </a:pPr>
                      <a:r>
                        <a:t>0.4776</a:t>
                      </a:r>
                    </a:p>
                  </a:txBody>
                  <a:tcPr marL="45720" marR="45720" marT="9144" marB="9144" anchor="ctr"/>
                </a:tc>
                <a:tc>
                  <a:txBody>
                    <a:bodyPr wrap="square"/>
                    <a:lstStyle/>
                    <a:p>
                      <a:pPr algn="ctr">
                        <a:defRPr sz="1300" b="0">
                          <a:solidFill>
                            <a:srgbClr val="333333"/>
                          </a:solidFill>
                          <a:latin typeface="Calibri"/>
                        </a:defRPr>
                      </a:pPr>
                      <a:r>
                        <a:t>−0.1421  (−22.9%)</a:t>
                      </a:r>
                    </a:p>
                  </a:txBody>
                  <a:tcPr marL="45720" marR="45720" marT="9144" marB="9144" anchor="ctr"/>
                </a:tc>
                <a:tc>
                  <a:txBody>
                    <a:bodyPr wrap="square"/>
                    <a:lstStyle/>
                    <a:p>
                      <a:pPr algn="ctr">
                        <a:defRPr sz="1300" b="0">
                          <a:solidFill>
                            <a:srgbClr val="333333"/>
                          </a:solidFill>
                          <a:latin typeface="Calibri"/>
                        </a:defRPr>
                      </a:pPr>
                      <a:r>
                        <a:t>0.8892</a:t>
                      </a:r>
                    </a:p>
                  </a:txBody>
                  <a:tcPr marL="45720" marR="45720" marT="9144" marB="9144" anchor="ctr"/>
                </a:tc>
              </a:tr>
              <a:tr h="475488">
                <a:tc>
                  <a:txBody>
                    <a:bodyPr wrap="square"/>
                    <a:lstStyle/>
                    <a:p>
                      <a:pPr algn="l">
                        <a:defRPr sz="1300" b="0">
                          <a:solidFill>
                            <a:srgbClr val="333333"/>
                          </a:solidFill>
                          <a:latin typeface="Calibri"/>
                        </a:defRPr>
                      </a:pPr>
                      <a:r>
                        <a:t>XGBoost</a:t>
                      </a:r>
                    </a:p>
                  </a:txBody>
                  <a:tcPr marL="45720" marR="45720" marT="9144" marB="9144" anchor="ctr">
                    <a:solidFill>
                      <a:srgbClr val="F2F2F2"/>
                    </a:solidFill>
                  </a:tcPr>
                </a:tc>
                <a:tc>
                  <a:txBody>
                    <a:bodyPr wrap="square"/>
                    <a:lstStyle/>
                    <a:p>
                      <a:pPr algn="ctr">
                        <a:defRPr sz="1300" b="0">
                          <a:solidFill>
                            <a:srgbClr val="333333"/>
                          </a:solidFill>
                          <a:latin typeface="Calibri"/>
                        </a:defRPr>
                      </a:pPr>
                      <a:r>
                        <a:t>Class weighting</a:t>
                      </a:r>
                    </a:p>
                  </a:txBody>
                  <a:tcPr marL="45720" marR="45720" marT="9144" marB="9144" anchor="ctr">
                    <a:solidFill>
                      <a:srgbClr val="F2F2F2"/>
                    </a:solidFill>
                  </a:tcPr>
                </a:tc>
                <a:tc>
                  <a:txBody>
                    <a:bodyPr wrap="square"/>
                    <a:lstStyle/>
                    <a:p>
                      <a:pPr algn="ctr">
                        <a:defRPr sz="1300" b="0">
                          <a:solidFill>
                            <a:srgbClr val="333333"/>
                          </a:solidFill>
                          <a:latin typeface="Calibri"/>
                        </a:defRPr>
                      </a:pPr>
                      <a:r>
                        <a:t>0.5966</a:t>
                      </a:r>
                    </a:p>
                  </a:txBody>
                  <a:tcPr marL="45720" marR="45720" marT="9144" marB="9144" anchor="ctr">
                    <a:solidFill>
                      <a:srgbClr val="F2F2F2"/>
                    </a:solidFill>
                  </a:tcPr>
                </a:tc>
                <a:tc>
                  <a:txBody>
                    <a:bodyPr wrap="square"/>
                    <a:lstStyle/>
                    <a:p>
                      <a:pPr algn="ctr">
                        <a:defRPr sz="1300" b="0">
                          <a:solidFill>
                            <a:srgbClr val="333333"/>
                          </a:solidFill>
                          <a:latin typeface="Calibri"/>
                        </a:defRPr>
                      </a:pPr>
                      <a:r>
                        <a:t>0.4995</a:t>
                      </a:r>
                    </a:p>
                  </a:txBody>
                  <a:tcPr marL="45720" marR="45720" marT="9144" marB="9144" anchor="ctr">
                    <a:solidFill>
                      <a:srgbClr val="F2F2F2"/>
                    </a:solidFill>
                  </a:tcPr>
                </a:tc>
                <a:tc>
                  <a:txBody>
                    <a:bodyPr wrap="square"/>
                    <a:lstStyle/>
                    <a:p>
                      <a:pPr algn="ctr">
                        <a:defRPr sz="1300" b="0">
                          <a:solidFill>
                            <a:srgbClr val="333333"/>
                          </a:solidFill>
                          <a:latin typeface="Calibri"/>
                        </a:defRPr>
                      </a:pPr>
                      <a:r>
                        <a:t>−0.0971  (−16.3%)</a:t>
                      </a:r>
                    </a:p>
                  </a:txBody>
                  <a:tcPr marL="45720" marR="45720" marT="9144" marB="9144" anchor="ctr">
                    <a:solidFill>
                      <a:srgbClr val="F2F2F2"/>
                    </a:solidFill>
                  </a:tcPr>
                </a:tc>
                <a:tc>
                  <a:txBody>
                    <a:bodyPr wrap="square"/>
                    <a:lstStyle/>
                    <a:p>
                      <a:pPr algn="ctr">
                        <a:defRPr sz="1300" b="0">
                          <a:solidFill>
                            <a:srgbClr val="333333"/>
                          </a:solidFill>
                          <a:latin typeface="Calibri"/>
                        </a:defRPr>
                      </a:pPr>
                      <a:r>
                        <a:t>0.8693</a:t>
                      </a:r>
                    </a:p>
                  </a:txBody>
                  <a:tcPr marL="45720" marR="45720" marT="9144" marB="9144" anchor="ctr">
                    <a:solidFill>
                      <a:srgbClr val="F2F2F2"/>
                    </a:solidFill>
                  </a:tcPr>
                </a:tc>
              </a:tr>
              <a:tr h="475488">
                <a:tc>
                  <a:txBody>
                    <a:bodyPr wrap="square"/>
                    <a:lstStyle/>
                    <a:p>
                      <a:pPr algn="l">
                        <a:defRPr sz="1300" b="0">
                          <a:solidFill>
                            <a:srgbClr val="333333"/>
                          </a:solidFill>
                          <a:latin typeface="Calibri"/>
                        </a:defRPr>
                      </a:pPr>
                      <a:r>
                        <a:t>LightGBM</a:t>
                      </a:r>
                    </a:p>
                  </a:txBody>
                  <a:tcPr marL="45720" marR="45720" marT="9144" marB="9144" anchor="ctr"/>
                </a:tc>
                <a:tc>
                  <a:txBody>
                    <a:bodyPr wrap="square"/>
                    <a:lstStyle/>
                    <a:p>
                      <a:pPr algn="ctr">
                        <a:defRPr sz="1300" b="0">
                          <a:solidFill>
                            <a:srgbClr val="333333"/>
                          </a:solidFill>
                          <a:latin typeface="Calibri"/>
                        </a:defRPr>
                      </a:pPr>
                      <a:r>
                        <a:t>No weighting</a:t>
                      </a:r>
                    </a:p>
                  </a:txBody>
                  <a:tcPr marL="45720" marR="45720" marT="9144" marB="9144" anchor="ctr"/>
                </a:tc>
                <a:tc>
                  <a:txBody>
                    <a:bodyPr wrap="square"/>
                    <a:lstStyle/>
                    <a:p>
                      <a:pPr algn="ctr">
                        <a:defRPr sz="1300" b="0">
                          <a:solidFill>
                            <a:srgbClr val="333333"/>
                          </a:solidFill>
                          <a:latin typeface="Calibri"/>
                        </a:defRPr>
                      </a:pPr>
                      <a:r>
                        <a:t>0.6248</a:t>
                      </a:r>
                    </a:p>
                  </a:txBody>
                  <a:tcPr marL="45720" marR="45720" marT="9144" marB="9144" anchor="ctr"/>
                </a:tc>
                <a:tc>
                  <a:txBody>
                    <a:bodyPr wrap="square"/>
                    <a:lstStyle/>
                    <a:p>
                      <a:pPr algn="ctr">
                        <a:defRPr sz="1300" b="0">
                          <a:solidFill>
                            <a:srgbClr val="333333"/>
                          </a:solidFill>
                          <a:latin typeface="Calibri"/>
                        </a:defRPr>
                      </a:pPr>
                      <a:r>
                        <a:t>0.4823</a:t>
                      </a:r>
                    </a:p>
                  </a:txBody>
                  <a:tcPr marL="45720" marR="45720" marT="9144" marB="9144" anchor="ctr"/>
                </a:tc>
                <a:tc>
                  <a:txBody>
                    <a:bodyPr wrap="square"/>
                    <a:lstStyle/>
                    <a:p>
                      <a:pPr algn="ctr">
                        <a:defRPr sz="1300" b="0">
                          <a:solidFill>
                            <a:srgbClr val="333333"/>
                          </a:solidFill>
                          <a:latin typeface="Calibri"/>
                        </a:defRPr>
                      </a:pPr>
                      <a:r>
                        <a:t>−0.1424  (−22.8%)</a:t>
                      </a:r>
                    </a:p>
                  </a:txBody>
                  <a:tcPr marL="45720" marR="45720" marT="9144" marB="9144" anchor="ctr"/>
                </a:tc>
                <a:tc>
                  <a:txBody>
                    <a:bodyPr wrap="square"/>
                    <a:lstStyle/>
                    <a:p>
                      <a:pPr algn="ctr">
                        <a:defRPr sz="1300" b="0">
                          <a:solidFill>
                            <a:srgbClr val="333333"/>
                          </a:solidFill>
                          <a:latin typeface="Calibri"/>
                        </a:defRPr>
                      </a:pPr>
                      <a:r>
                        <a:t>0.8826</a:t>
                      </a:r>
                    </a:p>
                  </a:txBody>
                  <a:tcPr marL="45720" marR="45720" marT="9144" marB="9144" anchor="ctr"/>
                </a:tc>
              </a:tr>
              <a:tr h="475488">
                <a:tc>
                  <a:txBody>
                    <a:bodyPr wrap="square"/>
                    <a:lstStyle/>
                    <a:p>
                      <a:pPr algn="l">
                        <a:defRPr sz="1300" b="0">
                          <a:solidFill>
                            <a:srgbClr val="333333"/>
                          </a:solidFill>
                          <a:latin typeface="Calibri"/>
                        </a:defRPr>
                      </a:pPr>
                      <a:r>
                        <a:t>LightGBM</a:t>
                      </a:r>
                    </a:p>
                  </a:txBody>
                  <a:tcPr marL="45720" marR="45720" marT="9144" marB="9144" anchor="ctr">
                    <a:solidFill>
                      <a:srgbClr val="F2F2F2"/>
                    </a:solidFill>
                  </a:tcPr>
                </a:tc>
                <a:tc>
                  <a:txBody>
                    <a:bodyPr wrap="square"/>
                    <a:lstStyle/>
                    <a:p>
                      <a:pPr algn="ctr">
                        <a:defRPr sz="1300" b="0">
                          <a:solidFill>
                            <a:srgbClr val="333333"/>
                          </a:solidFill>
                          <a:latin typeface="Calibri"/>
                        </a:defRPr>
                      </a:pPr>
                      <a:r>
                        <a:t>Class weighting</a:t>
                      </a:r>
                    </a:p>
                  </a:txBody>
                  <a:tcPr marL="45720" marR="45720" marT="9144" marB="9144" anchor="ctr">
                    <a:solidFill>
                      <a:srgbClr val="F2F2F2"/>
                    </a:solidFill>
                  </a:tcPr>
                </a:tc>
                <a:tc>
                  <a:txBody>
                    <a:bodyPr wrap="square"/>
                    <a:lstStyle/>
                    <a:p>
                      <a:pPr algn="ctr">
                        <a:defRPr sz="1300" b="0">
                          <a:solidFill>
                            <a:srgbClr val="333333"/>
                          </a:solidFill>
                          <a:latin typeface="Calibri"/>
                        </a:defRPr>
                      </a:pPr>
                      <a:r>
                        <a:t>0.6044</a:t>
                      </a:r>
                    </a:p>
                  </a:txBody>
                  <a:tcPr marL="45720" marR="45720" marT="9144" marB="9144" anchor="ctr">
                    <a:solidFill>
                      <a:srgbClr val="F2F2F2"/>
                    </a:solidFill>
                  </a:tcPr>
                </a:tc>
                <a:tc>
                  <a:txBody>
                    <a:bodyPr wrap="square"/>
                    <a:lstStyle/>
                    <a:p>
                      <a:pPr algn="ctr">
                        <a:defRPr sz="1300" b="0">
                          <a:solidFill>
                            <a:srgbClr val="333333"/>
                          </a:solidFill>
                          <a:latin typeface="Calibri"/>
                        </a:defRPr>
                      </a:pPr>
                      <a:r>
                        <a:t>0.5052</a:t>
                      </a:r>
                    </a:p>
                  </a:txBody>
                  <a:tcPr marL="45720" marR="45720" marT="9144" marB="9144" anchor="ctr">
                    <a:solidFill>
                      <a:srgbClr val="F2F2F2"/>
                    </a:solidFill>
                  </a:tcPr>
                </a:tc>
                <a:tc>
                  <a:txBody>
                    <a:bodyPr wrap="square"/>
                    <a:lstStyle/>
                    <a:p>
                      <a:pPr algn="ctr">
                        <a:defRPr sz="1300" b="0">
                          <a:solidFill>
                            <a:srgbClr val="333333"/>
                          </a:solidFill>
                          <a:latin typeface="Calibri"/>
                        </a:defRPr>
                      </a:pPr>
                      <a:r>
                        <a:t>−0.0992  (−16.4%)</a:t>
                      </a:r>
                    </a:p>
                  </a:txBody>
                  <a:tcPr marL="45720" marR="45720" marT="9144" marB="9144" anchor="ctr">
                    <a:solidFill>
                      <a:srgbClr val="F2F2F2"/>
                    </a:solidFill>
                  </a:tcPr>
                </a:tc>
                <a:tc>
                  <a:txBody>
                    <a:bodyPr wrap="square"/>
                    <a:lstStyle/>
                    <a:p>
                      <a:pPr algn="ctr">
                        <a:defRPr sz="1300" b="0">
                          <a:solidFill>
                            <a:srgbClr val="333333"/>
                          </a:solidFill>
                          <a:latin typeface="Calibri"/>
                        </a:defRPr>
                      </a:pPr>
                      <a:r>
                        <a:t>0.8673</a:t>
                      </a:r>
                    </a:p>
                  </a:txBody>
                  <a:tcPr marL="45720" marR="45720" marT="9144" marB="9144" anchor="ctr">
                    <a:solidFill>
                      <a:srgbClr val="F2F2F2"/>
                    </a:solidFill>
                  </a:tcPr>
                </a:tc>
              </a:tr>
            </a:tbl>
          </a:graphicData>
        </a:graphic>
      </p:graphicFrame>
      <p:sp>
        <p:nvSpPr>
          <p:cNvPr id="7" name="TextBox 6"/>
          <p:cNvSpPr txBox="1"/>
          <p:nvPr/>
        </p:nvSpPr>
        <p:spPr>
          <a:xfrm>
            <a:off x="548640" y="3931920"/>
            <a:ext cx="11064240" cy="2377440"/>
          </a:xfrm>
          <a:prstGeom prst="rect">
            <a:avLst/>
          </a:prstGeom>
          <a:noFill/>
        </p:spPr>
        <p:txBody>
          <a:bodyPr wrap="square" lIns="64008" rIns="64008" tIns="18288" bIns="18288">
            <a:noAutofit/>
          </a:bodyPr>
          <a:lstStyle/>
          <a:p>
            <a:pPr algn="l">
              <a:lnSpc>
                <a:spcPct val="120000"/>
              </a:lnSpc>
              <a:spcAft>
                <a:spcPts val="900"/>
              </a:spcAft>
              <a:defRPr sz="1500" b="0" i="0">
                <a:solidFill>
                  <a:srgbClr val="333333"/>
                </a:solidFill>
                <a:latin typeface="Calibri"/>
              </a:defRPr>
            </a:pPr>
            <a:r>
              <a:t>•  The ablation is run under both treatments, so it is not itself conditional on the treatment the model comparison rejects.</a:t>
            </a:r>
          </a:p>
          <a:p>
            <a:pPr algn="l">
              <a:lnSpc>
                <a:spcPct val="120000"/>
              </a:lnSpc>
              <a:spcAft>
                <a:spcPts val="900"/>
              </a:spcAft>
              <a:defRPr sz="1500" b="0" i="0">
                <a:solidFill>
                  <a:srgbClr val="333333"/>
                </a:solidFill>
                <a:latin typeface="Calibri"/>
              </a:defRPr>
            </a:pPr>
            <a:r>
              <a:t>•  Removing the leading SHAP variable costs 16–23% of Macro-F1 across all four model × treatment combinations, establishing a non-redundant predictive contribution that no remaining feature reproduces.</a:t>
            </a:r>
          </a:p>
          <a:p>
            <a:pPr algn="l">
              <a:lnSpc>
                <a:spcPct val="120000"/>
              </a:lnSpc>
              <a:spcAft>
                <a:spcPts val="900"/>
              </a:spcAft>
              <a:defRPr sz="1500" b="0" i="0">
                <a:solidFill>
                  <a:srgbClr val="333333"/>
                </a:solidFill>
                <a:latin typeface="Calibri"/>
              </a:defRPr>
            </a:pPr>
            <a:r>
              <a:t>•  It does not establish temporal admissibility or rule out proxy leakage. Those questions require the bank's actual snapshot date and classification methodology.</a:t>
            </a:r>
          </a:p>
          <a:p>
            <a:pPr algn="l">
              <a:lnSpc>
                <a:spcPct val="120000"/>
              </a:lnSpc>
              <a:spcAft>
                <a:spcPts val="700"/>
              </a:spcAft>
              <a:defRPr sz="1500" b="0" i="0">
                <a:solidFill>
                  <a:srgbClr val="333333"/>
                </a:solidFill>
                <a:latin typeface="Calibri"/>
              </a:defRPr>
            </a:pPr>
            <a:r>
              <a:t>•  Reference-date check: only DAYS_TO_MATURITY depends on d₀, and changing d₀ adds one constant to every record, leaving tree partitions unchanged. Across five candidate dates from 31 Dec 2020 to 31 Dec 2023, Macro-F1 is identical to four decimal places (0.6248 unweighted; ROC-AUC 0.9246).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118872"/>
            <a:ext cx="10332720" cy="475488"/>
          </a:xfrm>
          <a:prstGeom prst="rect">
            <a:avLst/>
          </a:prstGeom>
          <a:noFill/>
        </p:spPr>
        <p:txBody>
          <a:bodyPr wrap="square" lIns="64008" rIns="64008" tIns="18288" bIns="18288">
            <a:noAutofit/>
          </a:bodyPr>
          <a:lstStyle/>
          <a:p>
            <a:pPr algn="l">
              <a:lnSpc>
                <a:spcPct val="105000"/>
              </a:lnSpc>
              <a:spcAft>
                <a:spcPts val="400"/>
              </a:spcAft>
              <a:defRPr sz="2800" b="1" i="0">
                <a:solidFill>
                  <a:srgbClr val="FFFFFF"/>
                </a:solidFill>
                <a:latin typeface="Calibri"/>
              </a:defRPr>
            </a:pPr>
            <a:r>
              <a:t>B5 — Per-Feature SHAP Importance</a:t>
            </a:r>
          </a:p>
        </p:txBody>
      </p:sp>
      <p:sp>
        <p:nvSpPr>
          <p:cNvPr id="4" name="TextBox 3"/>
          <p:cNvSpPr txBox="1"/>
          <p:nvPr/>
        </p:nvSpPr>
        <p:spPr>
          <a:xfrm>
            <a:off x="548640" y="621792"/>
            <a:ext cx="10332720" cy="329184"/>
          </a:xfrm>
          <a:prstGeom prst="rect">
            <a:avLst/>
          </a:prstGeom>
          <a:noFill/>
        </p:spPr>
        <p:txBody>
          <a:bodyPr wrap="square" lIns="64008" rIns="64008" tIns="18288" bIns="18288">
            <a:noAutofit/>
          </a:bodyPr>
          <a:lstStyle/>
          <a:p>
            <a:pPr algn="l">
              <a:lnSpc>
                <a:spcPct val="100000"/>
              </a:lnSpc>
              <a:spcAft>
                <a:spcPts val="400"/>
              </a:spcAft>
              <a:defRPr sz="1500" b="0" i="0">
                <a:solidFill>
                  <a:srgbClr val="BBDBF5"/>
                </a:solidFill>
                <a:latin typeface="Calibri"/>
              </a:defRPr>
            </a:pPr>
            <a:r>
              <a:t>Table B2 — mean |φⱼ| across all classes, 11-feature configuration, no class weighting</a:t>
            </a:r>
          </a:p>
        </p:txBody>
      </p:sp>
      <p:sp>
        <p:nvSpPr>
          <p:cNvPr id="5" name="TextBox 4"/>
          <p:cNvSpPr txBox="1"/>
          <p:nvPr/>
        </p:nvSpPr>
        <p:spPr>
          <a:xfrm>
            <a:off x="11201400" y="137160"/>
            <a:ext cx="777240" cy="365760"/>
          </a:xfrm>
          <a:prstGeom prst="rect">
            <a:avLst/>
          </a:prstGeom>
          <a:noFill/>
        </p:spPr>
        <p:txBody>
          <a:bodyPr wrap="square" lIns="64008" rIns="64008" tIns="18288" bIns="18288">
            <a:noAutofit/>
          </a:bodyPr>
          <a:lstStyle/>
          <a:p>
            <a:pPr algn="r">
              <a:spcAft>
                <a:spcPts val="400"/>
              </a:spcAft>
              <a:defRPr sz="1400" b="0" i="0">
                <a:solidFill>
                  <a:srgbClr val="FFFFFF"/>
                </a:solidFill>
                <a:latin typeface="Calibri"/>
              </a:defRPr>
            </a:pPr>
            <a:r>
              <a:t>B5</a:t>
            </a:r>
          </a:p>
        </p:txBody>
      </p:sp>
      <p:graphicFrame>
        <p:nvGraphicFramePr>
          <p:cNvPr id="6" name="Table 5"/>
          <p:cNvGraphicFramePr>
            <a:graphicFrameLocks noGrp="1"/>
          </p:cNvGraphicFramePr>
          <p:nvPr/>
        </p:nvGraphicFramePr>
        <p:xfrm>
          <a:off x="548640" y="1234440"/>
          <a:ext cx="5852160" cy="4389120"/>
        </p:xfrm>
        <a:graphic>
          <a:graphicData uri="http://schemas.openxmlformats.org/drawingml/2006/table">
            <a:tbl>
              <a:tblPr firstRow="1" bandRow="1">
                <a:tableStyleId>{5C22544A-7EE6-4342-B048-85BDC9FD1C3A}</a:tableStyleId>
              </a:tblPr>
              <a:tblGrid>
                <a:gridCol w="2926080"/>
                <a:gridCol w="1463040"/>
                <a:gridCol w="1463040"/>
              </a:tblGrid>
              <a:tr h="365760">
                <a:tc>
                  <a:txBody>
                    <a:bodyPr wrap="square"/>
                    <a:lstStyle/>
                    <a:p>
                      <a:pPr algn="ctr">
                        <a:defRPr sz="1250" b="1">
                          <a:solidFill>
                            <a:srgbClr val="FFFFFF"/>
                          </a:solidFill>
                          <a:latin typeface="Calibri"/>
                        </a:defRPr>
                      </a:pPr>
                      <a:r>
                        <a:t>Feature</a:t>
                      </a:r>
                    </a:p>
                  </a:txBody>
                  <a:tcPr marL="45720" marR="45720" marT="9144" marB="9144" anchor="ctr">
                    <a:solidFill>
                      <a:srgbClr val="002B5C"/>
                    </a:solidFill>
                  </a:tcPr>
                </a:tc>
                <a:tc>
                  <a:txBody>
                    <a:bodyPr wrap="square"/>
                    <a:lstStyle/>
                    <a:p>
                      <a:pPr algn="ctr">
                        <a:defRPr sz="1250" b="1">
                          <a:solidFill>
                            <a:srgbClr val="FFFFFF"/>
                          </a:solidFill>
                          <a:latin typeface="Calibri"/>
                        </a:defRPr>
                      </a:pPr>
                      <a:r>
                        <a:t>XGBoost</a:t>
                      </a:r>
                    </a:p>
                  </a:txBody>
                  <a:tcPr marL="45720" marR="45720" marT="9144" marB="9144" anchor="ctr">
                    <a:solidFill>
                      <a:srgbClr val="002B5C"/>
                    </a:solidFill>
                  </a:tcPr>
                </a:tc>
                <a:tc>
                  <a:txBody>
                    <a:bodyPr wrap="square"/>
                    <a:lstStyle/>
                    <a:p>
                      <a:pPr algn="ctr">
                        <a:defRPr sz="1250" b="1">
                          <a:solidFill>
                            <a:srgbClr val="FFFFFF"/>
                          </a:solidFill>
                          <a:latin typeface="Calibri"/>
                        </a:defRPr>
                      </a:pPr>
                      <a:r>
                        <a:t>LightGBM</a:t>
                      </a:r>
                    </a:p>
                  </a:txBody>
                  <a:tcPr marL="45720" marR="45720" marT="9144" marB="9144" anchor="ctr">
                    <a:solidFill>
                      <a:srgbClr val="002B5C"/>
                    </a:solidFill>
                  </a:tcPr>
                </a:tc>
              </a:tr>
              <a:tr h="365760">
                <a:tc>
                  <a:txBody>
                    <a:bodyPr wrap="square"/>
                    <a:lstStyle/>
                    <a:p>
                      <a:pPr algn="l">
                        <a:defRPr sz="1250" b="1">
                          <a:solidFill>
                            <a:srgbClr val="333333"/>
                          </a:solidFill>
                          <a:latin typeface="Calibri"/>
                        </a:defRPr>
                      </a:pPr>
                      <a:r>
                        <a:t>DAYS_TO_MATURITY</a:t>
                      </a:r>
                    </a:p>
                  </a:txBody>
                  <a:tcPr marL="45720" marR="45720" marT="9144" marB="9144" anchor="ctr">
                    <a:solidFill>
                      <a:srgbClr val="DDEECC"/>
                    </a:solidFill>
                  </a:tcPr>
                </a:tc>
                <a:tc>
                  <a:txBody>
                    <a:bodyPr wrap="square"/>
                    <a:lstStyle/>
                    <a:p>
                      <a:pPr algn="ctr">
                        <a:defRPr sz="1250" b="1">
                          <a:solidFill>
                            <a:srgbClr val="333333"/>
                          </a:solidFill>
                          <a:latin typeface="Calibri"/>
                        </a:defRPr>
                      </a:pPr>
                      <a:r>
                        <a:t>0.8665</a:t>
                      </a:r>
                    </a:p>
                  </a:txBody>
                  <a:tcPr marL="45720" marR="45720" marT="9144" marB="9144" anchor="ctr">
                    <a:solidFill>
                      <a:srgbClr val="DDEECC"/>
                    </a:solidFill>
                  </a:tcPr>
                </a:tc>
                <a:tc>
                  <a:txBody>
                    <a:bodyPr wrap="square"/>
                    <a:lstStyle/>
                    <a:p>
                      <a:pPr algn="ctr">
                        <a:defRPr sz="1250" b="1">
                          <a:solidFill>
                            <a:srgbClr val="333333"/>
                          </a:solidFill>
                          <a:latin typeface="Calibri"/>
                        </a:defRPr>
                      </a:pPr>
                      <a:r>
                        <a:t>1.1694</a:t>
                      </a:r>
                    </a:p>
                  </a:txBody>
                  <a:tcPr marL="45720" marR="45720" marT="9144" marB="9144" anchor="ctr">
                    <a:solidFill>
                      <a:srgbClr val="DDEECC"/>
                    </a:solidFill>
                  </a:tcPr>
                </a:tc>
              </a:tr>
              <a:tr h="365760">
                <a:tc>
                  <a:txBody>
                    <a:bodyPr wrap="square"/>
                    <a:lstStyle/>
                    <a:p>
                      <a:pPr algn="l">
                        <a:defRPr sz="1250" b="0">
                          <a:solidFill>
                            <a:srgbClr val="333333"/>
                          </a:solidFill>
                          <a:latin typeface="Calibri"/>
                        </a:defRPr>
                      </a:pPr>
                      <a:r>
                        <a:t>UTIL_RATE</a:t>
                      </a:r>
                    </a:p>
                  </a:txBody>
                  <a:tcPr marL="45720" marR="45720" marT="9144" marB="9144" anchor="ctr">
                    <a:solidFill>
                      <a:srgbClr val="F2F2F2"/>
                    </a:solidFill>
                  </a:tcPr>
                </a:tc>
                <a:tc>
                  <a:txBody>
                    <a:bodyPr wrap="square"/>
                    <a:lstStyle/>
                    <a:p>
                      <a:pPr algn="ctr">
                        <a:defRPr sz="1250" b="0">
                          <a:solidFill>
                            <a:srgbClr val="333333"/>
                          </a:solidFill>
                          <a:latin typeface="Calibri"/>
                        </a:defRPr>
                      </a:pPr>
                      <a:r>
                        <a:t>0.3134</a:t>
                      </a:r>
                    </a:p>
                  </a:txBody>
                  <a:tcPr marL="45720" marR="45720" marT="9144" marB="9144" anchor="ctr">
                    <a:solidFill>
                      <a:srgbClr val="F2F2F2"/>
                    </a:solidFill>
                  </a:tcPr>
                </a:tc>
                <a:tc>
                  <a:txBody>
                    <a:bodyPr wrap="square"/>
                    <a:lstStyle/>
                    <a:p>
                      <a:pPr algn="ctr">
                        <a:defRPr sz="1250" b="0">
                          <a:solidFill>
                            <a:srgbClr val="333333"/>
                          </a:solidFill>
                          <a:latin typeface="Calibri"/>
                        </a:defRPr>
                      </a:pPr>
                      <a:r>
                        <a:t>0.4065</a:t>
                      </a:r>
                    </a:p>
                  </a:txBody>
                  <a:tcPr marL="45720" marR="45720" marT="9144" marB="9144" anchor="ctr">
                    <a:solidFill>
                      <a:srgbClr val="F2F2F2"/>
                    </a:solidFill>
                  </a:tcPr>
                </a:tc>
              </a:tr>
              <a:tr h="365760">
                <a:tc>
                  <a:txBody>
                    <a:bodyPr wrap="square"/>
                    <a:lstStyle/>
                    <a:p>
                      <a:pPr algn="l">
                        <a:defRPr sz="1250" b="0">
                          <a:solidFill>
                            <a:srgbClr val="333333"/>
                          </a:solidFill>
                          <a:latin typeface="Calibri"/>
                        </a:defRPr>
                      </a:pPr>
                      <a:r>
                        <a:t>CURR_BAL</a:t>
                      </a:r>
                    </a:p>
                  </a:txBody>
                  <a:tcPr marL="45720" marR="45720" marT="9144" marB="9144" anchor="ctr"/>
                </a:tc>
                <a:tc>
                  <a:txBody>
                    <a:bodyPr wrap="square"/>
                    <a:lstStyle/>
                    <a:p>
                      <a:pPr algn="ctr">
                        <a:defRPr sz="1250" b="0">
                          <a:solidFill>
                            <a:srgbClr val="333333"/>
                          </a:solidFill>
                          <a:latin typeface="Calibri"/>
                        </a:defRPr>
                      </a:pPr>
                      <a:r>
                        <a:t>0.2302</a:t>
                      </a:r>
                    </a:p>
                  </a:txBody>
                  <a:tcPr marL="45720" marR="45720" marT="9144" marB="9144" anchor="ctr"/>
                </a:tc>
                <a:tc>
                  <a:txBody>
                    <a:bodyPr wrap="square"/>
                    <a:lstStyle/>
                    <a:p>
                      <a:pPr algn="ctr">
                        <a:defRPr sz="1250" b="0">
                          <a:solidFill>
                            <a:srgbClr val="333333"/>
                          </a:solidFill>
                          <a:latin typeface="Calibri"/>
                        </a:defRPr>
                      </a:pPr>
                      <a:r>
                        <a:t>0.3146</a:t>
                      </a:r>
                    </a:p>
                  </a:txBody>
                  <a:tcPr marL="45720" marR="45720" marT="9144" marB="9144" anchor="ctr"/>
                </a:tc>
              </a:tr>
              <a:tr h="365760">
                <a:tc>
                  <a:txBody>
                    <a:bodyPr wrap="square"/>
                    <a:lstStyle/>
                    <a:p>
                      <a:pPr algn="l">
                        <a:defRPr sz="1250" b="0">
                          <a:solidFill>
                            <a:srgbClr val="333333"/>
                          </a:solidFill>
                          <a:latin typeface="Calibri"/>
                        </a:defRPr>
                      </a:pPr>
                      <a:r>
                        <a:t>LAISUAT</a:t>
                      </a:r>
                    </a:p>
                  </a:txBody>
                  <a:tcPr marL="45720" marR="45720" marT="9144" marB="9144" anchor="ctr">
                    <a:solidFill>
                      <a:srgbClr val="F2F2F2"/>
                    </a:solidFill>
                  </a:tcPr>
                </a:tc>
                <a:tc>
                  <a:txBody>
                    <a:bodyPr wrap="square"/>
                    <a:lstStyle/>
                    <a:p>
                      <a:pPr algn="ctr">
                        <a:defRPr sz="1250" b="0">
                          <a:solidFill>
                            <a:srgbClr val="333333"/>
                          </a:solidFill>
                          <a:latin typeface="Calibri"/>
                        </a:defRPr>
                      </a:pPr>
                      <a:r>
                        <a:t>0.2599</a:t>
                      </a:r>
                    </a:p>
                  </a:txBody>
                  <a:tcPr marL="45720" marR="45720" marT="9144" marB="9144" anchor="ctr">
                    <a:solidFill>
                      <a:srgbClr val="F2F2F2"/>
                    </a:solidFill>
                  </a:tcPr>
                </a:tc>
                <a:tc>
                  <a:txBody>
                    <a:bodyPr wrap="square"/>
                    <a:lstStyle/>
                    <a:p>
                      <a:pPr algn="ctr">
                        <a:defRPr sz="1250" b="0">
                          <a:solidFill>
                            <a:srgbClr val="333333"/>
                          </a:solidFill>
                          <a:latin typeface="Calibri"/>
                        </a:defRPr>
                      </a:pPr>
                      <a:r>
                        <a:t>0.3019</a:t>
                      </a:r>
                    </a:p>
                  </a:txBody>
                  <a:tcPr marL="45720" marR="45720" marT="9144" marB="9144" anchor="ctr">
                    <a:solidFill>
                      <a:srgbClr val="F2F2F2"/>
                    </a:solidFill>
                  </a:tcPr>
                </a:tc>
              </a:tr>
              <a:tr h="365760">
                <a:tc>
                  <a:txBody>
                    <a:bodyPr wrap="square"/>
                    <a:lstStyle/>
                    <a:p>
                      <a:pPr algn="l">
                        <a:defRPr sz="1250" b="0">
                          <a:solidFill>
                            <a:srgbClr val="333333"/>
                          </a:solidFill>
                          <a:latin typeface="Calibri"/>
                        </a:defRPr>
                      </a:pPr>
                      <a:r>
                        <a:t>ORGNBR</a:t>
                      </a:r>
                    </a:p>
                  </a:txBody>
                  <a:tcPr marL="45720" marR="45720" marT="9144" marB="9144" anchor="ctr"/>
                </a:tc>
                <a:tc>
                  <a:txBody>
                    <a:bodyPr wrap="square"/>
                    <a:lstStyle/>
                    <a:p>
                      <a:pPr algn="ctr">
                        <a:defRPr sz="1250" b="0">
                          <a:solidFill>
                            <a:srgbClr val="333333"/>
                          </a:solidFill>
                          <a:latin typeface="Calibri"/>
                        </a:defRPr>
                      </a:pPr>
                      <a:r>
                        <a:t>0.2209</a:t>
                      </a:r>
                    </a:p>
                  </a:txBody>
                  <a:tcPr marL="45720" marR="45720" marT="9144" marB="9144" anchor="ctr"/>
                </a:tc>
                <a:tc>
                  <a:txBody>
                    <a:bodyPr wrap="square"/>
                    <a:lstStyle/>
                    <a:p>
                      <a:pPr algn="ctr">
                        <a:defRPr sz="1250" b="0">
                          <a:solidFill>
                            <a:srgbClr val="333333"/>
                          </a:solidFill>
                          <a:latin typeface="Calibri"/>
                        </a:defRPr>
                      </a:pPr>
                      <a:r>
                        <a:t>0.3009</a:t>
                      </a:r>
                    </a:p>
                  </a:txBody>
                  <a:tcPr marL="45720" marR="45720" marT="9144" marB="9144" anchor="ctr"/>
                </a:tc>
              </a:tr>
              <a:tr h="365760">
                <a:tc>
                  <a:txBody>
                    <a:bodyPr wrap="square"/>
                    <a:lstStyle/>
                    <a:p>
                      <a:pPr algn="l">
                        <a:defRPr sz="1250" b="0">
                          <a:solidFill>
                            <a:srgbClr val="333333"/>
                          </a:solidFill>
                          <a:latin typeface="Calibri"/>
                        </a:defRPr>
                      </a:pPr>
                      <a:r>
                        <a:t>LOAN_TENURE_DAYS</a:t>
                      </a:r>
                    </a:p>
                  </a:txBody>
                  <a:tcPr marL="45720" marR="45720" marT="9144" marB="9144" anchor="ctr">
                    <a:solidFill>
                      <a:srgbClr val="F2F2F2"/>
                    </a:solidFill>
                  </a:tcPr>
                </a:tc>
                <a:tc>
                  <a:txBody>
                    <a:bodyPr wrap="square"/>
                    <a:lstStyle/>
                    <a:p>
                      <a:pPr algn="ctr">
                        <a:defRPr sz="1250" b="0">
                          <a:solidFill>
                            <a:srgbClr val="333333"/>
                          </a:solidFill>
                          <a:latin typeface="Calibri"/>
                        </a:defRPr>
                      </a:pPr>
                      <a:r>
                        <a:t>0.2178</a:t>
                      </a:r>
                    </a:p>
                  </a:txBody>
                  <a:tcPr marL="45720" marR="45720" marT="9144" marB="9144" anchor="ctr">
                    <a:solidFill>
                      <a:srgbClr val="F2F2F2"/>
                    </a:solidFill>
                  </a:tcPr>
                </a:tc>
                <a:tc>
                  <a:txBody>
                    <a:bodyPr wrap="square"/>
                    <a:lstStyle/>
                    <a:p>
                      <a:pPr algn="ctr">
                        <a:defRPr sz="1250" b="0">
                          <a:solidFill>
                            <a:srgbClr val="333333"/>
                          </a:solidFill>
                          <a:latin typeface="Calibri"/>
                        </a:defRPr>
                      </a:pPr>
                      <a:r>
                        <a:t>0.2424</a:t>
                      </a:r>
                    </a:p>
                  </a:txBody>
                  <a:tcPr marL="45720" marR="45720" marT="9144" marB="9144" anchor="ctr">
                    <a:solidFill>
                      <a:srgbClr val="F2F2F2"/>
                    </a:solidFill>
                  </a:tcPr>
                </a:tc>
              </a:tr>
              <a:tr h="365760">
                <a:tc>
                  <a:txBody>
                    <a:bodyPr wrap="square"/>
                    <a:lstStyle/>
                    <a:p>
                      <a:pPr algn="l">
                        <a:defRPr sz="1250" b="0">
                          <a:solidFill>
                            <a:srgbClr val="333333"/>
                          </a:solidFill>
                          <a:latin typeface="Calibri"/>
                        </a:defRPr>
                      </a:pPr>
                      <a:r>
                        <a:t>BASE_BAL</a:t>
                      </a:r>
                    </a:p>
                  </a:txBody>
                  <a:tcPr marL="45720" marR="45720" marT="9144" marB="9144" anchor="ctr"/>
                </a:tc>
                <a:tc>
                  <a:txBody>
                    <a:bodyPr wrap="square"/>
                    <a:lstStyle/>
                    <a:p>
                      <a:pPr algn="ctr">
                        <a:defRPr sz="1250" b="0">
                          <a:solidFill>
                            <a:srgbClr val="333333"/>
                          </a:solidFill>
                          <a:latin typeface="Calibri"/>
                        </a:defRPr>
                      </a:pPr>
                      <a:r>
                        <a:t>0.1508</a:t>
                      </a:r>
                    </a:p>
                  </a:txBody>
                  <a:tcPr marL="45720" marR="45720" marT="9144" marB="9144" anchor="ctr"/>
                </a:tc>
                <a:tc>
                  <a:txBody>
                    <a:bodyPr wrap="square"/>
                    <a:lstStyle/>
                    <a:p>
                      <a:pPr algn="ctr">
                        <a:defRPr sz="1250" b="0">
                          <a:solidFill>
                            <a:srgbClr val="333333"/>
                          </a:solidFill>
                          <a:latin typeface="Calibri"/>
                        </a:defRPr>
                      </a:pPr>
                      <a:r>
                        <a:t>0.2353</a:t>
                      </a:r>
                    </a:p>
                  </a:txBody>
                  <a:tcPr marL="45720" marR="45720" marT="9144" marB="9144" anchor="ctr"/>
                </a:tc>
              </a:tr>
              <a:tr h="365760">
                <a:tc>
                  <a:txBody>
                    <a:bodyPr wrap="square"/>
                    <a:lstStyle/>
                    <a:p>
                      <a:pPr algn="l">
                        <a:defRPr sz="1250" b="0">
                          <a:solidFill>
                            <a:srgbClr val="333333"/>
                          </a:solidFill>
                          <a:latin typeface="Calibri"/>
                        </a:defRPr>
                      </a:pPr>
                      <a:r>
                        <a:t>CURRMIACCTTYPCD</a:t>
                      </a:r>
                    </a:p>
                  </a:txBody>
                  <a:tcPr marL="45720" marR="45720" marT="9144" marB="9144" anchor="ctr">
                    <a:solidFill>
                      <a:srgbClr val="F2F2F2"/>
                    </a:solidFill>
                  </a:tcPr>
                </a:tc>
                <a:tc>
                  <a:txBody>
                    <a:bodyPr wrap="square"/>
                    <a:lstStyle/>
                    <a:p>
                      <a:pPr algn="ctr">
                        <a:defRPr sz="1250" b="0">
                          <a:solidFill>
                            <a:srgbClr val="333333"/>
                          </a:solidFill>
                          <a:latin typeface="Calibri"/>
                        </a:defRPr>
                      </a:pPr>
                      <a:r>
                        <a:t>0.1520</a:t>
                      </a:r>
                    </a:p>
                  </a:txBody>
                  <a:tcPr marL="45720" marR="45720" marT="9144" marB="9144" anchor="ctr">
                    <a:solidFill>
                      <a:srgbClr val="F2F2F2"/>
                    </a:solidFill>
                  </a:tcPr>
                </a:tc>
                <a:tc>
                  <a:txBody>
                    <a:bodyPr wrap="square"/>
                    <a:lstStyle/>
                    <a:p>
                      <a:pPr algn="ctr">
                        <a:defRPr sz="1250" b="0">
                          <a:solidFill>
                            <a:srgbClr val="333333"/>
                          </a:solidFill>
                          <a:latin typeface="Calibri"/>
                        </a:defRPr>
                      </a:pPr>
                      <a:r>
                        <a:t>0.1806</a:t>
                      </a:r>
                    </a:p>
                  </a:txBody>
                  <a:tcPr marL="45720" marR="45720" marT="9144" marB="9144" anchor="ctr">
                    <a:solidFill>
                      <a:srgbClr val="F2F2F2"/>
                    </a:solidFill>
                  </a:tcPr>
                </a:tc>
              </a:tr>
              <a:tr h="365760">
                <a:tc>
                  <a:txBody>
                    <a:bodyPr wrap="square"/>
                    <a:lstStyle/>
                    <a:p>
                      <a:pPr algn="l">
                        <a:defRPr sz="1250" b="0">
                          <a:solidFill>
                            <a:srgbClr val="333333"/>
                          </a:solidFill>
                          <a:latin typeface="Calibri"/>
                        </a:defRPr>
                      </a:pPr>
                      <a:r>
                        <a:t>PARENTORGNBR</a:t>
                      </a:r>
                    </a:p>
                  </a:txBody>
                  <a:tcPr marL="45720" marR="45720" marT="9144" marB="9144" anchor="ctr"/>
                </a:tc>
                <a:tc>
                  <a:txBody>
                    <a:bodyPr wrap="square"/>
                    <a:lstStyle/>
                    <a:p>
                      <a:pPr algn="ctr">
                        <a:defRPr sz="1250" b="0">
                          <a:solidFill>
                            <a:srgbClr val="333333"/>
                          </a:solidFill>
                          <a:latin typeface="Calibri"/>
                        </a:defRPr>
                      </a:pPr>
                      <a:r>
                        <a:t>0.1728</a:t>
                      </a:r>
                    </a:p>
                  </a:txBody>
                  <a:tcPr marL="45720" marR="45720" marT="9144" marB="9144" anchor="ctr"/>
                </a:tc>
                <a:tc>
                  <a:txBody>
                    <a:bodyPr wrap="square"/>
                    <a:lstStyle/>
                    <a:p>
                      <a:pPr algn="ctr">
                        <a:defRPr sz="1250" b="0">
                          <a:solidFill>
                            <a:srgbClr val="333333"/>
                          </a:solidFill>
                          <a:latin typeface="Calibri"/>
                        </a:defRPr>
                      </a:pPr>
                      <a:r>
                        <a:t>0.1803</a:t>
                      </a:r>
                    </a:p>
                  </a:txBody>
                  <a:tcPr marL="45720" marR="45720" marT="9144" marB="9144" anchor="ctr"/>
                </a:tc>
              </a:tr>
              <a:tr h="365760">
                <a:tc>
                  <a:txBody>
                    <a:bodyPr wrap="square"/>
                    <a:lstStyle/>
                    <a:p>
                      <a:pPr algn="l">
                        <a:defRPr sz="1250" b="0">
                          <a:solidFill>
                            <a:srgbClr val="333333"/>
                          </a:solidFill>
                          <a:latin typeface="Calibri"/>
                        </a:defRPr>
                      </a:pPr>
                      <a:r>
                        <a:t>MUCDICHVAY</a:t>
                      </a:r>
                    </a:p>
                  </a:txBody>
                  <a:tcPr marL="45720" marR="45720" marT="9144" marB="9144" anchor="ctr">
                    <a:solidFill>
                      <a:srgbClr val="F2F2F2"/>
                    </a:solidFill>
                  </a:tcPr>
                </a:tc>
                <a:tc>
                  <a:txBody>
                    <a:bodyPr wrap="square"/>
                    <a:lstStyle/>
                    <a:p>
                      <a:pPr algn="ctr">
                        <a:defRPr sz="1250" b="0">
                          <a:solidFill>
                            <a:srgbClr val="333333"/>
                          </a:solidFill>
                          <a:latin typeface="Calibri"/>
                        </a:defRPr>
                      </a:pPr>
                      <a:r>
                        <a:t>0.0598</a:t>
                      </a:r>
                    </a:p>
                  </a:txBody>
                  <a:tcPr marL="45720" marR="45720" marT="9144" marB="9144" anchor="ctr">
                    <a:solidFill>
                      <a:srgbClr val="F2F2F2"/>
                    </a:solidFill>
                  </a:tcPr>
                </a:tc>
                <a:tc>
                  <a:txBody>
                    <a:bodyPr wrap="square"/>
                    <a:lstStyle/>
                    <a:p>
                      <a:pPr algn="ctr">
                        <a:defRPr sz="1250" b="0">
                          <a:solidFill>
                            <a:srgbClr val="333333"/>
                          </a:solidFill>
                          <a:latin typeface="Calibri"/>
                        </a:defRPr>
                      </a:pPr>
                      <a:r>
                        <a:t>0.0756</a:t>
                      </a:r>
                    </a:p>
                  </a:txBody>
                  <a:tcPr marL="45720" marR="45720" marT="9144" marB="9144" anchor="ctr">
                    <a:solidFill>
                      <a:srgbClr val="F2F2F2"/>
                    </a:solidFill>
                  </a:tcPr>
                </a:tc>
              </a:tr>
              <a:tr h="365760">
                <a:tc>
                  <a:txBody>
                    <a:bodyPr wrap="square"/>
                    <a:lstStyle/>
                    <a:p>
                      <a:pPr algn="l">
                        <a:defRPr sz="1250" b="0">
                          <a:solidFill>
                            <a:srgbClr val="333333"/>
                          </a:solidFill>
                          <a:latin typeface="Calibri"/>
                        </a:defRPr>
                      </a:pPr>
                      <a:r>
                        <a:t>MJACCTTYPCD</a:t>
                      </a:r>
                    </a:p>
                  </a:txBody>
                  <a:tcPr marL="45720" marR="45720" marT="9144" marB="9144" anchor="ctr"/>
                </a:tc>
                <a:tc>
                  <a:txBody>
                    <a:bodyPr wrap="square"/>
                    <a:lstStyle/>
                    <a:p>
                      <a:pPr algn="ctr">
                        <a:defRPr sz="1250" b="0">
                          <a:solidFill>
                            <a:srgbClr val="333333"/>
                          </a:solidFill>
                          <a:latin typeface="Calibri"/>
                        </a:defRPr>
                      </a:pPr>
                      <a:r>
                        <a:t>0.0146</a:t>
                      </a:r>
                    </a:p>
                  </a:txBody>
                  <a:tcPr marL="45720" marR="45720" marT="9144" marB="9144" anchor="ctr"/>
                </a:tc>
                <a:tc>
                  <a:txBody>
                    <a:bodyPr wrap="square"/>
                    <a:lstStyle/>
                    <a:p>
                      <a:pPr algn="ctr">
                        <a:defRPr sz="1250" b="0">
                          <a:solidFill>
                            <a:srgbClr val="333333"/>
                          </a:solidFill>
                          <a:latin typeface="Calibri"/>
                        </a:defRPr>
                      </a:pPr>
                      <a:r>
                        <a:t>0.0158</a:t>
                      </a:r>
                    </a:p>
                  </a:txBody>
                  <a:tcPr marL="45720" marR="45720" marT="9144" marB="9144" anchor="ctr"/>
                </a:tc>
              </a:tr>
            </a:tbl>
          </a:graphicData>
        </a:graphic>
      </p:graphicFrame>
      <p:sp>
        <p:nvSpPr>
          <p:cNvPr id="7" name="TextBox 6"/>
          <p:cNvSpPr txBox="1"/>
          <p:nvPr/>
        </p:nvSpPr>
        <p:spPr>
          <a:xfrm>
            <a:off x="6720840" y="1261872"/>
            <a:ext cx="4937760" cy="4023360"/>
          </a:xfrm>
          <a:prstGeom prst="rect">
            <a:avLst/>
          </a:prstGeom>
          <a:noFill/>
        </p:spPr>
        <p:txBody>
          <a:bodyPr wrap="square" lIns="64008" rIns="64008" tIns="18288" bIns="18288">
            <a:noAutofit/>
          </a:bodyPr>
          <a:lstStyle/>
          <a:p>
            <a:pPr algn="l">
              <a:lnSpc>
                <a:spcPct val="120000"/>
              </a:lnSpc>
              <a:spcAft>
                <a:spcPts val="1000"/>
              </a:spcAft>
              <a:defRPr sz="1450" b="0" i="0">
                <a:solidFill>
                  <a:srgbClr val="333333"/>
                </a:solidFill>
                <a:latin typeface="Calibri"/>
              </a:defRPr>
            </a:pPr>
            <a:r>
              <a:t>•  DAYS_TO_MATURITY dominates under both libraries — 2.8× the next feature for XGBoost and 2.9× for LightGBM.</a:t>
            </a:r>
          </a:p>
          <a:p>
            <a:pPr algn="l">
              <a:lnSpc>
                <a:spcPct val="120000"/>
              </a:lnSpc>
              <a:spcAft>
                <a:spcPts val="1000"/>
              </a:spcAft>
              <a:defRPr sz="1450" b="0" i="0">
                <a:solidFill>
                  <a:srgbClr val="333333"/>
                </a:solidFill>
                <a:latin typeface="Calibri"/>
              </a:defRPr>
            </a:pPr>
            <a:r>
              <a:t>•  The two libraries agree closely on the ordering, which is the individual-feature counterpart of the group-level stability on slide 11.</a:t>
            </a:r>
          </a:p>
          <a:p>
            <a:pPr algn="l">
              <a:lnSpc>
                <a:spcPct val="120000"/>
              </a:lnSpc>
              <a:spcAft>
                <a:spcPts val="1000"/>
              </a:spcAft>
              <a:defRPr sz="1450" b="0" i="0">
                <a:solidFill>
                  <a:srgbClr val="333333"/>
                </a:solidFill>
                <a:latin typeface="Calibri"/>
              </a:defRPr>
            </a:pPr>
            <a:r>
              <a:t>•  SHAP was computed with TreeExplainer on the full 5,401-observation hold-out set.</a:t>
            </a:r>
          </a:p>
          <a:p>
            <a:pPr algn="l">
              <a:lnSpc>
                <a:spcPct val="120000"/>
              </a:lnSpc>
              <a:spcAft>
                <a:spcPts val="700"/>
              </a:spcAft>
              <a:defRPr sz="1450" b="0" i="0">
                <a:solidFill>
                  <a:srgbClr val="333333"/>
                </a:solidFill>
                <a:latin typeface="Calibri"/>
              </a:defRPr>
            </a:pPr>
            <a:r>
              <a:t>•  Note the correlation structure when reading these: LOAN_TENURE_DAYS and DAYS_TO_MATURITY correlate at r = 0.942, and BASE_BAL with CURR_BAL at r = 0.923. Correlated features share credit, so individual values understate the tenure group as a whole — which is why the paper reports group-level shares.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0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118872"/>
            <a:ext cx="10332720" cy="475488"/>
          </a:xfrm>
          <a:prstGeom prst="rect">
            <a:avLst/>
          </a:prstGeom>
          <a:noFill/>
        </p:spPr>
        <p:txBody>
          <a:bodyPr wrap="square" lIns="64008" rIns="64008" tIns="18288" bIns="18288">
            <a:noAutofit/>
          </a:bodyPr>
          <a:lstStyle/>
          <a:p>
            <a:pPr algn="l">
              <a:lnSpc>
                <a:spcPct val="105000"/>
              </a:lnSpc>
              <a:spcAft>
                <a:spcPts val="400"/>
              </a:spcAft>
              <a:defRPr sz="2800" b="1" i="0">
                <a:solidFill>
                  <a:srgbClr val="FFFFFF"/>
                </a:solidFill>
                <a:latin typeface="Calibri"/>
              </a:defRPr>
            </a:pPr>
            <a:r>
              <a:t>B6 — Hyperparameters &amp; Reproducibility</a:t>
            </a:r>
          </a:p>
        </p:txBody>
      </p:sp>
      <p:sp>
        <p:nvSpPr>
          <p:cNvPr id="4" name="TextBox 3"/>
          <p:cNvSpPr txBox="1"/>
          <p:nvPr/>
        </p:nvSpPr>
        <p:spPr>
          <a:xfrm>
            <a:off x="548640" y="621792"/>
            <a:ext cx="10332720" cy="329184"/>
          </a:xfrm>
          <a:prstGeom prst="rect">
            <a:avLst/>
          </a:prstGeom>
          <a:noFill/>
        </p:spPr>
        <p:txBody>
          <a:bodyPr wrap="square" lIns="64008" rIns="64008" tIns="18288" bIns="18288">
            <a:noAutofit/>
          </a:bodyPr>
          <a:lstStyle/>
          <a:p>
            <a:pPr algn="l">
              <a:lnSpc>
                <a:spcPct val="100000"/>
              </a:lnSpc>
              <a:spcAft>
                <a:spcPts val="400"/>
              </a:spcAft>
              <a:defRPr sz="1500" b="0" i="0">
                <a:solidFill>
                  <a:srgbClr val="BBDBF5"/>
                </a:solidFill>
                <a:latin typeface="Calibri"/>
              </a:defRPr>
            </a:pPr>
            <a:r>
              <a:t>Section 3.6 and the Reproducibility Statement</a:t>
            </a:r>
          </a:p>
        </p:txBody>
      </p:sp>
      <p:sp>
        <p:nvSpPr>
          <p:cNvPr id="5" name="TextBox 4"/>
          <p:cNvSpPr txBox="1"/>
          <p:nvPr/>
        </p:nvSpPr>
        <p:spPr>
          <a:xfrm>
            <a:off x="11201400" y="137160"/>
            <a:ext cx="777240" cy="365760"/>
          </a:xfrm>
          <a:prstGeom prst="rect">
            <a:avLst/>
          </a:prstGeom>
          <a:noFill/>
        </p:spPr>
        <p:txBody>
          <a:bodyPr wrap="square" lIns="64008" rIns="64008" tIns="18288" bIns="18288">
            <a:noAutofit/>
          </a:bodyPr>
          <a:lstStyle/>
          <a:p>
            <a:pPr algn="r">
              <a:spcAft>
                <a:spcPts val="400"/>
              </a:spcAft>
              <a:defRPr sz="1400" b="0" i="0">
                <a:solidFill>
                  <a:srgbClr val="FFFFFF"/>
                </a:solidFill>
                <a:latin typeface="Calibri"/>
              </a:defRPr>
            </a:pPr>
            <a:r>
              <a:t>B6</a:t>
            </a:r>
          </a:p>
        </p:txBody>
      </p:sp>
      <p:graphicFrame>
        <p:nvGraphicFramePr>
          <p:cNvPr id="6" name="Table 5"/>
          <p:cNvGraphicFramePr>
            <a:graphicFrameLocks noGrp="1"/>
          </p:cNvGraphicFramePr>
          <p:nvPr/>
        </p:nvGraphicFramePr>
        <p:xfrm>
          <a:off x="548640" y="1234440"/>
          <a:ext cx="11064240" cy="2688336"/>
        </p:xfrm>
        <a:graphic>
          <a:graphicData uri="http://schemas.openxmlformats.org/drawingml/2006/table">
            <a:tbl>
              <a:tblPr firstRow="1" bandRow="1">
                <a:tableStyleId>{5C22544A-7EE6-4342-B048-85BDC9FD1C3A}</a:tableStyleId>
              </a:tblPr>
              <a:tblGrid>
                <a:gridCol w="2834640"/>
                <a:gridCol w="8229600"/>
              </a:tblGrid>
              <a:tr h="384048">
                <a:tc>
                  <a:txBody>
                    <a:bodyPr wrap="square"/>
                    <a:lstStyle/>
                    <a:p>
                      <a:pPr algn="l">
                        <a:defRPr sz="1300" b="1">
                          <a:solidFill>
                            <a:srgbClr val="FFFFFF"/>
                          </a:solidFill>
                          <a:latin typeface="Calibri"/>
                        </a:defRPr>
                      </a:pPr>
                      <a:r>
                        <a:t>Classifier</a:t>
                      </a:r>
                    </a:p>
                  </a:txBody>
                  <a:tcPr marL="45720" marR="45720" marT="9144" marB="9144" anchor="ctr">
                    <a:solidFill>
                      <a:srgbClr val="002B5C"/>
                    </a:solidFill>
                  </a:tcPr>
                </a:tc>
                <a:tc>
                  <a:txBody>
                    <a:bodyPr wrap="square"/>
                    <a:lstStyle/>
                    <a:p>
                      <a:pPr algn="l">
                        <a:defRPr sz="1300" b="1">
                          <a:solidFill>
                            <a:srgbClr val="FFFFFF"/>
                          </a:solidFill>
                          <a:latin typeface="Calibri"/>
                        </a:defRPr>
                      </a:pPr>
                      <a:r>
                        <a:t>Fixed hyperparameters (no per-configuration tuning)</a:t>
                      </a:r>
                    </a:p>
                  </a:txBody>
                  <a:tcPr marL="45720" marR="45720" marT="9144" marB="9144" anchor="ctr">
                    <a:solidFill>
                      <a:srgbClr val="002B5C"/>
                    </a:solidFill>
                  </a:tcPr>
                </a:tc>
              </a:tr>
              <a:tr h="384048">
                <a:tc>
                  <a:txBody>
                    <a:bodyPr wrap="square"/>
                    <a:lstStyle/>
                    <a:p>
                      <a:pPr algn="l">
                        <a:defRPr sz="1300" b="0">
                          <a:solidFill>
                            <a:srgbClr val="333333"/>
                          </a:solidFill>
                          <a:latin typeface="Calibri"/>
                        </a:defRPr>
                      </a:pPr>
                      <a:r>
                        <a:t>Logistic Regression</a:t>
                      </a:r>
                    </a:p>
                  </a:txBody>
                  <a:tcPr marL="45720" marR="45720" marT="9144" marB="9144" anchor="ctr"/>
                </a:tc>
                <a:tc>
                  <a:txBody>
                    <a:bodyPr wrap="square"/>
                    <a:lstStyle/>
                    <a:p>
                      <a:pPr algn="l">
                        <a:defRPr sz="1300" b="0">
                          <a:solidFill>
                            <a:srgbClr val="333333"/>
                          </a:solidFill>
                          <a:latin typeface="Calibri"/>
                        </a:defRPr>
                      </a:pPr>
                      <a:r>
                        <a:t>L2 penalty, C = 1.0, lbfgs, max_iter = 1,000</a:t>
                      </a:r>
                    </a:p>
                  </a:txBody>
                  <a:tcPr marL="45720" marR="45720" marT="9144" marB="9144" anchor="ctr"/>
                </a:tc>
              </a:tr>
              <a:tr h="384048">
                <a:tc>
                  <a:txBody>
                    <a:bodyPr wrap="square"/>
                    <a:lstStyle/>
                    <a:p>
                      <a:pPr algn="l">
                        <a:defRPr sz="1300" b="0">
                          <a:solidFill>
                            <a:srgbClr val="333333"/>
                          </a:solidFill>
                          <a:latin typeface="Calibri"/>
                        </a:defRPr>
                      </a:pPr>
                      <a:r>
                        <a:t>Decision Tree</a:t>
                      </a:r>
                    </a:p>
                  </a:txBody>
                  <a:tcPr marL="45720" marR="45720" marT="9144" marB="9144" anchor="ctr">
                    <a:solidFill>
                      <a:srgbClr val="F2F2F2"/>
                    </a:solidFill>
                  </a:tcPr>
                </a:tc>
                <a:tc>
                  <a:txBody>
                    <a:bodyPr wrap="square"/>
                    <a:lstStyle/>
                    <a:p>
                      <a:pPr algn="l">
                        <a:defRPr sz="1300" b="0">
                          <a:solidFill>
                            <a:srgbClr val="333333"/>
                          </a:solidFill>
                          <a:latin typeface="Calibri"/>
                        </a:defRPr>
                      </a:pPr>
                      <a:r>
                        <a:t>max_depth = 10, min_samples_leaf = 10  (pruned, not unconstrained)</a:t>
                      </a:r>
                    </a:p>
                  </a:txBody>
                  <a:tcPr marL="45720" marR="45720" marT="9144" marB="9144" anchor="ctr">
                    <a:solidFill>
                      <a:srgbClr val="F2F2F2"/>
                    </a:solidFill>
                  </a:tcPr>
                </a:tc>
              </a:tr>
              <a:tr h="384048">
                <a:tc>
                  <a:txBody>
                    <a:bodyPr wrap="square"/>
                    <a:lstStyle/>
                    <a:p>
                      <a:pPr algn="l">
                        <a:defRPr sz="1300" b="0">
                          <a:solidFill>
                            <a:srgbClr val="333333"/>
                          </a:solidFill>
                          <a:latin typeface="Calibri"/>
                        </a:defRPr>
                      </a:pPr>
                      <a:r>
                        <a:t>Random Forest</a:t>
                      </a:r>
                    </a:p>
                  </a:txBody>
                  <a:tcPr marL="45720" marR="45720" marT="9144" marB="9144" anchor="ctr"/>
                </a:tc>
                <a:tc>
                  <a:txBody>
                    <a:bodyPr wrap="square"/>
                    <a:lstStyle/>
                    <a:p>
                      <a:pPr algn="l">
                        <a:defRPr sz="1300" b="0">
                          <a:solidFill>
                            <a:srgbClr val="333333"/>
                          </a:solidFill>
                          <a:latin typeface="Calibri"/>
                        </a:defRPr>
                      </a:pPr>
                      <a:r>
                        <a:t>300 trees, max_depth = 15, min_samples_leaf = 5</a:t>
                      </a:r>
                    </a:p>
                  </a:txBody>
                  <a:tcPr marL="45720" marR="45720" marT="9144" marB="9144" anchor="ctr"/>
                </a:tc>
              </a:tr>
              <a:tr h="384048">
                <a:tc>
                  <a:txBody>
                    <a:bodyPr wrap="square"/>
                    <a:lstStyle/>
                    <a:p>
                      <a:pPr algn="l">
                        <a:defRPr sz="1300" b="0">
                          <a:solidFill>
                            <a:srgbClr val="333333"/>
                          </a:solidFill>
                          <a:latin typeface="Calibri"/>
                        </a:defRPr>
                      </a:pPr>
                      <a:r>
                        <a:t>XGBoost</a:t>
                      </a:r>
                    </a:p>
                  </a:txBody>
                  <a:tcPr marL="45720" marR="45720" marT="9144" marB="9144" anchor="ctr">
                    <a:solidFill>
                      <a:srgbClr val="F2F2F2"/>
                    </a:solidFill>
                  </a:tcPr>
                </a:tc>
                <a:tc>
                  <a:txBody>
                    <a:bodyPr wrap="square"/>
                    <a:lstStyle/>
                    <a:p>
                      <a:pPr algn="l">
                        <a:defRPr sz="1300" b="0">
                          <a:solidFill>
                            <a:srgbClr val="333333"/>
                          </a:solidFill>
                          <a:latin typeface="Calibri"/>
                        </a:defRPr>
                      </a:pPr>
                      <a:r>
                        <a:t>400 rounds, max_depth = 6, lr = 0.05, subsample = colsample = 0.8</a:t>
                      </a:r>
                    </a:p>
                  </a:txBody>
                  <a:tcPr marL="45720" marR="45720" marT="9144" marB="9144" anchor="ctr">
                    <a:solidFill>
                      <a:srgbClr val="F2F2F2"/>
                    </a:solidFill>
                  </a:tcPr>
                </a:tc>
              </a:tr>
              <a:tr h="384048">
                <a:tc>
                  <a:txBody>
                    <a:bodyPr wrap="square"/>
                    <a:lstStyle/>
                    <a:p>
                      <a:pPr algn="l">
                        <a:defRPr sz="1300" b="0">
                          <a:solidFill>
                            <a:srgbClr val="333333"/>
                          </a:solidFill>
                          <a:latin typeface="Calibri"/>
                        </a:defRPr>
                      </a:pPr>
                      <a:r>
                        <a:t>LightGBM</a:t>
                      </a:r>
                    </a:p>
                  </a:txBody>
                  <a:tcPr marL="45720" marR="45720" marT="9144" marB="9144" anchor="ctr"/>
                </a:tc>
                <a:tc>
                  <a:txBody>
                    <a:bodyPr wrap="square"/>
                    <a:lstStyle/>
                    <a:p>
                      <a:pPr algn="l">
                        <a:defRPr sz="1300" b="0">
                          <a:solidFill>
                            <a:srgbClr val="333333"/>
                          </a:solidFill>
                          <a:latin typeface="Calibri"/>
                        </a:defRPr>
                      </a:pPr>
                      <a:r>
                        <a:t>as XGBoost, max_depth = 8</a:t>
                      </a:r>
                    </a:p>
                  </a:txBody>
                  <a:tcPr marL="45720" marR="45720" marT="9144" marB="9144" anchor="ctr"/>
                </a:tc>
              </a:tr>
              <a:tr h="384048">
                <a:tc>
                  <a:txBody>
                    <a:bodyPr wrap="square"/>
                    <a:lstStyle/>
                    <a:p>
                      <a:pPr algn="l">
                        <a:defRPr sz="1300" b="0">
                          <a:solidFill>
                            <a:srgbClr val="333333"/>
                          </a:solidFill>
                          <a:latin typeface="Calibri"/>
                        </a:defRPr>
                      </a:pPr>
                      <a:r>
                        <a:t>CatBoost</a:t>
                      </a:r>
                    </a:p>
                  </a:txBody>
                  <a:tcPr marL="45720" marR="45720" marT="9144" marB="9144" anchor="ctr">
                    <a:solidFill>
                      <a:srgbClr val="F2F2F2"/>
                    </a:solidFill>
                  </a:tcPr>
                </a:tc>
                <a:tc>
                  <a:txBody>
                    <a:bodyPr wrap="square"/>
                    <a:lstStyle/>
                    <a:p>
                      <a:pPr algn="l">
                        <a:defRPr sz="1300" b="0">
                          <a:solidFill>
                            <a:srgbClr val="333333"/>
                          </a:solidFill>
                          <a:latin typeface="Calibri"/>
                        </a:defRPr>
                      </a:pPr>
                      <a:r>
                        <a:t>400 iterations, depth = 6, lr = 0.05</a:t>
                      </a:r>
                    </a:p>
                  </a:txBody>
                  <a:tcPr marL="45720" marR="45720" marT="9144" marB="9144" anchor="ctr">
                    <a:solidFill>
                      <a:srgbClr val="F2F2F2"/>
                    </a:solidFill>
                  </a:tcPr>
                </a:tc>
              </a:tr>
            </a:tbl>
          </a:graphicData>
        </a:graphic>
      </p:graphicFrame>
      <p:sp>
        <p:nvSpPr>
          <p:cNvPr id="7" name="TextBox 6"/>
          <p:cNvSpPr txBox="1"/>
          <p:nvPr/>
        </p:nvSpPr>
        <p:spPr>
          <a:xfrm>
            <a:off x="548640" y="3931920"/>
            <a:ext cx="11064240" cy="2377440"/>
          </a:xfrm>
          <a:prstGeom prst="rect">
            <a:avLst/>
          </a:prstGeom>
          <a:noFill/>
        </p:spPr>
        <p:txBody>
          <a:bodyPr wrap="square" lIns="64008" rIns="64008" tIns="18288" bIns="18288">
            <a:noAutofit/>
          </a:bodyPr>
          <a:lstStyle/>
          <a:p>
            <a:pPr algn="l">
              <a:lnSpc>
                <a:spcPct val="120000"/>
              </a:lnSpc>
              <a:spcAft>
                <a:spcPts val="900"/>
              </a:spcAft>
              <a:defRPr sz="1450" b="0" i="0">
                <a:solidFill>
                  <a:srgbClr val="333333"/>
                </a:solidFill>
                <a:latin typeface="Calibri"/>
              </a:defRPr>
            </a:pPr>
            <a:r>
              <a:t>•  Fixed a priori and not tuned per configuration, so neither the hold-out set nor any CV fold is consumed by model selection. The Decision Tree is therefore a pruned tree, not an unconstrained one — which matters for reading its position in Table 10.</a:t>
            </a:r>
          </a:p>
          <a:p>
            <a:pPr algn="l">
              <a:lnSpc>
                <a:spcPct val="120000"/>
              </a:lnSpc>
              <a:spcAft>
                <a:spcPts val="900"/>
              </a:spcAft>
              <a:defRPr sz="1450" b="0" i="0">
                <a:solidFill>
                  <a:srgbClr val="333333"/>
                </a:solidFill>
                <a:latin typeface="Calibri"/>
              </a:defRPr>
            </a:pPr>
            <a:r>
              <a:t>•  Single software environment for every number in Tables 3–10 and Appendix B: scikit-learn 1.9.0, xgboost 3.3.0, lightgbm 4.7.0, catboost 1.2.10, shap 0.52.0. random_state = 42 for every split, resample and model fit.</a:t>
            </a:r>
          </a:p>
          <a:p>
            <a:pPr algn="l">
              <a:lnSpc>
                <a:spcPct val="120000"/>
              </a:lnSpc>
              <a:spcAft>
                <a:spcPts val="900"/>
              </a:spcAft>
              <a:defRPr sz="1450" b="0" i="0">
                <a:solidFill>
                  <a:srgbClr val="333333"/>
                </a:solidFill>
                <a:latin typeface="Calibri"/>
              </a:defRPr>
            </a:pPr>
            <a:r>
              <a:t>•  All twelve configurations were evaluated on the identical 25 cross-validation partitions, so every reported difference is properly paired.</a:t>
            </a:r>
          </a:p>
          <a:p>
            <a:pPr algn="l">
              <a:lnSpc>
                <a:spcPct val="120000"/>
              </a:lnSpc>
              <a:spcAft>
                <a:spcPts val="700"/>
              </a:spcAft>
              <a:defRPr sz="1450" b="0" i="0">
                <a:solidFill>
                  <a:srgbClr val="333333"/>
                </a:solidFill>
                <a:latin typeface="Calibri"/>
              </a:defRPr>
            </a:pPr>
            <a:r>
              <a:t>•  Five of the eleven features are categorical, including the nominal branch identifiers ORGNBR and PARENTORGNBR. For non-CatBoost models these remain label-encoded — a stated limitation. SMOTE was rejected because interpolating between encoded category values has no contractual meaning.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