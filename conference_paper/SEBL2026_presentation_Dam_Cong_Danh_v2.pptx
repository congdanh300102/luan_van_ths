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A22"/>
    <a:srgbClr val="144E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5" d="100"/>
          <a:sy n="65" d="100"/>
        </p:scale>
        <p:origin x="80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E2F57"/>
                </a:solidFill>
              </a:rPr>
              <a:t>Debt-group distribution (% of 27,001 loans)</a:t>
            </a:r>
          </a:p>
        </c:rich>
      </c:tx>
      <c:layout/>
      <c:overlay val="0"/>
    </c:title>
    <c:autoTitleDeleted val="0"/>
    <c:plotArea>
      <c:barChart>
        <c:barDir val="col"/>
        <c:grouping val="clustered"/>
        <c:ser>
          <c:idx val="0"/>
          <c:order val="0"/>
          <c:tx>
            <c:strRef>
              <c:f>Sheet1!$B$1</c:f>
              <c:strCache>
                <c:ptCount val="1"/>
                <c:pt idx="0">
                  <c:v>Share of loans (%)</c:v>
                </c:pt>
              </c:strCache>
            </c:strRef>
          </c:tx>
          <c:dPt>
            <c:idx val="0"/>
            <c:spPr>
              <a:solidFill>
                <a:srgbClr val="144E8C"/>
              </a:solidFill>
            </c:spPr>
          </c:dPt>
          <c:dPt>
            <c:idx val="1"/>
            <c:spPr>
              <a:solidFill>
                <a:srgbClr val="6F9BD1"/>
              </a:solidFill>
            </c:spPr>
          </c:dPt>
          <c:dPt>
            <c:idx val="2"/>
            <c:spPr>
              <a:solidFill>
                <a:srgbClr val="F2581E"/>
              </a:solidFill>
            </c:spPr>
          </c:dPt>
          <c:dPt>
            <c:idx val="3"/>
            <c:spPr>
              <a:solidFill>
                <a:srgbClr val="F2581E"/>
              </a:solidFill>
            </c:spPr>
          </c:dPt>
          <c:dPt>
            <c:idx val="4"/>
            <c:spPr>
              <a:solidFill>
                <a:srgbClr val="F2581E"/>
              </a:solidFill>
            </c:spPr>
          </c:dPt>
          <c:cat>
            <c:strRef>
              <c:f>Sheet1!$A$2:$A$6</c:f>
              <c:strCache>
                <c:ptCount val="5"/>
                <c:pt idx="0">
                  <c:v>G1 Standard</c:v>
                </c:pt>
                <c:pt idx="1">
                  <c:v>G2 Special
mention</c:v>
                </c:pt>
                <c:pt idx="2">
                  <c:v>G3 Sub-
standard</c:v>
                </c:pt>
                <c:pt idx="3">
                  <c:v>G4 Doubtful</c:v>
                </c:pt>
                <c:pt idx="4">
                  <c:v>G5 Loss</c:v>
                </c:pt>
              </c:strCache>
            </c:strRef>
          </c:cat>
          <c:val>
            <c:numRef>
              <c:f>Sheet1!$B$2:$B$6</c:f>
              <c:numCache>
                <c:formatCode>General</c:formatCode>
                <c:ptCount val="5"/>
                <c:pt idx="0">
                  <c:v>77.65</c:v>
                </c:pt>
                <c:pt idx="1">
                  <c:v>4.77</c:v>
                </c:pt>
                <c:pt idx="2">
                  <c:v>2.24</c:v>
                </c:pt>
                <c:pt idx="3">
                  <c:v>2.9</c:v>
                </c:pt>
                <c:pt idx="4">
                  <c:v>12.45</c:v>
                </c:pt>
              </c:numCache>
            </c:numRef>
          </c:val>
        </c:ser>
        <c:dLbls>
          <c:numFmt formatCode="0.00&quot;%&quot;" sourceLinked="0"/>
          <c:txPr>
            <a:bodyPr/>
            <a:lstStyle/>
            <a:p>
              <a:pPr>
                <a:defRPr sz="1200" b="1">
                  <a:solidFill>
                    <a:srgbClr val="0E2F5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2CE"/>
            </a:solidFill>
          </a:ln>
        </c:spPr>
        <c:crossAx val="-2113994440"/>
        <c:crosses val="autoZero"/>
        <c:auto val="1"/>
        <c:lblAlgn val="ctr"/>
        <c:lblOffset val="100"/>
        <c:noMultiLvlLbl val="0"/>
      </c:catAx>
      <c:valAx>
        <c:axId val="-2113994440"/>
        <c:scaling>
          <c:max val="90.0"/>
          <c:min val="0.0"/>
        </c:scaling>
        <c:delete val="0"/>
        <c:axPos val="l"/>
        <c:majorGridlines>
          <c:spPr>
            <a:ln w="9525">
              <a:solidFill>
                <a:srgbClr val="DDE3EA"/>
              </a:solidFill>
            </a:ln>
          </c:spPr>
        </c:majorGridlines>
        <c:numFmt formatCode="0" sourceLinked="0"/>
        <c:majorTickMark val="out"/>
        <c:minorTickMark val="none"/>
        <c:tickLblPos val="nextTo"/>
        <c:spPr>
          <a:ln>
            <a:noFill/>
          </a:ln>
        </c:spPr>
        <c:crossAx val="-2068027336"/>
        <c:crosses val="autoZero"/>
        <c:majorUnit val="20.0"/>
      </c:valAx>
    </c:plotArea>
    <c:dispBlanksAs val="gap"/>
  </c:chart>
  <c:txPr>
    <a:bodyPr/>
    <a:lstStyle/>
    <a:p>
      <a:pPr>
        <a:defRPr sz="1100">
          <a:solidFill>
            <a:srgbClr val="5A657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E2F57"/>
                </a:solidFill>
              </a:rPr>
              <a:t>Hold-out Macro-F1, 11-feature configuration</a:t>
            </a:r>
          </a:p>
        </c:rich>
      </c:tx>
      <c:layout/>
      <c:overlay val="0"/>
    </c:title>
    <c:autoTitleDeleted val="0"/>
    <c:plotArea>
      <c:barChart>
        <c:barDir val="col"/>
        <c:grouping val="clustered"/>
        <c:ser>
          <c:idx val="0"/>
          <c:order val="0"/>
          <c:tx>
            <c:strRef>
              <c:f>Sheet1!$B$1</c:f>
              <c:strCache>
                <c:ptCount val="1"/>
                <c:pt idx="0">
                  <c:v>Class weighting</c:v>
                </c:pt>
              </c:strCache>
            </c:strRef>
          </c:tx>
          <c:spPr>
            <a:solidFill>
              <a:srgbClr val="F7A583"/>
            </a:solidFill>
          </c:spPr>
          <c:cat>
            <c:strRef>
              <c:f>Sheet1!$A$2:$A$7</c:f>
              <c:strCache>
                <c:ptCount val="6"/>
                <c:pt idx="0">
                  <c:v>Logistic Reg.</c:v>
                </c:pt>
                <c:pt idx="1">
                  <c:v>Decision Tree</c:v>
                </c:pt>
                <c:pt idx="2">
                  <c:v>Random Forest</c:v>
                </c:pt>
                <c:pt idx="3">
                  <c:v>XGBoost</c:v>
                </c:pt>
                <c:pt idx="4">
                  <c:v>LightGBM</c:v>
                </c:pt>
                <c:pt idx="5">
                  <c:v>CatBoost</c:v>
                </c:pt>
              </c:strCache>
            </c:strRef>
          </c:cat>
          <c:val>
            <c:numRef>
              <c:f>Sheet1!$B$2:$B$7</c:f>
              <c:numCache>
                <c:formatCode>General</c:formatCode>
                <c:ptCount val="6"/>
                <c:pt idx="0">
                  <c:v>0.3946</c:v>
                </c:pt>
                <c:pt idx="1">
                  <c:v>0.4962</c:v>
                </c:pt>
                <c:pt idx="2">
                  <c:v>0.5699</c:v>
                </c:pt>
                <c:pt idx="3">
                  <c:v>0.5966</c:v>
                </c:pt>
                <c:pt idx="4">
                  <c:v>0.6044</c:v>
                </c:pt>
                <c:pt idx="5">
                  <c:v>0.546</c:v>
                </c:pt>
              </c:numCache>
            </c:numRef>
          </c:val>
        </c:ser>
        <c:ser>
          <c:idx val="1"/>
          <c:order val="1"/>
          <c:tx>
            <c:strRef>
              <c:f>Sheet1!$C$1</c:f>
              <c:strCache>
                <c:ptCount val="1"/>
                <c:pt idx="0">
                  <c:v>No weighting</c:v>
                </c:pt>
              </c:strCache>
            </c:strRef>
          </c:tx>
          <c:spPr>
            <a:solidFill>
              <a:srgbClr val="144E8C"/>
            </a:solidFill>
          </c:spPr>
          <c:cat>
            <c:strRef>
              <c:f>Sheet1!$A$2:$A$7</c:f>
              <c:strCache>
                <c:ptCount val="6"/>
                <c:pt idx="0">
                  <c:v>Logistic Reg.</c:v>
                </c:pt>
                <c:pt idx="1">
                  <c:v>Decision Tree</c:v>
                </c:pt>
                <c:pt idx="2">
                  <c:v>Random Forest</c:v>
                </c:pt>
                <c:pt idx="3">
                  <c:v>XGBoost</c:v>
                </c:pt>
                <c:pt idx="4">
                  <c:v>LightGBM</c:v>
                </c:pt>
                <c:pt idx="5">
                  <c:v>CatBoost</c:v>
                </c:pt>
              </c:strCache>
            </c:strRef>
          </c:cat>
          <c:val>
            <c:numRef>
              <c:f>Sheet1!$C$2:$C$7</c:f>
              <c:numCache>
                <c:formatCode>General</c:formatCode>
                <c:ptCount val="6"/>
                <c:pt idx="0">
                  <c:v>0.3628</c:v>
                </c:pt>
                <c:pt idx="1">
                  <c:v>0.6245</c:v>
                </c:pt>
                <c:pt idx="2">
                  <c:v>0.6149</c:v>
                </c:pt>
                <c:pt idx="3">
                  <c:v>0.6197</c:v>
                </c:pt>
                <c:pt idx="4">
                  <c:v>0.6248</c:v>
                </c:pt>
                <c:pt idx="5">
                  <c:v>0.6074</c:v>
                </c:pt>
              </c:numCache>
            </c:numRef>
          </c:val>
        </c:ser>
        <c:dLbls>
          <c:numFmt formatCode="0.000" sourceLinked="0"/>
          <c:txPr>
            <a:bodyPr/>
            <a:lstStyle/>
            <a:p>
              <a:pPr>
                <a:defRPr sz="900">
                  <a:solidFill>
                    <a:srgbClr val="5A6573"/>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8C2CE"/>
            </a:solidFill>
          </a:ln>
        </c:spPr>
        <c:crossAx val="-2113994440"/>
        <c:crosses val="autoZero"/>
        <c:auto val="1"/>
        <c:lblAlgn val="ctr"/>
        <c:lblOffset val="100"/>
        <c:noMultiLvlLbl val="0"/>
      </c:catAx>
      <c:valAx>
        <c:axId val="-2113994440"/>
        <c:scaling>
          <c:max val="0.7"/>
          <c:min val="0.3"/>
        </c:scaling>
        <c:delete val="0"/>
        <c:axPos val="l"/>
        <c:majorGridlines>
          <c:spPr>
            <a:ln w="9525">
              <a:solidFill>
                <a:srgbClr val="DDE3EA"/>
              </a:solidFill>
            </a:ln>
          </c:spPr>
        </c:majorGridlines>
        <c:numFmt formatCode="0.0" sourceLinked="0"/>
        <c:majorTickMark val="out"/>
        <c:minorTickMark val="none"/>
        <c:tickLblPos val="nextTo"/>
        <c:spPr>
          <a:ln>
            <a:noFill/>
          </a:ln>
        </c:spPr>
        <c:crossAx val="-2068027336"/>
        <c:crosses val="autoZero"/>
        <c:majorUnit val="0.1"/>
      </c:valAx>
    </c:plotArea>
    <c:legend>
      <c:legendPos val="t"/>
      <c:overlay val="0"/>
      <c:txPr>
        <a:bodyPr/>
        <a:lstStyle/>
        <a:p>
          <a:pPr>
            <a:defRPr sz="1100"/>
          </a:pPr>
        </a:p>
      </c:txPr>
    </c:legend>
    <c:dispBlanksAs val="gap"/>
  </c:chart>
  <c:txPr>
    <a:bodyPr/>
    <a:lstStyle/>
    <a:p>
      <a:pPr>
        <a:defRPr sz="1100">
          <a:solidFill>
            <a:srgbClr val="5A657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E2F57"/>
                </a:solidFill>
              </a:rPr>
              <a:t>Hold-out Macro-F1 by number of top-k features (no weighting)</a:t>
            </a:r>
          </a:p>
        </c:rich>
      </c:tx>
      <c:layout/>
      <c:overlay val="0"/>
    </c:title>
    <c:autoTitleDeleted val="0"/>
    <c:plotArea>
      <c:lineChart>
        <c:grouping val="standard"/>
        <c:varyColors val="0"/>
        <c:ser>
          <c:idx val="0"/>
          <c:order val="0"/>
          <c:tx>
            <c:strRef>
              <c:f>Sheet1!$B$1</c:f>
              <c:strCache>
                <c:ptCount val="1"/>
                <c:pt idx="0">
                  <c:v>XGBoost ranking</c:v>
                </c:pt>
              </c:strCache>
            </c:strRef>
          </c:tx>
          <c:spPr>
            <a:ln w="31750">
              <a:solidFill>
                <a:srgbClr val="144E8C"/>
              </a:solidFill>
            </a:ln>
          </c:spPr>
          <c:marker>
            <c:symbol val="circle"/>
            <c:size val="8"/>
            <c:spPr>
              <a:solidFill>
                <a:srgbClr val="144E8C"/>
              </a:solidFill>
              <a:ln>
                <a:solidFill>
                  <a:srgbClr val="144E8C"/>
                </a:solidFill>
              </a:ln>
            </c:spPr>
          </c:marker>
          <c:cat>
            <c:strRef>
              <c:f>Sheet1!$A$2:$A$7</c:f>
              <c:strCache>
                <c:ptCount val="6"/>
                <c:pt idx="0">
                  <c:v>3</c:v>
                </c:pt>
                <c:pt idx="1">
                  <c:v>5</c:v>
                </c:pt>
                <c:pt idx="2">
                  <c:v>7</c:v>
                </c:pt>
                <c:pt idx="3">
                  <c:v>9</c:v>
                </c:pt>
                <c:pt idx="4">
                  <c:v>11</c:v>
                </c:pt>
                <c:pt idx="5">
                  <c:v>13</c:v>
                </c:pt>
              </c:strCache>
            </c:strRef>
          </c:cat>
          <c:val>
            <c:numRef>
              <c:f>Sheet1!$B$2:$B$7</c:f>
              <c:numCache>
                <c:formatCode>General</c:formatCode>
                <c:ptCount val="6"/>
                <c:pt idx="0">
                  <c:v>0.6043</c:v>
                </c:pt>
                <c:pt idx="1">
                  <c:v>0.6061</c:v>
                </c:pt>
                <c:pt idx="2">
                  <c:v>0.6241</c:v>
                </c:pt>
                <c:pt idx="3">
                  <c:v>0.6139</c:v>
                </c:pt>
                <c:pt idx="4">
                  <c:v>0.6197</c:v>
                </c:pt>
                <c:pt idx="5">
                  <c:v>0.6194</c:v>
                </c:pt>
              </c:numCache>
            </c:numRef>
          </c:val>
          <c:smooth val="0"/>
        </c:ser>
        <c:ser>
          <c:idx val="1"/>
          <c:order val="1"/>
          <c:tx>
            <c:strRef>
              <c:f>Sheet1!$C$1</c:f>
              <c:strCache>
                <c:ptCount val="1"/>
                <c:pt idx="0">
                  <c:v>LightGBM ranking</c:v>
                </c:pt>
              </c:strCache>
            </c:strRef>
          </c:tx>
          <c:spPr>
            <a:ln w="31750">
              <a:solidFill>
                <a:srgbClr val="F2581E"/>
              </a:solidFill>
            </a:ln>
          </c:spPr>
          <c:marker>
            <c:symbol val="circle"/>
            <c:size val="8"/>
            <c:spPr>
              <a:solidFill>
                <a:srgbClr val="F2581E"/>
              </a:solidFill>
              <a:ln>
                <a:solidFill>
                  <a:srgbClr val="F2581E"/>
                </a:solidFill>
              </a:ln>
            </c:spPr>
          </c:marker>
          <c:cat>
            <c:strRef>
              <c:f>Sheet1!$A$2:$A$7</c:f>
              <c:strCache>
                <c:ptCount val="6"/>
                <c:pt idx="0">
                  <c:v>3</c:v>
                </c:pt>
                <c:pt idx="1">
                  <c:v>5</c:v>
                </c:pt>
                <c:pt idx="2">
                  <c:v>7</c:v>
                </c:pt>
                <c:pt idx="3">
                  <c:v>9</c:v>
                </c:pt>
                <c:pt idx="4">
                  <c:v>11</c:v>
                </c:pt>
                <c:pt idx="5">
                  <c:v>13</c:v>
                </c:pt>
              </c:strCache>
            </c:strRef>
          </c:cat>
          <c:val>
            <c:numRef>
              <c:f>Sheet1!$C$2:$C$7</c:f>
              <c:numCache>
                <c:formatCode>General</c:formatCode>
                <c:ptCount val="6"/>
                <c:pt idx="0">
                  <c:v>0.5909</c:v>
                </c:pt>
                <c:pt idx="1">
                  <c:v>0.6205</c:v>
                </c:pt>
                <c:pt idx="2">
                  <c:v>0.6119</c:v>
                </c:pt>
                <c:pt idx="3">
                  <c:v>0.6147</c:v>
                </c:pt>
                <c:pt idx="4">
                  <c:v>0.6234</c:v>
                </c:pt>
                <c:pt idx="5">
                  <c:v>0.6167</c:v>
                </c:pt>
              </c:numCache>
            </c:numRef>
          </c:val>
          <c:smooth val="0"/>
        </c:ser>
        <c:marker val="1"/>
        <c:smooth val="0"/>
        <c:axId val="2118791784"/>
        <c:axId val="2140495176"/>
      </c:lineChart>
      <c:catAx>
        <c:axId val="2118791784"/>
        <c:scaling>
          <c:orientation val="minMax"/>
        </c:scaling>
        <c:delete val="0"/>
        <c:axPos val="b"/>
        <c:title>
          <c:tx>
            <c:rich>
              <a:bodyPr/>
              <a:lstStyle/>
              <a:p>
                <a:r>
                  <a:rPr sz="1100" b="0"/>
                  <a:t>k (features used)</a:t>
                </a:r>
              </a:p>
            </c:rich>
          </c:tx>
          <c:layout/>
          <c:overlay val="0"/>
        </c:title>
        <c:majorTickMark val="out"/>
        <c:minorTickMark val="none"/>
        <c:tickLblPos val="nextTo"/>
        <c:spPr>
          <a:ln>
            <a:solidFill>
              <a:srgbClr val="B8C2CE"/>
            </a:solidFill>
          </a:ln>
        </c:spPr>
        <c:crossAx val="2140495176"/>
        <c:crosses val="autoZero"/>
        <c:auto val="1"/>
        <c:lblAlgn val="ctr"/>
        <c:lblOffset val="100"/>
        <c:noMultiLvlLbl val="0"/>
      </c:catAx>
      <c:valAx>
        <c:axId val="2140495176"/>
        <c:scaling>
          <c:max val="0.64"/>
          <c:min val="0.57"/>
        </c:scaling>
        <c:delete val="0"/>
        <c:axPos val="l"/>
        <c:majorGridlines>
          <c:spPr>
            <a:ln w="9525">
              <a:solidFill>
                <a:srgbClr val="DDE3EA"/>
              </a:solidFill>
            </a:ln>
          </c:spPr>
        </c:majorGridlines>
        <c:numFmt formatCode="0.00" sourceLinked="0"/>
        <c:majorTickMark val="out"/>
        <c:minorTickMark val="none"/>
        <c:tickLblPos val="nextTo"/>
        <c:spPr>
          <a:ln>
            <a:noFill/>
          </a:ln>
        </c:spPr>
        <c:crossAx val="2118791784"/>
        <c:crosses val="autoZero"/>
        <c:majorUnit val="0.01"/>
      </c:valAx>
    </c:plotArea>
    <c:legend>
      <c:legendPos val="t"/>
      <c:layout/>
      <c:overlay val="0"/>
      <c:txPr>
        <a:bodyPr/>
        <a:lstStyle/>
        <a:p>
          <a:pPr>
            <a:defRPr sz="1100"/>
          </a:pPr>
        </a:p>
      </c:txPr>
    </c:legend>
    <c:plotVisOnly val="1"/>
    <c:dispBlanksAs val="gap"/>
    <c:showDLblsOverMax val="0"/>
  </c:chart>
  <c:txPr>
    <a:bodyPr/>
    <a:lstStyle/>
    <a:p>
      <a:pPr>
        <a:defRPr sz="1100">
          <a:solidFill>
            <a:srgbClr val="5A657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E2F57"/>
                </a:solidFill>
              </a:rPr>
              <a:t>Gain share (13-variable pool) — unstable</a:t>
            </a:r>
          </a:p>
        </c:rich>
      </c:tx>
      <c:layout/>
      <c:overlay val="0"/>
    </c:title>
    <c:autoTitleDeleted val="0"/>
    <c:plotArea>
      <c:barChart>
        <c:barDir val="bar"/>
        <c:grouping val="clustered"/>
        <c:ser>
          <c:idx val="0"/>
          <c:order val="0"/>
          <c:tx>
            <c:strRef>
              <c:f>Sheet1!$B$1</c:f>
              <c:strCache>
                <c:ptCount val="1"/>
                <c:pt idx="0">
                  <c:v>XGB · none</c:v>
                </c:pt>
              </c:strCache>
            </c:strRef>
          </c:tx>
          <c:spPr>
            <a:solidFill>
              <a:srgbClr val="144E8C"/>
            </a:solidFill>
          </c:spPr>
          <c:cat>
            <c:strRef>
              <c:f>Sheet1!$A$2:$A$7</c:f>
              <c:strCache>
                <c:ptCount val="6"/>
                <c:pt idx="0">
                  <c:v>Tenure / maturity</c:v>
                </c:pt>
                <c:pt idx="1">
                  <c:v>Balance &amp; utilization</c:v>
                </c:pt>
                <c:pt idx="2">
                  <c:v>Branch / org. unit</c:v>
                </c:pt>
                <c:pt idx="3">
                  <c:v>Product &amp; purpose</c:v>
                </c:pt>
                <c:pt idx="4">
                  <c:v>Interest rate</c:v>
                </c:pt>
                <c:pt idx="5">
                  <c:v>Demographics</c:v>
                </c:pt>
              </c:strCache>
            </c:strRef>
          </c:cat>
          <c:val>
            <c:numRef>
              <c:f>Sheet1!$B$2:$B$7</c:f>
              <c:numCache>
                <c:formatCode>General</c:formatCode>
                <c:ptCount val="6"/>
                <c:pt idx="0">
                  <c:v>43.1</c:v>
                </c:pt>
                <c:pt idx="1">
                  <c:v>11.2</c:v>
                </c:pt>
                <c:pt idx="2">
                  <c:v>7.6</c:v>
                </c:pt>
                <c:pt idx="3">
                  <c:v>24.7</c:v>
                </c:pt>
                <c:pt idx="4">
                  <c:v>7.7</c:v>
                </c:pt>
                <c:pt idx="5">
                  <c:v>5.6</c:v>
                </c:pt>
              </c:numCache>
            </c:numRef>
          </c:val>
        </c:ser>
        <c:ser>
          <c:idx val="1"/>
          <c:order val="1"/>
          <c:tx>
            <c:strRef>
              <c:f>Sheet1!$C$1</c:f>
              <c:strCache>
                <c:ptCount val="1"/>
                <c:pt idx="0">
                  <c:v>LGBM · none</c:v>
                </c:pt>
              </c:strCache>
            </c:strRef>
          </c:tx>
          <c:spPr>
            <a:solidFill>
              <a:srgbClr val="6F9BD1"/>
            </a:solidFill>
          </c:spPr>
          <c:cat>
            <c:strRef>
              <c:f>Sheet1!$A$2:$A$7</c:f>
              <c:strCache>
                <c:ptCount val="6"/>
                <c:pt idx="0">
                  <c:v>Tenure / maturity</c:v>
                </c:pt>
                <c:pt idx="1">
                  <c:v>Balance &amp; utilization</c:v>
                </c:pt>
                <c:pt idx="2">
                  <c:v>Branch / org. unit</c:v>
                </c:pt>
                <c:pt idx="3">
                  <c:v>Product &amp; purpose</c:v>
                </c:pt>
                <c:pt idx="4">
                  <c:v>Interest rate</c:v>
                </c:pt>
                <c:pt idx="5">
                  <c:v>Demographics</c:v>
                </c:pt>
              </c:strCache>
            </c:strRef>
          </c:cat>
          <c:val>
            <c:numRef>
              <c:f>Sheet1!$C$2:$C$7</c:f>
              <c:numCache>
                <c:formatCode>General</c:formatCode>
                <c:ptCount val="6"/>
                <c:pt idx="0">
                  <c:v>60.0</c:v>
                </c:pt>
                <c:pt idx="1">
                  <c:v>18.3</c:v>
                </c:pt>
                <c:pt idx="2">
                  <c:v>9.1</c:v>
                </c:pt>
                <c:pt idx="3">
                  <c:v>7.1</c:v>
                </c:pt>
                <c:pt idx="4">
                  <c:v>4.4</c:v>
                </c:pt>
                <c:pt idx="5">
                  <c:v>1.1</c:v>
                </c:pt>
              </c:numCache>
            </c:numRef>
          </c:val>
        </c:ser>
        <c:ser>
          <c:idx val="2"/>
          <c:order val="2"/>
          <c:tx>
            <c:strRef>
              <c:f>Sheet1!$D$1</c:f>
              <c:strCache>
                <c:ptCount val="1"/>
                <c:pt idx="0">
                  <c:v>XGB · weighted</c:v>
                </c:pt>
              </c:strCache>
            </c:strRef>
          </c:tx>
          <c:spPr>
            <a:solidFill>
              <a:srgbClr val="F2581E"/>
            </a:solidFill>
          </c:spPr>
          <c:cat>
            <c:strRef>
              <c:f>Sheet1!$A$2:$A$7</c:f>
              <c:strCache>
                <c:ptCount val="6"/>
                <c:pt idx="0">
                  <c:v>Tenure / maturity</c:v>
                </c:pt>
                <c:pt idx="1">
                  <c:v>Balance &amp; utilization</c:v>
                </c:pt>
                <c:pt idx="2">
                  <c:v>Branch / org. unit</c:v>
                </c:pt>
                <c:pt idx="3">
                  <c:v>Product &amp; purpose</c:v>
                </c:pt>
                <c:pt idx="4">
                  <c:v>Interest rate</c:v>
                </c:pt>
                <c:pt idx="5">
                  <c:v>Demographics</c:v>
                </c:pt>
              </c:strCache>
            </c:strRef>
          </c:cat>
          <c:val>
            <c:numRef>
              <c:f>Sheet1!$D$2:$D$7</c:f>
              <c:numCache>
                <c:formatCode>General</c:formatCode>
                <c:ptCount val="6"/>
                <c:pt idx="0">
                  <c:v>31.7</c:v>
                </c:pt>
                <c:pt idx="1">
                  <c:v>16.8</c:v>
                </c:pt>
                <c:pt idx="2">
                  <c:v>11.2</c:v>
                </c:pt>
                <c:pt idx="3">
                  <c:v>21.7</c:v>
                </c:pt>
                <c:pt idx="4">
                  <c:v>9.0</c:v>
                </c:pt>
                <c:pt idx="5">
                  <c:v>9.7</c:v>
                </c:pt>
              </c:numCache>
            </c:numRef>
          </c:val>
        </c:ser>
        <c:ser>
          <c:idx val="3"/>
          <c:order val="3"/>
          <c:tx>
            <c:strRef>
              <c:f>Sheet1!$E$1</c:f>
              <c:strCache>
                <c:ptCount val="1"/>
                <c:pt idx="0">
                  <c:v>LGBM · weighted</c:v>
                </c:pt>
              </c:strCache>
            </c:strRef>
          </c:tx>
          <c:spPr>
            <a:solidFill>
              <a:srgbClr val="F7A583"/>
            </a:solidFill>
          </c:spPr>
          <c:cat>
            <c:strRef>
              <c:f>Sheet1!$A$2:$A$7</c:f>
              <c:strCache>
                <c:ptCount val="6"/>
                <c:pt idx="0">
                  <c:v>Tenure / maturity</c:v>
                </c:pt>
                <c:pt idx="1">
                  <c:v>Balance &amp; utilization</c:v>
                </c:pt>
                <c:pt idx="2">
                  <c:v>Branch / org. unit</c:v>
                </c:pt>
                <c:pt idx="3">
                  <c:v>Product &amp; purpose</c:v>
                </c:pt>
                <c:pt idx="4">
                  <c:v>Interest rate</c:v>
                </c:pt>
                <c:pt idx="5">
                  <c:v>Demographics</c:v>
                </c:pt>
              </c:strCache>
            </c:strRef>
          </c:cat>
          <c:val>
            <c:numRef>
              <c:f>Sheet1!$E$2:$E$7</c:f>
              <c:numCache>
                <c:formatCode>General</c:formatCode>
                <c:ptCount val="6"/>
                <c:pt idx="0">
                  <c:v>49.3</c:v>
                </c:pt>
                <c:pt idx="1">
                  <c:v>24.6</c:v>
                </c:pt>
                <c:pt idx="2">
                  <c:v>12.5</c:v>
                </c:pt>
                <c:pt idx="3">
                  <c:v>5.7</c:v>
                </c:pt>
                <c:pt idx="4">
                  <c:v>6.2</c:v>
                </c:pt>
                <c:pt idx="5">
                  <c:v>1.6</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B8C2CE"/>
            </a:solidFill>
          </a:ln>
        </c:spPr>
        <c:crossAx val="-2113994440"/>
        <c:crosses val="autoZero"/>
        <c:auto val="1"/>
        <c:lblAlgn val="ctr"/>
        <c:lblOffset val="100"/>
        <c:noMultiLvlLbl val="0"/>
      </c:catAx>
      <c:valAx>
        <c:axId val="-2113994440"/>
        <c:scaling>
          <c:max val="60.0"/>
          <c:min val="0.0"/>
        </c:scaling>
        <c:delete val="0"/>
        <c:axPos val="b"/>
        <c:majorGridlines>
          <c:spPr>
            <a:ln w="9525">
              <a:solidFill>
                <a:srgbClr val="DDE3EA"/>
              </a:solidFill>
            </a:ln>
          </c:spPr>
        </c:majorGridlines>
        <c:numFmt formatCode="0&quot;%&quot;" sourceLinked="0"/>
        <c:majorTickMark val="out"/>
        <c:minorTickMark val="none"/>
        <c:tickLblPos val="low"/>
        <c:spPr>
          <a:ln>
            <a:noFill/>
          </a:ln>
        </c:spPr>
        <c:crossAx val="-2068027336"/>
        <c:crosses val="autoZero"/>
        <c:majorUnit val="20.0"/>
      </c:valAx>
    </c:plotArea>
    <c:dispBlanksAs val="gap"/>
  </c:chart>
  <c:txPr>
    <a:bodyPr/>
    <a:lstStyle/>
    <a:p>
      <a:pPr>
        <a:defRPr sz="1050">
          <a:solidFill>
            <a:srgbClr val="5A657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E2F57"/>
                </a:solidFill>
              </a:rPr>
              <a:t>SHAP share (11-feature model) — stable</a:t>
            </a:r>
          </a:p>
        </c:rich>
      </c:tx>
      <c:layout/>
      <c:overlay val="0"/>
    </c:title>
    <c:autoTitleDeleted val="0"/>
    <c:plotArea>
      <c:barChart>
        <c:barDir val="bar"/>
        <c:grouping val="clustered"/>
        <c:ser>
          <c:idx val="0"/>
          <c:order val="0"/>
          <c:tx>
            <c:strRef>
              <c:f>Sheet1!$B$1</c:f>
              <c:strCache>
                <c:ptCount val="1"/>
                <c:pt idx="0">
                  <c:v>XGB · none</c:v>
                </c:pt>
              </c:strCache>
            </c:strRef>
          </c:tx>
          <c:spPr>
            <a:solidFill>
              <a:srgbClr val="144E8C"/>
            </a:solidFill>
          </c:spPr>
          <c:cat>
            <c:strRef>
              <c:f>Sheet1!$A$2:$A$6</c:f>
              <c:strCache>
                <c:ptCount val="5"/>
                <c:pt idx="0">
                  <c:v>Tenure / maturity</c:v>
                </c:pt>
                <c:pt idx="1">
                  <c:v>Balance &amp; utilization</c:v>
                </c:pt>
                <c:pt idx="2">
                  <c:v>Branch / org. unit</c:v>
                </c:pt>
                <c:pt idx="3">
                  <c:v>Product &amp; purpose</c:v>
                </c:pt>
                <c:pt idx="4">
                  <c:v>Interest rate</c:v>
                </c:pt>
              </c:strCache>
            </c:strRef>
          </c:cat>
          <c:val>
            <c:numRef>
              <c:f>Sheet1!$B$2:$B$6</c:f>
              <c:numCache>
                <c:formatCode>General</c:formatCode>
                <c:ptCount val="5"/>
                <c:pt idx="0">
                  <c:v>40.8</c:v>
                </c:pt>
                <c:pt idx="1">
                  <c:v>26.1</c:v>
                </c:pt>
                <c:pt idx="2">
                  <c:v>14.8</c:v>
                </c:pt>
                <c:pt idx="3">
                  <c:v>8.5</c:v>
                </c:pt>
                <c:pt idx="4">
                  <c:v>9.8</c:v>
                </c:pt>
              </c:numCache>
            </c:numRef>
          </c:val>
        </c:ser>
        <c:ser>
          <c:idx val="1"/>
          <c:order val="1"/>
          <c:tx>
            <c:strRef>
              <c:f>Sheet1!$C$1</c:f>
              <c:strCache>
                <c:ptCount val="1"/>
                <c:pt idx="0">
                  <c:v>LGBM · none</c:v>
                </c:pt>
              </c:strCache>
            </c:strRef>
          </c:tx>
          <c:spPr>
            <a:solidFill>
              <a:srgbClr val="6F9BD1"/>
            </a:solidFill>
          </c:spPr>
          <c:cat>
            <c:strRef>
              <c:f>Sheet1!$A$2:$A$6</c:f>
              <c:strCache>
                <c:ptCount val="5"/>
                <c:pt idx="0">
                  <c:v>Tenure / maturity</c:v>
                </c:pt>
                <c:pt idx="1">
                  <c:v>Balance &amp; utilization</c:v>
                </c:pt>
                <c:pt idx="2">
                  <c:v>Branch / org. unit</c:v>
                </c:pt>
                <c:pt idx="3">
                  <c:v>Product &amp; purpose</c:v>
                </c:pt>
                <c:pt idx="4">
                  <c:v>Interest rate</c:v>
                </c:pt>
              </c:strCache>
            </c:strRef>
          </c:cat>
          <c:val>
            <c:numRef>
              <c:f>Sheet1!$C$2:$C$6</c:f>
              <c:numCache>
                <c:formatCode>General</c:formatCode>
                <c:ptCount val="5"/>
                <c:pt idx="0">
                  <c:v>41.2</c:v>
                </c:pt>
                <c:pt idx="1">
                  <c:v>27.9</c:v>
                </c:pt>
                <c:pt idx="2">
                  <c:v>14.1</c:v>
                </c:pt>
                <c:pt idx="3">
                  <c:v>7.9</c:v>
                </c:pt>
                <c:pt idx="4">
                  <c:v>8.8</c:v>
                </c:pt>
              </c:numCache>
            </c:numRef>
          </c:val>
        </c:ser>
        <c:ser>
          <c:idx val="2"/>
          <c:order val="2"/>
          <c:tx>
            <c:strRef>
              <c:f>Sheet1!$D$1</c:f>
              <c:strCache>
                <c:ptCount val="1"/>
                <c:pt idx="0">
                  <c:v>XGB · weighted</c:v>
                </c:pt>
              </c:strCache>
            </c:strRef>
          </c:tx>
          <c:spPr>
            <a:solidFill>
              <a:srgbClr val="F2581E"/>
            </a:solidFill>
          </c:spPr>
          <c:cat>
            <c:strRef>
              <c:f>Sheet1!$A$2:$A$6</c:f>
              <c:strCache>
                <c:ptCount val="5"/>
                <c:pt idx="0">
                  <c:v>Tenure / maturity</c:v>
                </c:pt>
                <c:pt idx="1">
                  <c:v>Balance &amp; utilization</c:v>
                </c:pt>
                <c:pt idx="2">
                  <c:v>Branch / org. unit</c:v>
                </c:pt>
                <c:pt idx="3">
                  <c:v>Product &amp; purpose</c:v>
                </c:pt>
                <c:pt idx="4">
                  <c:v>Interest rate</c:v>
                </c:pt>
              </c:strCache>
            </c:strRef>
          </c:cat>
          <c:val>
            <c:numRef>
              <c:f>Sheet1!$D$2:$D$6</c:f>
              <c:numCache>
                <c:formatCode>General</c:formatCode>
                <c:ptCount val="5"/>
                <c:pt idx="0">
                  <c:v>42.0</c:v>
                </c:pt>
                <c:pt idx="1">
                  <c:v>28.0</c:v>
                </c:pt>
                <c:pt idx="2">
                  <c:v>13.9</c:v>
                </c:pt>
                <c:pt idx="3">
                  <c:v>7.8</c:v>
                </c:pt>
                <c:pt idx="4">
                  <c:v>8.3</c:v>
                </c:pt>
              </c:numCache>
            </c:numRef>
          </c:val>
        </c:ser>
        <c:ser>
          <c:idx val="3"/>
          <c:order val="3"/>
          <c:tx>
            <c:strRef>
              <c:f>Sheet1!$E$1</c:f>
              <c:strCache>
                <c:ptCount val="1"/>
                <c:pt idx="0">
                  <c:v>LGBM · weighted</c:v>
                </c:pt>
              </c:strCache>
            </c:strRef>
          </c:tx>
          <c:spPr>
            <a:solidFill>
              <a:srgbClr val="F7A583"/>
            </a:solidFill>
          </c:spPr>
          <c:cat>
            <c:strRef>
              <c:f>Sheet1!$A$2:$A$6</c:f>
              <c:strCache>
                <c:ptCount val="5"/>
                <c:pt idx="0">
                  <c:v>Tenure / maturity</c:v>
                </c:pt>
                <c:pt idx="1">
                  <c:v>Balance &amp; utilization</c:v>
                </c:pt>
                <c:pt idx="2">
                  <c:v>Branch / org. unit</c:v>
                </c:pt>
                <c:pt idx="3">
                  <c:v>Product &amp; purpose</c:v>
                </c:pt>
                <c:pt idx="4">
                  <c:v>Interest rate</c:v>
                </c:pt>
              </c:strCache>
            </c:strRef>
          </c:cat>
          <c:val>
            <c:numRef>
              <c:f>Sheet1!$E$2:$E$6</c:f>
              <c:numCache>
                <c:formatCode>General</c:formatCode>
                <c:ptCount val="5"/>
                <c:pt idx="0">
                  <c:v>42.8</c:v>
                </c:pt>
                <c:pt idx="1">
                  <c:v>28.7</c:v>
                </c:pt>
                <c:pt idx="2">
                  <c:v>13.7</c:v>
                </c:pt>
                <c:pt idx="3">
                  <c:v>8.1</c:v>
                </c:pt>
                <c:pt idx="4">
                  <c:v>6.7</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B8C2CE"/>
            </a:solidFill>
          </a:ln>
        </c:spPr>
        <c:crossAx val="-2113994440"/>
        <c:crosses val="autoZero"/>
        <c:auto val="1"/>
        <c:lblAlgn val="ctr"/>
        <c:lblOffset val="100"/>
        <c:noMultiLvlLbl val="0"/>
      </c:catAx>
      <c:valAx>
        <c:axId val="-2113994440"/>
        <c:scaling>
          <c:max val="60.0"/>
          <c:min val="0.0"/>
        </c:scaling>
        <c:delete val="0"/>
        <c:axPos val="b"/>
        <c:majorGridlines>
          <c:spPr>
            <a:ln w="9525">
              <a:solidFill>
                <a:srgbClr val="DDE3EA"/>
              </a:solidFill>
            </a:ln>
          </c:spPr>
        </c:majorGridlines>
        <c:numFmt formatCode="0&quot;%&quot;" sourceLinked="0"/>
        <c:majorTickMark val="out"/>
        <c:minorTickMark val="none"/>
        <c:tickLblPos val="low"/>
        <c:spPr>
          <a:ln>
            <a:noFill/>
          </a:ln>
        </c:spPr>
        <c:crossAx val="-2068027336"/>
        <c:crosses val="autoZero"/>
        <c:majorUnit val="20.0"/>
      </c:valAx>
    </c:plotArea>
    <c:dispBlanksAs val="gap"/>
  </c:chart>
  <c:txPr>
    <a:bodyPr/>
    <a:lstStyle/>
    <a:p>
      <a:pPr>
        <a:defRPr sz="1050">
          <a:solidFill>
            <a:srgbClr val="5A657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E2F57"/>
                </a:solidFill>
              </a:rPr>
              <a:t>Repeated-CV Macro-F1 (mean of 25 folds)</a:t>
            </a:r>
          </a:p>
        </c:rich>
      </c:tx>
      <c:layout/>
      <c:overlay val="0"/>
    </c:title>
    <c:autoTitleDeleted val="0"/>
    <c:plotArea>
      <c:barChart>
        <c:barDir val="bar"/>
        <c:grouping val="clustered"/>
        <c:ser>
          <c:idx val="0"/>
          <c:order val="0"/>
          <c:tx>
            <c:strRef>
              <c:f>Sheet1!$B$1</c:f>
              <c:strCache>
                <c:ptCount val="1"/>
                <c:pt idx="0">
                  <c:v>Repeated-CV Macro-F1</c:v>
                </c:pt>
              </c:strCache>
            </c:strRef>
          </c:tx>
          <c:dPt>
            <c:idx val="0"/>
            <c:spPr>
              <a:solidFill>
                <a:srgbClr val="144E8C"/>
              </a:solidFill>
            </c:spPr>
          </c:dPt>
          <c:dPt>
            <c:idx val="1"/>
            <c:spPr>
              <a:solidFill>
                <a:srgbClr val="144E8C"/>
              </a:solidFill>
            </c:spPr>
          </c:dPt>
          <c:dPt>
            <c:idx val="2"/>
            <c:spPr>
              <a:solidFill>
                <a:srgbClr val="144E8C"/>
              </a:solidFill>
            </c:spPr>
          </c:dPt>
          <c:dPt>
            <c:idx val="3"/>
            <c:spPr>
              <a:solidFill>
                <a:srgbClr val="144E8C"/>
              </a:solidFill>
            </c:spPr>
          </c:dPt>
          <c:dPt>
            <c:idx val="4"/>
            <c:spPr>
              <a:solidFill>
                <a:srgbClr val="6F9BD1"/>
              </a:solidFill>
            </c:spPr>
          </c:dPt>
          <c:dPt>
            <c:idx val="5"/>
            <c:spPr>
              <a:solidFill>
                <a:srgbClr val="F7A583"/>
              </a:solidFill>
            </c:spPr>
          </c:dPt>
          <c:dPt>
            <c:idx val="6"/>
            <c:spPr>
              <a:solidFill>
                <a:srgbClr val="F7A583"/>
              </a:solidFill>
            </c:spPr>
          </c:dPt>
          <c:dPt>
            <c:idx val="7"/>
            <c:spPr>
              <a:solidFill>
                <a:srgbClr val="F7A583"/>
              </a:solidFill>
            </c:spPr>
          </c:dPt>
          <c:dPt>
            <c:idx val="8"/>
            <c:spPr>
              <a:solidFill>
                <a:srgbClr val="F7A583"/>
              </a:solidFill>
            </c:spPr>
          </c:dPt>
          <c:dPt>
            <c:idx val="9"/>
            <c:spPr>
              <a:solidFill>
                <a:srgbClr val="F7A583"/>
              </a:solidFill>
            </c:spPr>
          </c:dPt>
          <c:dPt>
            <c:idx val="10"/>
            <c:spPr>
              <a:solidFill>
                <a:srgbClr val="B8C2CE"/>
              </a:solidFill>
            </c:spPr>
          </c:dPt>
          <c:dPt>
            <c:idx val="11"/>
            <c:spPr>
              <a:solidFill>
                <a:srgbClr val="B8C2CE"/>
              </a:solidFill>
            </c:spPr>
          </c:dPt>
          <c:cat>
            <c:strRef>
              <c:f>Sheet1!$A$2:$A$13</c:f>
              <c:strCache>
                <c:ptCount val="12"/>
                <c:pt idx="0">
                  <c:v>Decision Tree – none</c:v>
                </c:pt>
                <c:pt idx="1">
                  <c:v>XGBoost – none</c:v>
                </c:pt>
                <c:pt idx="2">
                  <c:v>Random Forest – none</c:v>
                </c:pt>
                <c:pt idx="3">
                  <c:v>LightGBM – none</c:v>
                </c:pt>
                <c:pt idx="4">
                  <c:v>CatBoost – none</c:v>
                </c:pt>
                <c:pt idx="5">
                  <c:v>LightGBM – weighted</c:v>
                </c:pt>
                <c:pt idx="6">
                  <c:v>XGBoost – weighted</c:v>
                </c:pt>
                <c:pt idx="7">
                  <c:v>Random Forest – weighted</c:v>
                </c:pt>
                <c:pt idx="8">
                  <c:v>CatBoost – weighted</c:v>
                </c:pt>
                <c:pt idx="9">
                  <c:v>Decision Tree – weighted</c:v>
                </c:pt>
                <c:pt idx="10">
                  <c:v>Log. Regression – weighted</c:v>
                </c:pt>
                <c:pt idx="11">
                  <c:v>Log. Regression – none</c:v>
                </c:pt>
              </c:strCache>
            </c:strRef>
          </c:cat>
          <c:val>
            <c:numRef>
              <c:f>Sheet1!$B$2:$B$13</c:f>
              <c:numCache>
                <c:formatCode>General</c:formatCode>
                <c:ptCount val="12"/>
                <c:pt idx="0">
                  <c:v>0.6271</c:v>
                </c:pt>
                <c:pt idx="1">
                  <c:v>0.6217</c:v>
                </c:pt>
                <c:pt idx="2">
                  <c:v>0.6216</c:v>
                </c:pt>
                <c:pt idx="3">
                  <c:v>0.6183</c:v>
                </c:pt>
                <c:pt idx="4">
                  <c:v>0.6042</c:v>
                </c:pt>
                <c:pt idx="5">
                  <c:v>0.5917</c:v>
                </c:pt>
                <c:pt idx="6">
                  <c:v>0.5878</c:v>
                </c:pt>
                <c:pt idx="7">
                  <c:v>0.5637</c:v>
                </c:pt>
                <c:pt idx="8">
                  <c:v>0.5471</c:v>
                </c:pt>
                <c:pt idx="9">
                  <c:v>0.499</c:v>
                </c:pt>
                <c:pt idx="10">
                  <c:v>0.3876</c:v>
                </c:pt>
                <c:pt idx="11">
                  <c:v>0.3699</c:v>
                </c:pt>
              </c:numCache>
            </c:numRef>
          </c:val>
        </c:ser>
        <c:dLbls>
          <c:numFmt formatCode="0.0000" sourceLinked="0"/>
          <c:txPr>
            <a:bodyPr/>
            <a:lstStyle/>
            <a:p>
              <a:pPr>
                <a:defRPr sz="950">
                  <a:solidFill>
                    <a:srgbClr val="0E2F57"/>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B8C2CE"/>
            </a:solidFill>
          </a:ln>
        </c:spPr>
        <c:crossAx val="-2113994440"/>
        <c:crosses val="autoZero"/>
        <c:auto val="1"/>
        <c:lblAlgn val="ctr"/>
        <c:lblOffset val="100"/>
        <c:noMultiLvlLbl val="0"/>
      </c:catAx>
      <c:valAx>
        <c:axId val="-2113994440"/>
        <c:scaling>
          <c:max val="0.7"/>
          <c:min val="0.3"/>
        </c:scaling>
        <c:delete val="0"/>
        <c:axPos val="b"/>
        <c:majorGridlines>
          <c:spPr>
            <a:ln w="9525">
              <a:solidFill>
                <a:srgbClr val="DDE3EA"/>
              </a:solidFill>
            </a:ln>
          </c:spPr>
        </c:majorGridlines>
        <c:numFmt formatCode="0.0" sourceLinked="0"/>
        <c:majorTickMark val="out"/>
        <c:minorTickMark val="none"/>
        <c:tickLblPos val="low"/>
        <c:spPr>
          <a:ln>
            <a:noFill/>
          </a:ln>
        </c:spPr>
        <c:crossAx val="-2068027336"/>
        <c:crosses val="autoZero"/>
        <c:majorUnit val="0.1"/>
      </c:valAx>
    </c:plotArea>
    <c:dispBlanksAs val="gap"/>
  </c:chart>
  <c:txPr>
    <a:bodyPr/>
    <a:lstStyle/>
    <a:p>
      <a:pPr>
        <a:defRPr sz="1050">
          <a:solidFill>
            <a:srgbClr val="5A657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81AC54-F29D-4161-9151-8CD57DF4FF16}"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ED2B3C-8BAA-4F2F-8045-79C0DD43F7EA}" type="slidenum">
              <a:rPr lang="en-US" smtClean="0"/>
              <a:t>‹#›</a:t>
            </a:fld>
            <a:endParaRPr lang="en-US"/>
          </a:p>
        </p:txBody>
      </p:sp>
    </p:spTree>
    <p:extLst>
      <p:ext uri="{BB962C8B-B14F-4D97-AF65-F5344CB8AC3E}">
        <p14:creationId xmlns:p14="http://schemas.microsoft.com/office/powerpoint/2010/main" val="386977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Good morning. My name is Dam Cong Danh, from Hanoi University of Science and Technology, presenting joint work with Le Thi Thanh An of the University of Economics and Law, and Le Kim Thu.</a:t>
            </a:r>
          </a:p>
          <a:p/>
          <a:p>
            <a:r>
              <a:t>Our paper asks what it actually takes to govern a machine-learning credit-classification model responsibly in a Vietnamese bank — and the answer turned out to be less about which algorithm you pick than we expected.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In Vietnam this is a regulatory obligation, and it drives provisioning. So a model that is accurate but opaque, or that has quietly learned the labelling rule rather than genuine risk signal, is unusable in a regulated process.</a:t>
            </a:r>
          </a:p>
          <a:p/>
          <a:p>
            <a:r>
              <a:t>Three questions. Note how RQ1 is phrased: not 'which algorithm wins', but how far the ranking depends on the imbalance treatment. That phrasing turned out to matter a great deal.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The three gaps that motivated the design. The 81.84 percent figure is from the study closest in subject to ours — an early-warning system for debt-group migration. It is an Accuracy figure, on data with this kind of imbalance. Frame this as 'checks we thought were missing', not as criticism — those authors may be in the room.</a:t>
            </a:r>
          </a:p>
          <a:p/>
          <a:p>
            <a:r>
              <a:t>Key design principle: every non-trivial claim is cross-checked against an independent test, so governance conclusions rest on tested, not asserted, evidence. That is the real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27,001 loans, 21 raw variables, one bank, stratified 80/20. Group 1 alone is almost 78 percent.</a:t>
            </a:r>
          </a:p>
          <a:p/>
          <a:p>
            <a:r>
              <a:t>Now the orange box — raise it here rather than let someone find it in the results. Group 5 alone is bigger than Groups 2, 3 and 4 combined. The median Group-5 loan is six years past maturity. This is a legacy loss stock. So when you see F1 of 0.93 on Group 5 later, that is NOT early warning — it is a settled end state that is easy to separate. The groups that matter operationally are 2 to 4, and that is exactly where the model is weakest.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Top row is data preparation, bottom row modelling.</a:t>
            </a:r>
          </a:p>
          <a:p/>
          <a:p>
            <a:r>
              <a:t>Two things worth pausing on. NHOMNO correlates 0.98 with the target — an alternate debt-group field. We treat removing it as leakage control, not feature selection, because retaining it would invalidate every downstream comparison. And IV screening flagged five variables above 1.0: we did NOT auto-exclude them, we reviewed each against a stated criterion and documented the decision. That distinction comes back on the leakage slide.</a:t>
            </a:r>
          </a:p>
          <a:p/>
          <a:p>
            <a:r>
              <a:t>The key word in the bottom row is symmetric: six algorithms, both treatments, all twelve, on the same folds. Hyperparameters fixed in advance — a limitation I own at the end, but it means no evaluation partition was consumed by model selection.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The core comparison: six algorithms, each under both treatments. Full table in backup B3.</a:t>
            </a:r>
          </a:p>
          <a:p/>
          <a:p>
            <a:r>
              <a:t>First, the headline: the imbalance treatment matters more than the choice of algorithm. Every tree-based model does better with weighting OFF — the blue bar is higher in five cases out of five. Counter-intuitive: class weighting is the standard reflex for imbalanced data.</a:t>
            </a:r>
          </a:p>
          <a:p/>
          <a:p>
            <a:r>
              <a:t>Second, Logistic Regression is the exception: weighting helps it, 0.3946 against 0.3628. But it trails every tree configuration either way, so weighting is dominated for the tree-based models, not for all six without qualification.</a:t>
            </a:r>
          </a:p>
          <a:p/>
          <a:p>
            <a:r>
              <a:t>Third — the top of the chart. LightGBM-none 0.6248, Decision Tree-none 0.6245. Three ten-thousandths apart, on one split. I am not going to call that a win; the robustness slide shows why.</a:t>
            </a:r>
          </a:p>
          <a:p/>
          <a:p>
            <a:r>
              <a:t>And Accuracy: CatBoost reaches 0.9093 Accuracy unweighted but Macro-F1 of only 0.6074 — Gap 1, visible on our own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The most directly useful slide for any practitioner here.</a:t>
            </a:r>
          </a:p>
          <a:p/>
          <a:p>
            <a:r>
              <a:t>Two configurations of the SAME algorithm. Macro-F1 0.625 against 0.604 — close. But look at how they get there. Unweighted: macro precision 0.748, recall 0.572. It rarely raises a false alarm but misses most of what it should catch — Group-2 recall 0.183, four out of five special-mention loans called standard.</a:t>
            </a:r>
          </a:p>
          <a:p/>
          <a:p>
            <a:r>
              <a:t>Weighted: the mirror image. Group-2 recall jumps to 0.471, but precision collapses to 0.245 — three out of four flags now false.</a:t>
            </a:r>
          </a:p>
          <a:p/>
          <a:p>
            <a:r>
              <a:t>Which is better? Neither. [pause] It depends on whether a flag triggers costly manual review, in which case false positives burn analyst time, or whether missing a deteriorating loan is the expensive error. That is a credit-risk committee decision, not a modelling decision — and a single Macro-F1 number hides it completely.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Does more data always help? No. Thirteen features gives XGBoost 0.6194; nine gives 0.6139 — 98 and a half percent. Three features still recovers 95 to 97 percent.</a:t>
            </a:r>
          </a:p>
          <a:p/>
          <a:p>
            <a:r>
              <a:t>Two caveats. The curve is not monotone — k=7 beats k=9 for XGBoost — because each k refits a different model, so those wiggles are noise. Do not read an optimum off this curve; there isn't one. And the in-fold number matters: selecting the top nine using a ranking computed over the whole dataset means you have peeked. Recomputing inside each training fold costs under one percent. Embedded verification was run for LightGBM only.</a:t>
            </a:r>
          </a:p>
          <a:p/>
          <a:p>
            <a:r>
              <a:t>Why a bank cares: each dropped feature is one fewer feed to source, document, monitor for drift and explain to a supervisor. The argument is parsimony where it is free — not a specific 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This slide exists because it is the single most likely question in this room.</a:t>
            </a:r>
          </a:p>
          <a:p/>
          <a:p>
            <a:r>
              <a:t>DAYS_TO_MATURITY dominates every importance ranking, and its IV is 4.554 — more than four times the leakage flag. So: is it just a restatement of the label, the way NHOMNO was?</a:t>
            </a:r>
          </a:p>
          <a:p/>
          <a:p>
            <a:r>
              <a:t>Four tests, and each one could have gone the other way.</a:t>
            </a:r>
          </a:p>
          <a:p/>
          <a:p>
            <a:r>
              <a:t>One. The simplest possible classifier: call a loan bad if it is past maturity. Here 'bad' means Groups 2 to 5 against Group 1 — note this is broader than the regulatory non-performing definition of Groups 3 to 5. If the variable encoded the labelling rule, this would reconstruct the label almost perfectly. It gets 67.3 percent, F1 0.508.</a:t>
            </a:r>
          </a:p>
          <a:p/>
          <a:p>
            <a:r>
              <a:t>Two. The boundaries. If it WERE the overdue criterion, essentially no Group-1 loan would be past maturity. In fact 35 percent are — rolled-over working capital, common in Vietnamese lending. And 8 percent of Group-5 loans are NOT past maturity, so the label reflects restructuring history too.</a:t>
            </a:r>
          </a:p>
          <a:p/>
          <a:p>
            <a:r>
              <a:t>Three. Ablation. Take it out: Macro-F1 falls 16 to 23 percent. A genuine strong predictor — if it were the label, the model would collapse, not degrade.</a:t>
            </a:r>
          </a:p>
          <a:p/>
          <a:p>
            <a:r>
              <a:t>Four. We chose d-zero arbitrarily. Shifting it adds a constant to every record, so tree partitions are unchanged. Identical to four decimals across five dates.</a:t>
            </a:r>
          </a:p>
          <a:p/>
          <a:p>
            <a:r>
              <a:t>Now the orange box — deliver it rather than skip it. None of this PROVES there is no leakage. What we claim is narrower: four tests that could have failed did not. Details in backup B1.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Two charts, same four model-and-treatment combinations, two importance measures. We set LightGBM's importance_type explicitly to 'gain' so both libraries report the same quantity.</a:t>
            </a:r>
          </a:p>
          <a:p/>
          <a:p>
            <a:r>
              <a:t>Left: everyone agrees tenure/maturity leads. Below that, disagreement. Follow 'Product &amp; purpose': 24.7, 7.1, 21.7, 5.7. A factor of four — enough to move it from second to fifth depending only on which library computed it.</a:t>
            </a:r>
          </a:p>
          <a:p/>
          <a:p>
            <a:r>
              <a:t>Right: tenure/maturity 40.8 to 42.8. Balance 26.1 to 28.7. Identical ordering in all four.</a:t>
            </a:r>
          </a:p>
          <a:p/>
          <a:p>
            <a:r>
              <a:t>Say this out loud rather than hide it: the two charts sit on different feature sets — Gain on the 13-variable pool, SHAP on the 11-feature model — so do not compare a Gain bar against a SHAP bar. Read across the four bars WITHIN each chart.</a:t>
            </a:r>
          </a:p>
          <a:p/>
          <a:p>
            <a:r>
              <a:t>Implication: if you decide which data to invest in collecting from one model's Gain ranking, you may be buying the wrong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The proper test. Twelve configurations, twenty-five identical partitions, properly paired. Full table in backup B4.</a:t>
            </a:r>
          </a:p>
          <a:p/>
          <a:p>
            <a:r>
              <a:t>Why the correction: folds in repeated k-fold CV overlap — they share data. A naive paired t-test treats them as independent, understating variance. Nadeau-Bengio replaces a variance factor of 0.04 with 0.29 — about seven times. Then Holm, for the family of eleven comparisons.</a:t>
            </a:r>
          </a:p>
          <a:p/>
          <a:p>
            <a:r>
              <a:t>Highest point estimate: Decision Tree-none, 0.6271. A single depth-ten pruned tree, ahead of three gradient-boosting libraries. But the Holm p-values for the next three are 0.789, 0.789, 0.663. Nowhere near rejection.</a:t>
            </a:r>
          </a:p>
          <a:p/>
          <a:p>
            <a:r>
              <a:t>So the correct statement is not 'Decision Tree wins' — it is that these four cannot be separated on this evidence. We name no winning algorithm. Choosing among them has to rest on other grounds — training cost, interpretability, or the precision-recall profile — and stating which ground you used is itself part of the governance record.</a:t>
            </a:r>
          </a:p>
          <a:p/>
          <a:p>
            <a:r>
              <a:t>What does survive: every class-weighted configuration sits at the bottom. The treatment effect is roughly an order of magnitude larger than any algorithm effect — consistent with Brown and Mues: the best algorithm changes with the degree of imbalance.</a:t>
            </a:r>
          </a:p>
          <a:p/>
          <a:p>
            <a:r>
              <a:t>(If asked: differences in the table are computed on unrounded fold values, so they can differ by 0.0001 from the rounded means.)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The same discipline applied to ourselves — the part of the paper I am most confident about.</a:t>
            </a:r>
          </a:p>
          <a:p/>
          <a:p>
            <a:r>
              <a:t>On the hold-out split LightGBM-none was first. That is the natural headline: 'LightGBM is best for Vietnamese debt-group classification.' A perfectly publishable sentence.</a:t>
            </a:r>
          </a:p>
          <a:p/>
          <a:p>
            <a:r>
              <a:t>Under repeated CV it drops to fourth, behind XGBoost. The corrected test on that pair: p = 0.3844. No evidence either way. The ranking was an artefact of one random split.</a:t>
            </a:r>
          </a:p>
          <a:p/>
          <a:p>
            <a:r>
              <a:t>The orange card is an erratum, stated deliberately. Every row of the CV test is against the same reference configuration, so you cannot read a comparison between two non-reference rows off it. An earlier version of our paper did. Tested directly: the direction holds, but after Holm it is p = 0.063, not significant. We corrected the claim rather than leaving it standing.</a:t>
            </a:r>
          </a:p>
          <a:p/>
          <a:p>
            <a:r>
              <a:t>The takeaway generalises: a ranking that flips between two honest evaluation designs is a signal to report both, not to pick the flattering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Three findings on the left, four governance implications on the right.</a:t>
            </a:r>
          </a:p>
          <a:p/>
          <a:p>
            <a:r>
              <a:t>RQ1: the treatment is better identified than the algorithm. Say it plainly — we deliberately name no winning algorithm, and that refusal is a result, not a failure to reach one. The highest point estimate belongs to a single pruned decision tree.</a:t>
            </a:r>
          </a:p>
          <a:p/>
          <a:p>
            <a:r>
              <a:t>RQ2: nine of thirteen features, 98 to 99 percent, surviving honest in-fold selection. RQ3: SHAP stable, Gain not. Triangulate before you spend money on data.</a:t>
            </a:r>
          </a:p>
          <a:p/>
          <a:p>
            <a:r>
              <a:t>On the right, point 4 is the one I would most want you to take away. An automated screen flagged five of our variables. The wrong response is to auto-drop them. The wrong response is ALSO to write a paragraph explaining why they are fine. The right response is a check that could fail.</a:t>
            </a:r>
          </a:p>
          <a:p/>
          <a:p>
            <a:r>
              <a:t>And the grey bar: these are conditional. One bank, one snapshot. I will not overclaim.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Four limitations, stated plainly — I would rather raise them than be asked.</a:t>
            </a:r>
          </a:p>
          <a:p/>
          <a:p>
            <a:r>
              <a:t>One. 121 Group-3 loans in the test set; the minority-group numbers are noisy. Trust repeated-CV.</a:t>
            </a:r>
          </a:p>
          <a:p/>
          <a:p>
            <a:r>
              <a:t>Two. One bank, one snapshot, no classification date, so all resampling is random not temporal. And I will go further than the paper: given the Group-5 legacy stock, I expect out-of-time numbers to be WORSE than these, not better.</a:t>
            </a:r>
          </a:p>
          <a:p/>
          <a:p>
            <a:r>
              <a:t>Three. Label encoding imposes a fake ordering on branch codes; native handling verified for CatBoost only.</a:t>
            </a:r>
          </a:p>
          <a:p/>
          <a:p>
            <a:r>
              <a:t>Four. No tuning. A genuine trade-off, not an oversight — tuning would have consumed an evaluation partition. It could reorder the four configurations the test already cannot separate; it is much less likely to overturn the treatment effect.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have backup slides — the leakage diagnostics and ablation, both confusion matrices, the full results tables, and the exact hyperparameters — if any would be useful.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leakage questions and why the flagged variables were kept. Reference-date check: only DAYS_TO_MATURITY depends on d0; across five dates from 31 Dec 2020 to 31 Dec 2023 Macro-F1 is identical to four decimals (0.6248 unweighted; ROC-AUC 0.9246). The ablation establishes a non-redundant contribution — it does not establish temporal admissibility or rule out proxy leakage.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on exactly where the errors fall.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full Table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full Table 10. Differences are computed on unrounded fold values, hence ±0.0001 versus the rounded means.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on tuning, SMOTE, the Decision Tree result and label encoding.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3EF0B8-F005-4200-98CD-A402FB91644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655" y="514"/>
            <a:ext cx="12188689" cy="6856971"/>
          </a:xfrm>
          <a:prstGeom prst="rect">
            <a:avLst/>
          </a:prstGeom>
        </p:spPr>
      </p:pic>
      <p:sp>
        <p:nvSpPr>
          <p:cNvPr id="15" name="Title 1">
            <a:extLst>
              <a:ext uri="{FF2B5EF4-FFF2-40B4-BE49-F238E27FC236}">
                <a16:creationId xmlns:a16="http://schemas.microsoft.com/office/drawing/2014/main" id="{CB96673B-6511-4BA8-9755-B0806034D3B3}"/>
              </a:ext>
            </a:extLst>
          </p:cNvPr>
          <p:cNvSpPr>
            <a:spLocks noGrp="1"/>
          </p:cNvSpPr>
          <p:nvPr>
            <p:ph type="title" hasCustomPrompt="1"/>
          </p:nvPr>
        </p:nvSpPr>
        <p:spPr>
          <a:xfrm>
            <a:off x="1595351" y="2187196"/>
            <a:ext cx="9001297" cy="778583"/>
          </a:xfrm>
          <a:ln>
            <a:noFill/>
          </a:ln>
        </p:spPr>
        <p:txBody>
          <a:bodyPr>
            <a:noAutofit/>
          </a:bodyPr>
          <a:lstStyle>
            <a:lvl1pPr algn="ctr">
              <a:defRPr sz="4400">
                <a:effectLst/>
                <a:latin typeface="Lato Black" panose="020F0502020204030203" pitchFamily="34" charset="0"/>
              </a:defRPr>
            </a:lvl1pPr>
          </a:lstStyle>
          <a:p>
            <a:r>
              <a:rPr lang="en-US"/>
              <a:t>Viết tiêu đề tại đây</a:t>
            </a:r>
          </a:p>
        </p:txBody>
      </p:sp>
    </p:spTree>
    <p:extLst>
      <p:ext uri="{BB962C8B-B14F-4D97-AF65-F5344CB8AC3E}">
        <p14:creationId xmlns:p14="http://schemas.microsoft.com/office/powerpoint/2010/main" val="2536381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3F69E6-B22A-405F-9C25-59D91377F99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655" y="514"/>
            <a:ext cx="12188689" cy="6856971"/>
          </a:xfrm>
          <a:prstGeom prst="rect">
            <a:avLst/>
          </a:prstGeom>
        </p:spPr>
      </p:pic>
      <p:pic>
        <p:nvPicPr>
          <p:cNvPr id="17" name="Picture 16">
            <a:extLst>
              <a:ext uri="{FF2B5EF4-FFF2-40B4-BE49-F238E27FC236}">
                <a16:creationId xmlns:a16="http://schemas.microsoft.com/office/drawing/2014/main" id="{B0B25FDB-2334-4A47-AB29-D68A1BBA7D5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5000" t="43307" r="32292" b="37052"/>
          <a:stretch/>
        </p:blipFill>
        <p:spPr>
          <a:xfrm>
            <a:off x="55376" y="6180665"/>
            <a:ext cx="3590248" cy="656180"/>
          </a:xfrm>
          <a:prstGeom prst="rect">
            <a:avLst/>
          </a:prstGeom>
        </p:spPr>
      </p:pic>
      <p:sp>
        <p:nvSpPr>
          <p:cNvPr id="2" name="Title 1">
            <a:extLst>
              <a:ext uri="{FF2B5EF4-FFF2-40B4-BE49-F238E27FC236}">
                <a16:creationId xmlns:a16="http://schemas.microsoft.com/office/drawing/2014/main" id="{4CA15134-F76A-44B3-8D57-2EE09FE8263C}"/>
              </a:ext>
            </a:extLst>
          </p:cNvPr>
          <p:cNvSpPr>
            <a:spLocks noGrp="1"/>
          </p:cNvSpPr>
          <p:nvPr>
            <p:ph type="ctrTitle"/>
          </p:nvPr>
        </p:nvSpPr>
        <p:spPr>
          <a:xfrm>
            <a:off x="1524000" y="1393296"/>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7FDDEE-4295-4AB2-B6F7-32F97FD8C173}"/>
              </a:ext>
            </a:extLst>
          </p:cNvPr>
          <p:cNvSpPr>
            <a:spLocks noGrp="1"/>
          </p:cNvSpPr>
          <p:nvPr>
            <p:ph type="subTitle" idx="1"/>
          </p:nvPr>
        </p:nvSpPr>
        <p:spPr>
          <a:xfrm>
            <a:off x="1524000" y="4254499"/>
            <a:ext cx="9144000" cy="127423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9D6AD9B1-7AE3-42D1-BA19-D740EB0C49DC}"/>
              </a:ext>
            </a:extLst>
          </p:cNvPr>
          <p:cNvSpPr>
            <a:spLocks noGrp="1"/>
          </p:cNvSpPr>
          <p:nvPr>
            <p:ph type="ftr" sz="quarter" idx="11"/>
          </p:nvPr>
        </p:nvSpPr>
        <p:spPr>
          <a:xfrm>
            <a:off x="454368" y="6356350"/>
            <a:ext cx="2488141" cy="313266"/>
          </a:xfrm>
        </p:spPr>
        <p:txBody>
          <a:bodyPr/>
          <a:lstStyle>
            <a:lvl1pPr>
              <a:defRPr b="1" i="0" spc="300">
                <a:solidFill>
                  <a:schemeClr val="bg2"/>
                </a:solidFill>
                <a:effectLst>
                  <a:outerShdw blurRad="38100" dist="38100" dir="2700000" algn="tl">
                    <a:srgbClr val="000000">
                      <a:alpha val="43137"/>
                    </a:srgbClr>
                  </a:outerShdw>
                </a:effectLst>
                <a:latin typeface="Lato Medium" panose="020F0502020204030203" pitchFamily="34" charset="0"/>
                <a:ea typeface="Lato Medium" panose="020F0502020204030203" pitchFamily="34" charset="0"/>
                <a:cs typeface="Lato Medium" panose="020F0502020204030203" pitchFamily="34" charset="0"/>
              </a:defRPr>
            </a:lvl1pPr>
          </a:lstStyle>
          <a:p>
            <a:r>
              <a:rPr lang="en-US" dirty="0"/>
              <a:t>UEL-SEB</a:t>
            </a:r>
          </a:p>
        </p:txBody>
      </p:sp>
      <p:sp>
        <p:nvSpPr>
          <p:cNvPr id="6" name="Slide Number Placeholder 5">
            <a:extLst>
              <a:ext uri="{FF2B5EF4-FFF2-40B4-BE49-F238E27FC236}">
                <a16:creationId xmlns:a16="http://schemas.microsoft.com/office/drawing/2014/main" id="{69DFCF07-C928-4259-A843-31A5F795E9DA}"/>
              </a:ext>
            </a:extLst>
          </p:cNvPr>
          <p:cNvSpPr>
            <a:spLocks noGrp="1"/>
          </p:cNvSpPr>
          <p:nvPr>
            <p:ph type="sldNum" sz="quarter" idx="12"/>
          </p:nvPr>
        </p:nvSpPr>
        <p:spPr>
          <a:xfrm>
            <a:off x="2942509" y="6356350"/>
            <a:ext cx="397933" cy="365125"/>
          </a:xfrm>
        </p:spPr>
        <p:txBody>
          <a:bodyPr/>
          <a:lstStyle>
            <a:lvl1pPr>
              <a:defRPr b="1">
                <a:solidFill>
                  <a:schemeClr val="bg1"/>
                </a:solidFill>
                <a:effectLst>
                  <a:outerShdw blurRad="38100" dist="38100" dir="2700000" algn="tl">
                    <a:srgbClr val="000000">
                      <a:alpha val="43137"/>
                    </a:srgbClr>
                  </a:outerShdw>
                </a:effectLst>
                <a:latin typeface="Lato" panose="020F0502020204030203" pitchFamily="34" charset="0"/>
              </a:defRPr>
            </a:lvl1pPr>
          </a:lstStyle>
          <a:p>
            <a:fld id="{ECEBCFE7-CD98-4988-B164-8232B2F80098}" type="slidenum">
              <a:rPr lang="en-US" smtClean="0"/>
              <a:pPr/>
              <a:t>‹#›</a:t>
            </a:fld>
            <a:endParaRPr lang="en-US"/>
          </a:p>
        </p:txBody>
      </p:sp>
      <p:pic>
        <p:nvPicPr>
          <p:cNvPr id="13" name="Picture 12">
            <a:extLst>
              <a:ext uri="{FF2B5EF4-FFF2-40B4-BE49-F238E27FC236}">
                <a16:creationId xmlns:a16="http://schemas.microsoft.com/office/drawing/2014/main" id="{8F7E9BC2-809C-4A30-BE3A-260B40F9111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r="-3334" b="87407"/>
          <a:stretch/>
        </p:blipFill>
        <p:spPr>
          <a:xfrm>
            <a:off x="0" y="-41445"/>
            <a:ext cx="12598400" cy="368970"/>
          </a:xfrm>
          <a:prstGeom prst="rect">
            <a:avLst/>
          </a:prstGeom>
        </p:spPr>
      </p:pic>
      <p:pic>
        <p:nvPicPr>
          <p:cNvPr id="21" name="Picture 20">
            <a:extLst>
              <a:ext uri="{FF2B5EF4-FFF2-40B4-BE49-F238E27FC236}">
                <a16:creationId xmlns:a16="http://schemas.microsoft.com/office/drawing/2014/main" id="{7AC4519E-DC71-4A66-91E8-5AF19DB8080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24127" t="66898" r="25920" b="25926"/>
          <a:stretch/>
        </p:blipFill>
        <p:spPr>
          <a:xfrm>
            <a:off x="4224067" y="3903845"/>
            <a:ext cx="3743866" cy="151261"/>
          </a:xfrm>
          <a:prstGeom prst="rect">
            <a:avLst/>
          </a:prstGeom>
        </p:spPr>
      </p:pic>
    </p:spTree>
    <p:extLst>
      <p:ext uri="{BB962C8B-B14F-4D97-AF65-F5344CB8AC3E}">
        <p14:creationId xmlns:p14="http://schemas.microsoft.com/office/powerpoint/2010/main" val="1942542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3F8D48-507B-4FE4-83E7-28C287789A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655" y="514"/>
            <a:ext cx="12188689" cy="6856971"/>
          </a:xfrm>
          <a:prstGeom prst="rect">
            <a:avLst/>
          </a:prstGeom>
        </p:spPr>
      </p:pic>
      <p:sp>
        <p:nvSpPr>
          <p:cNvPr id="2" name="Title 1">
            <a:extLst>
              <a:ext uri="{FF2B5EF4-FFF2-40B4-BE49-F238E27FC236}">
                <a16:creationId xmlns:a16="http://schemas.microsoft.com/office/drawing/2014/main" id="{07DBDBC7-6AA6-485C-9141-8B7C2DC160D8}"/>
              </a:ext>
            </a:extLst>
          </p:cNvPr>
          <p:cNvSpPr>
            <a:spLocks noGrp="1"/>
          </p:cNvSpPr>
          <p:nvPr>
            <p:ph type="title"/>
          </p:nvPr>
        </p:nvSpPr>
        <p:spPr>
          <a:xfrm>
            <a:off x="839788" y="1729601"/>
            <a:ext cx="3932237" cy="922144"/>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AACB20A-696F-4629-AAD2-6849E26AF8B9}"/>
              </a:ext>
            </a:extLst>
          </p:cNvPr>
          <p:cNvSpPr>
            <a:spLocks noGrp="1"/>
          </p:cNvSpPr>
          <p:nvPr>
            <p:ph type="pic" idx="1"/>
          </p:nvPr>
        </p:nvSpPr>
        <p:spPr>
          <a:xfrm>
            <a:off x="5183188" y="1729601"/>
            <a:ext cx="6172200" cy="41314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3228EF-FF02-482A-86BF-EFE1C5A0E0FF}"/>
              </a:ext>
            </a:extLst>
          </p:cNvPr>
          <p:cNvSpPr>
            <a:spLocks noGrp="1"/>
          </p:cNvSpPr>
          <p:nvPr>
            <p:ph type="body" sz="half" idx="2"/>
          </p:nvPr>
        </p:nvSpPr>
        <p:spPr>
          <a:xfrm>
            <a:off x="839788" y="2953265"/>
            <a:ext cx="3932237" cy="291572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a:extLst>
              <a:ext uri="{FF2B5EF4-FFF2-40B4-BE49-F238E27FC236}">
                <a16:creationId xmlns:a16="http://schemas.microsoft.com/office/drawing/2014/main" id="{34AD02C2-C65C-4A3D-9E41-C2D6CD7EAFE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3334" b="87407"/>
          <a:stretch/>
        </p:blipFill>
        <p:spPr>
          <a:xfrm flipH="1">
            <a:off x="-406400" y="-215900"/>
            <a:ext cx="12598400" cy="431800"/>
          </a:xfrm>
          <a:prstGeom prst="rect">
            <a:avLst/>
          </a:prstGeom>
        </p:spPr>
      </p:pic>
      <p:pic>
        <p:nvPicPr>
          <p:cNvPr id="9" name="Picture 8">
            <a:extLst>
              <a:ext uri="{FF2B5EF4-FFF2-40B4-BE49-F238E27FC236}">
                <a16:creationId xmlns:a16="http://schemas.microsoft.com/office/drawing/2014/main" id="{CEF51B03-1B81-4F80-A5E4-38BEBA1E4E0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5000" t="43307" r="32292" b="37052"/>
          <a:stretch/>
        </p:blipFill>
        <p:spPr>
          <a:xfrm>
            <a:off x="211666" y="6201820"/>
            <a:ext cx="3590248" cy="656180"/>
          </a:xfrm>
          <a:prstGeom prst="rect">
            <a:avLst/>
          </a:prstGeom>
        </p:spPr>
      </p:pic>
      <p:sp>
        <p:nvSpPr>
          <p:cNvPr id="10" name="Footer Placeholder 4">
            <a:extLst>
              <a:ext uri="{FF2B5EF4-FFF2-40B4-BE49-F238E27FC236}">
                <a16:creationId xmlns:a16="http://schemas.microsoft.com/office/drawing/2014/main" id="{90AF1508-3157-4569-9883-45D890B8E602}"/>
              </a:ext>
            </a:extLst>
          </p:cNvPr>
          <p:cNvSpPr>
            <a:spLocks noGrp="1"/>
          </p:cNvSpPr>
          <p:nvPr>
            <p:ph type="ftr" sz="quarter" idx="11"/>
          </p:nvPr>
        </p:nvSpPr>
        <p:spPr>
          <a:xfrm>
            <a:off x="728132" y="6429363"/>
            <a:ext cx="2370667" cy="261408"/>
          </a:xfrm>
        </p:spPr>
        <p:txBody>
          <a:bodyPr/>
          <a:lstStyle>
            <a:lvl1pPr>
              <a:defRPr b="1" i="0" spc="600">
                <a:solidFill>
                  <a:schemeClr val="bg2"/>
                </a:solidFill>
                <a:effectLst>
                  <a:outerShdw blurRad="38100" dist="38100" dir="2700000" algn="tl">
                    <a:srgbClr val="000000">
                      <a:alpha val="43137"/>
                    </a:srgbClr>
                  </a:outerShdw>
                </a:effectLst>
                <a:latin typeface="Lato Medium" panose="020F0502020204030203" pitchFamily="34" charset="0"/>
                <a:ea typeface="Lato Medium" panose="020F0502020204030203" pitchFamily="34" charset="0"/>
                <a:cs typeface="Lato Medium" panose="020F0502020204030203" pitchFamily="34" charset="0"/>
              </a:defRPr>
            </a:lvl1pPr>
          </a:lstStyle>
          <a:p>
            <a:r>
              <a:rPr lang="en-US" dirty="0"/>
              <a:t>UEL-SEB</a:t>
            </a:r>
          </a:p>
        </p:txBody>
      </p:sp>
      <p:sp>
        <p:nvSpPr>
          <p:cNvPr id="11" name="Slide Number Placeholder 5">
            <a:extLst>
              <a:ext uri="{FF2B5EF4-FFF2-40B4-BE49-F238E27FC236}">
                <a16:creationId xmlns:a16="http://schemas.microsoft.com/office/drawing/2014/main" id="{B80D03EF-871C-4F97-B2B7-9DF1D1B1BC7D}"/>
              </a:ext>
            </a:extLst>
          </p:cNvPr>
          <p:cNvSpPr>
            <a:spLocks noGrp="1"/>
          </p:cNvSpPr>
          <p:nvPr>
            <p:ph type="sldNum" sz="quarter" idx="12"/>
          </p:nvPr>
        </p:nvSpPr>
        <p:spPr>
          <a:xfrm>
            <a:off x="3098799" y="6377505"/>
            <a:ext cx="397933" cy="365125"/>
          </a:xfrm>
        </p:spPr>
        <p:txBody>
          <a:bodyPr/>
          <a:lstStyle>
            <a:lvl1pPr>
              <a:defRPr b="1">
                <a:solidFill>
                  <a:schemeClr val="bg1"/>
                </a:solidFill>
                <a:effectLst>
                  <a:outerShdw blurRad="38100" dist="38100" dir="2700000" algn="tl">
                    <a:srgbClr val="000000">
                      <a:alpha val="43137"/>
                    </a:srgbClr>
                  </a:outerShdw>
                </a:effectLst>
                <a:latin typeface="Lato" panose="020F0502020204030203" pitchFamily="34" charset="0"/>
              </a:defRPr>
            </a:lvl1pPr>
          </a:lstStyle>
          <a:p>
            <a:fld id="{ECEBCFE7-CD98-4988-B164-8232B2F80098}" type="slidenum">
              <a:rPr lang="en-US" smtClean="0"/>
              <a:pPr/>
              <a:t>‹#›</a:t>
            </a:fld>
            <a:endParaRPr lang="en-US"/>
          </a:p>
        </p:txBody>
      </p:sp>
      <p:pic>
        <p:nvPicPr>
          <p:cNvPr id="13" name="Picture 12">
            <a:extLst>
              <a:ext uri="{FF2B5EF4-FFF2-40B4-BE49-F238E27FC236}">
                <a16:creationId xmlns:a16="http://schemas.microsoft.com/office/drawing/2014/main" id="{89C0E91F-A075-43C4-A580-DC8B637F39E6}"/>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24127" t="66898" r="25920" b="25926"/>
          <a:stretch/>
        </p:blipFill>
        <p:spPr>
          <a:xfrm>
            <a:off x="810734" y="2763919"/>
            <a:ext cx="2855494" cy="115369"/>
          </a:xfrm>
          <a:prstGeom prst="rect">
            <a:avLst/>
          </a:prstGeom>
        </p:spPr>
      </p:pic>
    </p:spTree>
    <p:extLst>
      <p:ext uri="{BB962C8B-B14F-4D97-AF65-F5344CB8AC3E}">
        <p14:creationId xmlns:p14="http://schemas.microsoft.com/office/powerpoint/2010/main" val="20450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C31CBF-35BC-423E-9B7B-C77C331152E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655" y="514"/>
            <a:ext cx="12188689" cy="6856971"/>
          </a:xfrm>
          <a:prstGeom prst="rect">
            <a:avLst/>
          </a:prstGeom>
        </p:spPr>
      </p:pic>
      <p:sp>
        <p:nvSpPr>
          <p:cNvPr id="2" name="Title 1">
            <a:extLst>
              <a:ext uri="{FF2B5EF4-FFF2-40B4-BE49-F238E27FC236}">
                <a16:creationId xmlns:a16="http://schemas.microsoft.com/office/drawing/2014/main" id="{CAC29AD4-D77C-4EB6-9349-4988D9192AA2}"/>
              </a:ext>
            </a:extLst>
          </p:cNvPr>
          <p:cNvSpPr>
            <a:spLocks noGrp="1"/>
          </p:cNvSpPr>
          <p:nvPr>
            <p:ph type="title"/>
          </p:nvPr>
        </p:nvSpPr>
        <p:spPr>
          <a:xfrm>
            <a:off x="838200" y="1334529"/>
            <a:ext cx="10515600" cy="713299"/>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42648AD4-AB94-4EB5-A879-1483C15B5D82}"/>
              </a:ext>
            </a:extLst>
          </p:cNvPr>
          <p:cNvSpPr>
            <a:spLocks noGrp="1"/>
          </p:cNvSpPr>
          <p:nvPr>
            <p:ph sz="half" idx="1"/>
          </p:nvPr>
        </p:nvSpPr>
        <p:spPr>
          <a:xfrm>
            <a:off x="838200" y="2366319"/>
            <a:ext cx="5181600" cy="38106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E96F1F1-164C-488F-A609-6B80F3A99B46}"/>
              </a:ext>
            </a:extLst>
          </p:cNvPr>
          <p:cNvSpPr>
            <a:spLocks noGrp="1"/>
          </p:cNvSpPr>
          <p:nvPr>
            <p:ph sz="half" idx="2"/>
          </p:nvPr>
        </p:nvSpPr>
        <p:spPr>
          <a:xfrm>
            <a:off x="6172200" y="2366317"/>
            <a:ext cx="5181600" cy="38106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87219298-5B40-4DFE-A10D-7E004BFFA04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3334" b="87407"/>
          <a:stretch/>
        </p:blipFill>
        <p:spPr>
          <a:xfrm rot="16200000" flipH="1">
            <a:off x="-5057203" y="3822337"/>
            <a:ext cx="10442574" cy="357911"/>
          </a:xfrm>
          <a:prstGeom prst="rect">
            <a:avLst/>
          </a:prstGeom>
        </p:spPr>
      </p:pic>
      <p:pic>
        <p:nvPicPr>
          <p:cNvPr id="9" name="Picture 8">
            <a:extLst>
              <a:ext uri="{FF2B5EF4-FFF2-40B4-BE49-F238E27FC236}">
                <a16:creationId xmlns:a16="http://schemas.microsoft.com/office/drawing/2014/main" id="{1EC67536-660B-4DE4-BCA5-DCE796B73A86}"/>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5000" t="43307" r="32292" b="37052"/>
          <a:stretch/>
        </p:blipFill>
        <p:spPr>
          <a:xfrm>
            <a:off x="211666" y="6201820"/>
            <a:ext cx="3590248" cy="656180"/>
          </a:xfrm>
          <a:prstGeom prst="rect">
            <a:avLst/>
          </a:prstGeom>
        </p:spPr>
      </p:pic>
      <p:sp>
        <p:nvSpPr>
          <p:cNvPr id="10" name="Footer Placeholder 4">
            <a:extLst>
              <a:ext uri="{FF2B5EF4-FFF2-40B4-BE49-F238E27FC236}">
                <a16:creationId xmlns:a16="http://schemas.microsoft.com/office/drawing/2014/main" id="{5BE1F3D0-3CFA-4F38-8CC8-0F0A63BE5E5A}"/>
              </a:ext>
            </a:extLst>
          </p:cNvPr>
          <p:cNvSpPr>
            <a:spLocks noGrp="1"/>
          </p:cNvSpPr>
          <p:nvPr>
            <p:ph type="ftr" sz="quarter" idx="11"/>
          </p:nvPr>
        </p:nvSpPr>
        <p:spPr>
          <a:xfrm>
            <a:off x="728132" y="6429363"/>
            <a:ext cx="2370667" cy="261408"/>
          </a:xfrm>
        </p:spPr>
        <p:txBody>
          <a:bodyPr/>
          <a:lstStyle>
            <a:lvl1pPr>
              <a:defRPr b="1" i="0" spc="600">
                <a:solidFill>
                  <a:schemeClr val="bg2"/>
                </a:solidFill>
                <a:effectLst>
                  <a:outerShdw blurRad="38100" dist="38100" dir="2700000" algn="tl">
                    <a:srgbClr val="000000">
                      <a:alpha val="43137"/>
                    </a:srgbClr>
                  </a:outerShdw>
                </a:effectLst>
                <a:latin typeface="Lato Medium" panose="020F0502020204030203" pitchFamily="34" charset="0"/>
                <a:ea typeface="Lato Medium" panose="020F0502020204030203" pitchFamily="34" charset="0"/>
                <a:cs typeface="Lato Medium" panose="020F0502020204030203" pitchFamily="34" charset="0"/>
              </a:defRPr>
            </a:lvl1pPr>
          </a:lstStyle>
          <a:p>
            <a:r>
              <a:rPr lang="en-US" dirty="0"/>
              <a:t>UEL-SEB</a:t>
            </a:r>
          </a:p>
        </p:txBody>
      </p:sp>
      <p:sp>
        <p:nvSpPr>
          <p:cNvPr id="11" name="Slide Number Placeholder 5">
            <a:extLst>
              <a:ext uri="{FF2B5EF4-FFF2-40B4-BE49-F238E27FC236}">
                <a16:creationId xmlns:a16="http://schemas.microsoft.com/office/drawing/2014/main" id="{4C59671B-38AC-4A39-BC71-9B5933052081}"/>
              </a:ext>
            </a:extLst>
          </p:cNvPr>
          <p:cNvSpPr>
            <a:spLocks noGrp="1"/>
          </p:cNvSpPr>
          <p:nvPr>
            <p:ph type="sldNum" sz="quarter" idx="12"/>
          </p:nvPr>
        </p:nvSpPr>
        <p:spPr>
          <a:xfrm>
            <a:off x="3098799" y="6377505"/>
            <a:ext cx="397933" cy="365125"/>
          </a:xfrm>
        </p:spPr>
        <p:txBody>
          <a:bodyPr/>
          <a:lstStyle>
            <a:lvl1pPr>
              <a:defRPr b="1">
                <a:solidFill>
                  <a:schemeClr val="bg1"/>
                </a:solidFill>
                <a:effectLst>
                  <a:outerShdw blurRad="38100" dist="38100" dir="2700000" algn="tl">
                    <a:srgbClr val="000000">
                      <a:alpha val="43137"/>
                    </a:srgbClr>
                  </a:outerShdw>
                </a:effectLst>
                <a:latin typeface="Lato" panose="020F0502020204030203" pitchFamily="34" charset="0"/>
              </a:defRPr>
            </a:lvl1pPr>
          </a:lstStyle>
          <a:p>
            <a:fld id="{ECEBCFE7-CD98-4988-B164-8232B2F80098}" type="slidenum">
              <a:rPr lang="en-US" smtClean="0"/>
              <a:pPr/>
              <a:t>‹#›</a:t>
            </a:fld>
            <a:endParaRPr lang="en-US"/>
          </a:p>
        </p:txBody>
      </p:sp>
      <p:pic>
        <p:nvPicPr>
          <p:cNvPr id="12" name="Picture 11">
            <a:extLst>
              <a:ext uri="{FF2B5EF4-FFF2-40B4-BE49-F238E27FC236}">
                <a16:creationId xmlns:a16="http://schemas.microsoft.com/office/drawing/2014/main" id="{372BFCA8-D0A6-4E9A-BCEE-2703BE8F6E1C}"/>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24127" t="66898" r="25920" b="25926"/>
          <a:stretch/>
        </p:blipFill>
        <p:spPr>
          <a:xfrm>
            <a:off x="838200" y="2147882"/>
            <a:ext cx="3743866" cy="151261"/>
          </a:xfrm>
          <a:prstGeom prst="rect">
            <a:avLst/>
          </a:prstGeom>
        </p:spPr>
      </p:pic>
    </p:spTree>
    <p:extLst>
      <p:ext uri="{BB962C8B-B14F-4D97-AF65-F5344CB8AC3E}">
        <p14:creationId xmlns:p14="http://schemas.microsoft.com/office/powerpoint/2010/main" val="37755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3C5517-405A-47CE-9129-16C9F3BE9F9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655" y="514"/>
            <a:ext cx="12188689" cy="6856971"/>
          </a:xfrm>
          <a:prstGeom prst="rect">
            <a:avLst/>
          </a:prstGeom>
        </p:spPr>
      </p:pic>
      <p:sp>
        <p:nvSpPr>
          <p:cNvPr id="2" name="Title 1">
            <a:extLst>
              <a:ext uri="{FF2B5EF4-FFF2-40B4-BE49-F238E27FC236}">
                <a16:creationId xmlns:a16="http://schemas.microsoft.com/office/drawing/2014/main" id="{4C2F218B-1460-404A-99D5-EDEF89138152}"/>
              </a:ext>
            </a:extLst>
          </p:cNvPr>
          <p:cNvSpPr>
            <a:spLocks noGrp="1"/>
          </p:cNvSpPr>
          <p:nvPr>
            <p:ph type="title"/>
          </p:nvPr>
        </p:nvSpPr>
        <p:spPr>
          <a:xfrm>
            <a:off x="839788" y="1569308"/>
            <a:ext cx="3932237" cy="949676"/>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CF5A61EA-306C-4BD9-A616-9BCCD3DC881E}"/>
              </a:ext>
            </a:extLst>
          </p:cNvPr>
          <p:cNvSpPr>
            <a:spLocks noGrp="1"/>
          </p:cNvSpPr>
          <p:nvPr>
            <p:ph idx="1"/>
          </p:nvPr>
        </p:nvSpPr>
        <p:spPr>
          <a:xfrm>
            <a:off x="5183188" y="1569308"/>
            <a:ext cx="6172200" cy="429174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37E722-35D5-4B14-822F-3583AF520BAA}"/>
              </a:ext>
            </a:extLst>
          </p:cNvPr>
          <p:cNvSpPr>
            <a:spLocks noGrp="1"/>
          </p:cNvSpPr>
          <p:nvPr>
            <p:ph type="body" sz="half" idx="2"/>
          </p:nvPr>
        </p:nvSpPr>
        <p:spPr>
          <a:xfrm>
            <a:off x="839788" y="2891481"/>
            <a:ext cx="3932237" cy="29775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a:extLst>
              <a:ext uri="{FF2B5EF4-FFF2-40B4-BE49-F238E27FC236}">
                <a16:creationId xmlns:a16="http://schemas.microsoft.com/office/drawing/2014/main" id="{1D035436-0EA1-4822-AF4B-E077C87E2D7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3334" b="87407"/>
          <a:stretch/>
        </p:blipFill>
        <p:spPr>
          <a:xfrm flipH="1">
            <a:off x="-406400" y="-215900"/>
            <a:ext cx="12598400" cy="372835"/>
          </a:xfrm>
          <a:prstGeom prst="rect">
            <a:avLst/>
          </a:prstGeom>
        </p:spPr>
      </p:pic>
      <p:pic>
        <p:nvPicPr>
          <p:cNvPr id="12" name="Picture 11">
            <a:extLst>
              <a:ext uri="{FF2B5EF4-FFF2-40B4-BE49-F238E27FC236}">
                <a16:creationId xmlns:a16="http://schemas.microsoft.com/office/drawing/2014/main" id="{191DF23C-8C86-4EE3-A866-241072BD11D7}"/>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4127" t="66898" r="25920" b="25926"/>
          <a:stretch/>
        </p:blipFill>
        <p:spPr>
          <a:xfrm>
            <a:off x="810734" y="2568589"/>
            <a:ext cx="2855494" cy="115369"/>
          </a:xfrm>
          <a:prstGeom prst="rect">
            <a:avLst/>
          </a:prstGeom>
        </p:spPr>
      </p:pic>
      <p:pic>
        <p:nvPicPr>
          <p:cNvPr id="13" name="Picture 12">
            <a:extLst>
              <a:ext uri="{FF2B5EF4-FFF2-40B4-BE49-F238E27FC236}">
                <a16:creationId xmlns:a16="http://schemas.microsoft.com/office/drawing/2014/main" id="{5C0FB716-4894-4F10-BBED-9D4D88C58E3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5000" t="43307" r="32292" b="37052"/>
          <a:stretch/>
        </p:blipFill>
        <p:spPr>
          <a:xfrm>
            <a:off x="8601142" y="6160255"/>
            <a:ext cx="3590248" cy="656180"/>
          </a:xfrm>
          <a:prstGeom prst="rect">
            <a:avLst/>
          </a:prstGeom>
        </p:spPr>
      </p:pic>
      <p:sp>
        <p:nvSpPr>
          <p:cNvPr id="14" name="Footer Placeholder 4">
            <a:extLst>
              <a:ext uri="{FF2B5EF4-FFF2-40B4-BE49-F238E27FC236}">
                <a16:creationId xmlns:a16="http://schemas.microsoft.com/office/drawing/2014/main" id="{E41358BD-1463-4980-9FB9-00EFBE47A1F4}"/>
              </a:ext>
            </a:extLst>
          </p:cNvPr>
          <p:cNvSpPr>
            <a:spLocks noGrp="1"/>
          </p:cNvSpPr>
          <p:nvPr>
            <p:ph type="ftr" sz="quarter" idx="11"/>
          </p:nvPr>
        </p:nvSpPr>
        <p:spPr>
          <a:xfrm>
            <a:off x="9117608" y="6387798"/>
            <a:ext cx="2370667" cy="261408"/>
          </a:xfrm>
        </p:spPr>
        <p:txBody>
          <a:bodyPr/>
          <a:lstStyle>
            <a:lvl1pPr>
              <a:defRPr b="1" i="0" spc="600">
                <a:solidFill>
                  <a:schemeClr val="bg2"/>
                </a:solidFill>
                <a:effectLst>
                  <a:outerShdw blurRad="38100" dist="38100" dir="2700000" algn="tl">
                    <a:srgbClr val="000000">
                      <a:alpha val="43137"/>
                    </a:srgbClr>
                  </a:outerShdw>
                </a:effectLst>
                <a:latin typeface="Lato Medium" panose="020F0502020204030203" pitchFamily="34" charset="0"/>
                <a:ea typeface="Lato Medium" panose="020F0502020204030203" pitchFamily="34" charset="0"/>
                <a:cs typeface="Lato Medium" panose="020F0502020204030203" pitchFamily="34" charset="0"/>
              </a:defRPr>
            </a:lvl1pPr>
          </a:lstStyle>
          <a:p>
            <a:r>
              <a:rPr lang="en-US" dirty="0"/>
              <a:t>UEL-SEB</a:t>
            </a:r>
          </a:p>
        </p:txBody>
      </p:sp>
      <p:sp>
        <p:nvSpPr>
          <p:cNvPr id="15" name="Slide Number Placeholder 5">
            <a:extLst>
              <a:ext uri="{FF2B5EF4-FFF2-40B4-BE49-F238E27FC236}">
                <a16:creationId xmlns:a16="http://schemas.microsoft.com/office/drawing/2014/main" id="{27E30060-4BE3-4A66-BEBA-7E64E5E34F83}"/>
              </a:ext>
            </a:extLst>
          </p:cNvPr>
          <p:cNvSpPr>
            <a:spLocks noGrp="1"/>
          </p:cNvSpPr>
          <p:nvPr>
            <p:ph type="sldNum" sz="quarter" idx="12"/>
          </p:nvPr>
        </p:nvSpPr>
        <p:spPr>
          <a:xfrm>
            <a:off x="11488275" y="6335940"/>
            <a:ext cx="397933" cy="365125"/>
          </a:xfrm>
        </p:spPr>
        <p:txBody>
          <a:bodyPr/>
          <a:lstStyle>
            <a:lvl1pPr>
              <a:defRPr b="1">
                <a:solidFill>
                  <a:schemeClr val="bg1"/>
                </a:solidFill>
                <a:effectLst>
                  <a:outerShdw blurRad="38100" dist="38100" dir="2700000" algn="tl">
                    <a:srgbClr val="000000">
                      <a:alpha val="43137"/>
                    </a:srgbClr>
                  </a:outerShdw>
                </a:effectLst>
                <a:latin typeface="Lato" panose="020F0502020204030203" pitchFamily="34" charset="0"/>
              </a:defRPr>
            </a:lvl1pPr>
          </a:lstStyle>
          <a:p>
            <a:fld id="{ECEBCFE7-CD98-4988-B164-8232B2F80098}" type="slidenum">
              <a:rPr lang="en-US" smtClean="0"/>
              <a:pPr/>
              <a:t>‹#›</a:t>
            </a:fld>
            <a:endParaRPr lang="en-US"/>
          </a:p>
        </p:txBody>
      </p:sp>
    </p:spTree>
    <p:extLst>
      <p:ext uri="{BB962C8B-B14F-4D97-AF65-F5344CB8AC3E}">
        <p14:creationId xmlns:p14="http://schemas.microsoft.com/office/powerpoint/2010/main" val="2106157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C8D439-8735-4530-9FC0-FC7D24FAFCA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655" y="514"/>
            <a:ext cx="12188689" cy="6856971"/>
          </a:xfrm>
          <a:prstGeom prst="rect">
            <a:avLst/>
          </a:prstGeom>
        </p:spPr>
      </p:pic>
      <p:sp>
        <p:nvSpPr>
          <p:cNvPr id="2" name="Title 1">
            <a:extLst>
              <a:ext uri="{FF2B5EF4-FFF2-40B4-BE49-F238E27FC236}">
                <a16:creationId xmlns:a16="http://schemas.microsoft.com/office/drawing/2014/main" id="{4A9B4BB5-BFBE-4BE9-9D2A-2EECDDC4997F}"/>
              </a:ext>
            </a:extLst>
          </p:cNvPr>
          <p:cNvSpPr>
            <a:spLocks noGrp="1"/>
          </p:cNvSpPr>
          <p:nvPr>
            <p:ph type="title"/>
          </p:nvPr>
        </p:nvSpPr>
        <p:spPr>
          <a:xfrm>
            <a:off x="838200" y="1297209"/>
            <a:ext cx="10515600" cy="1325563"/>
          </a:xfrm>
        </p:spPr>
        <p:txBody>
          <a:bodyPr/>
          <a:lstStyle>
            <a:lvl1pPr algn="ctr">
              <a:defRPr/>
            </a:lvl1pPr>
          </a:lstStyle>
          <a:p>
            <a:r>
              <a:rPr lang="en-US"/>
              <a:t>Click to edit Master title style</a:t>
            </a:r>
          </a:p>
        </p:txBody>
      </p:sp>
      <p:pic>
        <p:nvPicPr>
          <p:cNvPr id="6" name="Picture 5">
            <a:extLst>
              <a:ext uri="{FF2B5EF4-FFF2-40B4-BE49-F238E27FC236}">
                <a16:creationId xmlns:a16="http://schemas.microsoft.com/office/drawing/2014/main" id="{F100B61E-E42C-48D6-A8B1-12E9C37C4C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5000" t="43307" r="32292" b="37052"/>
          <a:stretch/>
        </p:blipFill>
        <p:spPr>
          <a:xfrm>
            <a:off x="198967" y="6126163"/>
            <a:ext cx="3590248" cy="656180"/>
          </a:xfrm>
          <a:prstGeom prst="rect">
            <a:avLst/>
          </a:prstGeom>
        </p:spPr>
      </p:pic>
      <p:sp>
        <p:nvSpPr>
          <p:cNvPr id="7" name="Footer Placeholder 4">
            <a:extLst>
              <a:ext uri="{FF2B5EF4-FFF2-40B4-BE49-F238E27FC236}">
                <a16:creationId xmlns:a16="http://schemas.microsoft.com/office/drawing/2014/main" id="{E0067942-7B1D-402C-96D6-EE07CDA69645}"/>
              </a:ext>
            </a:extLst>
          </p:cNvPr>
          <p:cNvSpPr>
            <a:spLocks noGrp="1"/>
          </p:cNvSpPr>
          <p:nvPr>
            <p:ph type="ftr" sz="quarter" idx="11"/>
          </p:nvPr>
        </p:nvSpPr>
        <p:spPr>
          <a:xfrm>
            <a:off x="715433" y="6353706"/>
            <a:ext cx="2370667" cy="261408"/>
          </a:xfrm>
        </p:spPr>
        <p:txBody>
          <a:bodyPr/>
          <a:lstStyle>
            <a:lvl1pPr>
              <a:defRPr b="1" i="0" spc="600">
                <a:solidFill>
                  <a:schemeClr val="bg2"/>
                </a:solidFill>
                <a:effectLst>
                  <a:outerShdw blurRad="38100" dist="38100" dir="2700000" algn="tl">
                    <a:srgbClr val="000000">
                      <a:alpha val="43137"/>
                    </a:srgbClr>
                  </a:outerShdw>
                </a:effectLst>
                <a:latin typeface="Lato Medium" panose="020F0502020204030203" pitchFamily="34" charset="0"/>
                <a:ea typeface="Lato Medium" panose="020F0502020204030203" pitchFamily="34" charset="0"/>
                <a:cs typeface="Lato Medium" panose="020F0502020204030203" pitchFamily="34" charset="0"/>
              </a:defRPr>
            </a:lvl1pPr>
          </a:lstStyle>
          <a:p>
            <a:r>
              <a:rPr lang="en-US" dirty="0"/>
              <a:t>UEL-SEB</a:t>
            </a:r>
          </a:p>
        </p:txBody>
      </p:sp>
      <p:sp>
        <p:nvSpPr>
          <p:cNvPr id="8" name="Slide Number Placeholder 5">
            <a:extLst>
              <a:ext uri="{FF2B5EF4-FFF2-40B4-BE49-F238E27FC236}">
                <a16:creationId xmlns:a16="http://schemas.microsoft.com/office/drawing/2014/main" id="{1AA52262-90F8-4B4E-A1CF-FB40D24DF52A}"/>
              </a:ext>
            </a:extLst>
          </p:cNvPr>
          <p:cNvSpPr>
            <a:spLocks noGrp="1"/>
          </p:cNvSpPr>
          <p:nvPr>
            <p:ph type="sldNum" sz="quarter" idx="12"/>
          </p:nvPr>
        </p:nvSpPr>
        <p:spPr>
          <a:xfrm>
            <a:off x="3086100" y="6301848"/>
            <a:ext cx="397933" cy="365125"/>
          </a:xfrm>
        </p:spPr>
        <p:txBody>
          <a:bodyPr/>
          <a:lstStyle>
            <a:lvl1pPr>
              <a:defRPr b="1">
                <a:solidFill>
                  <a:schemeClr val="bg1"/>
                </a:solidFill>
                <a:effectLst>
                  <a:outerShdw blurRad="38100" dist="38100" dir="2700000" algn="tl">
                    <a:srgbClr val="000000">
                      <a:alpha val="43137"/>
                    </a:srgbClr>
                  </a:outerShdw>
                </a:effectLst>
                <a:latin typeface="Lato" panose="020F0502020204030203" pitchFamily="34" charset="0"/>
              </a:defRPr>
            </a:lvl1pPr>
          </a:lstStyle>
          <a:p>
            <a:fld id="{ECEBCFE7-CD98-4988-B164-8232B2F80098}" type="slidenum">
              <a:rPr lang="en-US" smtClean="0"/>
              <a:pPr/>
              <a:t>‹#›</a:t>
            </a:fld>
            <a:endParaRPr lang="en-US"/>
          </a:p>
        </p:txBody>
      </p:sp>
      <p:pic>
        <p:nvPicPr>
          <p:cNvPr id="9" name="Picture 8">
            <a:extLst>
              <a:ext uri="{FF2B5EF4-FFF2-40B4-BE49-F238E27FC236}">
                <a16:creationId xmlns:a16="http://schemas.microsoft.com/office/drawing/2014/main" id="{9E91252C-2951-4708-8015-C4AEBB61F28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4127" t="66898" r="25920" b="25926"/>
          <a:stretch/>
        </p:blipFill>
        <p:spPr>
          <a:xfrm>
            <a:off x="4224067" y="2400300"/>
            <a:ext cx="3743866" cy="151261"/>
          </a:xfrm>
          <a:prstGeom prst="rect">
            <a:avLst/>
          </a:prstGeom>
        </p:spPr>
      </p:pic>
    </p:spTree>
    <p:extLst>
      <p:ext uri="{BB962C8B-B14F-4D97-AF65-F5344CB8AC3E}">
        <p14:creationId xmlns:p14="http://schemas.microsoft.com/office/powerpoint/2010/main" val="4091835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02B82C-3216-4474-B78F-7D9D2E7D7A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655" y="514"/>
            <a:ext cx="12188689" cy="6856971"/>
          </a:xfrm>
          <a:prstGeom prst="rect">
            <a:avLst/>
          </a:prstGeom>
        </p:spPr>
      </p:pic>
      <p:sp>
        <p:nvSpPr>
          <p:cNvPr id="15" name="Title 1">
            <a:extLst>
              <a:ext uri="{FF2B5EF4-FFF2-40B4-BE49-F238E27FC236}">
                <a16:creationId xmlns:a16="http://schemas.microsoft.com/office/drawing/2014/main" id="{CB96673B-6511-4BA8-9755-B0806034D3B3}"/>
              </a:ext>
            </a:extLst>
          </p:cNvPr>
          <p:cNvSpPr>
            <a:spLocks noGrp="1"/>
          </p:cNvSpPr>
          <p:nvPr>
            <p:ph type="title" hasCustomPrompt="1"/>
          </p:nvPr>
        </p:nvSpPr>
        <p:spPr>
          <a:xfrm>
            <a:off x="838199" y="3243350"/>
            <a:ext cx="10515600" cy="1566745"/>
          </a:xfrm>
          <a:ln>
            <a:noFill/>
          </a:ln>
        </p:spPr>
        <p:txBody>
          <a:bodyPr>
            <a:noAutofit/>
          </a:bodyPr>
          <a:lstStyle>
            <a:lvl1pPr algn="ctr">
              <a:defRPr sz="5400">
                <a:effectLst>
                  <a:outerShdw blurRad="38100" dist="38100" dir="2700000" algn="tl">
                    <a:srgbClr val="000000">
                      <a:alpha val="43137"/>
                    </a:srgbClr>
                  </a:outerShdw>
                </a:effectLst>
                <a:latin typeface="Lato Black" panose="020F0502020204030203" pitchFamily="34" charset="0"/>
              </a:defRPr>
            </a:lvl1pPr>
          </a:lstStyle>
          <a:p>
            <a:r>
              <a:rPr lang="en-US" dirty="0"/>
              <a:t>THANK YOU!</a:t>
            </a:r>
          </a:p>
        </p:txBody>
      </p:sp>
    </p:spTree>
    <p:extLst>
      <p:ext uri="{BB962C8B-B14F-4D97-AF65-F5344CB8AC3E}">
        <p14:creationId xmlns:p14="http://schemas.microsoft.com/office/powerpoint/2010/main" val="28509287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7F6651-7371-43F1-80AC-304534B7D6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DE6C7B-3162-4CD8-8F50-FC23EB4363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95E4A3-6CF3-4133-83C6-C753A1E1B1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E3DAB19-47BE-4F7E-A340-C58220CDD690}"/>
              </a:ext>
            </a:extLst>
          </p:cNvPr>
          <p:cNvSpPr>
            <a:spLocks noGrp="1"/>
          </p:cNvSpPr>
          <p:nvPr>
            <p:ph type="ftr" sz="quarter" idx="3"/>
          </p:nvPr>
        </p:nvSpPr>
        <p:spPr>
          <a:xfrm>
            <a:off x="3581400" y="6356350"/>
            <a:ext cx="5029200" cy="365125"/>
          </a:xfrm>
          <a:prstGeom prst="rect">
            <a:avLst/>
          </a:prstGeom>
        </p:spPr>
        <p:txBody>
          <a:bodyPr vert="horz" lIns="91440" tIns="45720" rIns="91440" bIns="45720" rtlCol="0" anchor="ctr"/>
          <a:lstStyle>
            <a:lvl1pPr algn="ctr">
              <a:defRPr sz="1200">
                <a:solidFill>
                  <a:schemeClr val="tx1">
                    <a:tint val="75000"/>
                  </a:schemeClr>
                </a:solidFill>
                <a:latin typeface="Lato Medium" panose="020F0502020204030203" pitchFamily="34" charset="0"/>
                <a:ea typeface="Lato Medium" panose="020F0502020204030203" pitchFamily="34" charset="0"/>
                <a:cs typeface="Lato Medium" panose="020F0502020204030203" pitchFamily="34" charset="0"/>
              </a:defRPr>
            </a:lvl1pPr>
          </a:lstStyle>
          <a:p>
            <a:r>
              <a:rPr lang="en-US"/>
              <a:t>Department of Communication</a:t>
            </a:r>
          </a:p>
        </p:txBody>
      </p:sp>
      <p:sp>
        <p:nvSpPr>
          <p:cNvPr id="6" name="Slide Number Placeholder 5">
            <a:extLst>
              <a:ext uri="{FF2B5EF4-FFF2-40B4-BE49-F238E27FC236}">
                <a16:creationId xmlns:a16="http://schemas.microsoft.com/office/drawing/2014/main" id="{39EA949B-D5E6-4616-89E4-4440BEA051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EBCFE7-CD98-4988-B164-8232B2F80098}" type="slidenum">
              <a:rPr lang="en-US" smtClean="0"/>
              <a:t>‹#›</a:t>
            </a:fld>
            <a:endParaRPr lang="en-US"/>
          </a:p>
        </p:txBody>
      </p:sp>
    </p:spTree>
    <p:extLst>
      <p:ext uri="{BB962C8B-B14F-4D97-AF65-F5344CB8AC3E}">
        <p14:creationId xmlns:p14="http://schemas.microsoft.com/office/powerpoint/2010/main" val="894316121"/>
      </p:ext>
    </p:extLst>
  </p:cSld>
  <p:clrMap bg1="lt1" tx1="dk1" bg2="lt2" tx2="dk2" accent1="accent1" accent2="accent2" accent3="accent3" accent4="accent4" accent5="accent5" accent6="accent6" hlink="hlink" folHlink="folHlink"/>
  <p:sldLayoutIdLst>
    <p:sldLayoutId id="2147483662" r:id="rId1"/>
    <p:sldLayoutId id="2147483649" r:id="rId2"/>
    <p:sldLayoutId id="2147483657" r:id="rId3"/>
    <p:sldLayoutId id="2147483652" r:id="rId4"/>
    <p:sldLayoutId id="2147483656" r:id="rId5"/>
    <p:sldLayoutId id="2147483654" r:id="rId6"/>
    <p:sldLayoutId id="2147483655" r:id="rId7"/>
  </p:sldLayoutIdLst>
  <p:hf hdr="0" dt="0"/>
  <p:txStyles>
    <p:titleStyle>
      <a:lvl1pPr algn="l" defTabSz="914400" rtl="0" eaLnBrk="1" latinLnBrk="0" hangingPunct="1">
        <a:lnSpc>
          <a:spcPct val="90000"/>
        </a:lnSpc>
        <a:spcBef>
          <a:spcPct val="0"/>
        </a:spcBef>
        <a:buNone/>
        <a:defRPr sz="4400" b="1" kern="1200">
          <a:solidFill>
            <a:srgbClr val="144E8C"/>
          </a:solidFill>
          <a:latin typeface="Lato Black" panose="020F050202020403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Lato" panose="020F050202020403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Lato" panose="020F050202020403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Lato" panose="020F050202020403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tx1"/>
          </a:solidFill>
          <a:latin typeface="Lato" panose="020F050202020403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sz="3000">
                <a:solidFill>
                  <a:srgbClr val="144E8C"/>
                </a:solidFill>
              </a:rPr>
              <a:t>Machine Learning for Credit Classification:</a:t>
            </a:r>
          </a:p>
          <a:p>
            <a:pPr algn="ctr"/>
            <a:r>
              <a:rPr sz="3000">
                <a:solidFill>
                  <a:srgbClr val="144E8C"/>
                </a:solidFill>
              </a:rPr>
              <a:t>Case Study in a Vietnamese Commercial Bank</a:t>
            </a:r>
          </a:p>
        </p:txBody>
      </p:sp>
      <p:sp>
        <p:nvSpPr>
          <p:cNvPr id="3" name="TextBox 2"/>
          <p:cNvSpPr txBox="1"/>
          <p:nvPr/>
        </p:nvSpPr>
        <p:spPr>
          <a:xfrm>
            <a:off x="1097280" y="4800600"/>
            <a:ext cx="9994392" cy="365760"/>
          </a:xfrm>
          <a:prstGeom prst="rect">
            <a:avLst/>
          </a:prstGeom>
          <a:noFill/>
        </p:spPr>
        <p:txBody>
          <a:bodyPr wrap="square" lIns="0" rIns="0" tIns="18288" bIns="18288" anchor="t"/>
          <a:lstStyle/>
          <a:p>
            <a:pPr algn="ctr">
              <a:spcAft>
                <a:spcPts val="400"/>
              </a:spcAft>
            </a:pPr>
            <a:r>
              <a:rPr sz="1700" b="0" i="0">
                <a:solidFill>
                  <a:srgbClr val="0E2F57"/>
                </a:solidFill>
                <a:latin typeface="Calibri"/>
              </a:rPr>
              <a:t>Lê Thị Thanh An</a:t>
            </a:r>
            <a:r>
              <a:rPr sz="1500" b="0" i="0" baseline="30000">
                <a:solidFill>
                  <a:srgbClr val="0E2F57"/>
                </a:solidFill>
                <a:latin typeface="Calibri"/>
              </a:rPr>
              <a:t>a,b</a:t>
            </a:r>
            <a:r>
              <a:rPr sz="1700" b="0" i="0">
                <a:solidFill>
                  <a:srgbClr val="0E2F57"/>
                </a:solidFill>
                <a:latin typeface="Calibri"/>
              </a:rPr>
              <a:t>   ·   Lê Kim Thư</a:t>
            </a:r>
            <a:r>
              <a:rPr sz="1500" b="0" i="0" baseline="30000">
                <a:solidFill>
                  <a:srgbClr val="0E2F57"/>
                </a:solidFill>
                <a:latin typeface="Calibri"/>
              </a:rPr>
              <a:t>c</a:t>
            </a:r>
            <a:r>
              <a:rPr sz="1700" b="1" i="0">
                <a:solidFill>
                  <a:srgbClr val="0E2F57"/>
                </a:solidFill>
                <a:latin typeface="Calibri"/>
              </a:rPr>
              <a:t>   ·   Đàm Công Danh</a:t>
            </a:r>
            <a:r>
              <a:rPr sz="1500" b="0" i="0" baseline="30000">
                <a:solidFill>
                  <a:srgbClr val="0E2F57"/>
                </a:solidFill>
                <a:latin typeface="Calibri"/>
              </a:rPr>
              <a:t>c,*</a:t>
            </a:r>
          </a:p>
        </p:txBody>
      </p:sp>
      <p:sp>
        <p:nvSpPr>
          <p:cNvPr id="4" name="TextBox 3"/>
          <p:cNvSpPr txBox="1"/>
          <p:nvPr/>
        </p:nvSpPr>
        <p:spPr>
          <a:xfrm>
            <a:off x="1097280" y="5193792"/>
            <a:ext cx="9994392" cy="548640"/>
          </a:xfrm>
          <a:prstGeom prst="rect">
            <a:avLst/>
          </a:prstGeom>
          <a:noFill/>
        </p:spPr>
        <p:txBody>
          <a:bodyPr wrap="square" lIns="0" rIns="0" tIns="18288" bIns="18288" anchor="t"/>
          <a:lstStyle/>
          <a:p>
            <a:pPr algn="ctr">
              <a:spcAft>
                <a:spcPts val="200"/>
              </a:spcAft>
            </a:pPr>
            <a:r>
              <a:rPr sz="1200" b="1" i="0">
                <a:solidFill>
                  <a:srgbClr val="F2581E"/>
                </a:solidFill>
                <a:latin typeface="Calibri"/>
              </a:rPr>
              <a:t>a </a:t>
            </a:r>
            <a:r>
              <a:rPr sz="1200" b="0" i="0">
                <a:solidFill>
                  <a:srgbClr val="5A6573"/>
                </a:solidFill>
                <a:latin typeface="Calibri"/>
              </a:rPr>
              <a:t>University of Economics and Law, Ho Chi Minh City    </a:t>
            </a:r>
            <a:r>
              <a:rPr sz="1200" b="1" i="0">
                <a:solidFill>
                  <a:srgbClr val="F2581E"/>
                </a:solidFill>
                <a:latin typeface="Calibri"/>
              </a:rPr>
              <a:t>b </a:t>
            </a:r>
            <a:r>
              <a:rPr sz="1200" b="0" i="0">
                <a:solidFill>
                  <a:srgbClr val="5A6573"/>
                </a:solidFill>
                <a:latin typeface="Calibri"/>
              </a:rPr>
              <a:t>Vietnam National University, Ho Chi Minh City</a:t>
            </a:r>
          </a:p>
          <a:p>
            <a:pPr algn="ctr">
              <a:spcAft>
                <a:spcPts val="200"/>
              </a:spcAft>
            </a:pPr>
            <a:r>
              <a:rPr sz="1200" b="1" i="0">
                <a:solidFill>
                  <a:srgbClr val="F2581E"/>
                </a:solidFill>
                <a:latin typeface="Calibri"/>
              </a:rPr>
              <a:t>c </a:t>
            </a:r>
            <a:r>
              <a:rPr sz="1200" b="0" i="0">
                <a:solidFill>
                  <a:srgbClr val="5A6573"/>
                </a:solidFill>
                <a:latin typeface="Calibri"/>
              </a:rPr>
              <a:t>Hanoi University of Science and Technology (HUST), Hanoi</a:t>
            </a:r>
          </a:p>
        </p:txBody>
      </p:sp>
      <p:sp>
        <p:nvSpPr>
          <p:cNvPr id="5" name="TextBox 4"/>
          <p:cNvSpPr txBox="1"/>
          <p:nvPr/>
        </p:nvSpPr>
        <p:spPr>
          <a:xfrm>
            <a:off x="1097280" y="5760720"/>
            <a:ext cx="9994392" cy="274320"/>
          </a:xfrm>
          <a:prstGeom prst="rect">
            <a:avLst/>
          </a:prstGeom>
          <a:noFill/>
        </p:spPr>
        <p:txBody>
          <a:bodyPr wrap="square" lIns="0" rIns="0" tIns="18288" bIns="18288" anchor="t"/>
          <a:lstStyle/>
          <a:p>
            <a:pPr algn="ctr">
              <a:spcAft>
                <a:spcPts val="400"/>
              </a:spcAft>
            </a:pPr>
            <a:r>
              <a:rPr sz="1100" b="0" i="1">
                <a:solidFill>
                  <a:srgbClr val="5A6573"/>
                </a:solidFill>
                <a:latin typeface="Calibri"/>
              </a:rPr>
              <a:t>* Presenter &amp; corresponding author  ·  danh.dc251317m@sis.hust.edu.vn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Why Debt-Group Classification Needs Governance</a:t>
            </a:r>
          </a:p>
        </p:txBody>
      </p:sp>
      <p:sp>
        <p:nvSpPr>
          <p:cNvPr id="3" name="TextBox 2"/>
          <p:cNvSpPr txBox="1"/>
          <p:nvPr/>
        </p:nvSpPr>
        <p:spPr>
          <a:xfrm>
            <a:off x="841248" y="2377440"/>
            <a:ext cx="4480560" cy="320040"/>
          </a:xfrm>
          <a:prstGeom prst="rect">
            <a:avLst/>
          </a:prstGeom>
          <a:noFill/>
        </p:spPr>
        <p:txBody>
          <a:bodyPr wrap="square" lIns="0" rIns="0" tIns="18288" bIns="18288" anchor="t"/>
          <a:lstStyle/>
          <a:p>
            <a:pPr algn="l">
              <a:spcAft>
                <a:spcPts val="400"/>
              </a:spcAft>
            </a:pPr>
            <a:r>
              <a:rPr sz="1600" b="1" i="0">
                <a:solidFill>
                  <a:srgbClr val="144E8C"/>
                </a:solidFill>
                <a:latin typeface="Calibri"/>
              </a:rPr>
              <a:t>A regulatory obligation, not a modelling choice</a:t>
            </a:r>
          </a:p>
        </p:txBody>
      </p:sp>
      <p:sp>
        <p:nvSpPr>
          <p:cNvPr id="4" name="Rounded Rectangle 3"/>
          <p:cNvSpPr/>
          <p:nvPr/>
        </p:nvSpPr>
        <p:spPr>
          <a:xfrm>
            <a:off x="841248" y="2834640"/>
            <a:ext cx="4480560" cy="9601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926080"/>
            <a:ext cx="1051560" cy="502920"/>
          </a:xfrm>
          <a:prstGeom prst="rect">
            <a:avLst/>
          </a:prstGeom>
          <a:noFill/>
        </p:spPr>
        <p:txBody>
          <a:bodyPr wrap="square" lIns="0" rIns="0" tIns="18288" bIns="18288" anchor="ctr"/>
          <a:lstStyle/>
          <a:p>
            <a:pPr algn="ctr">
              <a:spcAft>
                <a:spcPts val="400"/>
              </a:spcAft>
            </a:pPr>
            <a:r>
              <a:rPr sz="3000" b="1" i="0">
                <a:solidFill>
                  <a:srgbClr val="F2581E"/>
                </a:solidFill>
                <a:latin typeface="Calibri"/>
              </a:rPr>
              <a:t>5</a:t>
            </a:r>
          </a:p>
        </p:txBody>
      </p:sp>
      <p:sp>
        <p:nvSpPr>
          <p:cNvPr id="6" name="TextBox 5"/>
          <p:cNvSpPr txBox="1"/>
          <p:nvPr/>
        </p:nvSpPr>
        <p:spPr>
          <a:xfrm>
            <a:off x="960120" y="3410712"/>
            <a:ext cx="1051560" cy="274320"/>
          </a:xfrm>
          <a:prstGeom prst="rect">
            <a:avLst/>
          </a:prstGeom>
          <a:noFill/>
        </p:spPr>
        <p:txBody>
          <a:bodyPr wrap="square" lIns="0" rIns="0" tIns="18288" bIns="18288" anchor="t"/>
          <a:lstStyle/>
          <a:p>
            <a:pPr algn="ctr">
              <a:spcAft>
                <a:spcPts val="400"/>
              </a:spcAft>
            </a:pPr>
            <a:r>
              <a:rPr sz="1000" b="0" i="0">
                <a:solidFill>
                  <a:srgbClr val="5A6573"/>
                </a:solidFill>
                <a:latin typeface="Calibri"/>
              </a:rPr>
              <a:t>debt groups</a:t>
            </a:r>
          </a:p>
        </p:txBody>
      </p:sp>
      <p:sp>
        <p:nvSpPr>
          <p:cNvPr id="7" name="TextBox 6"/>
          <p:cNvSpPr txBox="1"/>
          <p:nvPr/>
        </p:nvSpPr>
        <p:spPr>
          <a:xfrm>
            <a:off x="2103120" y="2926080"/>
            <a:ext cx="3108960" cy="777240"/>
          </a:xfrm>
          <a:prstGeom prst="rect">
            <a:avLst/>
          </a:prstGeom>
          <a:noFill/>
        </p:spPr>
        <p:txBody>
          <a:bodyPr wrap="square" lIns="0" rIns="0" tIns="18288" bIns="18288" anchor="ctr"/>
          <a:lstStyle/>
          <a:p>
            <a:pPr algn="l">
              <a:spcAft>
                <a:spcPts val="400"/>
              </a:spcAft>
            </a:pPr>
            <a:r>
              <a:rPr sz="1300" b="0" i="0">
                <a:solidFill>
                  <a:srgbClr val="0E2F57"/>
                </a:solidFill>
                <a:latin typeface="Calibri"/>
              </a:rPr>
              <a:t>Every loan must be classified (SBV Circular 31/2024, amended by 37/2025).</a:t>
            </a:r>
          </a:p>
        </p:txBody>
      </p:sp>
      <p:sp>
        <p:nvSpPr>
          <p:cNvPr id="8" name="Rounded Rectangle 7"/>
          <p:cNvSpPr/>
          <p:nvPr/>
        </p:nvSpPr>
        <p:spPr>
          <a:xfrm>
            <a:off x="841248" y="3913632"/>
            <a:ext cx="4480560" cy="9601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4005072"/>
            <a:ext cx="1051560" cy="502920"/>
          </a:xfrm>
          <a:prstGeom prst="rect">
            <a:avLst/>
          </a:prstGeom>
          <a:noFill/>
        </p:spPr>
        <p:txBody>
          <a:bodyPr wrap="square" lIns="0" rIns="0" tIns="18288" bIns="18288" anchor="ctr"/>
          <a:lstStyle/>
          <a:p>
            <a:pPr algn="ctr">
              <a:spcAft>
                <a:spcPts val="400"/>
              </a:spcAft>
            </a:pPr>
            <a:r>
              <a:rPr sz="3000" b="1" i="0">
                <a:solidFill>
                  <a:srgbClr val="F2581E"/>
                </a:solidFill>
                <a:latin typeface="Calibri"/>
              </a:rPr>
              <a:t>3–5</a:t>
            </a:r>
          </a:p>
        </p:txBody>
      </p:sp>
      <p:sp>
        <p:nvSpPr>
          <p:cNvPr id="10" name="TextBox 9"/>
          <p:cNvSpPr txBox="1"/>
          <p:nvPr/>
        </p:nvSpPr>
        <p:spPr>
          <a:xfrm>
            <a:off x="960120" y="4489704"/>
            <a:ext cx="1051560" cy="274320"/>
          </a:xfrm>
          <a:prstGeom prst="rect">
            <a:avLst/>
          </a:prstGeom>
          <a:noFill/>
        </p:spPr>
        <p:txBody>
          <a:bodyPr wrap="square" lIns="0" rIns="0" tIns="18288" bIns="18288" anchor="t"/>
          <a:lstStyle/>
          <a:p>
            <a:pPr algn="ctr">
              <a:spcAft>
                <a:spcPts val="400"/>
              </a:spcAft>
            </a:pPr>
            <a:r>
              <a:rPr sz="1000" b="0" i="0">
                <a:solidFill>
                  <a:srgbClr val="5A6573"/>
                </a:solidFill>
                <a:latin typeface="Calibri"/>
              </a:rPr>
              <a:t>non-performing</a:t>
            </a:r>
          </a:p>
        </p:txBody>
      </p:sp>
      <p:sp>
        <p:nvSpPr>
          <p:cNvPr id="11" name="TextBox 10"/>
          <p:cNvSpPr txBox="1"/>
          <p:nvPr/>
        </p:nvSpPr>
        <p:spPr>
          <a:xfrm>
            <a:off x="2103120" y="4005072"/>
            <a:ext cx="3108960" cy="777240"/>
          </a:xfrm>
          <a:prstGeom prst="rect">
            <a:avLst/>
          </a:prstGeom>
          <a:noFill/>
        </p:spPr>
        <p:txBody>
          <a:bodyPr wrap="square" lIns="0" rIns="0" tIns="18288" bIns="18288" anchor="ctr"/>
          <a:lstStyle/>
          <a:p>
            <a:pPr algn="l">
              <a:spcAft>
                <a:spcPts val="400"/>
              </a:spcAft>
            </a:pPr>
            <a:r>
              <a:rPr sz="1300" b="0" i="0">
                <a:solidFill>
                  <a:srgbClr val="0E2F57"/>
                </a:solidFill>
                <a:latin typeface="Calibri"/>
              </a:rPr>
              <a:t>Classification drives provisioning — and how much credit reaches private borrowers.</a:t>
            </a:r>
          </a:p>
        </p:txBody>
      </p:sp>
      <p:sp>
        <p:nvSpPr>
          <p:cNvPr id="12" name="Rounded Rectangle 11"/>
          <p:cNvSpPr/>
          <p:nvPr/>
        </p:nvSpPr>
        <p:spPr>
          <a:xfrm>
            <a:off x="841248" y="4992624"/>
            <a:ext cx="4480560" cy="9601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0120" y="5084064"/>
            <a:ext cx="1051560" cy="502920"/>
          </a:xfrm>
          <a:prstGeom prst="rect">
            <a:avLst/>
          </a:prstGeom>
          <a:noFill/>
        </p:spPr>
        <p:txBody>
          <a:bodyPr wrap="square" lIns="0" rIns="0" tIns="18288" bIns="18288" anchor="ctr"/>
          <a:lstStyle/>
          <a:p>
            <a:pPr algn="ctr">
              <a:spcAft>
                <a:spcPts val="400"/>
              </a:spcAft>
            </a:pPr>
            <a:r>
              <a:rPr sz="3000" b="1" i="0">
                <a:solidFill>
                  <a:srgbClr val="F2581E"/>
                </a:solidFill>
                <a:latin typeface="Calibri"/>
              </a:rPr>
              <a:t>!</a:t>
            </a:r>
          </a:p>
        </p:txBody>
      </p:sp>
      <p:sp>
        <p:nvSpPr>
          <p:cNvPr id="14" name="TextBox 13"/>
          <p:cNvSpPr txBox="1"/>
          <p:nvPr/>
        </p:nvSpPr>
        <p:spPr>
          <a:xfrm>
            <a:off x="960120" y="5568696"/>
            <a:ext cx="1051560" cy="274320"/>
          </a:xfrm>
          <a:prstGeom prst="rect">
            <a:avLst/>
          </a:prstGeom>
          <a:noFill/>
        </p:spPr>
        <p:txBody>
          <a:bodyPr wrap="square" lIns="0" rIns="0" tIns="18288" bIns="18288" anchor="t"/>
          <a:lstStyle/>
          <a:p>
            <a:pPr algn="ctr">
              <a:spcAft>
                <a:spcPts val="400"/>
              </a:spcAft>
            </a:pPr>
            <a:r>
              <a:rPr sz="1000" b="0" i="0">
                <a:solidFill>
                  <a:srgbClr val="5A6573"/>
                </a:solidFill>
                <a:latin typeface="Calibri"/>
              </a:rPr>
              <a:t>governance risk</a:t>
            </a:r>
          </a:p>
        </p:txBody>
      </p:sp>
      <p:sp>
        <p:nvSpPr>
          <p:cNvPr id="15" name="TextBox 14"/>
          <p:cNvSpPr txBox="1"/>
          <p:nvPr/>
        </p:nvSpPr>
        <p:spPr>
          <a:xfrm>
            <a:off x="2103120" y="5084064"/>
            <a:ext cx="3108960" cy="777240"/>
          </a:xfrm>
          <a:prstGeom prst="rect">
            <a:avLst/>
          </a:prstGeom>
          <a:noFill/>
        </p:spPr>
        <p:txBody>
          <a:bodyPr wrap="square" lIns="0" rIns="0" tIns="18288" bIns="18288" anchor="ctr"/>
          <a:lstStyle/>
          <a:p>
            <a:pPr algn="l">
              <a:spcAft>
                <a:spcPts val="400"/>
              </a:spcAft>
            </a:pPr>
            <a:r>
              <a:rPr sz="1300" b="0" i="0">
                <a:solidFill>
                  <a:srgbClr val="0E2F57"/>
                </a:solidFill>
                <a:latin typeface="Calibri"/>
              </a:rPr>
              <a:t>A model that is opaque, or that silently learns the labelling rule, is unusable in a regulated process.</a:t>
            </a:r>
          </a:p>
        </p:txBody>
      </p:sp>
      <p:sp>
        <p:nvSpPr>
          <p:cNvPr id="16" name="TextBox 15"/>
          <p:cNvSpPr txBox="1"/>
          <p:nvPr/>
        </p:nvSpPr>
        <p:spPr>
          <a:xfrm>
            <a:off x="5852160" y="2377440"/>
            <a:ext cx="5486400" cy="320040"/>
          </a:xfrm>
          <a:prstGeom prst="rect">
            <a:avLst/>
          </a:prstGeom>
          <a:noFill/>
        </p:spPr>
        <p:txBody>
          <a:bodyPr wrap="square" lIns="0" rIns="0" tIns="18288" bIns="18288" anchor="t"/>
          <a:lstStyle/>
          <a:p>
            <a:pPr algn="l">
              <a:spcAft>
                <a:spcPts val="400"/>
              </a:spcAft>
            </a:pPr>
            <a:r>
              <a:rPr sz="1600" b="1" i="0">
                <a:solidFill>
                  <a:srgbClr val="144E8C"/>
                </a:solidFill>
                <a:latin typeface="Calibri"/>
              </a:rPr>
              <a:t>Research questions</a:t>
            </a:r>
          </a:p>
        </p:txBody>
      </p:sp>
      <p:sp>
        <p:nvSpPr>
          <p:cNvPr id="17" name="Rounded Rectangle 16"/>
          <p:cNvSpPr/>
          <p:nvPr/>
        </p:nvSpPr>
        <p:spPr>
          <a:xfrm>
            <a:off x="5852160" y="2834640"/>
            <a:ext cx="5486400" cy="9601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989320" y="3063240"/>
            <a:ext cx="502920" cy="502920"/>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RQ1</a:t>
            </a:r>
          </a:p>
        </p:txBody>
      </p:sp>
      <p:sp>
        <p:nvSpPr>
          <p:cNvPr id="19" name="TextBox 18"/>
          <p:cNvSpPr txBox="1"/>
          <p:nvPr/>
        </p:nvSpPr>
        <p:spPr>
          <a:xfrm>
            <a:off x="6629400" y="2907792"/>
            <a:ext cx="4617720" cy="822960"/>
          </a:xfrm>
          <a:prstGeom prst="rect">
            <a:avLst/>
          </a:prstGeom>
          <a:noFill/>
        </p:spPr>
        <p:txBody>
          <a:bodyPr wrap="square" lIns="0" rIns="0" tIns="18288" bIns="18288" anchor="ctr"/>
          <a:lstStyle/>
          <a:p>
            <a:pPr algn="l">
              <a:spcAft>
                <a:spcPts val="400"/>
              </a:spcAft>
            </a:pPr>
            <a:r>
              <a:rPr sz="1300" b="0" i="0">
                <a:solidFill>
                  <a:srgbClr val="0E2F57"/>
                </a:solidFill>
                <a:latin typeface="Calibri"/>
              </a:rPr>
              <a:t>How do standard ML classifiers compare on a 5-class, severely imbalanced task — and how far does the ranking depend on the imbalance treatment?</a:t>
            </a:r>
          </a:p>
        </p:txBody>
      </p:sp>
      <p:sp>
        <p:nvSpPr>
          <p:cNvPr id="20" name="Rounded Rectangle 19"/>
          <p:cNvSpPr/>
          <p:nvPr/>
        </p:nvSpPr>
        <p:spPr>
          <a:xfrm>
            <a:off x="5852160" y="3913632"/>
            <a:ext cx="5486400" cy="9601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989320" y="4142232"/>
            <a:ext cx="502920" cy="502920"/>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RQ2</a:t>
            </a:r>
          </a:p>
        </p:txBody>
      </p:sp>
      <p:sp>
        <p:nvSpPr>
          <p:cNvPr id="22" name="TextBox 21"/>
          <p:cNvSpPr txBox="1"/>
          <p:nvPr/>
        </p:nvSpPr>
        <p:spPr>
          <a:xfrm>
            <a:off x="6629400" y="3986784"/>
            <a:ext cx="4617720" cy="822960"/>
          </a:xfrm>
          <a:prstGeom prst="rect">
            <a:avLst/>
          </a:prstGeom>
          <a:noFill/>
        </p:spPr>
        <p:txBody>
          <a:bodyPr wrap="square" lIns="0" rIns="0" tIns="18288" bIns="18288" anchor="ctr"/>
          <a:lstStyle/>
          <a:p>
            <a:pPr algn="l">
              <a:spcAft>
                <a:spcPts val="400"/>
              </a:spcAft>
            </a:pPr>
            <a:r>
              <a:rPr sz="1300" b="0" i="0">
                <a:solidFill>
                  <a:srgbClr val="0E2F57"/>
                </a:solidFill>
                <a:latin typeface="Calibri"/>
              </a:rPr>
              <a:t>Does adding features always help, or can a smaller, cheaper-to-maintain set keep near-full performance?</a:t>
            </a:r>
          </a:p>
        </p:txBody>
      </p:sp>
      <p:sp>
        <p:nvSpPr>
          <p:cNvPr id="23" name="Rounded Rectangle 22"/>
          <p:cNvSpPr/>
          <p:nvPr/>
        </p:nvSpPr>
        <p:spPr>
          <a:xfrm>
            <a:off x="5852160" y="4992624"/>
            <a:ext cx="5486400" cy="9601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989320" y="5221224"/>
            <a:ext cx="502920" cy="502920"/>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RQ3</a:t>
            </a:r>
          </a:p>
        </p:txBody>
      </p:sp>
      <p:sp>
        <p:nvSpPr>
          <p:cNvPr id="25" name="TextBox 24"/>
          <p:cNvSpPr txBox="1"/>
          <p:nvPr/>
        </p:nvSpPr>
        <p:spPr>
          <a:xfrm>
            <a:off x="6629400" y="5065776"/>
            <a:ext cx="4617720" cy="822960"/>
          </a:xfrm>
          <a:prstGeom prst="rect">
            <a:avLst/>
          </a:prstGeom>
          <a:noFill/>
        </p:spPr>
        <p:txBody>
          <a:bodyPr wrap="square" lIns="0" rIns="0" tIns="18288" bIns="18288" anchor="ctr"/>
          <a:lstStyle/>
          <a:p>
            <a:pPr algn="l">
              <a:spcAft>
                <a:spcPts val="400"/>
              </a:spcAft>
            </a:pPr>
            <a:r>
              <a:rPr sz="1300" b="0" i="0">
                <a:solidFill>
                  <a:srgbClr val="0E2F57"/>
                </a:solidFill>
                <a:latin typeface="Calibri"/>
              </a:rPr>
              <a:t>Which business groups of information drive prediction — and is that stable across Gain and SHAP?</a:t>
            </a:r>
          </a:p>
        </p:txBody>
      </p:sp>
      <p:sp>
        <p:nvSpPr>
          <p:cNvPr id="26"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27"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Three Gaps → A Verification-First Design</a:t>
            </a:r>
          </a:p>
        </p:txBody>
      </p:sp>
      <p:sp>
        <p:nvSpPr>
          <p:cNvPr id="3" name="TextBox 2"/>
          <p:cNvSpPr txBox="1"/>
          <p:nvPr/>
        </p:nvSpPr>
        <p:spPr>
          <a:xfrm>
            <a:off x="841248" y="2724912"/>
            <a:ext cx="4846320" cy="274320"/>
          </a:xfrm>
          <a:prstGeom prst="rect">
            <a:avLst/>
          </a:prstGeom>
          <a:noFill/>
        </p:spPr>
        <p:txBody>
          <a:bodyPr wrap="square" lIns="0" rIns="0" tIns="18288" bIns="18288" anchor="t"/>
          <a:lstStyle/>
          <a:p>
            <a:pPr algn="l">
              <a:spcAft>
                <a:spcPts val="400"/>
              </a:spcAft>
            </a:pPr>
            <a:r>
              <a:rPr sz="1300" b="1" i="0">
                <a:solidFill>
                  <a:srgbClr val="F2581E"/>
                </a:solidFill>
                <a:latin typeface="Calibri"/>
              </a:rPr>
              <a:t>Gap in the prior literature</a:t>
            </a:r>
          </a:p>
        </p:txBody>
      </p:sp>
      <p:sp>
        <p:nvSpPr>
          <p:cNvPr id="4" name="TextBox 3"/>
          <p:cNvSpPr txBox="1"/>
          <p:nvPr/>
        </p:nvSpPr>
        <p:spPr>
          <a:xfrm>
            <a:off x="6492240" y="2724912"/>
            <a:ext cx="4846320" cy="274320"/>
          </a:xfrm>
          <a:prstGeom prst="rect">
            <a:avLst/>
          </a:prstGeom>
          <a:noFill/>
        </p:spPr>
        <p:txBody>
          <a:bodyPr wrap="square" lIns="0" rIns="0" tIns="18288" bIns="18288" anchor="t"/>
          <a:lstStyle/>
          <a:p>
            <a:pPr algn="l">
              <a:spcAft>
                <a:spcPts val="400"/>
              </a:spcAft>
            </a:pPr>
            <a:r>
              <a:rPr sz="1300" b="1" i="0">
                <a:solidFill>
                  <a:srgbClr val="144E8C"/>
                </a:solidFill>
                <a:latin typeface="Calibri"/>
              </a:rPr>
              <a:t>How this paper responds</a:t>
            </a:r>
          </a:p>
        </p:txBody>
      </p:sp>
      <p:sp>
        <p:nvSpPr>
          <p:cNvPr id="5" name="Rounded Rectangle 4"/>
          <p:cNvSpPr/>
          <p:nvPr/>
        </p:nvSpPr>
        <p:spPr>
          <a:xfrm>
            <a:off x="841248" y="3072384"/>
            <a:ext cx="5029200" cy="841248"/>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8408" y="3127248"/>
            <a:ext cx="4754880" cy="749808"/>
          </a:xfrm>
          <a:prstGeom prst="rect">
            <a:avLst/>
          </a:prstGeom>
          <a:noFill/>
        </p:spPr>
        <p:txBody>
          <a:bodyPr wrap="square" lIns="0" rIns="0" tIns="18288" bIns="18288" anchor="ctr"/>
          <a:lstStyle/>
          <a:p>
            <a:pPr algn="l">
              <a:spcAft>
                <a:spcPts val="400"/>
              </a:spcAft>
            </a:pPr>
            <a:r>
              <a:rPr sz="1250" b="1" i="0">
                <a:solidFill>
                  <a:srgbClr val="F2581E"/>
                </a:solidFill>
                <a:latin typeface="Calibri"/>
              </a:rPr>
              <a:t>1. Metric.  </a:t>
            </a:r>
            <a:r>
              <a:rPr sz="1250" b="0" i="0">
                <a:solidFill>
                  <a:srgbClr val="0E2F57"/>
                </a:solidFill>
                <a:latin typeface="Calibri"/>
              </a:rPr>
              <a:t>Vietnamese studies headline Accuracy (e.g. 81.84% for debt-group migration) with no imbalance-robust primary metric.</a:t>
            </a:r>
          </a:p>
        </p:txBody>
      </p:sp>
      <p:sp>
        <p:nvSpPr>
          <p:cNvPr id="7" name="Right Arrow 6"/>
          <p:cNvSpPr/>
          <p:nvPr/>
        </p:nvSpPr>
        <p:spPr>
          <a:xfrm>
            <a:off x="5961888" y="3346703"/>
            <a:ext cx="411480" cy="292608"/>
          </a:xfrm>
          <a:prstGeom prst="rightArrow">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64808" y="3072384"/>
            <a:ext cx="4892040" cy="841248"/>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01968" y="3127248"/>
            <a:ext cx="4617720" cy="749808"/>
          </a:xfrm>
          <a:prstGeom prst="rect">
            <a:avLst/>
          </a:prstGeom>
          <a:noFill/>
        </p:spPr>
        <p:txBody>
          <a:bodyPr wrap="square" lIns="0" rIns="0" tIns="18288" bIns="18288" anchor="ctr"/>
          <a:lstStyle/>
          <a:p>
            <a:pPr algn="l">
              <a:spcAft>
                <a:spcPts val="400"/>
              </a:spcAft>
            </a:pPr>
            <a:r>
              <a:rPr sz="1250" b="0" i="0">
                <a:solidFill>
                  <a:srgbClr val="0E2F57"/>
                </a:solidFill>
                <a:latin typeface="Calibri"/>
              </a:rPr>
              <a:t>Macro-F1 as primary metric, plus per-class precision / recall and full confusion matrices.</a:t>
            </a:r>
          </a:p>
        </p:txBody>
      </p:sp>
      <p:sp>
        <p:nvSpPr>
          <p:cNvPr id="10" name="Rounded Rectangle 9"/>
          <p:cNvSpPr/>
          <p:nvPr/>
        </p:nvSpPr>
        <p:spPr>
          <a:xfrm>
            <a:off x="841248" y="4023360"/>
            <a:ext cx="5029200" cy="841248"/>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78408" y="4078224"/>
            <a:ext cx="4754880" cy="749808"/>
          </a:xfrm>
          <a:prstGeom prst="rect">
            <a:avLst/>
          </a:prstGeom>
          <a:noFill/>
        </p:spPr>
        <p:txBody>
          <a:bodyPr wrap="square" lIns="0" rIns="0" tIns="18288" bIns="18288" anchor="ctr"/>
          <a:lstStyle/>
          <a:p>
            <a:pPr algn="l">
              <a:spcAft>
                <a:spcPts val="400"/>
              </a:spcAft>
            </a:pPr>
            <a:r>
              <a:rPr sz="1250" b="1" i="0">
                <a:solidFill>
                  <a:srgbClr val="F2581E"/>
                </a:solidFill>
                <a:latin typeface="Calibri"/>
              </a:rPr>
              <a:t>2. Stability.  </a:t>
            </a:r>
            <a:r>
              <a:rPr sz="1250" b="0" i="0">
                <a:solidFill>
                  <a:srgbClr val="0E2F57"/>
                </a:solidFill>
                <a:latin typeface="Calibri"/>
              </a:rPr>
              <a:t>No study checks whether feature-importance conclusions hold across more than one algorithm or measure.</a:t>
            </a:r>
          </a:p>
        </p:txBody>
      </p:sp>
      <p:sp>
        <p:nvSpPr>
          <p:cNvPr id="12" name="Right Arrow 11"/>
          <p:cNvSpPr/>
          <p:nvPr/>
        </p:nvSpPr>
        <p:spPr>
          <a:xfrm>
            <a:off x="5961888" y="4297680"/>
            <a:ext cx="411480" cy="292608"/>
          </a:xfrm>
          <a:prstGeom prst="rightArrow">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64808" y="4023360"/>
            <a:ext cx="4892040" cy="841248"/>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601968" y="4078224"/>
            <a:ext cx="4617720" cy="749808"/>
          </a:xfrm>
          <a:prstGeom prst="rect">
            <a:avLst/>
          </a:prstGeom>
          <a:noFill/>
        </p:spPr>
        <p:txBody>
          <a:bodyPr wrap="square" lIns="0" rIns="0" tIns="18288" bIns="18288" anchor="ctr"/>
          <a:lstStyle/>
          <a:p>
            <a:pPr algn="l">
              <a:spcAft>
                <a:spcPts val="400"/>
              </a:spcAft>
            </a:pPr>
            <a:r>
              <a:rPr sz="1250" b="0" i="0">
                <a:solidFill>
                  <a:srgbClr val="0E2F57"/>
                </a:solidFill>
                <a:latin typeface="Calibri"/>
              </a:rPr>
              <a:t>Gain vs. SHAP, across 2 boosting libraries × 2 imbalance treatments.</a:t>
            </a:r>
          </a:p>
        </p:txBody>
      </p:sp>
      <p:sp>
        <p:nvSpPr>
          <p:cNvPr id="15" name="Rounded Rectangle 14"/>
          <p:cNvSpPr/>
          <p:nvPr/>
        </p:nvSpPr>
        <p:spPr>
          <a:xfrm>
            <a:off x="841248" y="4974336"/>
            <a:ext cx="5029200" cy="841248"/>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78408" y="5029200"/>
            <a:ext cx="4754880" cy="749808"/>
          </a:xfrm>
          <a:prstGeom prst="rect">
            <a:avLst/>
          </a:prstGeom>
          <a:noFill/>
        </p:spPr>
        <p:txBody>
          <a:bodyPr wrap="square" lIns="0" rIns="0" tIns="18288" bIns="18288" anchor="ctr"/>
          <a:lstStyle/>
          <a:p>
            <a:pPr algn="l">
              <a:spcAft>
                <a:spcPts val="400"/>
              </a:spcAft>
            </a:pPr>
            <a:r>
              <a:rPr sz="1250" b="1" i="0">
                <a:solidFill>
                  <a:srgbClr val="F2581E"/>
                </a:solidFill>
                <a:latin typeface="Calibri"/>
              </a:rPr>
              <a:t>3. Verification.  </a:t>
            </a:r>
            <a:r>
              <a:rPr sz="1250" b="0" i="0">
                <a:solidFill>
                  <a:srgbClr val="0E2F57"/>
                </a:solidFill>
                <a:latin typeface="Calibri"/>
              </a:rPr>
              <a:t>None reports a leakage diagnostic, an ablation, or a sensitivity check on an arbitrary convention.</a:t>
            </a:r>
          </a:p>
        </p:txBody>
      </p:sp>
      <p:sp>
        <p:nvSpPr>
          <p:cNvPr id="17" name="Right Arrow 16"/>
          <p:cNvSpPr/>
          <p:nvPr/>
        </p:nvSpPr>
        <p:spPr>
          <a:xfrm>
            <a:off x="5961888" y="5248656"/>
            <a:ext cx="411480" cy="292608"/>
          </a:xfrm>
          <a:prstGeom prst="rightArrow">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64808" y="4974336"/>
            <a:ext cx="4892040" cy="841248"/>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601968" y="5029200"/>
            <a:ext cx="4617720" cy="749808"/>
          </a:xfrm>
          <a:prstGeom prst="rect">
            <a:avLst/>
          </a:prstGeom>
          <a:noFill/>
        </p:spPr>
        <p:txBody>
          <a:bodyPr wrap="square" lIns="0" rIns="0" tIns="18288" bIns="18288" anchor="ctr"/>
          <a:lstStyle/>
          <a:p>
            <a:pPr algn="l">
              <a:spcAft>
                <a:spcPts val="400"/>
              </a:spcAft>
            </a:pPr>
            <a:r>
              <a:rPr sz="1250" b="0" i="0">
                <a:solidFill>
                  <a:srgbClr val="0E2F57"/>
                </a:solidFill>
                <a:latin typeface="Calibri"/>
              </a:rPr>
              <a:t>Leakage tests, ablation, reference-date check, corrected paired t-test with Holm adjustment.</a:t>
            </a:r>
          </a:p>
        </p:txBody>
      </p:sp>
      <p:sp>
        <p:nvSpPr>
          <p:cNvPr id="20" name="Footer Placeholder 4">
            <a:extLst>
              <a:ext uri="{FF2B5EF4-FFF2-40B4-BE49-F238E27FC236}">
                <a16:creationId xmlns:a16="http://schemas.microsoft.com/office/drawing/2014/main" id="{8009A512-E938-477E-9A3C-114EC3609A98}"/>
              </a:ext>
            </a:extLst>
          </p:cNvPr>
          <p:cNvSpPr>
            <a:spLocks noGrp="1"/>
          </p:cNvSpPr>
          <p:nvPr>
            <p:ph type="ftr" sz="quarter" idx="11"/>
          </p:nvPr>
        </p:nvSpPr>
        <p:spPr/>
        <p:txBody>
          <a:bodyPr/>
          <a:lstStyle/>
          <a:p>
            <a:r>
              <a:rPr lang="en-US" dirty="0"/>
              <a:t>UEL-SEBL</a:t>
            </a:r>
          </a:p>
        </p:txBody>
      </p:sp>
      <p:sp>
        <p:nvSpPr>
          <p:cNvPr id="21" name="Slide Number Placeholder 5">
            <a:extLst>
              <a:ext uri="{FF2B5EF4-FFF2-40B4-BE49-F238E27FC236}">
                <a16:creationId xmlns:a16="http://schemas.microsoft.com/office/drawing/2014/main" id="{C4B863E4-FA4C-4B2F-A7CE-827913F8E33B}"/>
              </a:ext>
            </a:extLst>
          </p:cNvPr>
          <p:cNvSpPr>
            <a:spLocks noGrp="1"/>
          </p:cNvSpPr>
          <p:nvPr>
            <p:ph type="sldNum" sz="quarter" idx="12"/>
          </p:nvPr>
        </p:nvSpPr>
        <p:spPr/>
        <p:txBody>
          <a:bodyPr/>
          <a:lstStyle/>
          <a:p>
            <a:fld id="{ECEBCFE7-CD98-4988-B164-8232B2F80098}" type="slidenum">
              <a:rPr lang="en-US" smtClean="0"/>
              <a:pPr/>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Data: 27,001 Loans, Severe Imbalance</a:t>
            </a:r>
          </a:p>
        </p:txBody>
      </p:sp>
      <p:sp>
        <p:nvSpPr>
          <p:cNvPr id="3" name="TextBox 2"/>
          <p:cNvSpPr txBox="1"/>
          <p:nvPr/>
        </p:nvSpPr>
        <p:spPr>
          <a:xfrm>
            <a:off x="841248" y="2834640"/>
            <a:ext cx="3931920" cy="1188720"/>
          </a:xfrm>
          <a:prstGeom prst="rect">
            <a:avLst/>
          </a:prstGeom>
          <a:noFill/>
        </p:spPr>
        <p:txBody>
          <a:bodyPr wrap="square" lIns="0" rIns="0" tIns="18288" bIns="18288" anchor="t"/>
          <a:lstStyle/>
          <a:p>
            <a:pPr algn="l" marL="201168" indent="-201168">
              <a:spcAft>
                <a:spcPts val="500"/>
              </a:spcAft>
              <a:buFont typeface="Arial"/>
              <a:buChar char="•"/>
            </a:pPr>
            <a:r>
              <a:rPr sz="1300" b="0" i="0">
                <a:solidFill>
                  <a:srgbClr val="0E2F57"/>
                </a:solidFill>
                <a:latin typeface="Calibri"/>
              </a:rPr>
              <a:t>One Vietnamese commercial bank, 21 raw variables, target = debt group 1–5</a:t>
            </a:r>
          </a:p>
          <a:p>
            <a:pPr algn="l" marL="201168" indent="-201168">
              <a:spcAft>
                <a:spcPts val="500"/>
              </a:spcAft>
              <a:buFont typeface="Arial"/>
              <a:buChar char="•"/>
            </a:pPr>
            <a:r>
              <a:rPr sz="1300" b="0" i="0">
                <a:solidFill>
                  <a:srgbClr val="0E2F57"/>
                </a:solidFill>
                <a:latin typeface="Calibri"/>
              </a:rPr>
              <a:t>Stratified 80 / 20 split (21,600 / 5,401), random_state = 42</a:t>
            </a:r>
          </a:p>
          <a:p>
            <a:pPr algn="l" marL="201168" indent="-201168">
              <a:spcAft>
                <a:spcPts val="500"/>
              </a:spcAft>
              <a:buFont typeface="Arial"/>
              <a:buChar char="•"/>
            </a:pPr>
            <a:r>
              <a:rPr sz="1300" b="0" i="0">
                <a:solidFill>
                  <a:srgbClr val="0E2F57"/>
                </a:solidFill>
                <a:latin typeface="Calibri"/>
              </a:rPr>
              <a:t>Imbalance ≈ </a:t>
            </a:r>
            <a:r>
              <a:rPr sz="1300" b="1" i="0">
                <a:solidFill>
                  <a:srgbClr val="0E2F57"/>
                </a:solidFill>
                <a:latin typeface="Calibri"/>
              </a:rPr>
              <a:t>35 : 1</a:t>
            </a:r>
            <a:r>
              <a:rPr sz="1300" b="0" i="0">
                <a:solidFill>
                  <a:srgbClr val="0E2F57"/>
                </a:solidFill>
                <a:latin typeface="Calibri"/>
              </a:rPr>
              <a:t> (Group 1 vs. Group 3)</a:t>
            </a:r>
          </a:p>
        </p:txBody>
      </p:sp>
      <p:sp>
        <p:nvSpPr>
          <p:cNvPr id="4" name="Rounded Rectangle 3"/>
          <p:cNvSpPr/>
          <p:nvPr/>
        </p:nvSpPr>
        <p:spPr>
          <a:xfrm>
            <a:off x="841248" y="4114800"/>
            <a:ext cx="3931920" cy="1463040"/>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4187952"/>
            <a:ext cx="3657600" cy="1325880"/>
          </a:xfrm>
          <a:prstGeom prst="rect">
            <a:avLst/>
          </a:prstGeom>
          <a:noFill/>
        </p:spPr>
        <p:txBody>
          <a:bodyPr wrap="square" lIns="0" rIns="0" tIns="18288" bIns="18288" anchor="t"/>
          <a:lstStyle/>
          <a:p>
            <a:pPr algn="l">
              <a:spcAft>
                <a:spcPts val="300"/>
              </a:spcAft>
            </a:pPr>
            <a:r>
              <a:rPr sz="1300" b="1" i="0">
                <a:solidFill>
                  <a:srgbClr val="F2581E"/>
                </a:solidFill>
                <a:latin typeface="Calibri"/>
              </a:rPr>
              <a:t>Read Group 5 with care</a:t>
            </a:r>
          </a:p>
          <a:p>
            <a:pPr algn="l">
              <a:spcAft>
                <a:spcPts val="300"/>
              </a:spcAft>
            </a:pPr>
            <a:r>
              <a:rPr sz="1150" b="0" i="0">
                <a:solidFill>
                  <a:srgbClr val="0E2F57"/>
                </a:solidFill>
                <a:latin typeface="Calibri"/>
              </a:rPr>
              <a:t>Group 5 (12.45%) &gt; Groups 2+3+4 combined (9.91%). Median Group-5 loan is ~6 years past maturity; 92.1% are past maturity. A legacy loss stock — so strong Group-5 scores are </a:t>
            </a:r>
            <a:r>
              <a:rPr sz="1150" b="1" i="0">
                <a:solidFill>
                  <a:srgbClr val="0E2F57"/>
                </a:solidFill>
                <a:latin typeface="Calibri"/>
              </a:rPr>
              <a:t>not</a:t>
            </a:r>
            <a:r>
              <a:rPr sz="1150" b="0" i="0">
                <a:solidFill>
                  <a:srgbClr val="0E2F57"/>
                </a:solidFill>
                <a:latin typeface="Calibri"/>
              </a:rPr>
              <a:t> early warning. The hard groups are 2–4.</a:t>
            </a:r>
          </a:p>
        </p:txBody>
      </p:sp>
      <p:graphicFrame>
        <p:nvGraphicFramePr>
          <p:cNvPr id="6" name="Chart 5"/>
          <p:cNvGraphicFramePr>
            <a:graphicFrameLocks noGrp="1"/>
          </p:cNvGraphicFramePr>
          <p:nvPr/>
        </p:nvGraphicFramePr>
        <p:xfrm>
          <a:off x="5184648" y="1600200"/>
          <a:ext cx="6172200" cy="4251960"/>
        </p:xfrm>
        <a:graphic>
          <a:graphicData uri="http://schemas.openxmlformats.org/drawingml/2006/chart">
            <c:chart xmlns:c="http://schemas.openxmlformats.org/drawingml/2006/chart" r:id="rId2"/>
          </a:graphicData>
        </a:graphic>
      </p:graphicFrame>
      <p:sp>
        <p:nvSpPr>
          <p:cNvPr id="7" name="TextBox 6"/>
          <p:cNvSpPr txBox="1"/>
          <p:nvPr/>
        </p:nvSpPr>
        <p:spPr>
          <a:xfrm>
            <a:off x="5394960" y="5870448"/>
            <a:ext cx="5852160" cy="228600"/>
          </a:xfrm>
          <a:prstGeom prst="rect">
            <a:avLst/>
          </a:prstGeom>
          <a:noFill/>
        </p:spPr>
        <p:txBody>
          <a:bodyPr wrap="square" lIns="0" rIns="0" tIns="18288" bIns="18288" anchor="t"/>
          <a:lstStyle/>
          <a:p>
            <a:pPr algn="r">
              <a:spcAft>
                <a:spcPts val="400"/>
              </a:spcAft>
            </a:pPr>
            <a:r>
              <a:rPr sz="1000" b="0" i="0">
                <a:solidFill>
                  <a:srgbClr val="F2581E"/>
                </a:solidFill>
                <a:latin typeface="Calibri"/>
              </a:rPr>
              <a:t>■ </a:t>
            </a:r>
            <a:r>
              <a:rPr sz="1000" b="0" i="0">
                <a:solidFill>
                  <a:srgbClr val="5A6573"/>
                </a:solidFill>
                <a:latin typeface="Calibri"/>
              </a:rPr>
              <a:t>Groups 3–5 = non-performing</a:t>
            </a:r>
          </a:p>
        </p:txBody>
      </p:sp>
      <p:sp>
        <p:nvSpPr>
          <p:cNvPr id="8" name="Footer Placeholder 4">
            <a:extLst>
              <a:ext uri="{FF2B5EF4-FFF2-40B4-BE49-F238E27FC236}">
                <a16:creationId xmlns:a16="http://schemas.microsoft.com/office/drawing/2014/main" id="{BF51D89F-A619-4A30-80FD-C2C8263F5583}"/>
              </a:ext>
            </a:extLst>
          </p:cNvPr>
          <p:cNvSpPr>
            <a:spLocks noGrp="1"/>
          </p:cNvSpPr>
          <p:nvPr>
            <p:ph type="ftr" sz="quarter" idx="11"/>
          </p:nvPr>
        </p:nvSpPr>
        <p:spPr/>
        <p:txBody>
          <a:bodyPr/>
          <a:lstStyle/>
          <a:p>
            <a:r>
              <a:rPr lang="en-US" dirty="0"/>
              <a:t>UEL-SEBL</a:t>
            </a:r>
          </a:p>
        </p:txBody>
      </p:sp>
      <p:sp>
        <p:nvSpPr>
          <p:cNvPr id="9" name="Slide Number Placeholder 5">
            <a:extLst>
              <a:ext uri="{FF2B5EF4-FFF2-40B4-BE49-F238E27FC236}">
                <a16:creationId xmlns:a16="http://schemas.microsoft.com/office/drawing/2014/main" id="{403FB61C-B44D-4B54-A87D-3E983CCCBAB6}"/>
              </a:ext>
            </a:extLst>
          </p:cNvPr>
          <p:cNvSpPr>
            <a:spLocks noGrp="1"/>
          </p:cNvSpPr>
          <p:nvPr>
            <p:ph type="sldNum" sz="quarter" idx="12"/>
          </p:nvPr>
        </p:nvSpPr>
        <p:spPr/>
        <p:txBody>
          <a:bodyPr/>
          <a:lstStyle/>
          <a:p>
            <a:fld id="{ECEBCFE7-CD98-4988-B164-8232B2F80098}"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Pipeline &amp; Evaluation Design</a:t>
            </a:r>
          </a:p>
        </p:txBody>
      </p:sp>
      <p:sp>
        <p:nvSpPr>
          <p:cNvPr id="3" name="Rounded Rectangle 2"/>
          <p:cNvSpPr/>
          <p:nvPr/>
        </p:nvSpPr>
        <p:spPr>
          <a:xfrm>
            <a:off x="841248" y="2395728"/>
            <a:ext cx="3355848" cy="16459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78408" y="2532888"/>
            <a:ext cx="411480" cy="411480"/>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499616" y="2551176"/>
            <a:ext cx="2578608" cy="365760"/>
          </a:xfrm>
          <a:prstGeom prst="rect">
            <a:avLst/>
          </a:prstGeom>
          <a:noFill/>
        </p:spPr>
        <p:txBody>
          <a:bodyPr wrap="square" lIns="0" rIns="0" tIns="18288" bIns="18288" anchor="ctr"/>
          <a:lstStyle/>
          <a:p>
            <a:pPr algn="l">
              <a:spcAft>
                <a:spcPts val="400"/>
              </a:spcAft>
            </a:pPr>
            <a:r>
              <a:rPr sz="1500" b="1" i="0">
                <a:solidFill>
                  <a:srgbClr val="144E8C"/>
                </a:solidFill>
                <a:latin typeface="Calibri"/>
              </a:rPr>
              <a:t>Clean</a:t>
            </a:r>
          </a:p>
        </p:txBody>
      </p:sp>
      <p:sp>
        <p:nvSpPr>
          <p:cNvPr id="6" name="TextBox 5"/>
          <p:cNvSpPr txBox="1"/>
          <p:nvPr/>
        </p:nvSpPr>
        <p:spPr>
          <a:xfrm>
            <a:off x="1005840" y="3035808"/>
            <a:ext cx="3054096" cy="960120"/>
          </a:xfrm>
          <a:prstGeom prst="rect">
            <a:avLst/>
          </a:prstGeom>
          <a:noFill/>
        </p:spPr>
        <p:txBody>
          <a:bodyPr wrap="square" lIns="0" rIns="0" tIns="18288" bIns="18288" anchor="t"/>
          <a:lstStyle/>
          <a:p>
            <a:pPr algn="l">
              <a:spcAft>
                <a:spcPts val="400"/>
              </a:spcAft>
            </a:pPr>
            <a:r>
              <a:rPr sz="1200" b="0" i="0">
                <a:solidFill>
                  <a:srgbClr val="0E2F57"/>
                </a:solidFill>
                <a:latin typeface="Calibri"/>
              </a:rPr>
              <a:t>36.9% of dates stored as Excel serials — converted, so no record silently becomes missing.</a:t>
            </a:r>
          </a:p>
        </p:txBody>
      </p:sp>
      <p:sp>
        <p:nvSpPr>
          <p:cNvPr id="7" name="Rounded Rectangle 6"/>
          <p:cNvSpPr/>
          <p:nvPr/>
        </p:nvSpPr>
        <p:spPr>
          <a:xfrm>
            <a:off x="4425696" y="2395728"/>
            <a:ext cx="3355848" cy="16459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62856" y="2532888"/>
            <a:ext cx="411480" cy="411480"/>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9" name="TextBox 8"/>
          <p:cNvSpPr txBox="1"/>
          <p:nvPr/>
        </p:nvSpPr>
        <p:spPr>
          <a:xfrm>
            <a:off x="5084064" y="2551176"/>
            <a:ext cx="2578608" cy="365760"/>
          </a:xfrm>
          <a:prstGeom prst="rect">
            <a:avLst/>
          </a:prstGeom>
          <a:noFill/>
        </p:spPr>
        <p:txBody>
          <a:bodyPr wrap="square" lIns="0" rIns="0" tIns="18288" bIns="18288" anchor="ctr"/>
          <a:lstStyle/>
          <a:p>
            <a:pPr algn="l">
              <a:spcAft>
                <a:spcPts val="400"/>
              </a:spcAft>
            </a:pPr>
            <a:r>
              <a:rPr sz="1500" b="1" i="0">
                <a:solidFill>
                  <a:srgbClr val="144E8C"/>
                </a:solidFill>
                <a:latin typeface="Calibri"/>
              </a:rPr>
              <a:t>Leakage control</a:t>
            </a:r>
          </a:p>
        </p:txBody>
      </p:sp>
      <p:sp>
        <p:nvSpPr>
          <p:cNvPr id="10" name="TextBox 9"/>
          <p:cNvSpPr txBox="1"/>
          <p:nvPr/>
        </p:nvSpPr>
        <p:spPr>
          <a:xfrm>
            <a:off x="4590288" y="3035808"/>
            <a:ext cx="3054096" cy="960120"/>
          </a:xfrm>
          <a:prstGeom prst="rect">
            <a:avLst/>
          </a:prstGeom>
          <a:noFill/>
        </p:spPr>
        <p:txBody>
          <a:bodyPr wrap="square" lIns="0" rIns="0" tIns="18288" bIns="18288" anchor="t"/>
          <a:lstStyle/>
          <a:p>
            <a:pPr algn="l">
              <a:spcAft>
                <a:spcPts val="400"/>
              </a:spcAft>
            </a:pPr>
            <a:r>
              <a:rPr sz="1200" b="0" i="0">
                <a:solidFill>
                  <a:srgbClr val="0E2F57"/>
                </a:solidFill>
                <a:latin typeface="Calibri"/>
              </a:rPr>
              <a:t>NHOMNO (r = 0.98 with target) and NHOMNO_TCBS excluded as restatements of the label.</a:t>
            </a:r>
          </a:p>
        </p:txBody>
      </p:sp>
      <p:sp>
        <p:nvSpPr>
          <p:cNvPr id="11" name="Rounded Rectangle 10"/>
          <p:cNvSpPr/>
          <p:nvPr/>
        </p:nvSpPr>
        <p:spPr>
          <a:xfrm>
            <a:off x="8010144" y="2395728"/>
            <a:ext cx="3355848" cy="16459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47304" y="2532888"/>
            <a:ext cx="411480" cy="411480"/>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3" name="TextBox 12"/>
          <p:cNvSpPr txBox="1"/>
          <p:nvPr/>
        </p:nvSpPr>
        <p:spPr>
          <a:xfrm>
            <a:off x="8668512" y="2551176"/>
            <a:ext cx="2578608" cy="365760"/>
          </a:xfrm>
          <a:prstGeom prst="rect">
            <a:avLst/>
          </a:prstGeom>
          <a:noFill/>
        </p:spPr>
        <p:txBody>
          <a:bodyPr wrap="square" lIns="0" rIns="0" tIns="18288" bIns="18288" anchor="ctr"/>
          <a:lstStyle/>
          <a:p>
            <a:pPr algn="l">
              <a:spcAft>
                <a:spcPts val="400"/>
              </a:spcAft>
            </a:pPr>
            <a:r>
              <a:rPr sz="1500" b="1" i="0">
                <a:solidFill>
                  <a:srgbClr val="144E8C"/>
                </a:solidFill>
                <a:latin typeface="Calibri"/>
              </a:rPr>
              <a:t>Engineer &amp; screen</a:t>
            </a:r>
          </a:p>
        </p:txBody>
      </p:sp>
      <p:sp>
        <p:nvSpPr>
          <p:cNvPr id="14" name="TextBox 13"/>
          <p:cNvSpPr txBox="1"/>
          <p:nvPr/>
        </p:nvSpPr>
        <p:spPr>
          <a:xfrm>
            <a:off x="8174736" y="3035808"/>
            <a:ext cx="3054096" cy="960120"/>
          </a:xfrm>
          <a:prstGeom prst="rect">
            <a:avLst/>
          </a:prstGeom>
          <a:noFill/>
        </p:spPr>
        <p:txBody>
          <a:bodyPr wrap="square" lIns="0" rIns="0" tIns="18288" bIns="18288" anchor="t"/>
          <a:lstStyle/>
          <a:p>
            <a:pPr algn="l">
              <a:spcAft>
                <a:spcPts val="400"/>
              </a:spcAft>
            </a:pPr>
            <a:r>
              <a:rPr sz="1200" b="0" i="0">
                <a:solidFill>
                  <a:srgbClr val="0E2F57"/>
                </a:solidFill>
                <a:latin typeface="Calibri"/>
              </a:rPr>
              <a:t>LOAN_TENURE_DAYS, DAYS_TO_MATURITY, UTIL_RATE (d₀ = 31 Dec 2021). 5 variables with IV &gt; 1.0 reviewed and retained → 11 features.</a:t>
            </a:r>
          </a:p>
        </p:txBody>
      </p:sp>
      <p:sp>
        <p:nvSpPr>
          <p:cNvPr id="15" name="Rounded Rectangle 14"/>
          <p:cNvSpPr/>
          <p:nvPr/>
        </p:nvSpPr>
        <p:spPr>
          <a:xfrm>
            <a:off x="841248" y="4224528"/>
            <a:ext cx="3355848" cy="16459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8408" y="4361688"/>
            <a:ext cx="411480" cy="411480"/>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7" name="TextBox 16"/>
          <p:cNvSpPr txBox="1"/>
          <p:nvPr/>
        </p:nvSpPr>
        <p:spPr>
          <a:xfrm>
            <a:off x="1499616" y="4379976"/>
            <a:ext cx="2578608" cy="365760"/>
          </a:xfrm>
          <a:prstGeom prst="rect">
            <a:avLst/>
          </a:prstGeom>
          <a:noFill/>
        </p:spPr>
        <p:txBody>
          <a:bodyPr wrap="square" lIns="0" rIns="0" tIns="18288" bIns="18288" anchor="ctr"/>
          <a:lstStyle/>
          <a:p>
            <a:pPr algn="l">
              <a:spcAft>
                <a:spcPts val="400"/>
              </a:spcAft>
            </a:pPr>
            <a:r>
              <a:rPr sz="1500" b="1" i="0">
                <a:solidFill>
                  <a:srgbClr val="144E8C"/>
                </a:solidFill>
                <a:latin typeface="Calibri"/>
              </a:rPr>
              <a:t>Model</a:t>
            </a:r>
          </a:p>
        </p:txBody>
      </p:sp>
      <p:sp>
        <p:nvSpPr>
          <p:cNvPr id="18" name="TextBox 17"/>
          <p:cNvSpPr txBox="1"/>
          <p:nvPr/>
        </p:nvSpPr>
        <p:spPr>
          <a:xfrm>
            <a:off x="1005840" y="4864608"/>
            <a:ext cx="3054096" cy="960120"/>
          </a:xfrm>
          <a:prstGeom prst="rect">
            <a:avLst/>
          </a:prstGeom>
          <a:noFill/>
        </p:spPr>
        <p:txBody>
          <a:bodyPr wrap="square" lIns="0" rIns="0" tIns="18288" bIns="18288" anchor="t"/>
          <a:lstStyle/>
          <a:p>
            <a:pPr algn="l">
              <a:spcAft>
                <a:spcPts val="400"/>
              </a:spcAft>
            </a:pPr>
            <a:r>
              <a:rPr sz="1200" b="0" i="0">
                <a:solidFill>
                  <a:srgbClr val="0E2F57"/>
                </a:solidFill>
                <a:latin typeface="Calibri"/>
              </a:rPr>
              <a:t>6 classifiers × 2 imbalance treatments (inverse-frequency weights vs. none) = 12 symmetric configurations. Hyperparameters fixed a priori.</a:t>
            </a:r>
          </a:p>
        </p:txBody>
      </p:sp>
      <p:sp>
        <p:nvSpPr>
          <p:cNvPr id="19" name="Rounded Rectangle 18"/>
          <p:cNvSpPr/>
          <p:nvPr/>
        </p:nvSpPr>
        <p:spPr>
          <a:xfrm>
            <a:off x="4425696" y="4224528"/>
            <a:ext cx="3355848" cy="16459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62856" y="4361688"/>
            <a:ext cx="411480" cy="411480"/>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21" name="TextBox 20"/>
          <p:cNvSpPr txBox="1"/>
          <p:nvPr/>
        </p:nvSpPr>
        <p:spPr>
          <a:xfrm>
            <a:off x="5084064" y="4379976"/>
            <a:ext cx="2578608" cy="365760"/>
          </a:xfrm>
          <a:prstGeom prst="rect">
            <a:avLst/>
          </a:prstGeom>
          <a:noFill/>
        </p:spPr>
        <p:txBody>
          <a:bodyPr wrap="square" lIns="0" rIns="0" tIns="18288" bIns="18288" anchor="ctr"/>
          <a:lstStyle/>
          <a:p>
            <a:pPr algn="l">
              <a:spcAft>
                <a:spcPts val="400"/>
              </a:spcAft>
            </a:pPr>
            <a:r>
              <a:rPr sz="1500" b="1" i="0">
                <a:solidFill>
                  <a:srgbClr val="144E8C"/>
                </a:solidFill>
                <a:latin typeface="Calibri"/>
              </a:rPr>
              <a:t>Evaluate</a:t>
            </a:r>
          </a:p>
        </p:txBody>
      </p:sp>
      <p:sp>
        <p:nvSpPr>
          <p:cNvPr id="22" name="TextBox 21"/>
          <p:cNvSpPr txBox="1"/>
          <p:nvPr/>
        </p:nvSpPr>
        <p:spPr>
          <a:xfrm>
            <a:off x="4590288" y="4864608"/>
            <a:ext cx="3054096" cy="960120"/>
          </a:xfrm>
          <a:prstGeom prst="rect">
            <a:avLst/>
          </a:prstGeom>
          <a:noFill/>
        </p:spPr>
        <p:txBody>
          <a:bodyPr wrap="square" lIns="0" rIns="0" tIns="18288" bIns="18288" anchor="t"/>
          <a:lstStyle/>
          <a:p>
            <a:pPr algn="l">
              <a:spcAft>
                <a:spcPts val="400"/>
              </a:spcAft>
            </a:pPr>
            <a:r>
              <a:rPr sz="1200" b="0" i="0">
                <a:solidFill>
                  <a:srgbClr val="0E2F57"/>
                </a:solidFill>
                <a:latin typeface="Calibri"/>
              </a:rPr>
              <a:t>Macro-F1 primary (+ Accuracy, Weighted-F1, macro ROC-AUC). 20% hold-out + 5-fold × 5-repeat CV on identical partitions.</a:t>
            </a:r>
          </a:p>
        </p:txBody>
      </p:sp>
      <p:sp>
        <p:nvSpPr>
          <p:cNvPr id="23" name="Rounded Rectangle 22"/>
          <p:cNvSpPr/>
          <p:nvPr/>
        </p:nvSpPr>
        <p:spPr>
          <a:xfrm>
            <a:off x="8010144" y="4224528"/>
            <a:ext cx="3355848" cy="16459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147304" y="4361688"/>
            <a:ext cx="411480" cy="411480"/>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25" name="TextBox 24"/>
          <p:cNvSpPr txBox="1"/>
          <p:nvPr/>
        </p:nvSpPr>
        <p:spPr>
          <a:xfrm>
            <a:off x="8668512" y="4379976"/>
            <a:ext cx="2578608" cy="365760"/>
          </a:xfrm>
          <a:prstGeom prst="rect">
            <a:avLst/>
          </a:prstGeom>
          <a:noFill/>
        </p:spPr>
        <p:txBody>
          <a:bodyPr wrap="square" lIns="0" rIns="0" tIns="18288" bIns="18288" anchor="ctr"/>
          <a:lstStyle/>
          <a:p>
            <a:pPr algn="l">
              <a:spcAft>
                <a:spcPts val="400"/>
              </a:spcAft>
            </a:pPr>
            <a:r>
              <a:rPr sz="1500" b="1" i="0">
                <a:solidFill>
                  <a:srgbClr val="144E8C"/>
                </a:solidFill>
                <a:latin typeface="Calibri"/>
              </a:rPr>
              <a:t>Test</a:t>
            </a:r>
          </a:p>
        </p:txBody>
      </p:sp>
      <p:sp>
        <p:nvSpPr>
          <p:cNvPr id="26" name="TextBox 25"/>
          <p:cNvSpPr txBox="1"/>
          <p:nvPr/>
        </p:nvSpPr>
        <p:spPr>
          <a:xfrm>
            <a:off x="8174736" y="4864608"/>
            <a:ext cx="3054096" cy="960120"/>
          </a:xfrm>
          <a:prstGeom prst="rect">
            <a:avLst/>
          </a:prstGeom>
          <a:noFill/>
        </p:spPr>
        <p:txBody>
          <a:bodyPr wrap="square" lIns="0" rIns="0" tIns="18288" bIns="18288" anchor="t"/>
          <a:lstStyle/>
          <a:p>
            <a:pPr algn="l">
              <a:spcAft>
                <a:spcPts val="400"/>
              </a:spcAft>
            </a:pPr>
            <a:r>
              <a:rPr sz="1200" b="0" i="0">
                <a:solidFill>
                  <a:srgbClr val="0E2F57"/>
                </a:solidFill>
                <a:latin typeface="Calibri"/>
              </a:rPr>
              <a:t>Nadeau–Bengio corrected resampled paired t-test, Holm adjustment across 11 comparisons.</a:t>
            </a:r>
          </a:p>
        </p:txBody>
      </p:sp>
      <p:sp>
        <p:nvSpPr>
          <p:cNvPr id="27" name="TextBox 26"/>
          <p:cNvSpPr txBox="1"/>
          <p:nvPr/>
        </p:nvSpPr>
        <p:spPr>
          <a:xfrm>
            <a:off x="841248" y="5897880"/>
            <a:ext cx="10515600" cy="228600"/>
          </a:xfrm>
          <a:prstGeom prst="rect">
            <a:avLst/>
          </a:prstGeom>
          <a:noFill/>
        </p:spPr>
        <p:txBody>
          <a:bodyPr wrap="square" lIns="0" rIns="0" tIns="18288" bIns="18288" anchor="t"/>
          <a:lstStyle/>
          <a:p>
            <a:pPr algn="r">
              <a:spcAft>
                <a:spcPts val="400"/>
              </a:spcAft>
            </a:pPr>
            <a:r>
              <a:rPr sz="1050" b="0" i="1">
                <a:solidFill>
                  <a:srgbClr val="5A6573"/>
                </a:solidFill>
                <a:latin typeface="Calibri"/>
              </a:rPr>
              <a:t>SMOTE rejected: interpolating between encoded category codes has no contractual meaning.</a:t>
            </a:r>
          </a:p>
        </p:txBody>
      </p:sp>
      <p:sp>
        <p:nvSpPr>
          <p:cNvPr id="28"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29"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RQ1: Imbalance Treatment Matters Most</a:t>
            </a:r>
          </a:p>
        </p:txBody>
      </p:sp>
      <p:graphicFrame>
        <p:nvGraphicFramePr>
          <p:cNvPr id="3" name="Chart 2"/>
          <p:cNvGraphicFramePr>
            <a:graphicFrameLocks noGrp="1"/>
          </p:cNvGraphicFramePr>
          <p:nvPr/>
        </p:nvGraphicFramePr>
        <p:xfrm>
          <a:off x="731520" y="2286000"/>
          <a:ext cx="6675120" cy="3749039"/>
        </p:xfrm>
        <a:graphic>
          <a:graphicData uri="http://schemas.openxmlformats.org/drawingml/2006/chart">
            <c:chart xmlns:c="http://schemas.openxmlformats.org/drawingml/2006/chart" r:id="rId2"/>
          </a:graphicData>
        </a:graphic>
      </p:graphicFrame>
      <p:sp>
        <p:nvSpPr>
          <p:cNvPr id="4" name="Rounded Rectangle 3"/>
          <p:cNvSpPr/>
          <p:nvPr/>
        </p:nvSpPr>
        <p:spPr>
          <a:xfrm>
            <a:off x="7635240" y="2377440"/>
            <a:ext cx="3721608" cy="114300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0" y="2468880"/>
            <a:ext cx="3474720" cy="365760"/>
          </a:xfrm>
          <a:prstGeom prst="rect">
            <a:avLst/>
          </a:prstGeom>
          <a:noFill/>
        </p:spPr>
        <p:txBody>
          <a:bodyPr wrap="square" lIns="0" rIns="0" tIns="18288" bIns="18288" anchor="t"/>
          <a:lstStyle/>
          <a:p>
            <a:pPr algn="l">
              <a:spcAft>
                <a:spcPts val="400"/>
              </a:spcAft>
            </a:pPr>
            <a:r>
              <a:rPr sz="1700" b="1" i="0">
                <a:solidFill>
                  <a:srgbClr val="144E8C"/>
                </a:solidFill>
                <a:latin typeface="Calibri"/>
              </a:rPr>
              <a:t>+0.020 to +0.128</a:t>
            </a:r>
          </a:p>
        </p:txBody>
      </p:sp>
      <p:sp>
        <p:nvSpPr>
          <p:cNvPr id="6" name="TextBox 5"/>
          <p:cNvSpPr txBox="1"/>
          <p:nvPr/>
        </p:nvSpPr>
        <p:spPr>
          <a:xfrm>
            <a:off x="7772400" y="2834640"/>
            <a:ext cx="3474720" cy="658368"/>
          </a:xfrm>
          <a:prstGeom prst="rect">
            <a:avLst/>
          </a:prstGeom>
          <a:noFill/>
        </p:spPr>
        <p:txBody>
          <a:bodyPr wrap="square" lIns="0" rIns="0" tIns="18288" bIns="18288" anchor="t"/>
          <a:lstStyle/>
          <a:p>
            <a:pPr algn="l">
              <a:spcAft>
                <a:spcPts val="400"/>
              </a:spcAft>
            </a:pPr>
            <a:r>
              <a:rPr sz="1150" b="0" i="0">
                <a:solidFill>
                  <a:srgbClr val="0E2F57"/>
                </a:solidFill>
                <a:latin typeface="Calibri"/>
              </a:rPr>
              <a:t>Macro-F1 gained by switching weighting off — all 5 tree-based models.</a:t>
            </a:r>
          </a:p>
        </p:txBody>
      </p:sp>
      <p:sp>
        <p:nvSpPr>
          <p:cNvPr id="7" name="Rounded Rectangle 6"/>
          <p:cNvSpPr/>
          <p:nvPr/>
        </p:nvSpPr>
        <p:spPr>
          <a:xfrm>
            <a:off x="7635240" y="3611880"/>
            <a:ext cx="3721608" cy="11430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0" y="3703320"/>
            <a:ext cx="3474720" cy="365760"/>
          </a:xfrm>
          <a:prstGeom prst="rect">
            <a:avLst/>
          </a:prstGeom>
          <a:noFill/>
        </p:spPr>
        <p:txBody>
          <a:bodyPr wrap="square" lIns="0" rIns="0" tIns="18288" bIns="18288" anchor="t"/>
          <a:lstStyle/>
          <a:p>
            <a:pPr algn="l">
              <a:spcAft>
                <a:spcPts val="400"/>
              </a:spcAft>
            </a:pPr>
            <a:r>
              <a:rPr sz="1700" b="1" i="0">
                <a:solidFill>
                  <a:srgbClr val="0E2F57"/>
                </a:solidFill>
                <a:latin typeface="Calibri"/>
              </a:rPr>
              <a:t>LR is the exception</a:t>
            </a:r>
          </a:p>
        </p:txBody>
      </p:sp>
      <p:sp>
        <p:nvSpPr>
          <p:cNvPr id="9" name="TextBox 8"/>
          <p:cNvSpPr txBox="1"/>
          <p:nvPr/>
        </p:nvSpPr>
        <p:spPr>
          <a:xfrm>
            <a:off x="7772400" y="4069080"/>
            <a:ext cx="3474720" cy="658368"/>
          </a:xfrm>
          <a:prstGeom prst="rect">
            <a:avLst/>
          </a:prstGeom>
          <a:noFill/>
        </p:spPr>
        <p:txBody>
          <a:bodyPr wrap="square" lIns="0" rIns="0" tIns="18288" bIns="18288" anchor="t"/>
          <a:lstStyle/>
          <a:p>
            <a:pPr algn="l">
              <a:spcAft>
                <a:spcPts val="400"/>
              </a:spcAft>
            </a:pPr>
            <a:r>
              <a:rPr sz="1150" b="0" i="0">
                <a:solidFill>
                  <a:srgbClr val="0E2F57"/>
                </a:solidFill>
                <a:latin typeface="Calibri"/>
              </a:rPr>
              <a:t>Weighting helps Logistic Regression (0.395 vs 0.363) — but it trails every tree model either way.</a:t>
            </a:r>
          </a:p>
        </p:txBody>
      </p:sp>
      <p:sp>
        <p:nvSpPr>
          <p:cNvPr id="10" name="Rounded Rectangle 9"/>
          <p:cNvSpPr/>
          <p:nvPr/>
        </p:nvSpPr>
        <p:spPr>
          <a:xfrm>
            <a:off x="7635240" y="4846320"/>
            <a:ext cx="3721608" cy="1143000"/>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0" y="4937760"/>
            <a:ext cx="3474720" cy="365760"/>
          </a:xfrm>
          <a:prstGeom prst="rect">
            <a:avLst/>
          </a:prstGeom>
          <a:noFill/>
        </p:spPr>
        <p:txBody>
          <a:bodyPr wrap="square" lIns="0" rIns="0" tIns="18288" bIns="18288" anchor="t"/>
          <a:lstStyle/>
          <a:p>
            <a:pPr algn="l">
              <a:spcAft>
                <a:spcPts val="400"/>
              </a:spcAft>
            </a:pPr>
            <a:r>
              <a:rPr sz="1700" b="1" i="0">
                <a:solidFill>
                  <a:srgbClr val="F2581E"/>
                </a:solidFill>
                <a:latin typeface="Calibri"/>
              </a:rPr>
              <a:t>Accuracy misleads</a:t>
            </a:r>
          </a:p>
        </p:txBody>
      </p:sp>
      <p:sp>
        <p:nvSpPr>
          <p:cNvPr id="12" name="TextBox 11"/>
          <p:cNvSpPr txBox="1"/>
          <p:nvPr/>
        </p:nvSpPr>
        <p:spPr>
          <a:xfrm>
            <a:off x="7772400" y="5303520"/>
            <a:ext cx="3474720" cy="658368"/>
          </a:xfrm>
          <a:prstGeom prst="rect">
            <a:avLst/>
          </a:prstGeom>
          <a:noFill/>
        </p:spPr>
        <p:txBody>
          <a:bodyPr wrap="square" lIns="0" rIns="0" tIns="18288" bIns="18288" anchor="t"/>
          <a:lstStyle/>
          <a:p>
            <a:pPr algn="l">
              <a:spcAft>
                <a:spcPts val="400"/>
              </a:spcAft>
            </a:pPr>
            <a:r>
              <a:rPr sz="1150" b="0" i="0">
                <a:solidFill>
                  <a:srgbClr val="0E2F57"/>
                </a:solidFill>
                <a:latin typeface="Calibri"/>
              </a:rPr>
              <a:t>CatBoost: 0.909 Accuracy vs 0.607 Macro-F1 unweighted — the 77.65% Group-1 majority talking.</a:t>
            </a:r>
          </a:p>
        </p:txBody>
      </p:sp>
      <p:sp>
        <p:nvSpPr>
          <p:cNvPr id="13"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14"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RQ1: Similar Macro-F1, Opposite Behaviour</a:t>
            </a:r>
          </a:p>
        </p:txBody>
      </p:sp>
      <p:sp>
        <p:nvSpPr>
          <p:cNvPr id="3" name="TextBox 2"/>
          <p:cNvSpPr txBox="1"/>
          <p:nvPr/>
        </p:nvSpPr>
        <p:spPr>
          <a:xfrm>
            <a:off x="841248" y="2331720"/>
            <a:ext cx="4206240" cy="274320"/>
          </a:xfrm>
          <a:prstGeom prst="rect">
            <a:avLst/>
          </a:prstGeom>
          <a:noFill/>
        </p:spPr>
        <p:txBody>
          <a:bodyPr wrap="square" lIns="0" rIns="0" tIns="18288" bIns="18288" anchor="t"/>
          <a:lstStyle/>
          <a:p>
            <a:pPr algn="l">
              <a:spcAft>
                <a:spcPts val="400"/>
              </a:spcAft>
            </a:pPr>
            <a:r>
              <a:rPr sz="1300" b="1" i="0">
                <a:solidFill>
                  <a:srgbClr val="144E8C"/>
                </a:solidFill>
                <a:latin typeface="Calibri"/>
              </a:rPr>
              <a:t>LightGBM — Group 2 (special mention), hold-out</a:t>
            </a:r>
          </a:p>
        </p:txBody>
      </p:sp>
      <p:sp>
        <p:nvSpPr>
          <p:cNvPr id="4" name="Rounded Rectangle 3"/>
          <p:cNvSpPr/>
          <p:nvPr/>
        </p:nvSpPr>
        <p:spPr>
          <a:xfrm>
            <a:off x="841248" y="2697480"/>
            <a:ext cx="4206240" cy="1298448"/>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2761488"/>
            <a:ext cx="3931920" cy="274320"/>
          </a:xfrm>
          <a:prstGeom prst="rect">
            <a:avLst/>
          </a:prstGeom>
          <a:noFill/>
        </p:spPr>
        <p:txBody>
          <a:bodyPr wrap="square" lIns="0" rIns="0" tIns="18288" bIns="18288" anchor="t"/>
          <a:lstStyle/>
          <a:p>
            <a:pPr algn="l">
              <a:spcAft>
                <a:spcPts val="400"/>
              </a:spcAft>
            </a:pPr>
            <a:r>
              <a:rPr sz="1250" b="1" i="0">
                <a:solidFill>
                  <a:srgbClr val="144E8C"/>
                </a:solidFill>
                <a:latin typeface="Calibri"/>
              </a:rPr>
              <a:t>No weighting  ·  Macro-F1 0.625</a:t>
            </a:r>
          </a:p>
        </p:txBody>
      </p:sp>
      <p:sp>
        <p:nvSpPr>
          <p:cNvPr id="6" name="TextBox 5"/>
          <p:cNvSpPr txBox="1"/>
          <p:nvPr/>
        </p:nvSpPr>
        <p:spPr>
          <a:xfrm>
            <a:off x="978408" y="3044952"/>
            <a:ext cx="1737360" cy="457200"/>
          </a:xfrm>
          <a:prstGeom prst="rect">
            <a:avLst/>
          </a:prstGeom>
          <a:noFill/>
        </p:spPr>
        <p:txBody>
          <a:bodyPr wrap="square" lIns="0" rIns="0" tIns="18288" bIns="18288" anchor="t"/>
          <a:lstStyle/>
          <a:p>
            <a:pPr algn="l">
              <a:spcAft>
                <a:spcPts val="400"/>
              </a:spcAft>
            </a:pPr>
            <a:r>
              <a:rPr sz="2600" b="1" i="0">
                <a:solidFill>
                  <a:srgbClr val="0E2F57"/>
                </a:solidFill>
                <a:latin typeface="Calibri"/>
              </a:rPr>
              <a:t>0.603</a:t>
            </a:r>
          </a:p>
        </p:txBody>
      </p:sp>
      <p:sp>
        <p:nvSpPr>
          <p:cNvPr id="7" name="TextBox 6"/>
          <p:cNvSpPr txBox="1"/>
          <p:nvPr/>
        </p:nvSpPr>
        <p:spPr>
          <a:xfrm>
            <a:off x="978408" y="3474720"/>
            <a:ext cx="1737360" cy="228600"/>
          </a:xfrm>
          <a:prstGeom prst="rect">
            <a:avLst/>
          </a:prstGeom>
          <a:noFill/>
        </p:spPr>
        <p:txBody>
          <a:bodyPr wrap="square" lIns="0" rIns="0" tIns="18288" bIns="18288" anchor="t"/>
          <a:lstStyle/>
          <a:p>
            <a:pPr algn="l">
              <a:spcAft>
                <a:spcPts val="400"/>
              </a:spcAft>
            </a:pPr>
            <a:r>
              <a:rPr sz="1050" b="0" i="0">
                <a:solidFill>
                  <a:srgbClr val="5A6573"/>
                </a:solidFill>
                <a:latin typeface="Calibri"/>
              </a:rPr>
              <a:t>precision</a:t>
            </a:r>
          </a:p>
        </p:txBody>
      </p:sp>
      <p:sp>
        <p:nvSpPr>
          <p:cNvPr id="8" name="TextBox 7"/>
          <p:cNvSpPr txBox="1"/>
          <p:nvPr/>
        </p:nvSpPr>
        <p:spPr>
          <a:xfrm>
            <a:off x="2697480" y="3044952"/>
            <a:ext cx="1737360" cy="457200"/>
          </a:xfrm>
          <a:prstGeom prst="rect">
            <a:avLst/>
          </a:prstGeom>
          <a:noFill/>
        </p:spPr>
        <p:txBody>
          <a:bodyPr wrap="square" lIns="0" rIns="0" tIns="18288" bIns="18288" anchor="t"/>
          <a:lstStyle/>
          <a:p>
            <a:pPr algn="l">
              <a:spcAft>
                <a:spcPts val="400"/>
              </a:spcAft>
            </a:pPr>
            <a:r>
              <a:rPr sz="2600" b="1" i="0">
                <a:solidFill>
                  <a:srgbClr val="0E2F57"/>
                </a:solidFill>
                <a:latin typeface="Calibri"/>
              </a:rPr>
              <a:t>0.183</a:t>
            </a:r>
          </a:p>
        </p:txBody>
      </p:sp>
      <p:sp>
        <p:nvSpPr>
          <p:cNvPr id="9" name="TextBox 8"/>
          <p:cNvSpPr txBox="1"/>
          <p:nvPr/>
        </p:nvSpPr>
        <p:spPr>
          <a:xfrm>
            <a:off x="2697480" y="3474720"/>
            <a:ext cx="1737360" cy="228600"/>
          </a:xfrm>
          <a:prstGeom prst="rect">
            <a:avLst/>
          </a:prstGeom>
          <a:noFill/>
        </p:spPr>
        <p:txBody>
          <a:bodyPr wrap="square" lIns="0" rIns="0" tIns="18288" bIns="18288" anchor="t"/>
          <a:lstStyle/>
          <a:p>
            <a:pPr algn="l">
              <a:spcAft>
                <a:spcPts val="400"/>
              </a:spcAft>
            </a:pPr>
            <a:r>
              <a:rPr sz="1050" b="0" i="0">
                <a:solidFill>
                  <a:srgbClr val="5A6573"/>
                </a:solidFill>
                <a:latin typeface="Calibri"/>
              </a:rPr>
              <a:t>recall</a:t>
            </a:r>
          </a:p>
        </p:txBody>
      </p:sp>
      <p:sp>
        <p:nvSpPr>
          <p:cNvPr id="10" name="TextBox 9"/>
          <p:cNvSpPr txBox="1"/>
          <p:nvPr/>
        </p:nvSpPr>
        <p:spPr>
          <a:xfrm>
            <a:off x="978408" y="3703320"/>
            <a:ext cx="3977639" cy="256032"/>
          </a:xfrm>
          <a:prstGeom prst="rect">
            <a:avLst/>
          </a:prstGeom>
          <a:noFill/>
        </p:spPr>
        <p:txBody>
          <a:bodyPr wrap="square" lIns="0" rIns="0" tIns="18288" bIns="18288" anchor="t"/>
          <a:lstStyle/>
          <a:p>
            <a:pPr algn="l">
              <a:spcAft>
                <a:spcPts val="400"/>
              </a:spcAft>
            </a:pPr>
            <a:r>
              <a:rPr sz="1100" b="0" i="1">
                <a:solidFill>
                  <a:srgbClr val="5A6573"/>
                </a:solidFill>
                <a:latin typeface="Calibri"/>
              </a:rPr>
              <a:t>≈ 4 in 5 special-mention loans classified as standard</a:t>
            </a:r>
          </a:p>
        </p:txBody>
      </p:sp>
      <p:sp>
        <p:nvSpPr>
          <p:cNvPr id="11" name="Rounded Rectangle 10"/>
          <p:cNvSpPr/>
          <p:nvPr/>
        </p:nvSpPr>
        <p:spPr>
          <a:xfrm>
            <a:off x="841248" y="4114800"/>
            <a:ext cx="4206240" cy="1298448"/>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8408" y="4178808"/>
            <a:ext cx="3931920" cy="274320"/>
          </a:xfrm>
          <a:prstGeom prst="rect">
            <a:avLst/>
          </a:prstGeom>
          <a:noFill/>
        </p:spPr>
        <p:txBody>
          <a:bodyPr wrap="square" lIns="0" rIns="0" tIns="18288" bIns="18288" anchor="t"/>
          <a:lstStyle/>
          <a:p>
            <a:pPr algn="l">
              <a:spcAft>
                <a:spcPts val="400"/>
              </a:spcAft>
            </a:pPr>
            <a:r>
              <a:rPr sz="1250" b="1" i="0">
                <a:solidFill>
                  <a:srgbClr val="F2581E"/>
                </a:solidFill>
                <a:latin typeface="Calibri"/>
              </a:rPr>
              <a:t>Class weighting  ·  Macro-F1 0.604</a:t>
            </a:r>
          </a:p>
        </p:txBody>
      </p:sp>
      <p:sp>
        <p:nvSpPr>
          <p:cNvPr id="13" name="TextBox 12"/>
          <p:cNvSpPr txBox="1"/>
          <p:nvPr/>
        </p:nvSpPr>
        <p:spPr>
          <a:xfrm>
            <a:off x="978408" y="4462272"/>
            <a:ext cx="1737360" cy="457200"/>
          </a:xfrm>
          <a:prstGeom prst="rect">
            <a:avLst/>
          </a:prstGeom>
          <a:noFill/>
        </p:spPr>
        <p:txBody>
          <a:bodyPr wrap="square" lIns="0" rIns="0" tIns="18288" bIns="18288" anchor="t"/>
          <a:lstStyle/>
          <a:p>
            <a:pPr algn="l">
              <a:spcAft>
                <a:spcPts val="400"/>
              </a:spcAft>
            </a:pPr>
            <a:r>
              <a:rPr sz="2600" b="1" i="0">
                <a:solidFill>
                  <a:srgbClr val="0E2F57"/>
                </a:solidFill>
                <a:latin typeface="Calibri"/>
              </a:rPr>
              <a:t>0.245</a:t>
            </a:r>
          </a:p>
        </p:txBody>
      </p:sp>
      <p:sp>
        <p:nvSpPr>
          <p:cNvPr id="14" name="TextBox 13"/>
          <p:cNvSpPr txBox="1"/>
          <p:nvPr/>
        </p:nvSpPr>
        <p:spPr>
          <a:xfrm>
            <a:off x="978408" y="4892040"/>
            <a:ext cx="1737360" cy="228600"/>
          </a:xfrm>
          <a:prstGeom prst="rect">
            <a:avLst/>
          </a:prstGeom>
          <a:noFill/>
        </p:spPr>
        <p:txBody>
          <a:bodyPr wrap="square" lIns="0" rIns="0" tIns="18288" bIns="18288" anchor="t"/>
          <a:lstStyle/>
          <a:p>
            <a:pPr algn="l">
              <a:spcAft>
                <a:spcPts val="400"/>
              </a:spcAft>
            </a:pPr>
            <a:r>
              <a:rPr sz="1050" b="0" i="0">
                <a:solidFill>
                  <a:srgbClr val="5A6573"/>
                </a:solidFill>
                <a:latin typeface="Calibri"/>
              </a:rPr>
              <a:t>precision</a:t>
            </a:r>
          </a:p>
        </p:txBody>
      </p:sp>
      <p:sp>
        <p:nvSpPr>
          <p:cNvPr id="15" name="TextBox 14"/>
          <p:cNvSpPr txBox="1"/>
          <p:nvPr/>
        </p:nvSpPr>
        <p:spPr>
          <a:xfrm>
            <a:off x="2697480" y="4462272"/>
            <a:ext cx="1737360" cy="457200"/>
          </a:xfrm>
          <a:prstGeom prst="rect">
            <a:avLst/>
          </a:prstGeom>
          <a:noFill/>
        </p:spPr>
        <p:txBody>
          <a:bodyPr wrap="square" lIns="0" rIns="0" tIns="18288" bIns="18288" anchor="t"/>
          <a:lstStyle/>
          <a:p>
            <a:pPr algn="l">
              <a:spcAft>
                <a:spcPts val="400"/>
              </a:spcAft>
            </a:pPr>
            <a:r>
              <a:rPr sz="2600" b="1" i="0">
                <a:solidFill>
                  <a:srgbClr val="0E2F57"/>
                </a:solidFill>
                <a:latin typeface="Calibri"/>
              </a:rPr>
              <a:t>0.471</a:t>
            </a:r>
          </a:p>
        </p:txBody>
      </p:sp>
      <p:sp>
        <p:nvSpPr>
          <p:cNvPr id="16" name="TextBox 15"/>
          <p:cNvSpPr txBox="1"/>
          <p:nvPr/>
        </p:nvSpPr>
        <p:spPr>
          <a:xfrm>
            <a:off x="2697480" y="4892040"/>
            <a:ext cx="1737360" cy="228600"/>
          </a:xfrm>
          <a:prstGeom prst="rect">
            <a:avLst/>
          </a:prstGeom>
          <a:noFill/>
        </p:spPr>
        <p:txBody>
          <a:bodyPr wrap="square" lIns="0" rIns="0" tIns="18288" bIns="18288" anchor="t"/>
          <a:lstStyle/>
          <a:p>
            <a:pPr algn="l">
              <a:spcAft>
                <a:spcPts val="400"/>
              </a:spcAft>
            </a:pPr>
            <a:r>
              <a:rPr sz="1050" b="0" i="0">
                <a:solidFill>
                  <a:srgbClr val="5A6573"/>
                </a:solidFill>
                <a:latin typeface="Calibri"/>
              </a:rPr>
              <a:t>recall</a:t>
            </a:r>
          </a:p>
        </p:txBody>
      </p:sp>
      <p:sp>
        <p:nvSpPr>
          <p:cNvPr id="17" name="TextBox 16"/>
          <p:cNvSpPr txBox="1"/>
          <p:nvPr/>
        </p:nvSpPr>
        <p:spPr>
          <a:xfrm>
            <a:off x="978408" y="5120640"/>
            <a:ext cx="3977639" cy="256032"/>
          </a:xfrm>
          <a:prstGeom prst="rect">
            <a:avLst/>
          </a:prstGeom>
          <a:noFill/>
        </p:spPr>
        <p:txBody>
          <a:bodyPr wrap="square" lIns="0" rIns="0" tIns="18288" bIns="18288" anchor="t"/>
          <a:lstStyle/>
          <a:p>
            <a:pPr algn="l">
              <a:spcAft>
                <a:spcPts val="400"/>
              </a:spcAft>
            </a:pPr>
            <a:r>
              <a:rPr sz="1100" b="0" i="1">
                <a:solidFill>
                  <a:srgbClr val="5A6573"/>
                </a:solidFill>
                <a:latin typeface="Calibri"/>
              </a:rPr>
              <a:t>≈ 3 in 4 Group-2 flags are false alarms</a:t>
            </a:r>
          </a:p>
        </p:txBody>
      </p:sp>
      <p:graphicFrame>
        <p:nvGraphicFramePr>
          <p:cNvPr id="18" name="Table 17"/>
          <p:cNvGraphicFramePr>
            <a:graphicFrameLocks noGrp="1"/>
          </p:cNvGraphicFramePr>
          <p:nvPr/>
        </p:nvGraphicFramePr>
        <p:xfrm>
          <a:off x="5349240" y="2377440"/>
          <a:ext cx="6007608" cy="2670048"/>
        </p:xfrm>
        <a:graphic>
          <a:graphicData uri="http://schemas.openxmlformats.org/drawingml/2006/table">
            <a:tbl>
              <a:tblPr firstRow="0" bandRow="0">
                <a:tableStyleId>{5C22544A-7EE6-4342-B048-85BDC9FD1C3A}</a:tableStyleId>
              </a:tblPr>
              <a:tblGrid>
                <a:gridCol w="1501902"/>
                <a:gridCol w="750951"/>
                <a:gridCol w="750951"/>
                <a:gridCol w="750951"/>
                <a:gridCol w="750951"/>
                <a:gridCol w="750951"/>
                <a:gridCol w="750951"/>
              </a:tblGrid>
              <a:tr h="475488">
                <a:tc>
                  <a:txBody>
                    <a:bodyPr wrap="square"/>
                    <a:lstStyle/>
                    <a:p>
                      <a:pPr algn="l"/>
                      <a:r>
                        <a:rPr sz="1150" b="1">
                          <a:solidFill>
                            <a:srgbClr val="FFFFFF"/>
                          </a:solidFill>
                          <a:latin typeface="Calibri"/>
                        </a:rPr>
                        <a:t>Debt group</a:t>
                      </a:r>
                    </a:p>
                  </a:txBody>
                  <a:tcPr marL="54864" marR="54864" marT="18288" marB="18288" anchor="ctr">
                    <a:solidFill>
                      <a:srgbClr val="144E8C"/>
                    </a:solidFill>
                  </a:tcPr>
                </a:tc>
                <a:tc>
                  <a:txBody>
                    <a:bodyPr wrap="square"/>
                    <a:lstStyle/>
                    <a:p>
                      <a:pPr algn="ctr"/>
                      <a:r>
                        <a:rPr sz="1150" b="1">
                          <a:solidFill>
                            <a:srgbClr val="FFFFFF"/>
                          </a:solidFill>
                          <a:latin typeface="Calibri"/>
                        </a:rPr>
                        <a:t>Prec.
none</a:t>
                      </a:r>
                    </a:p>
                  </a:txBody>
                  <a:tcPr marL="54864" marR="54864" marT="18288" marB="18288" anchor="ctr">
                    <a:solidFill>
                      <a:srgbClr val="144E8C"/>
                    </a:solidFill>
                  </a:tcPr>
                </a:tc>
                <a:tc>
                  <a:txBody>
                    <a:bodyPr wrap="square"/>
                    <a:lstStyle/>
                    <a:p>
                      <a:pPr algn="ctr"/>
                      <a:r>
                        <a:rPr sz="1150" b="1">
                          <a:solidFill>
                            <a:srgbClr val="FFFFFF"/>
                          </a:solidFill>
                          <a:latin typeface="Calibri"/>
                        </a:rPr>
                        <a:t>Recall
none</a:t>
                      </a:r>
                    </a:p>
                  </a:txBody>
                  <a:tcPr marL="54864" marR="54864" marT="18288" marB="18288" anchor="ctr">
                    <a:solidFill>
                      <a:srgbClr val="144E8C"/>
                    </a:solidFill>
                  </a:tcPr>
                </a:tc>
                <a:tc>
                  <a:txBody>
                    <a:bodyPr wrap="square"/>
                    <a:lstStyle/>
                    <a:p>
                      <a:pPr algn="ctr"/>
                      <a:r>
                        <a:rPr sz="1150" b="1">
                          <a:solidFill>
                            <a:srgbClr val="FFFFFF"/>
                          </a:solidFill>
                          <a:latin typeface="Calibri"/>
                        </a:rPr>
                        <a:t>F1
none</a:t>
                      </a:r>
                    </a:p>
                  </a:txBody>
                  <a:tcPr marL="54864" marR="54864" marT="18288" marB="18288" anchor="ctr">
                    <a:solidFill>
                      <a:srgbClr val="144E8C"/>
                    </a:solidFill>
                  </a:tcPr>
                </a:tc>
                <a:tc>
                  <a:txBody>
                    <a:bodyPr wrap="square"/>
                    <a:lstStyle/>
                    <a:p>
                      <a:pPr algn="ctr"/>
                      <a:r>
                        <a:rPr sz="1150" b="1">
                          <a:solidFill>
                            <a:srgbClr val="FFFFFF"/>
                          </a:solidFill>
                          <a:latin typeface="Calibri"/>
                        </a:rPr>
                        <a:t>Prec.
wt.</a:t>
                      </a:r>
                    </a:p>
                  </a:txBody>
                  <a:tcPr marL="54864" marR="54864" marT="18288" marB="18288" anchor="ctr">
                    <a:solidFill>
                      <a:srgbClr val="144E8C"/>
                    </a:solidFill>
                  </a:tcPr>
                </a:tc>
                <a:tc>
                  <a:txBody>
                    <a:bodyPr wrap="square"/>
                    <a:lstStyle/>
                    <a:p>
                      <a:pPr algn="ctr"/>
                      <a:r>
                        <a:rPr sz="1150" b="1">
                          <a:solidFill>
                            <a:srgbClr val="FFFFFF"/>
                          </a:solidFill>
                          <a:latin typeface="Calibri"/>
                        </a:rPr>
                        <a:t>Recall
wt.</a:t>
                      </a:r>
                    </a:p>
                  </a:txBody>
                  <a:tcPr marL="54864" marR="54864" marT="18288" marB="18288" anchor="ctr">
                    <a:solidFill>
                      <a:srgbClr val="144E8C"/>
                    </a:solidFill>
                  </a:tcPr>
                </a:tc>
                <a:tc>
                  <a:txBody>
                    <a:bodyPr wrap="square"/>
                    <a:lstStyle/>
                    <a:p>
                      <a:pPr algn="ctr"/>
                      <a:r>
                        <a:rPr sz="1150" b="1">
                          <a:solidFill>
                            <a:srgbClr val="FFFFFF"/>
                          </a:solidFill>
                          <a:latin typeface="Calibri"/>
                        </a:rPr>
                        <a:t>F1
wt.</a:t>
                      </a:r>
                    </a:p>
                  </a:txBody>
                  <a:tcPr marL="54864" marR="54864" marT="18288" marB="18288" anchor="ctr">
                    <a:solidFill>
                      <a:srgbClr val="144E8C"/>
                    </a:solidFill>
                  </a:tcPr>
                </a:tc>
              </a:tr>
              <a:tr h="365760">
                <a:tc>
                  <a:txBody>
                    <a:bodyPr wrap="square"/>
                    <a:lstStyle/>
                    <a:p>
                      <a:pPr algn="l"/>
                      <a:r>
                        <a:rPr sz="1150" b="0">
                          <a:solidFill>
                            <a:srgbClr val="0E2F57"/>
                          </a:solidFill>
                          <a:latin typeface="Calibri"/>
                        </a:rPr>
                        <a:t>1 Standard</a:t>
                      </a:r>
                    </a:p>
                  </a:txBody>
                  <a:tcPr marL="54864" marR="54864" marT="18288" marB="18288" anchor="ctr">
                    <a:solidFill>
                      <a:srgbClr val="FFFFFF"/>
                    </a:solidFill>
                  </a:tcPr>
                </a:tc>
                <a:tc>
                  <a:txBody>
                    <a:bodyPr wrap="square"/>
                    <a:lstStyle/>
                    <a:p>
                      <a:pPr algn="ctr"/>
                      <a:r>
                        <a:rPr sz="1150" b="0">
                          <a:solidFill>
                            <a:srgbClr val="0E2F57"/>
                          </a:solidFill>
                          <a:latin typeface="Calibri"/>
                        </a:rPr>
                        <a:t>0.921</a:t>
                      </a:r>
                    </a:p>
                  </a:txBody>
                  <a:tcPr marL="54864" marR="54864" marT="18288" marB="18288" anchor="ctr">
                    <a:solidFill>
                      <a:srgbClr val="FFFFFF"/>
                    </a:solidFill>
                  </a:tcPr>
                </a:tc>
                <a:tc>
                  <a:txBody>
                    <a:bodyPr wrap="square"/>
                    <a:lstStyle/>
                    <a:p>
                      <a:pPr algn="ctr"/>
                      <a:r>
                        <a:rPr sz="1150" b="0">
                          <a:solidFill>
                            <a:srgbClr val="0E2F57"/>
                          </a:solidFill>
                          <a:latin typeface="Calibri"/>
                        </a:rPr>
                        <a:t>0.990</a:t>
                      </a:r>
                    </a:p>
                  </a:txBody>
                  <a:tcPr marL="54864" marR="54864" marT="18288" marB="18288" anchor="ctr">
                    <a:solidFill>
                      <a:srgbClr val="FFFFFF"/>
                    </a:solidFill>
                  </a:tcPr>
                </a:tc>
                <a:tc>
                  <a:txBody>
                    <a:bodyPr wrap="square"/>
                    <a:lstStyle/>
                    <a:p>
                      <a:pPr algn="ctr"/>
                      <a:r>
                        <a:rPr sz="1150" b="0">
                          <a:solidFill>
                            <a:srgbClr val="0E2F57"/>
                          </a:solidFill>
                          <a:latin typeface="Calibri"/>
                        </a:rPr>
                        <a:t>0.954</a:t>
                      </a:r>
                    </a:p>
                  </a:txBody>
                  <a:tcPr marL="54864" marR="54864" marT="18288" marB="18288" anchor="ctr">
                    <a:solidFill>
                      <a:srgbClr val="FFFFFF"/>
                    </a:solidFill>
                  </a:tcPr>
                </a:tc>
                <a:tc>
                  <a:txBody>
                    <a:bodyPr wrap="square"/>
                    <a:lstStyle/>
                    <a:p>
                      <a:pPr algn="ctr"/>
                      <a:r>
                        <a:rPr sz="1150" b="0">
                          <a:solidFill>
                            <a:srgbClr val="0E2F57"/>
                          </a:solidFill>
                          <a:latin typeface="Calibri"/>
                        </a:rPr>
                        <a:t>0.958</a:t>
                      </a:r>
                    </a:p>
                  </a:txBody>
                  <a:tcPr marL="54864" marR="54864" marT="18288" marB="18288" anchor="ctr">
                    <a:solidFill>
                      <a:srgbClr val="FFFFFF"/>
                    </a:solidFill>
                  </a:tcPr>
                </a:tc>
                <a:tc>
                  <a:txBody>
                    <a:bodyPr wrap="square"/>
                    <a:lstStyle/>
                    <a:p>
                      <a:pPr algn="ctr"/>
                      <a:r>
                        <a:rPr sz="1150" b="0">
                          <a:solidFill>
                            <a:srgbClr val="0E2F57"/>
                          </a:solidFill>
                          <a:latin typeface="Calibri"/>
                        </a:rPr>
                        <a:t>0.895</a:t>
                      </a:r>
                    </a:p>
                  </a:txBody>
                  <a:tcPr marL="54864" marR="54864" marT="18288" marB="18288" anchor="ctr">
                    <a:solidFill>
                      <a:srgbClr val="FFFFFF"/>
                    </a:solidFill>
                  </a:tcPr>
                </a:tc>
                <a:tc>
                  <a:txBody>
                    <a:bodyPr wrap="square"/>
                    <a:lstStyle/>
                    <a:p>
                      <a:pPr algn="ctr"/>
                      <a:r>
                        <a:rPr sz="1150" b="0">
                          <a:solidFill>
                            <a:srgbClr val="0E2F57"/>
                          </a:solidFill>
                          <a:latin typeface="Calibri"/>
                        </a:rPr>
                        <a:t>0.926</a:t>
                      </a:r>
                    </a:p>
                  </a:txBody>
                  <a:tcPr marL="54864" marR="54864" marT="18288" marB="18288" anchor="ctr">
                    <a:solidFill>
                      <a:srgbClr val="FFFFFF"/>
                    </a:solidFill>
                  </a:tcPr>
                </a:tc>
              </a:tr>
              <a:tr h="365760">
                <a:tc>
                  <a:txBody>
                    <a:bodyPr wrap="square"/>
                    <a:lstStyle/>
                    <a:p>
                      <a:pPr algn="l"/>
                      <a:r>
                        <a:rPr sz="1150" b="0">
                          <a:solidFill>
                            <a:srgbClr val="0E2F57"/>
                          </a:solidFill>
                          <a:latin typeface="Calibri"/>
                        </a:rPr>
                        <a:t>2 Special mention</a:t>
                      </a:r>
                    </a:p>
                  </a:txBody>
                  <a:tcPr marL="54864" marR="54864" marT="18288" marB="18288" anchor="ctr">
                    <a:solidFill>
                      <a:srgbClr val="FFF4D6"/>
                    </a:solidFill>
                  </a:tcPr>
                </a:tc>
                <a:tc>
                  <a:txBody>
                    <a:bodyPr wrap="square"/>
                    <a:lstStyle/>
                    <a:p>
                      <a:pPr algn="ctr"/>
                      <a:r>
                        <a:rPr sz="1150" b="0">
                          <a:solidFill>
                            <a:srgbClr val="0E2F57"/>
                          </a:solidFill>
                          <a:latin typeface="Calibri"/>
                        </a:rPr>
                        <a:t>0.603</a:t>
                      </a:r>
                    </a:p>
                  </a:txBody>
                  <a:tcPr marL="54864" marR="54864" marT="18288" marB="18288" anchor="ctr">
                    <a:solidFill>
                      <a:srgbClr val="FFF4D6"/>
                    </a:solidFill>
                  </a:tcPr>
                </a:tc>
                <a:tc>
                  <a:txBody>
                    <a:bodyPr wrap="square"/>
                    <a:lstStyle/>
                    <a:p>
                      <a:pPr algn="ctr"/>
                      <a:r>
                        <a:rPr sz="1150" b="0">
                          <a:solidFill>
                            <a:srgbClr val="0E2F57"/>
                          </a:solidFill>
                          <a:latin typeface="Calibri"/>
                        </a:rPr>
                        <a:t>0.183</a:t>
                      </a:r>
                    </a:p>
                  </a:txBody>
                  <a:tcPr marL="54864" marR="54864" marT="18288" marB="18288" anchor="ctr">
                    <a:solidFill>
                      <a:srgbClr val="FFF4D6"/>
                    </a:solidFill>
                  </a:tcPr>
                </a:tc>
                <a:tc>
                  <a:txBody>
                    <a:bodyPr wrap="square"/>
                    <a:lstStyle/>
                    <a:p>
                      <a:pPr algn="ctr"/>
                      <a:r>
                        <a:rPr sz="1150" b="0">
                          <a:solidFill>
                            <a:srgbClr val="0E2F57"/>
                          </a:solidFill>
                          <a:latin typeface="Calibri"/>
                        </a:rPr>
                        <a:t>0.281</a:t>
                      </a:r>
                    </a:p>
                  </a:txBody>
                  <a:tcPr marL="54864" marR="54864" marT="18288" marB="18288" anchor="ctr">
                    <a:solidFill>
                      <a:srgbClr val="FFF4D6"/>
                    </a:solidFill>
                  </a:tcPr>
                </a:tc>
                <a:tc>
                  <a:txBody>
                    <a:bodyPr wrap="square"/>
                    <a:lstStyle/>
                    <a:p>
                      <a:pPr algn="ctr"/>
                      <a:r>
                        <a:rPr sz="1150" b="0">
                          <a:solidFill>
                            <a:srgbClr val="0E2F57"/>
                          </a:solidFill>
                          <a:latin typeface="Calibri"/>
                        </a:rPr>
                        <a:t>0.245</a:t>
                      </a:r>
                    </a:p>
                  </a:txBody>
                  <a:tcPr marL="54864" marR="54864" marT="18288" marB="18288" anchor="ctr">
                    <a:solidFill>
                      <a:srgbClr val="FFF4D6"/>
                    </a:solidFill>
                  </a:tcPr>
                </a:tc>
                <a:tc>
                  <a:txBody>
                    <a:bodyPr wrap="square"/>
                    <a:lstStyle/>
                    <a:p>
                      <a:pPr algn="ctr"/>
                      <a:r>
                        <a:rPr sz="1150" b="0">
                          <a:solidFill>
                            <a:srgbClr val="0E2F57"/>
                          </a:solidFill>
                          <a:latin typeface="Calibri"/>
                        </a:rPr>
                        <a:t>0.471</a:t>
                      </a:r>
                    </a:p>
                  </a:txBody>
                  <a:tcPr marL="54864" marR="54864" marT="18288" marB="18288" anchor="ctr">
                    <a:solidFill>
                      <a:srgbClr val="FFF4D6"/>
                    </a:solidFill>
                  </a:tcPr>
                </a:tc>
                <a:tc>
                  <a:txBody>
                    <a:bodyPr wrap="square"/>
                    <a:lstStyle/>
                    <a:p>
                      <a:pPr algn="ctr"/>
                      <a:r>
                        <a:rPr sz="1150" b="0">
                          <a:solidFill>
                            <a:srgbClr val="0E2F57"/>
                          </a:solidFill>
                          <a:latin typeface="Calibri"/>
                        </a:rPr>
                        <a:t>0.323</a:t>
                      </a:r>
                    </a:p>
                  </a:txBody>
                  <a:tcPr marL="54864" marR="54864" marT="18288" marB="18288" anchor="ctr">
                    <a:solidFill>
                      <a:srgbClr val="FFF4D6"/>
                    </a:solidFill>
                  </a:tcPr>
                </a:tc>
              </a:tr>
              <a:tr h="365760">
                <a:tc>
                  <a:txBody>
                    <a:bodyPr wrap="square"/>
                    <a:lstStyle/>
                    <a:p>
                      <a:pPr algn="l"/>
                      <a:r>
                        <a:rPr sz="1150" b="0">
                          <a:solidFill>
                            <a:srgbClr val="0E2F57"/>
                          </a:solidFill>
                          <a:latin typeface="Calibri"/>
                        </a:rPr>
                        <a:t>3 Sub-standard</a:t>
                      </a:r>
                    </a:p>
                  </a:txBody>
                  <a:tcPr marL="54864" marR="54864" marT="18288" marB="18288" anchor="ctr">
                    <a:solidFill>
                      <a:srgbClr val="FFFFFF"/>
                    </a:solidFill>
                  </a:tcPr>
                </a:tc>
                <a:tc>
                  <a:txBody>
                    <a:bodyPr wrap="square"/>
                    <a:lstStyle/>
                    <a:p>
                      <a:pPr algn="ctr"/>
                      <a:r>
                        <a:rPr sz="1150" b="0">
                          <a:solidFill>
                            <a:srgbClr val="0E2F57"/>
                          </a:solidFill>
                          <a:latin typeface="Calibri"/>
                        </a:rPr>
                        <a:t>0.613</a:t>
                      </a:r>
                    </a:p>
                  </a:txBody>
                  <a:tcPr marL="54864" marR="54864" marT="18288" marB="18288" anchor="ctr">
                    <a:solidFill>
                      <a:srgbClr val="FFFFFF"/>
                    </a:solidFill>
                  </a:tcPr>
                </a:tc>
                <a:tc>
                  <a:txBody>
                    <a:bodyPr wrap="square"/>
                    <a:lstStyle/>
                    <a:p>
                      <a:pPr algn="ctr"/>
                      <a:r>
                        <a:rPr sz="1150" b="0">
                          <a:solidFill>
                            <a:srgbClr val="0E2F57"/>
                          </a:solidFill>
                          <a:latin typeface="Calibri"/>
                        </a:rPr>
                        <a:t>0.314</a:t>
                      </a:r>
                    </a:p>
                  </a:txBody>
                  <a:tcPr marL="54864" marR="54864" marT="18288" marB="18288" anchor="ctr">
                    <a:solidFill>
                      <a:srgbClr val="FFFFFF"/>
                    </a:solidFill>
                  </a:tcPr>
                </a:tc>
                <a:tc>
                  <a:txBody>
                    <a:bodyPr wrap="square"/>
                    <a:lstStyle/>
                    <a:p>
                      <a:pPr algn="ctr"/>
                      <a:r>
                        <a:rPr sz="1150" b="0">
                          <a:solidFill>
                            <a:srgbClr val="0E2F57"/>
                          </a:solidFill>
                          <a:latin typeface="Calibri"/>
                        </a:rPr>
                        <a:t>0.415</a:t>
                      </a:r>
                    </a:p>
                  </a:txBody>
                  <a:tcPr marL="54864" marR="54864" marT="18288" marB="18288" anchor="ctr">
                    <a:solidFill>
                      <a:srgbClr val="FFFFFF"/>
                    </a:solidFill>
                  </a:tcPr>
                </a:tc>
                <a:tc>
                  <a:txBody>
                    <a:bodyPr wrap="square"/>
                    <a:lstStyle/>
                    <a:p>
                      <a:pPr algn="ctr"/>
                      <a:r>
                        <a:rPr sz="1150" b="0">
                          <a:solidFill>
                            <a:srgbClr val="0E2F57"/>
                          </a:solidFill>
                          <a:latin typeface="Calibri"/>
                        </a:rPr>
                        <a:t>0.350</a:t>
                      </a:r>
                    </a:p>
                  </a:txBody>
                  <a:tcPr marL="54864" marR="54864" marT="18288" marB="18288" anchor="ctr">
                    <a:solidFill>
                      <a:srgbClr val="FFFFFF"/>
                    </a:solidFill>
                  </a:tcPr>
                </a:tc>
                <a:tc>
                  <a:txBody>
                    <a:bodyPr wrap="square"/>
                    <a:lstStyle/>
                    <a:p>
                      <a:pPr algn="ctr"/>
                      <a:r>
                        <a:rPr sz="1150" b="0">
                          <a:solidFill>
                            <a:srgbClr val="0E2F57"/>
                          </a:solidFill>
                          <a:latin typeface="Calibri"/>
                        </a:rPr>
                        <a:t>0.413</a:t>
                      </a:r>
                    </a:p>
                  </a:txBody>
                  <a:tcPr marL="54864" marR="54864" marT="18288" marB="18288" anchor="ctr">
                    <a:solidFill>
                      <a:srgbClr val="FFFFFF"/>
                    </a:solidFill>
                  </a:tcPr>
                </a:tc>
                <a:tc>
                  <a:txBody>
                    <a:bodyPr wrap="square"/>
                    <a:lstStyle/>
                    <a:p>
                      <a:pPr algn="ctr"/>
                      <a:r>
                        <a:rPr sz="1150" b="0">
                          <a:solidFill>
                            <a:srgbClr val="0E2F57"/>
                          </a:solidFill>
                          <a:latin typeface="Calibri"/>
                        </a:rPr>
                        <a:t>0.379</a:t>
                      </a:r>
                    </a:p>
                  </a:txBody>
                  <a:tcPr marL="54864" marR="54864" marT="18288" marB="18288" anchor="ctr">
                    <a:solidFill>
                      <a:srgbClr val="FFFFFF"/>
                    </a:solidFill>
                  </a:tcPr>
                </a:tc>
              </a:tr>
              <a:tr h="365760">
                <a:tc>
                  <a:txBody>
                    <a:bodyPr wrap="square"/>
                    <a:lstStyle/>
                    <a:p>
                      <a:pPr algn="l"/>
                      <a:r>
                        <a:rPr sz="1150" b="0">
                          <a:solidFill>
                            <a:srgbClr val="0E2F57"/>
                          </a:solidFill>
                          <a:latin typeface="Calibri"/>
                        </a:rPr>
                        <a:t>4 Doubtful</a:t>
                      </a:r>
                    </a:p>
                  </a:txBody>
                  <a:tcPr marL="54864" marR="54864" marT="18288" marB="18288" anchor="ctr">
                    <a:solidFill>
                      <a:srgbClr val="F3F5F8"/>
                    </a:solidFill>
                  </a:tcPr>
                </a:tc>
                <a:tc>
                  <a:txBody>
                    <a:bodyPr wrap="square"/>
                    <a:lstStyle/>
                    <a:p>
                      <a:pPr algn="ctr"/>
                      <a:r>
                        <a:rPr sz="1150" b="0">
                          <a:solidFill>
                            <a:srgbClr val="0E2F57"/>
                          </a:solidFill>
                          <a:latin typeface="Calibri"/>
                        </a:rPr>
                        <a:t>0.652</a:t>
                      </a:r>
                    </a:p>
                  </a:txBody>
                  <a:tcPr marL="54864" marR="54864" marT="18288" marB="18288" anchor="ctr">
                    <a:solidFill>
                      <a:srgbClr val="F3F5F8"/>
                    </a:solidFill>
                  </a:tcPr>
                </a:tc>
                <a:tc>
                  <a:txBody>
                    <a:bodyPr wrap="square"/>
                    <a:lstStyle/>
                    <a:p>
                      <a:pPr algn="ctr"/>
                      <a:r>
                        <a:rPr sz="1150" b="0">
                          <a:solidFill>
                            <a:srgbClr val="0E2F57"/>
                          </a:solidFill>
                          <a:latin typeface="Calibri"/>
                        </a:rPr>
                        <a:t>0.465</a:t>
                      </a:r>
                    </a:p>
                  </a:txBody>
                  <a:tcPr marL="54864" marR="54864" marT="18288" marB="18288" anchor="ctr">
                    <a:solidFill>
                      <a:srgbClr val="F3F5F8"/>
                    </a:solidFill>
                  </a:tcPr>
                </a:tc>
                <a:tc>
                  <a:txBody>
                    <a:bodyPr wrap="square"/>
                    <a:lstStyle/>
                    <a:p>
                      <a:pPr algn="ctr"/>
                      <a:r>
                        <a:rPr sz="1150" b="0">
                          <a:solidFill>
                            <a:srgbClr val="0E2F57"/>
                          </a:solidFill>
                          <a:latin typeface="Calibri"/>
                        </a:rPr>
                        <a:t>0.543</a:t>
                      </a:r>
                    </a:p>
                  </a:txBody>
                  <a:tcPr marL="54864" marR="54864" marT="18288" marB="18288" anchor="ctr">
                    <a:solidFill>
                      <a:srgbClr val="F3F5F8"/>
                    </a:solidFill>
                  </a:tcPr>
                </a:tc>
                <a:tc>
                  <a:txBody>
                    <a:bodyPr wrap="square"/>
                    <a:lstStyle/>
                    <a:p>
                      <a:pPr algn="ctr"/>
                      <a:r>
                        <a:rPr sz="1150" b="0">
                          <a:solidFill>
                            <a:srgbClr val="0E2F57"/>
                          </a:solidFill>
                          <a:latin typeface="Calibri"/>
                        </a:rPr>
                        <a:t>0.411</a:t>
                      </a:r>
                    </a:p>
                  </a:txBody>
                  <a:tcPr marL="54864" marR="54864" marT="18288" marB="18288" anchor="ctr">
                    <a:solidFill>
                      <a:srgbClr val="F3F5F8"/>
                    </a:solidFill>
                  </a:tcPr>
                </a:tc>
                <a:tc>
                  <a:txBody>
                    <a:bodyPr wrap="square"/>
                    <a:lstStyle/>
                    <a:p>
                      <a:pPr algn="ctr"/>
                      <a:r>
                        <a:rPr sz="1150" b="0">
                          <a:solidFill>
                            <a:srgbClr val="0E2F57"/>
                          </a:solidFill>
                          <a:latin typeface="Calibri"/>
                        </a:rPr>
                        <a:t>0.548</a:t>
                      </a:r>
                    </a:p>
                  </a:txBody>
                  <a:tcPr marL="54864" marR="54864" marT="18288" marB="18288" anchor="ctr">
                    <a:solidFill>
                      <a:srgbClr val="F3F5F8"/>
                    </a:solidFill>
                  </a:tcPr>
                </a:tc>
                <a:tc>
                  <a:txBody>
                    <a:bodyPr wrap="square"/>
                    <a:lstStyle/>
                    <a:p>
                      <a:pPr algn="ctr"/>
                      <a:r>
                        <a:rPr sz="1150" b="0">
                          <a:solidFill>
                            <a:srgbClr val="0E2F57"/>
                          </a:solidFill>
                          <a:latin typeface="Calibri"/>
                        </a:rPr>
                        <a:t>0.470</a:t>
                      </a:r>
                    </a:p>
                  </a:txBody>
                  <a:tcPr marL="54864" marR="54864" marT="18288" marB="18288" anchor="ctr">
                    <a:solidFill>
                      <a:srgbClr val="F3F5F8"/>
                    </a:solidFill>
                  </a:tcPr>
                </a:tc>
              </a:tr>
              <a:tr h="365760">
                <a:tc>
                  <a:txBody>
                    <a:bodyPr wrap="square"/>
                    <a:lstStyle/>
                    <a:p>
                      <a:pPr algn="l"/>
                      <a:r>
                        <a:rPr sz="1150" b="0">
                          <a:solidFill>
                            <a:srgbClr val="0E2F57"/>
                          </a:solidFill>
                          <a:latin typeface="Calibri"/>
                        </a:rPr>
                        <a:t>5 Loss</a:t>
                      </a:r>
                    </a:p>
                  </a:txBody>
                  <a:tcPr marL="54864" marR="54864" marT="18288" marB="18288" anchor="ctr">
                    <a:solidFill>
                      <a:srgbClr val="FFFFFF"/>
                    </a:solidFill>
                  </a:tcPr>
                </a:tc>
                <a:tc>
                  <a:txBody>
                    <a:bodyPr wrap="square"/>
                    <a:lstStyle/>
                    <a:p>
                      <a:pPr algn="ctr"/>
                      <a:r>
                        <a:rPr sz="1150" b="0">
                          <a:solidFill>
                            <a:srgbClr val="0E2F57"/>
                          </a:solidFill>
                          <a:latin typeface="Calibri"/>
                        </a:rPr>
                        <a:t>0.953</a:t>
                      </a:r>
                    </a:p>
                  </a:txBody>
                  <a:tcPr marL="54864" marR="54864" marT="18288" marB="18288" anchor="ctr">
                    <a:solidFill>
                      <a:srgbClr val="FFFFFF"/>
                    </a:solidFill>
                  </a:tcPr>
                </a:tc>
                <a:tc>
                  <a:txBody>
                    <a:bodyPr wrap="square"/>
                    <a:lstStyle/>
                    <a:p>
                      <a:pPr algn="ctr"/>
                      <a:r>
                        <a:rPr sz="1150" b="0">
                          <a:solidFill>
                            <a:srgbClr val="0E2F57"/>
                          </a:solidFill>
                          <a:latin typeface="Calibri"/>
                        </a:rPr>
                        <a:t>0.909</a:t>
                      </a:r>
                    </a:p>
                  </a:txBody>
                  <a:tcPr marL="54864" marR="54864" marT="18288" marB="18288" anchor="ctr">
                    <a:solidFill>
                      <a:srgbClr val="FFFFFF"/>
                    </a:solidFill>
                  </a:tcPr>
                </a:tc>
                <a:tc>
                  <a:txBody>
                    <a:bodyPr wrap="square"/>
                    <a:lstStyle/>
                    <a:p>
                      <a:pPr algn="ctr"/>
                      <a:r>
                        <a:rPr sz="1150" b="0">
                          <a:solidFill>
                            <a:srgbClr val="0E2F57"/>
                          </a:solidFill>
                          <a:latin typeface="Calibri"/>
                        </a:rPr>
                        <a:t>0.931</a:t>
                      </a:r>
                    </a:p>
                  </a:txBody>
                  <a:tcPr marL="54864" marR="54864" marT="18288" marB="18288" anchor="ctr">
                    <a:solidFill>
                      <a:srgbClr val="FFFFFF"/>
                    </a:solidFill>
                  </a:tcPr>
                </a:tc>
                <a:tc>
                  <a:txBody>
                    <a:bodyPr wrap="square"/>
                    <a:lstStyle/>
                    <a:p>
                      <a:pPr algn="ctr"/>
                      <a:r>
                        <a:rPr sz="1150" b="0">
                          <a:solidFill>
                            <a:srgbClr val="0E2F57"/>
                          </a:solidFill>
                          <a:latin typeface="Calibri"/>
                        </a:rPr>
                        <a:t>0.951</a:t>
                      </a:r>
                    </a:p>
                  </a:txBody>
                  <a:tcPr marL="54864" marR="54864" marT="18288" marB="18288" anchor="ctr">
                    <a:solidFill>
                      <a:srgbClr val="FFFFFF"/>
                    </a:solidFill>
                  </a:tcPr>
                </a:tc>
                <a:tc>
                  <a:txBody>
                    <a:bodyPr wrap="square"/>
                    <a:lstStyle/>
                    <a:p>
                      <a:pPr algn="ctr"/>
                      <a:r>
                        <a:rPr sz="1150" b="0">
                          <a:solidFill>
                            <a:srgbClr val="0E2F57"/>
                          </a:solidFill>
                          <a:latin typeface="Calibri"/>
                        </a:rPr>
                        <a:t>0.900</a:t>
                      </a:r>
                    </a:p>
                  </a:txBody>
                  <a:tcPr marL="54864" marR="54864" marT="18288" marB="18288" anchor="ctr">
                    <a:solidFill>
                      <a:srgbClr val="FFFFFF"/>
                    </a:solidFill>
                  </a:tcPr>
                </a:tc>
                <a:tc>
                  <a:txBody>
                    <a:bodyPr wrap="square"/>
                    <a:lstStyle/>
                    <a:p>
                      <a:pPr algn="ctr"/>
                      <a:r>
                        <a:rPr sz="1150" b="0">
                          <a:solidFill>
                            <a:srgbClr val="0E2F57"/>
                          </a:solidFill>
                          <a:latin typeface="Calibri"/>
                        </a:rPr>
                        <a:t>0.925</a:t>
                      </a:r>
                    </a:p>
                  </a:txBody>
                  <a:tcPr marL="54864" marR="54864" marT="18288" marB="18288" anchor="ctr">
                    <a:solidFill>
                      <a:srgbClr val="FFFFFF"/>
                    </a:solidFill>
                  </a:tcPr>
                </a:tc>
              </a:tr>
              <a:tr h="365760">
                <a:tc>
                  <a:txBody>
                    <a:bodyPr wrap="square"/>
                    <a:lstStyle/>
                    <a:p>
                      <a:pPr algn="l"/>
                      <a:r>
                        <a:rPr sz="1150" b="1">
                          <a:solidFill>
                            <a:srgbClr val="0E2F57"/>
                          </a:solidFill>
                          <a:latin typeface="Calibri"/>
                        </a:rPr>
                        <a:t>Macro average</a:t>
                      </a:r>
                    </a:p>
                  </a:txBody>
                  <a:tcPr marL="54864" marR="54864" marT="18288" marB="18288" anchor="ctr">
                    <a:solidFill>
                      <a:srgbClr val="F3F5F8"/>
                    </a:solidFill>
                  </a:tcPr>
                </a:tc>
                <a:tc>
                  <a:txBody>
                    <a:bodyPr wrap="square"/>
                    <a:lstStyle/>
                    <a:p>
                      <a:pPr algn="ctr"/>
                      <a:r>
                        <a:rPr sz="1150" b="1">
                          <a:solidFill>
                            <a:srgbClr val="0E2F57"/>
                          </a:solidFill>
                          <a:latin typeface="Calibri"/>
                        </a:rPr>
                        <a:t>0.748</a:t>
                      </a:r>
                    </a:p>
                  </a:txBody>
                  <a:tcPr marL="54864" marR="54864" marT="18288" marB="18288" anchor="ctr">
                    <a:solidFill>
                      <a:srgbClr val="F3F5F8"/>
                    </a:solidFill>
                  </a:tcPr>
                </a:tc>
                <a:tc>
                  <a:txBody>
                    <a:bodyPr wrap="square"/>
                    <a:lstStyle/>
                    <a:p>
                      <a:pPr algn="ctr"/>
                      <a:r>
                        <a:rPr sz="1150" b="1">
                          <a:solidFill>
                            <a:srgbClr val="0E2F57"/>
                          </a:solidFill>
                          <a:latin typeface="Calibri"/>
                        </a:rPr>
                        <a:t>0.572</a:t>
                      </a:r>
                    </a:p>
                  </a:txBody>
                  <a:tcPr marL="54864" marR="54864" marT="18288" marB="18288" anchor="ctr">
                    <a:solidFill>
                      <a:srgbClr val="F3F5F8"/>
                    </a:solidFill>
                  </a:tcPr>
                </a:tc>
                <a:tc>
                  <a:txBody>
                    <a:bodyPr wrap="square"/>
                    <a:lstStyle/>
                    <a:p>
                      <a:pPr algn="ctr"/>
                      <a:r>
                        <a:rPr sz="1150" b="1">
                          <a:solidFill>
                            <a:srgbClr val="0E2F57"/>
                          </a:solidFill>
                          <a:latin typeface="Calibri"/>
                        </a:rPr>
                        <a:t>0.625</a:t>
                      </a:r>
                    </a:p>
                  </a:txBody>
                  <a:tcPr marL="54864" marR="54864" marT="18288" marB="18288" anchor="ctr">
                    <a:solidFill>
                      <a:srgbClr val="F3F5F8"/>
                    </a:solidFill>
                  </a:tcPr>
                </a:tc>
                <a:tc>
                  <a:txBody>
                    <a:bodyPr wrap="square"/>
                    <a:lstStyle/>
                    <a:p>
                      <a:pPr algn="ctr"/>
                      <a:r>
                        <a:rPr sz="1150" b="1">
                          <a:solidFill>
                            <a:srgbClr val="0E2F57"/>
                          </a:solidFill>
                          <a:latin typeface="Calibri"/>
                        </a:rPr>
                        <a:t>0.583</a:t>
                      </a:r>
                    </a:p>
                  </a:txBody>
                  <a:tcPr marL="54864" marR="54864" marT="18288" marB="18288" anchor="ctr">
                    <a:solidFill>
                      <a:srgbClr val="F3F5F8"/>
                    </a:solidFill>
                  </a:tcPr>
                </a:tc>
                <a:tc>
                  <a:txBody>
                    <a:bodyPr wrap="square"/>
                    <a:lstStyle/>
                    <a:p>
                      <a:pPr algn="ctr"/>
                      <a:r>
                        <a:rPr sz="1150" b="1">
                          <a:solidFill>
                            <a:srgbClr val="0E2F57"/>
                          </a:solidFill>
                          <a:latin typeface="Calibri"/>
                        </a:rPr>
                        <a:t>0.645</a:t>
                      </a:r>
                    </a:p>
                  </a:txBody>
                  <a:tcPr marL="54864" marR="54864" marT="18288" marB="18288" anchor="ctr">
                    <a:solidFill>
                      <a:srgbClr val="F3F5F8"/>
                    </a:solidFill>
                  </a:tcPr>
                </a:tc>
                <a:tc>
                  <a:txBody>
                    <a:bodyPr wrap="square"/>
                    <a:lstStyle/>
                    <a:p>
                      <a:pPr algn="ctr"/>
                      <a:r>
                        <a:rPr sz="1150" b="1">
                          <a:solidFill>
                            <a:srgbClr val="0E2F57"/>
                          </a:solidFill>
                          <a:latin typeface="Calibri"/>
                        </a:rPr>
                        <a:t>0.604</a:t>
                      </a:r>
                    </a:p>
                  </a:txBody>
                  <a:tcPr marL="54864" marR="54864" marT="18288" marB="18288" anchor="ctr">
                    <a:solidFill>
                      <a:srgbClr val="F3F5F8"/>
                    </a:solidFill>
                  </a:tcPr>
                </a:tc>
              </a:tr>
            </a:tbl>
          </a:graphicData>
        </a:graphic>
      </p:graphicFrame>
      <p:sp>
        <p:nvSpPr>
          <p:cNvPr id="19" name="Rounded Rectangle 18"/>
          <p:cNvSpPr/>
          <p:nvPr/>
        </p:nvSpPr>
        <p:spPr>
          <a:xfrm>
            <a:off x="5349240" y="5166360"/>
            <a:ext cx="6007608" cy="731520"/>
          </a:xfrm>
          <a:prstGeom prst="roundRect">
            <a:avLst>
              <a:gd name="adj" fmla="val 6000"/>
            </a:avLst>
          </a:prstGeom>
          <a:solidFill>
            <a:srgbClr val="0E2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486400" y="5193792"/>
            <a:ext cx="5760720" cy="676656"/>
          </a:xfrm>
          <a:prstGeom prst="rect">
            <a:avLst/>
          </a:prstGeom>
          <a:noFill/>
        </p:spPr>
        <p:txBody>
          <a:bodyPr wrap="square" lIns="0" rIns="0" tIns="18288" bIns="18288" anchor="ctr"/>
          <a:lstStyle/>
          <a:p>
            <a:pPr algn="l">
              <a:spcAft>
                <a:spcPts val="400"/>
              </a:spcAft>
            </a:pPr>
            <a:r>
              <a:rPr sz="1250" b="1" i="0">
                <a:solidFill>
                  <a:srgbClr val="FFFFFF"/>
                </a:solidFill>
                <a:latin typeface="Calibri"/>
              </a:rPr>
              <a:t>Neither is better in the abstract. </a:t>
            </a:r>
            <a:r>
              <a:rPr sz="1250" b="0" i="0">
                <a:solidFill>
                  <a:srgbClr val="FFFFFF"/>
                </a:solidFill>
                <a:latin typeface="Calibri"/>
              </a:rPr>
              <a:t>Precision vs. recall is a policy choice for the credit-risk committee — Macro-F1 alone hides it.</a:t>
            </a:r>
          </a:p>
        </p:txBody>
      </p:sp>
      <p:sp>
        <p:nvSpPr>
          <p:cNvPr id="21"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22"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RQ2: Fewer Features, Near-Full Performance</a:t>
            </a:r>
          </a:p>
        </p:txBody>
      </p:sp>
      <p:sp>
        <p:nvSpPr>
          <p:cNvPr id="3" name="TextBox 2"/>
          <p:cNvSpPr txBox="1"/>
          <p:nvPr/>
        </p:nvSpPr>
        <p:spPr>
          <a:xfrm>
            <a:off x="841248" y="2852928"/>
            <a:ext cx="1508760" cy="548640"/>
          </a:xfrm>
          <a:prstGeom prst="rect">
            <a:avLst/>
          </a:prstGeom>
          <a:noFill/>
        </p:spPr>
        <p:txBody>
          <a:bodyPr wrap="square" lIns="0" rIns="0" tIns="18288" bIns="18288" anchor="ctr"/>
          <a:lstStyle/>
          <a:p>
            <a:pPr algn="l">
              <a:spcAft>
                <a:spcPts val="400"/>
              </a:spcAft>
            </a:pPr>
            <a:r>
              <a:rPr sz="2600" b="1" i="0">
                <a:solidFill>
                  <a:srgbClr val="F2581E"/>
                </a:solidFill>
                <a:latin typeface="Calibri"/>
              </a:rPr>
              <a:t>98–99%</a:t>
            </a:r>
          </a:p>
        </p:txBody>
      </p:sp>
      <p:sp>
        <p:nvSpPr>
          <p:cNvPr id="4" name="TextBox 3"/>
          <p:cNvSpPr txBox="1"/>
          <p:nvPr/>
        </p:nvSpPr>
        <p:spPr>
          <a:xfrm>
            <a:off x="2377440" y="2852928"/>
            <a:ext cx="2423160" cy="868680"/>
          </a:xfrm>
          <a:prstGeom prst="rect">
            <a:avLst/>
          </a:prstGeom>
          <a:noFill/>
        </p:spPr>
        <p:txBody>
          <a:bodyPr wrap="square" lIns="0" rIns="0" tIns="18288" bIns="18288" anchor="t"/>
          <a:lstStyle/>
          <a:p>
            <a:pPr algn="l">
              <a:spcAft>
                <a:spcPts val="400"/>
              </a:spcAft>
            </a:pPr>
            <a:r>
              <a:rPr sz="1150" b="0" i="0">
                <a:solidFill>
                  <a:srgbClr val="0E2F57"/>
                </a:solidFill>
                <a:latin typeface="Calibri"/>
              </a:rPr>
              <a:t>of each model's best Macro-F1 with the top 9 of 13 features (98% under class weighting too)</a:t>
            </a:r>
          </a:p>
        </p:txBody>
      </p:sp>
      <p:sp>
        <p:nvSpPr>
          <p:cNvPr id="5" name="TextBox 4"/>
          <p:cNvSpPr txBox="1"/>
          <p:nvPr/>
        </p:nvSpPr>
        <p:spPr>
          <a:xfrm>
            <a:off x="841248" y="3831336"/>
            <a:ext cx="1508760" cy="548640"/>
          </a:xfrm>
          <a:prstGeom prst="rect">
            <a:avLst/>
          </a:prstGeom>
          <a:noFill/>
        </p:spPr>
        <p:txBody>
          <a:bodyPr wrap="square" lIns="0" rIns="0" tIns="18288" bIns="18288" anchor="ctr"/>
          <a:lstStyle/>
          <a:p>
            <a:pPr algn="l">
              <a:spcAft>
                <a:spcPts val="400"/>
              </a:spcAft>
            </a:pPr>
            <a:r>
              <a:rPr sz="2600" b="1" i="0">
                <a:solidFill>
                  <a:srgbClr val="F2581E"/>
                </a:solidFill>
                <a:latin typeface="Calibri"/>
              </a:rPr>
              <a:t>95–97%</a:t>
            </a:r>
          </a:p>
        </p:txBody>
      </p:sp>
      <p:sp>
        <p:nvSpPr>
          <p:cNvPr id="6" name="TextBox 5"/>
          <p:cNvSpPr txBox="1"/>
          <p:nvPr/>
        </p:nvSpPr>
        <p:spPr>
          <a:xfrm>
            <a:off x="2377440" y="3831336"/>
            <a:ext cx="2423160" cy="868680"/>
          </a:xfrm>
          <a:prstGeom prst="rect">
            <a:avLst/>
          </a:prstGeom>
          <a:noFill/>
        </p:spPr>
        <p:txBody>
          <a:bodyPr wrap="square" lIns="0" rIns="0" tIns="18288" bIns="18288" anchor="t"/>
          <a:lstStyle/>
          <a:p>
            <a:pPr algn="l">
              <a:spcAft>
                <a:spcPts val="400"/>
              </a:spcAft>
            </a:pPr>
            <a:r>
              <a:rPr sz="1150" b="0" i="0">
                <a:solidFill>
                  <a:srgbClr val="0E2F57"/>
                </a:solidFill>
                <a:latin typeface="Calibri"/>
              </a:rPr>
              <a:t>with just 3 features: DAYS_TO_MATURITY, LOAN_TENURE_DAYS + one product / utilization variable</a:t>
            </a:r>
          </a:p>
        </p:txBody>
      </p:sp>
      <p:sp>
        <p:nvSpPr>
          <p:cNvPr id="7" name="TextBox 6"/>
          <p:cNvSpPr txBox="1"/>
          <p:nvPr/>
        </p:nvSpPr>
        <p:spPr>
          <a:xfrm>
            <a:off x="841248" y="4809744"/>
            <a:ext cx="1508760" cy="548640"/>
          </a:xfrm>
          <a:prstGeom prst="rect">
            <a:avLst/>
          </a:prstGeom>
          <a:noFill/>
        </p:spPr>
        <p:txBody>
          <a:bodyPr wrap="square" lIns="0" rIns="0" tIns="18288" bIns="18288" anchor="ctr"/>
          <a:lstStyle/>
          <a:p>
            <a:pPr algn="l">
              <a:spcAft>
                <a:spcPts val="400"/>
              </a:spcAft>
            </a:pPr>
            <a:r>
              <a:rPr sz="2600" b="1" i="0">
                <a:solidFill>
                  <a:srgbClr val="F2581E"/>
                </a:solidFill>
                <a:latin typeface="Calibri"/>
              </a:rPr>
              <a:t>&lt; 1%</a:t>
            </a:r>
          </a:p>
        </p:txBody>
      </p:sp>
      <p:sp>
        <p:nvSpPr>
          <p:cNvPr id="8" name="TextBox 7"/>
          <p:cNvSpPr txBox="1"/>
          <p:nvPr/>
        </p:nvSpPr>
        <p:spPr>
          <a:xfrm>
            <a:off x="2377440" y="4809744"/>
            <a:ext cx="2423160" cy="868680"/>
          </a:xfrm>
          <a:prstGeom prst="rect">
            <a:avLst/>
          </a:prstGeom>
          <a:noFill/>
        </p:spPr>
        <p:txBody>
          <a:bodyPr wrap="square" lIns="0" rIns="0" tIns="18288" bIns="18288" anchor="t"/>
          <a:lstStyle/>
          <a:p>
            <a:pPr algn="l">
              <a:spcAft>
                <a:spcPts val="400"/>
              </a:spcAft>
            </a:pPr>
            <a:r>
              <a:rPr sz="1150" b="0" i="0">
                <a:solidFill>
                  <a:srgbClr val="0E2F57"/>
                </a:solidFill>
                <a:latin typeface="Calibri"/>
              </a:rPr>
              <a:t>cost of honest in-fold selection: 0.6147 ± 0.0102 vs. 0.6183 ± 0.0095 (LightGBM)</a:t>
            </a:r>
          </a:p>
        </p:txBody>
      </p:sp>
      <p:graphicFrame>
        <p:nvGraphicFramePr>
          <p:cNvPr id="9" name="Chart 8"/>
          <p:cNvGraphicFramePr>
            <a:graphicFrameLocks noGrp="1"/>
          </p:cNvGraphicFramePr>
          <p:nvPr/>
        </p:nvGraphicFramePr>
        <p:xfrm>
          <a:off x="5184648" y="1600200"/>
          <a:ext cx="6172200" cy="3611880"/>
        </p:xfrm>
        <a:graphic>
          <a:graphicData uri="http://schemas.openxmlformats.org/drawingml/2006/chart">
            <c:chart xmlns:c="http://schemas.openxmlformats.org/drawingml/2006/chart" r:id="rId2"/>
          </a:graphicData>
        </a:graphic>
      </p:graphicFrame>
      <p:sp>
        <p:nvSpPr>
          <p:cNvPr id="10" name="Rounded Rectangle 9"/>
          <p:cNvSpPr/>
          <p:nvPr/>
        </p:nvSpPr>
        <p:spPr>
          <a:xfrm>
            <a:off x="5184648" y="5303520"/>
            <a:ext cx="6172200" cy="566928"/>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03520" y="5321808"/>
            <a:ext cx="5943600" cy="530352"/>
          </a:xfrm>
          <a:prstGeom prst="rect">
            <a:avLst/>
          </a:prstGeom>
          <a:noFill/>
        </p:spPr>
        <p:txBody>
          <a:bodyPr wrap="square" lIns="0" rIns="0" tIns="18288" bIns="18288" anchor="ctr"/>
          <a:lstStyle/>
          <a:p>
            <a:pPr algn="l">
              <a:spcAft>
                <a:spcPts val="400"/>
              </a:spcAft>
            </a:pPr>
            <a:r>
              <a:rPr sz="1100" b="1" i="0">
                <a:solidFill>
                  <a:srgbClr val="0E2F57"/>
                </a:solidFill>
                <a:latin typeface="Calibri"/>
              </a:rPr>
              <a:t>Not monotone: </a:t>
            </a:r>
            <a:r>
              <a:rPr sz="1100" b="0" i="0">
                <a:solidFill>
                  <a:srgbClr val="0E2F57"/>
                </a:solidFill>
                <a:latin typeface="Calibri"/>
              </a:rPr>
              <a:t>each k refits a new model, so wiggles are noise — read a broad efficient region, not an optimal k.</a:t>
            </a:r>
          </a:p>
        </p:txBody>
      </p:sp>
      <p:sp>
        <p:nvSpPr>
          <p:cNvPr id="12" name="Footer Placeholder 4">
            <a:extLst>
              <a:ext uri="{FF2B5EF4-FFF2-40B4-BE49-F238E27FC236}">
                <a16:creationId xmlns:a16="http://schemas.microsoft.com/office/drawing/2014/main" id="{BF51D89F-A619-4A30-80FD-C2C8263F5583}"/>
              </a:ext>
            </a:extLst>
          </p:cNvPr>
          <p:cNvSpPr>
            <a:spLocks noGrp="1"/>
          </p:cNvSpPr>
          <p:nvPr>
            <p:ph type="ftr" sz="quarter" idx="11"/>
          </p:nvPr>
        </p:nvSpPr>
        <p:spPr/>
        <p:txBody>
          <a:bodyPr/>
          <a:lstStyle/>
          <a:p>
            <a:r>
              <a:rPr lang="en-US" dirty="0"/>
              <a:t>UEL-SEBL</a:t>
            </a:r>
          </a:p>
        </p:txBody>
      </p:sp>
      <p:sp>
        <p:nvSpPr>
          <p:cNvPr id="13" name="Slide Number Placeholder 5">
            <a:extLst>
              <a:ext uri="{FF2B5EF4-FFF2-40B4-BE49-F238E27FC236}">
                <a16:creationId xmlns:a16="http://schemas.microsoft.com/office/drawing/2014/main" id="{403FB61C-B44D-4B54-A87D-3E983CCCBAB6}"/>
              </a:ext>
            </a:extLst>
          </p:cNvPr>
          <p:cNvSpPr>
            <a:spLocks noGrp="1"/>
          </p:cNvSpPr>
          <p:nvPr>
            <p:ph type="sldNum" sz="quarter" idx="12"/>
          </p:nvPr>
        </p:nvSpPr>
        <p:spPr/>
        <p:txBody>
          <a:bodyPr/>
          <a:lstStyle/>
          <a:p>
            <a:fld id="{ECEBCFE7-CD98-4988-B164-8232B2F80098}"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Is DAYS_TO_MATURITY Leakage? Four Tests</a:t>
            </a:r>
          </a:p>
        </p:txBody>
      </p:sp>
      <p:sp>
        <p:nvSpPr>
          <p:cNvPr id="3" name="TextBox 2"/>
          <p:cNvSpPr txBox="1"/>
          <p:nvPr/>
        </p:nvSpPr>
        <p:spPr>
          <a:xfrm>
            <a:off x="841248" y="2286000"/>
            <a:ext cx="10515600" cy="274320"/>
          </a:xfrm>
          <a:prstGeom prst="rect">
            <a:avLst/>
          </a:prstGeom>
          <a:noFill/>
        </p:spPr>
        <p:txBody>
          <a:bodyPr wrap="square" lIns="0" rIns="0" tIns="18288" bIns="18288" anchor="t"/>
          <a:lstStyle/>
          <a:p>
            <a:pPr algn="l">
              <a:spcAft>
                <a:spcPts val="400"/>
              </a:spcAft>
            </a:pPr>
            <a:r>
              <a:rPr sz="1250" b="0" i="1">
                <a:solidFill>
                  <a:srgbClr val="5A6573"/>
                </a:solidFill>
                <a:latin typeface="Calibri"/>
              </a:rPr>
              <a:t>IV = 4.554 and a monotone median by group raise the concern. Each test below could have failed — none did.</a:t>
            </a:r>
          </a:p>
        </p:txBody>
      </p:sp>
      <p:sp>
        <p:nvSpPr>
          <p:cNvPr id="4" name="Rounded Rectangle 3"/>
          <p:cNvSpPr/>
          <p:nvPr/>
        </p:nvSpPr>
        <p:spPr>
          <a:xfrm>
            <a:off x="841248" y="2633472"/>
            <a:ext cx="5166360" cy="11887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69264" y="2743200"/>
            <a:ext cx="347472" cy="347472"/>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6" name="TextBox 5"/>
          <p:cNvSpPr txBox="1"/>
          <p:nvPr/>
        </p:nvSpPr>
        <p:spPr>
          <a:xfrm>
            <a:off x="1408176" y="2724912"/>
            <a:ext cx="4480560" cy="384048"/>
          </a:xfrm>
          <a:prstGeom prst="rect">
            <a:avLst/>
          </a:prstGeom>
          <a:noFill/>
        </p:spPr>
        <p:txBody>
          <a:bodyPr wrap="square" lIns="0" rIns="0" tIns="18288" bIns="18288" anchor="ctr"/>
          <a:lstStyle/>
          <a:p>
            <a:pPr algn="l">
              <a:spcAft>
                <a:spcPts val="400"/>
              </a:spcAft>
            </a:pPr>
            <a:r>
              <a:rPr sz="1350" b="1" i="0">
                <a:solidFill>
                  <a:srgbClr val="144E8C"/>
                </a:solidFill>
                <a:latin typeface="Calibri"/>
              </a:rPr>
              <a:t>Univariate rule</a:t>
            </a:r>
          </a:p>
        </p:txBody>
      </p:sp>
      <p:sp>
        <p:nvSpPr>
          <p:cNvPr id="7" name="TextBox 6"/>
          <p:cNvSpPr txBox="1"/>
          <p:nvPr/>
        </p:nvSpPr>
        <p:spPr>
          <a:xfrm>
            <a:off x="969264" y="3163824"/>
            <a:ext cx="1783080" cy="566928"/>
          </a:xfrm>
          <a:prstGeom prst="rect">
            <a:avLst/>
          </a:prstGeom>
          <a:noFill/>
        </p:spPr>
        <p:txBody>
          <a:bodyPr wrap="square" lIns="0" rIns="0" tIns="18288" bIns="18288" anchor="ctr"/>
          <a:lstStyle/>
          <a:p>
            <a:pPr algn="l">
              <a:spcAft>
                <a:spcPts val="400"/>
              </a:spcAft>
            </a:pPr>
            <a:r>
              <a:rPr sz="2000" b="1" i="0">
                <a:solidFill>
                  <a:srgbClr val="F2581E"/>
                </a:solidFill>
                <a:latin typeface="Calibri"/>
              </a:rPr>
              <a:t>67.3%</a:t>
            </a:r>
          </a:p>
        </p:txBody>
      </p:sp>
      <p:sp>
        <p:nvSpPr>
          <p:cNvPr id="8" name="TextBox 7"/>
          <p:cNvSpPr txBox="1"/>
          <p:nvPr/>
        </p:nvSpPr>
        <p:spPr>
          <a:xfrm>
            <a:off x="2761488" y="3108960"/>
            <a:ext cx="3154680" cy="685800"/>
          </a:xfrm>
          <a:prstGeom prst="rect">
            <a:avLst/>
          </a:prstGeom>
          <a:noFill/>
        </p:spPr>
        <p:txBody>
          <a:bodyPr wrap="square" lIns="0" rIns="0" tIns="18288" bIns="18288" anchor="ctr"/>
          <a:lstStyle/>
          <a:p>
            <a:pPr algn="l">
              <a:spcAft>
                <a:spcPts val="400"/>
              </a:spcAft>
            </a:pPr>
            <a:r>
              <a:rPr sz="1100" b="0" i="0">
                <a:solidFill>
                  <a:srgbClr val="0E2F57"/>
                </a:solidFill>
                <a:latin typeface="Calibri"/>
              </a:rPr>
              <a:t>accuracy of “bad iff past maturity” for Group 1 vs. Groups 2–5 (F1 = 0.508) — far from a label copy. Compare NHOMNO, r = 0.98.</a:t>
            </a:r>
          </a:p>
        </p:txBody>
      </p:sp>
      <p:sp>
        <p:nvSpPr>
          <p:cNvPr id="9" name="Rounded Rectangle 8"/>
          <p:cNvSpPr/>
          <p:nvPr/>
        </p:nvSpPr>
        <p:spPr>
          <a:xfrm>
            <a:off x="6190488" y="2633472"/>
            <a:ext cx="5166360" cy="11887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503" y="2743200"/>
            <a:ext cx="347472" cy="347472"/>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1" name="TextBox 10"/>
          <p:cNvSpPr txBox="1"/>
          <p:nvPr/>
        </p:nvSpPr>
        <p:spPr>
          <a:xfrm>
            <a:off x="6757416" y="2724912"/>
            <a:ext cx="4480560" cy="384048"/>
          </a:xfrm>
          <a:prstGeom prst="rect">
            <a:avLst/>
          </a:prstGeom>
          <a:noFill/>
        </p:spPr>
        <p:txBody>
          <a:bodyPr wrap="square" lIns="0" rIns="0" tIns="18288" bIns="18288" anchor="ctr"/>
          <a:lstStyle/>
          <a:p>
            <a:pPr algn="l">
              <a:spcAft>
                <a:spcPts val="400"/>
              </a:spcAft>
            </a:pPr>
            <a:r>
              <a:rPr sz="1350" b="1" i="0">
                <a:solidFill>
                  <a:srgbClr val="144E8C"/>
                </a:solidFill>
                <a:latin typeface="Calibri"/>
              </a:rPr>
              <a:t>Boundary behaviour</a:t>
            </a:r>
          </a:p>
        </p:txBody>
      </p:sp>
      <p:sp>
        <p:nvSpPr>
          <p:cNvPr id="12" name="TextBox 11"/>
          <p:cNvSpPr txBox="1"/>
          <p:nvPr/>
        </p:nvSpPr>
        <p:spPr>
          <a:xfrm>
            <a:off x="6318503" y="3163824"/>
            <a:ext cx="1783080" cy="566928"/>
          </a:xfrm>
          <a:prstGeom prst="rect">
            <a:avLst/>
          </a:prstGeom>
          <a:noFill/>
        </p:spPr>
        <p:txBody>
          <a:bodyPr wrap="square" lIns="0" rIns="0" tIns="18288" bIns="18288" anchor="ctr"/>
          <a:lstStyle/>
          <a:p>
            <a:pPr algn="l">
              <a:spcAft>
                <a:spcPts val="400"/>
              </a:spcAft>
            </a:pPr>
            <a:r>
              <a:rPr sz="2000" b="1" i="0">
                <a:solidFill>
                  <a:srgbClr val="F2581E"/>
                </a:solidFill>
                <a:latin typeface="Calibri"/>
              </a:rPr>
              <a:t>35.1%</a:t>
            </a:r>
          </a:p>
        </p:txBody>
      </p:sp>
      <p:sp>
        <p:nvSpPr>
          <p:cNvPr id="13" name="TextBox 12"/>
          <p:cNvSpPr txBox="1"/>
          <p:nvPr/>
        </p:nvSpPr>
        <p:spPr>
          <a:xfrm>
            <a:off x="8110727" y="3108960"/>
            <a:ext cx="3154680" cy="685800"/>
          </a:xfrm>
          <a:prstGeom prst="rect">
            <a:avLst/>
          </a:prstGeom>
          <a:noFill/>
        </p:spPr>
        <p:txBody>
          <a:bodyPr wrap="square" lIns="0" rIns="0" tIns="18288" bIns="18288" anchor="ctr"/>
          <a:lstStyle/>
          <a:p>
            <a:pPr algn="l">
              <a:spcAft>
                <a:spcPts val="400"/>
              </a:spcAft>
            </a:pPr>
            <a:r>
              <a:rPr sz="1100" b="0" i="0">
                <a:solidFill>
                  <a:srgbClr val="0E2F57"/>
                </a:solidFill>
                <a:latin typeface="Calibri"/>
              </a:rPr>
              <a:t>of Group-1 loans are already past maturity yet still standard (rolled-over credit); 7.9% of Group-5 loans are not.</a:t>
            </a:r>
          </a:p>
        </p:txBody>
      </p:sp>
      <p:sp>
        <p:nvSpPr>
          <p:cNvPr id="14" name="Rounded Rectangle 13"/>
          <p:cNvSpPr/>
          <p:nvPr/>
        </p:nvSpPr>
        <p:spPr>
          <a:xfrm>
            <a:off x="841248" y="3913631"/>
            <a:ext cx="5166360" cy="11887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69264" y="4023359"/>
            <a:ext cx="347472" cy="347472"/>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6" name="TextBox 15"/>
          <p:cNvSpPr txBox="1"/>
          <p:nvPr/>
        </p:nvSpPr>
        <p:spPr>
          <a:xfrm>
            <a:off x="1408176" y="4005071"/>
            <a:ext cx="4480560" cy="384048"/>
          </a:xfrm>
          <a:prstGeom prst="rect">
            <a:avLst/>
          </a:prstGeom>
          <a:noFill/>
        </p:spPr>
        <p:txBody>
          <a:bodyPr wrap="square" lIns="0" rIns="0" tIns="18288" bIns="18288" anchor="ctr"/>
          <a:lstStyle/>
          <a:p>
            <a:pPr algn="l">
              <a:spcAft>
                <a:spcPts val="400"/>
              </a:spcAft>
            </a:pPr>
            <a:r>
              <a:rPr sz="1350" b="1" i="0">
                <a:solidFill>
                  <a:srgbClr val="144E8C"/>
                </a:solidFill>
                <a:latin typeface="Calibri"/>
              </a:rPr>
              <a:t>Ablation</a:t>
            </a:r>
          </a:p>
        </p:txBody>
      </p:sp>
      <p:sp>
        <p:nvSpPr>
          <p:cNvPr id="17" name="TextBox 16"/>
          <p:cNvSpPr txBox="1"/>
          <p:nvPr/>
        </p:nvSpPr>
        <p:spPr>
          <a:xfrm>
            <a:off x="969264" y="4443983"/>
            <a:ext cx="1783080" cy="566928"/>
          </a:xfrm>
          <a:prstGeom prst="rect">
            <a:avLst/>
          </a:prstGeom>
          <a:noFill/>
        </p:spPr>
        <p:txBody>
          <a:bodyPr wrap="square" lIns="0" rIns="0" tIns="18288" bIns="18288" anchor="ctr"/>
          <a:lstStyle/>
          <a:p>
            <a:pPr algn="l">
              <a:spcAft>
                <a:spcPts val="400"/>
              </a:spcAft>
            </a:pPr>
            <a:r>
              <a:rPr sz="2000" b="1" i="0">
                <a:solidFill>
                  <a:srgbClr val="F2581E"/>
                </a:solidFill>
                <a:latin typeface="Calibri"/>
              </a:rPr>
              <a:t>−16 to −23%</a:t>
            </a:r>
          </a:p>
        </p:txBody>
      </p:sp>
      <p:sp>
        <p:nvSpPr>
          <p:cNvPr id="18" name="TextBox 17"/>
          <p:cNvSpPr txBox="1"/>
          <p:nvPr/>
        </p:nvSpPr>
        <p:spPr>
          <a:xfrm>
            <a:off x="2761488" y="4389119"/>
            <a:ext cx="3154680" cy="685800"/>
          </a:xfrm>
          <a:prstGeom prst="rect">
            <a:avLst/>
          </a:prstGeom>
          <a:noFill/>
        </p:spPr>
        <p:txBody>
          <a:bodyPr wrap="square" lIns="0" rIns="0" tIns="18288" bIns="18288" anchor="ctr"/>
          <a:lstStyle/>
          <a:p>
            <a:pPr algn="l">
              <a:spcAft>
                <a:spcPts val="400"/>
              </a:spcAft>
            </a:pPr>
            <a:r>
              <a:rPr sz="1100" b="0" i="0">
                <a:solidFill>
                  <a:srgbClr val="0E2F57"/>
                </a:solidFill>
                <a:latin typeface="Calibri"/>
              </a:rPr>
              <a:t>Macro-F1 when removed, across 4 model × treatment runs — the model degrades, it does not collapse.</a:t>
            </a:r>
          </a:p>
        </p:txBody>
      </p:sp>
      <p:sp>
        <p:nvSpPr>
          <p:cNvPr id="19" name="Rounded Rectangle 18"/>
          <p:cNvSpPr/>
          <p:nvPr/>
        </p:nvSpPr>
        <p:spPr>
          <a:xfrm>
            <a:off x="6190488" y="3913631"/>
            <a:ext cx="5166360" cy="11887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318503" y="4023359"/>
            <a:ext cx="347472" cy="347472"/>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21" name="TextBox 20"/>
          <p:cNvSpPr txBox="1"/>
          <p:nvPr/>
        </p:nvSpPr>
        <p:spPr>
          <a:xfrm>
            <a:off x="6757416" y="4005071"/>
            <a:ext cx="4480560" cy="384048"/>
          </a:xfrm>
          <a:prstGeom prst="rect">
            <a:avLst/>
          </a:prstGeom>
          <a:noFill/>
        </p:spPr>
        <p:txBody>
          <a:bodyPr wrap="square" lIns="0" rIns="0" tIns="18288" bIns="18288" anchor="ctr"/>
          <a:lstStyle/>
          <a:p>
            <a:pPr algn="l">
              <a:spcAft>
                <a:spcPts val="400"/>
              </a:spcAft>
            </a:pPr>
            <a:r>
              <a:rPr sz="1350" b="1" i="0">
                <a:solidFill>
                  <a:srgbClr val="144E8C"/>
                </a:solidFill>
                <a:latin typeface="Calibri"/>
              </a:rPr>
              <a:t>Reference-date invariance</a:t>
            </a:r>
          </a:p>
        </p:txBody>
      </p:sp>
      <p:sp>
        <p:nvSpPr>
          <p:cNvPr id="22" name="TextBox 21"/>
          <p:cNvSpPr txBox="1"/>
          <p:nvPr/>
        </p:nvSpPr>
        <p:spPr>
          <a:xfrm>
            <a:off x="6318503" y="4443983"/>
            <a:ext cx="1783080" cy="566928"/>
          </a:xfrm>
          <a:prstGeom prst="rect">
            <a:avLst/>
          </a:prstGeom>
          <a:noFill/>
        </p:spPr>
        <p:txBody>
          <a:bodyPr wrap="square" lIns="0" rIns="0" tIns="18288" bIns="18288" anchor="ctr"/>
          <a:lstStyle/>
          <a:p>
            <a:pPr algn="l">
              <a:spcAft>
                <a:spcPts val="400"/>
              </a:spcAft>
            </a:pPr>
            <a:r>
              <a:rPr sz="2000" b="1" i="0">
                <a:solidFill>
                  <a:srgbClr val="F2581E"/>
                </a:solidFill>
                <a:latin typeface="Calibri"/>
              </a:rPr>
              <a:t>±0.0000</a:t>
            </a:r>
          </a:p>
        </p:txBody>
      </p:sp>
      <p:sp>
        <p:nvSpPr>
          <p:cNvPr id="23" name="TextBox 22"/>
          <p:cNvSpPr txBox="1"/>
          <p:nvPr/>
        </p:nvSpPr>
        <p:spPr>
          <a:xfrm>
            <a:off x="8110727" y="4389119"/>
            <a:ext cx="3154680" cy="685800"/>
          </a:xfrm>
          <a:prstGeom prst="rect">
            <a:avLst/>
          </a:prstGeom>
          <a:noFill/>
        </p:spPr>
        <p:txBody>
          <a:bodyPr wrap="square" lIns="0" rIns="0" tIns="18288" bIns="18288" anchor="ctr"/>
          <a:lstStyle/>
          <a:p>
            <a:pPr algn="l">
              <a:spcAft>
                <a:spcPts val="400"/>
              </a:spcAft>
            </a:pPr>
            <a:r>
              <a:rPr sz="1100" b="0" i="0">
                <a:solidFill>
                  <a:srgbClr val="0E2F57"/>
                </a:solidFill>
                <a:latin typeface="Calibri"/>
              </a:rPr>
              <a:t>change in Macro-F1 across five d₀ values (2020–2023): the convention cannot have been tuned.</a:t>
            </a:r>
          </a:p>
        </p:txBody>
      </p:sp>
      <p:sp>
        <p:nvSpPr>
          <p:cNvPr id="24" name="Rounded Rectangle 23"/>
          <p:cNvSpPr/>
          <p:nvPr/>
        </p:nvSpPr>
        <p:spPr>
          <a:xfrm>
            <a:off x="841248" y="5257800"/>
            <a:ext cx="10515600" cy="685800"/>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78408" y="5276088"/>
            <a:ext cx="10241280" cy="649224"/>
          </a:xfrm>
          <a:prstGeom prst="rect">
            <a:avLst/>
          </a:prstGeom>
          <a:noFill/>
        </p:spPr>
        <p:txBody>
          <a:bodyPr wrap="square" lIns="0" rIns="0" tIns="18288" bIns="18288" anchor="ctr"/>
          <a:lstStyle/>
          <a:p>
            <a:pPr algn="l">
              <a:spcAft>
                <a:spcPts val="400"/>
              </a:spcAft>
            </a:pPr>
            <a:r>
              <a:rPr sz="1200" b="1" i="0">
                <a:solidFill>
                  <a:srgbClr val="F2581E"/>
                </a:solidFill>
                <a:latin typeface="Calibri"/>
              </a:rPr>
              <a:t>None of this proves the absence of leakage. </a:t>
            </a:r>
            <a:r>
              <a:rPr sz="1200" b="0" i="0">
                <a:solidFill>
                  <a:srgbClr val="0E2F57"/>
                </a:solidFill>
                <a:latin typeface="Calibri"/>
              </a:rPr>
              <a:t>The file has no days-past-due field, so an unobserved overdue field correlated with this variable cannot be ruled out. It must be checked against the bank's classification methodology before any operational use.</a:t>
            </a:r>
          </a:p>
        </p:txBody>
      </p:sp>
      <p:sp>
        <p:nvSpPr>
          <p:cNvPr id="26"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27"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RQ3: SHAP Is Stable — Gain Is Not</a:t>
            </a:r>
          </a:p>
        </p:txBody>
      </p:sp>
      <p:graphicFrame>
        <p:nvGraphicFramePr>
          <p:cNvPr id="3" name="Chart 2"/>
          <p:cNvGraphicFramePr>
            <a:graphicFrameLocks noGrp="1"/>
          </p:cNvGraphicFramePr>
          <p:nvPr/>
        </p:nvGraphicFramePr>
        <p:xfrm>
          <a:off x="731520" y="2286000"/>
          <a:ext cx="5349240" cy="306324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126480" y="2286000"/>
          <a:ext cx="5303520" cy="3063240"/>
        </p:xfrm>
        <a:graphic>
          <a:graphicData uri="http://schemas.openxmlformats.org/drawingml/2006/chart">
            <c:chart xmlns:c="http://schemas.openxmlformats.org/drawingml/2006/chart" r:id="rId3"/>
          </a:graphicData>
        </a:graphic>
      </p:graphicFrame>
      <p:sp>
        <p:nvSpPr>
          <p:cNvPr id="5" name="Rectangle 4"/>
          <p:cNvSpPr/>
          <p:nvPr/>
        </p:nvSpPr>
        <p:spPr>
          <a:xfrm>
            <a:off x="2743200" y="5422392"/>
            <a:ext cx="146304" cy="146304"/>
          </a:xfrm>
          <a:prstGeom prst="rect">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44368" y="5367528"/>
            <a:ext cx="1554480" cy="256032"/>
          </a:xfrm>
          <a:prstGeom prst="rect">
            <a:avLst/>
          </a:prstGeom>
          <a:noFill/>
        </p:spPr>
        <p:txBody>
          <a:bodyPr wrap="square" lIns="0" rIns="0" tIns="18288" bIns="18288" anchor="t"/>
          <a:lstStyle/>
          <a:p>
            <a:pPr algn="l">
              <a:spcAft>
                <a:spcPts val="400"/>
              </a:spcAft>
            </a:pPr>
            <a:r>
              <a:rPr sz="1100" b="0" i="0">
                <a:solidFill>
                  <a:srgbClr val="5A6573"/>
                </a:solidFill>
                <a:latin typeface="Calibri"/>
              </a:rPr>
              <a:t>XGB · none</a:t>
            </a:r>
          </a:p>
        </p:txBody>
      </p:sp>
      <p:sp>
        <p:nvSpPr>
          <p:cNvPr id="7" name="Rectangle 6"/>
          <p:cNvSpPr/>
          <p:nvPr/>
        </p:nvSpPr>
        <p:spPr>
          <a:xfrm>
            <a:off x="4526280" y="5422392"/>
            <a:ext cx="146304" cy="146304"/>
          </a:xfrm>
          <a:prstGeom prst="rect">
            <a:avLst/>
          </a:prstGeom>
          <a:solidFill>
            <a:srgbClr val="6F9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27448" y="5367528"/>
            <a:ext cx="1554480" cy="256032"/>
          </a:xfrm>
          <a:prstGeom prst="rect">
            <a:avLst/>
          </a:prstGeom>
          <a:noFill/>
        </p:spPr>
        <p:txBody>
          <a:bodyPr wrap="square" lIns="0" rIns="0" tIns="18288" bIns="18288" anchor="t"/>
          <a:lstStyle/>
          <a:p>
            <a:pPr algn="l">
              <a:spcAft>
                <a:spcPts val="400"/>
              </a:spcAft>
            </a:pPr>
            <a:r>
              <a:rPr sz="1100" b="0" i="0">
                <a:solidFill>
                  <a:srgbClr val="5A6573"/>
                </a:solidFill>
                <a:latin typeface="Calibri"/>
              </a:rPr>
              <a:t>LGBM · none</a:t>
            </a:r>
          </a:p>
        </p:txBody>
      </p:sp>
      <p:sp>
        <p:nvSpPr>
          <p:cNvPr id="9" name="Rectangle 8"/>
          <p:cNvSpPr/>
          <p:nvPr/>
        </p:nvSpPr>
        <p:spPr>
          <a:xfrm>
            <a:off x="6309360" y="5422392"/>
            <a:ext cx="146304" cy="146304"/>
          </a:xfrm>
          <a:prstGeom prst="rect">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0528" y="5367528"/>
            <a:ext cx="1554480" cy="256032"/>
          </a:xfrm>
          <a:prstGeom prst="rect">
            <a:avLst/>
          </a:prstGeom>
          <a:noFill/>
        </p:spPr>
        <p:txBody>
          <a:bodyPr wrap="square" lIns="0" rIns="0" tIns="18288" bIns="18288" anchor="t"/>
          <a:lstStyle/>
          <a:p>
            <a:pPr algn="l">
              <a:spcAft>
                <a:spcPts val="400"/>
              </a:spcAft>
            </a:pPr>
            <a:r>
              <a:rPr sz="1100" b="0" i="0">
                <a:solidFill>
                  <a:srgbClr val="5A6573"/>
                </a:solidFill>
                <a:latin typeface="Calibri"/>
              </a:rPr>
              <a:t>XGB · weighted</a:t>
            </a:r>
          </a:p>
        </p:txBody>
      </p:sp>
      <p:sp>
        <p:nvSpPr>
          <p:cNvPr id="11" name="Rectangle 10"/>
          <p:cNvSpPr/>
          <p:nvPr/>
        </p:nvSpPr>
        <p:spPr>
          <a:xfrm>
            <a:off x="8092440" y="5422392"/>
            <a:ext cx="146304" cy="146304"/>
          </a:xfrm>
          <a:prstGeom prst="rect">
            <a:avLst/>
          </a:prstGeom>
          <a:solidFill>
            <a:srgbClr val="F7A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93608" y="5367528"/>
            <a:ext cx="1554480" cy="256032"/>
          </a:xfrm>
          <a:prstGeom prst="rect">
            <a:avLst/>
          </a:prstGeom>
          <a:noFill/>
        </p:spPr>
        <p:txBody>
          <a:bodyPr wrap="square" lIns="0" rIns="0" tIns="18288" bIns="18288" anchor="t"/>
          <a:lstStyle/>
          <a:p>
            <a:pPr algn="l">
              <a:spcAft>
                <a:spcPts val="400"/>
              </a:spcAft>
            </a:pPr>
            <a:r>
              <a:rPr sz="1100" b="0" i="0">
                <a:solidFill>
                  <a:srgbClr val="5A6573"/>
                </a:solidFill>
                <a:latin typeface="Calibri"/>
              </a:rPr>
              <a:t>LGBM · weighted</a:t>
            </a:r>
          </a:p>
        </p:txBody>
      </p:sp>
      <p:sp>
        <p:nvSpPr>
          <p:cNvPr id="13" name="Rounded Rectangle 12"/>
          <p:cNvSpPr/>
          <p:nvPr/>
        </p:nvSpPr>
        <p:spPr>
          <a:xfrm>
            <a:off x="841248" y="5669280"/>
            <a:ext cx="10515600" cy="384048"/>
          </a:xfrm>
          <a:prstGeom prst="roundRect">
            <a:avLst>
              <a:gd name="adj" fmla="val 6000"/>
            </a:avLst>
          </a:prstGeom>
          <a:solidFill>
            <a:srgbClr val="0E2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0120" y="5669280"/>
            <a:ext cx="10287000" cy="384048"/>
          </a:xfrm>
          <a:prstGeom prst="rect">
            <a:avLst/>
          </a:prstGeom>
          <a:noFill/>
        </p:spPr>
        <p:txBody>
          <a:bodyPr wrap="square" lIns="0" rIns="0" tIns="18288" bIns="18288" anchor="ctr"/>
          <a:lstStyle/>
          <a:p>
            <a:pPr algn="l">
              <a:spcAft>
                <a:spcPts val="400"/>
              </a:spcAft>
            </a:pPr>
            <a:r>
              <a:rPr sz="1200" b="1" i="0">
                <a:solidFill>
                  <a:srgbClr val="FFFFFF"/>
                </a:solidFill>
                <a:latin typeface="Calibri"/>
              </a:rPr>
              <a:t>Product &amp; purpose: 5.7–24.7% under Gain vs. 7.8–8.5% under SHAP. </a:t>
            </a:r>
            <a:r>
              <a:rPr sz="1200" b="0" i="0">
                <a:solidFill>
                  <a:srgbClr val="FFFFFF"/>
                </a:solidFill>
                <a:latin typeface="Calibri"/>
              </a:rPr>
              <a:t>Never base a data-investment decision on one model's Gain ranking.</a:t>
            </a:r>
          </a:p>
        </p:txBody>
      </p:sp>
      <p:sp>
        <p:nvSpPr>
          <p:cNvPr id="15"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16"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10</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No Single Best Algorithm</a:t>
            </a:r>
          </a:p>
        </p:txBody>
      </p:sp>
      <p:sp>
        <p:nvSpPr>
          <p:cNvPr id="3" name="TextBox 2"/>
          <p:cNvSpPr txBox="1"/>
          <p:nvPr/>
        </p:nvSpPr>
        <p:spPr>
          <a:xfrm>
            <a:off x="841248" y="2834640"/>
            <a:ext cx="3931920" cy="1417320"/>
          </a:xfrm>
          <a:prstGeom prst="rect">
            <a:avLst/>
          </a:prstGeom>
          <a:noFill/>
        </p:spPr>
        <p:txBody>
          <a:bodyPr wrap="square" lIns="0" rIns="0" tIns="18288" bIns="18288" anchor="t"/>
          <a:lstStyle/>
          <a:p>
            <a:pPr algn="l" marL="201168" indent="-201168">
              <a:spcAft>
                <a:spcPts val="500"/>
              </a:spcAft>
              <a:buFont typeface="Arial"/>
              <a:buChar char="•"/>
            </a:pPr>
            <a:r>
              <a:rPr sz="1200" b="0" i="0">
                <a:solidFill>
                  <a:srgbClr val="0E2F57"/>
                </a:solidFill>
                <a:latin typeface="Calibri"/>
              </a:rPr>
              <a:t>5-fold × 5-repeat CV, all 12 configurations on the identical 25 partitions</a:t>
            </a:r>
          </a:p>
          <a:p>
            <a:pPr algn="l" marL="201168" indent="-201168">
              <a:spcAft>
                <a:spcPts val="500"/>
              </a:spcAft>
              <a:buFont typeface="Arial"/>
              <a:buChar char="•"/>
            </a:pPr>
            <a:r>
              <a:rPr sz="1200" b="0" i="0">
                <a:solidFill>
                  <a:srgbClr val="0E2F57"/>
                </a:solidFill>
                <a:latin typeface="Calibri"/>
              </a:rPr>
              <a:t>Nadeau–Bengio: variance factor 1/25 = 0.04 → 1/25 + 1/4 = 0.29 (folds share data)</a:t>
            </a:r>
          </a:p>
          <a:p>
            <a:pPr algn="l" marL="201168" indent="-201168">
              <a:spcAft>
                <a:spcPts val="500"/>
              </a:spcAft>
              <a:buFont typeface="Arial"/>
              <a:buChar char="•"/>
            </a:pPr>
            <a:r>
              <a:rPr sz="1200" b="0" i="0">
                <a:solidFill>
                  <a:srgbClr val="0E2F57"/>
                </a:solidFill>
                <a:latin typeface="Calibri"/>
              </a:rPr>
              <a:t>Holm adjustment over 11 comparisons vs. Decision Tree–none</a:t>
            </a:r>
          </a:p>
        </p:txBody>
      </p:sp>
      <p:sp>
        <p:nvSpPr>
          <p:cNvPr id="4" name="Rounded Rectangle 3"/>
          <p:cNvSpPr/>
          <p:nvPr/>
        </p:nvSpPr>
        <p:spPr>
          <a:xfrm>
            <a:off x="841248" y="4315968"/>
            <a:ext cx="3931920" cy="73152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4334256"/>
            <a:ext cx="3703320" cy="694944"/>
          </a:xfrm>
          <a:prstGeom prst="rect">
            <a:avLst/>
          </a:prstGeom>
          <a:noFill/>
        </p:spPr>
        <p:txBody>
          <a:bodyPr wrap="square" lIns="0" rIns="0" tIns="18288" bIns="18288" anchor="ctr"/>
          <a:lstStyle/>
          <a:p>
            <a:pPr algn="l">
              <a:spcAft>
                <a:spcPts val="400"/>
              </a:spcAft>
            </a:pPr>
            <a:r>
              <a:rPr sz="1200" b="1" i="0">
                <a:solidFill>
                  <a:srgbClr val="144E8C"/>
                </a:solidFill>
                <a:latin typeface="Calibri"/>
              </a:rPr>
              <a:t>Top 4 (0.6183–0.6271): Holm p ≥ 0.66 </a:t>
            </a:r>
            <a:r>
              <a:rPr sz="1200" b="0" i="0">
                <a:solidFill>
                  <a:srgbClr val="0E2F57"/>
                </a:solidFill>
                <a:latin typeface="Calibri"/>
              </a:rPr>
              <a:t>— statistically indistinguishable.</a:t>
            </a:r>
          </a:p>
        </p:txBody>
      </p:sp>
      <p:sp>
        <p:nvSpPr>
          <p:cNvPr id="6" name="Rounded Rectangle 5"/>
          <p:cNvSpPr/>
          <p:nvPr/>
        </p:nvSpPr>
        <p:spPr>
          <a:xfrm>
            <a:off x="841248" y="5138928"/>
            <a:ext cx="3931920" cy="731520"/>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5157216"/>
            <a:ext cx="3703320" cy="694944"/>
          </a:xfrm>
          <a:prstGeom prst="rect">
            <a:avLst/>
          </a:prstGeom>
          <a:noFill/>
        </p:spPr>
        <p:txBody>
          <a:bodyPr wrap="square" lIns="0" rIns="0" tIns="18288" bIns="18288" anchor="ctr"/>
          <a:lstStyle/>
          <a:p>
            <a:pPr algn="l">
              <a:spcAft>
                <a:spcPts val="400"/>
              </a:spcAft>
            </a:pPr>
            <a:r>
              <a:rPr sz="1200" b="1" i="0">
                <a:solidFill>
                  <a:srgbClr val="F2581E"/>
                </a:solidFill>
                <a:latin typeface="Calibri"/>
              </a:rPr>
              <a:t>What survives: a treatment effect. </a:t>
            </a:r>
            <a:r>
              <a:rPr sz="1200" b="0" i="0">
                <a:solidFill>
                  <a:srgbClr val="0E2F57"/>
                </a:solidFill>
                <a:latin typeface="Calibri"/>
              </a:rPr>
              <a:t>Every tree model beats its own weighted version.</a:t>
            </a:r>
          </a:p>
        </p:txBody>
      </p:sp>
      <p:graphicFrame>
        <p:nvGraphicFramePr>
          <p:cNvPr id="8" name="Chart 7"/>
          <p:cNvGraphicFramePr>
            <a:graphicFrameLocks noGrp="1"/>
          </p:cNvGraphicFramePr>
          <p:nvPr/>
        </p:nvGraphicFramePr>
        <p:xfrm>
          <a:off x="5184648" y="1572768"/>
          <a:ext cx="6172200" cy="4343400"/>
        </p:xfrm>
        <a:graphic>
          <a:graphicData uri="http://schemas.openxmlformats.org/drawingml/2006/chart">
            <c:chart xmlns:c="http://schemas.openxmlformats.org/drawingml/2006/chart" r:id="rId2"/>
          </a:graphicData>
        </a:graphic>
      </p:graphicFrame>
      <p:sp>
        <p:nvSpPr>
          <p:cNvPr id="9" name="TextBox 8"/>
          <p:cNvSpPr txBox="1"/>
          <p:nvPr/>
        </p:nvSpPr>
        <p:spPr>
          <a:xfrm>
            <a:off x="5394960" y="5870448"/>
            <a:ext cx="5852160" cy="228600"/>
          </a:xfrm>
          <a:prstGeom prst="rect">
            <a:avLst/>
          </a:prstGeom>
          <a:noFill/>
        </p:spPr>
        <p:txBody>
          <a:bodyPr wrap="square" lIns="0" rIns="0" tIns="18288" bIns="18288" anchor="t"/>
          <a:lstStyle/>
          <a:p>
            <a:pPr algn="r">
              <a:spcAft>
                <a:spcPts val="400"/>
              </a:spcAft>
            </a:pPr>
            <a:r>
              <a:rPr sz="1000" b="0" i="0">
                <a:solidFill>
                  <a:srgbClr val="144E8C"/>
                </a:solidFill>
                <a:latin typeface="Calibri"/>
              </a:rPr>
              <a:t>■ </a:t>
            </a:r>
            <a:r>
              <a:rPr sz="1000" b="0" i="0">
                <a:solidFill>
                  <a:srgbClr val="5A6573"/>
                </a:solidFill>
                <a:latin typeface="Calibri"/>
              </a:rPr>
              <a:t>not separable (Holm p &gt; 0.05)   </a:t>
            </a:r>
            <a:r>
              <a:rPr sz="1000" b="0" i="0">
                <a:solidFill>
                  <a:srgbClr val="F7A583"/>
                </a:solidFill>
                <a:latin typeface="Calibri"/>
              </a:rPr>
              <a:t>■ </a:t>
            </a:r>
            <a:r>
              <a:rPr sz="1000" b="0" i="0">
                <a:solidFill>
                  <a:srgbClr val="5A6573"/>
                </a:solidFill>
                <a:latin typeface="Calibri"/>
              </a:rPr>
              <a:t>class-weighted</a:t>
            </a:r>
          </a:p>
        </p:txBody>
      </p:sp>
      <p:sp>
        <p:nvSpPr>
          <p:cNvPr id="10" name="Footer Placeholder 4">
            <a:extLst>
              <a:ext uri="{FF2B5EF4-FFF2-40B4-BE49-F238E27FC236}">
                <a16:creationId xmlns:a16="http://schemas.microsoft.com/office/drawing/2014/main" id="{BF51D89F-A619-4A30-80FD-C2C8263F5583}"/>
              </a:ext>
            </a:extLst>
          </p:cNvPr>
          <p:cNvSpPr>
            <a:spLocks noGrp="1"/>
          </p:cNvSpPr>
          <p:nvPr>
            <p:ph type="ftr" sz="quarter" idx="11"/>
          </p:nvPr>
        </p:nvSpPr>
        <p:spPr/>
        <p:txBody>
          <a:bodyPr/>
          <a:lstStyle/>
          <a:p>
            <a:r>
              <a:rPr lang="en-US" dirty="0"/>
              <a:t>UEL-SEBL</a:t>
            </a:r>
          </a:p>
        </p:txBody>
      </p:sp>
      <p:sp>
        <p:nvSpPr>
          <p:cNvPr id="11" name="Slide Number Placeholder 5">
            <a:extLst>
              <a:ext uri="{FF2B5EF4-FFF2-40B4-BE49-F238E27FC236}">
                <a16:creationId xmlns:a16="http://schemas.microsoft.com/office/drawing/2014/main" id="{403FB61C-B44D-4B54-A87D-3E983CCCBAB6}"/>
              </a:ext>
            </a:extLst>
          </p:cNvPr>
          <p:cNvSpPr>
            <a:spLocks noGrp="1"/>
          </p:cNvSpPr>
          <p:nvPr>
            <p:ph type="sldNum" sz="quarter" idx="12"/>
          </p:nvPr>
        </p:nvSpPr>
        <p:spPr/>
        <p:txBody>
          <a:bodyPr/>
          <a:lstStyle/>
          <a:p>
            <a:fld id="{ECEBCFE7-CD98-4988-B164-8232B2F80098}" type="slidenum">
              <a:rPr lang="en-US" smtClean="0"/>
              <a:pPr/>
              <a:t>11</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When a Ranking Flips</a:t>
            </a:r>
          </a:p>
        </p:txBody>
      </p:sp>
      <p:graphicFrame>
        <p:nvGraphicFramePr>
          <p:cNvPr id="3" name="Table 2"/>
          <p:cNvGraphicFramePr>
            <a:graphicFrameLocks noGrp="1"/>
          </p:cNvGraphicFramePr>
          <p:nvPr/>
        </p:nvGraphicFramePr>
        <p:xfrm>
          <a:off x="841248" y="2743200"/>
          <a:ext cx="5760719" cy="2651760"/>
        </p:xfrm>
        <a:graphic>
          <a:graphicData uri="http://schemas.openxmlformats.org/drawingml/2006/table">
            <a:tbl>
              <a:tblPr firstRow="0" bandRow="0">
                <a:tableStyleId>{5C22544A-7EE6-4342-B048-85BDC9FD1C3A}</a:tableStyleId>
              </a:tblPr>
              <a:tblGrid>
                <a:gridCol w="1920240"/>
                <a:gridCol w="1632204"/>
                <a:gridCol w="2208275"/>
              </a:tblGrid>
              <a:tr h="548640">
                <a:tc>
                  <a:txBody>
                    <a:bodyPr wrap="square"/>
                    <a:lstStyle/>
                    <a:p>
                      <a:pPr algn="l"/>
                      <a:r>
                        <a:rPr sz="1200" b="1">
                          <a:solidFill>
                            <a:srgbClr val="FFFFFF"/>
                          </a:solidFill>
                          <a:latin typeface="Calibri"/>
                        </a:rPr>
                        <a:t>Configuration</a:t>
                      </a:r>
                    </a:p>
                  </a:txBody>
                  <a:tcPr marL="54864" marR="54864" marT="18288" marB="18288" anchor="ctr">
                    <a:solidFill>
                      <a:srgbClr val="144E8C"/>
                    </a:solidFill>
                  </a:tcPr>
                </a:tc>
                <a:tc>
                  <a:txBody>
                    <a:bodyPr wrap="square"/>
                    <a:lstStyle/>
                    <a:p>
                      <a:pPr algn="ctr"/>
                      <a:r>
                        <a:rPr sz="1200" b="1">
                          <a:solidFill>
                            <a:srgbClr val="FFFFFF"/>
                          </a:solidFill>
                          <a:latin typeface="Calibri"/>
                        </a:rPr>
                        <a:t>Hold-out Macro-F1
(rank of 12)</a:t>
                      </a:r>
                    </a:p>
                  </a:txBody>
                  <a:tcPr marL="54864" marR="54864" marT="18288" marB="18288" anchor="ctr">
                    <a:solidFill>
                      <a:srgbClr val="144E8C"/>
                    </a:solidFill>
                  </a:tcPr>
                </a:tc>
                <a:tc>
                  <a:txBody>
                    <a:bodyPr wrap="square"/>
                    <a:lstStyle/>
                    <a:p>
                      <a:pPr algn="ctr"/>
                      <a:r>
                        <a:rPr sz="1200" b="1">
                          <a:solidFill>
                            <a:srgbClr val="FFFFFF"/>
                          </a:solidFill>
                          <a:latin typeface="Calibri"/>
                        </a:rPr>
                        <a:t>Repeated-CV Macro-F1
(rank of 12)</a:t>
                      </a:r>
                    </a:p>
                  </a:txBody>
                  <a:tcPr marL="54864" marR="54864" marT="18288" marB="18288" anchor="ctr">
                    <a:solidFill>
                      <a:srgbClr val="144E8C"/>
                    </a:solidFill>
                  </a:tcPr>
                </a:tc>
              </a:tr>
              <a:tr h="420624">
                <a:tc>
                  <a:txBody>
                    <a:bodyPr wrap="square"/>
                    <a:lstStyle/>
                    <a:p>
                      <a:pPr algn="l"/>
                      <a:r>
                        <a:rPr sz="1200" b="0">
                          <a:solidFill>
                            <a:srgbClr val="0E2F57"/>
                          </a:solidFill>
                          <a:latin typeface="Calibri"/>
                        </a:rPr>
                        <a:t>LightGBM – none</a:t>
                      </a:r>
                    </a:p>
                  </a:txBody>
                  <a:tcPr marL="54864" marR="54864" marT="18288" marB="18288" anchor="ctr">
                    <a:solidFill>
                      <a:srgbClr val="FFF4D6"/>
                    </a:solidFill>
                  </a:tcPr>
                </a:tc>
                <a:tc>
                  <a:txBody>
                    <a:bodyPr wrap="square"/>
                    <a:lstStyle/>
                    <a:p>
                      <a:pPr algn="ctr"/>
                      <a:r>
                        <a:rPr sz="1200" b="0">
                          <a:solidFill>
                            <a:srgbClr val="0E2F57"/>
                          </a:solidFill>
                          <a:latin typeface="Calibri"/>
                        </a:rPr>
                        <a:t>0.6248  (1st)</a:t>
                      </a:r>
                    </a:p>
                  </a:txBody>
                  <a:tcPr marL="54864" marR="54864" marT="18288" marB="18288" anchor="ctr">
                    <a:solidFill>
                      <a:srgbClr val="FFF4D6"/>
                    </a:solidFill>
                  </a:tcPr>
                </a:tc>
                <a:tc>
                  <a:txBody>
                    <a:bodyPr wrap="square"/>
                    <a:lstStyle/>
                    <a:p>
                      <a:pPr algn="ctr"/>
                      <a:r>
                        <a:rPr sz="1200" b="0">
                          <a:solidFill>
                            <a:srgbClr val="0E2F57"/>
                          </a:solidFill>
                          <a:latin typeface="Calibri"/>
                        </a:rPr>
                        <a:t>0.6183 ± 0.0095  (4th)</a:t>
                      </a:r>
                    </a:p>
                  </a:txBody>
                  <a:tcPr marL="54864" marR="54864" marT="18288" marB="18288" anchor="ctr">
                    <a:solidFill>
                      <a:srgbClr val="FFF4D6"/>
                    </a:solidFill>
                  </a:tcPr>
                </a:tc>
              </a:tr>
              <a:tr h="420624">
                <a:tc>
                  <a:txBody>
                    <a:bodyPr wrap="square"/>
                    <a:lstStyle/>
                    <a:p>
                      <a:pPr algn="l"/>
                      <a:r>
                        <a:rPr sz="1200" b="0">
                          <a:solidFill>
                            <a:srgbClr val="0E2F57"/>
                          </a:solidFill>
                          <a:latin typeface="Calibri"/>
                        </a:rPr>
                        <a:t>Decision Tree – none</a:t>
                      </a:r>
                    </a:p>
                  </a:txBody>
                  <a:tcPr marL="54864" marR="54864" marT="18288" marB="18288" anchor="ctr">
                    <a:solidFill>
                      <a:srgbClr val="F3F5F8"/>
                    </a:solidFill>
                  </a:tcPr>
                </a:tc>
                <a:tc>
                  <a:txBody>
                    <a:bodyPr wrap="square"/>
                    <a:lstStyle/>
                    <a:p>
                      <a:pPr algn="ctr"/>
                      <a:r>
                        <a:rPr sz="1200" b="0">
                          <a:solidFill>
                            <a:srgbClr val="0E2F57"/>
                          </a:solidFill>
                          <a:latin typeface="Calibri"/>
                        </a:rPr>
                        <a:t>0.6245  (2nd)</a:t>
                      </a:r>
                    </a:p>
                  </a:txBody>
                  <a:tcPr marL="54864" marR="54864" marT="18288" marB="18288" anchor="ctr">
                    <a:solidFill>
                      <a:srgbClr val="F3F5F8"/>
                    </a:solidFill>
                  </a:tcPr>
                </a:tc>
                <a:tc>
                  <a:txBody>
                    <a:bodyPr wrap="square"/>
                    <a:lstStyle/>
                    <a:p>
                      <a:pPr algn="ctr"/>
                      <a:r>
                        <a:rPr sz="1200" b="0">
                          <a:solidFill>
                            <a:srgbClr val="0E2F57"/>
                          </a:solidFill>
                          <a:latin typeface="Calibri"/>
                        </a:rPr>
                        <a:t>0.6271 ± 0.0109  (1st)</a:t>
                      </a:r>
                    </a:p>
                  </a:txBody>
                  <a:tcPr marL="54864" marR="54864" marT="18288" marB="18288" anchor="ctr">
                    <a:solidFill>
                      <a:srgbClr val="F3F5F8"/>
                    </a:solidFill>
                  </a:tcPr>
                </a:tc>
              </a:tr>
              <a:tr h="420624">
                <a:tc>
                  <a:txBody>
                    <a:bodyPr wrap="square"/>
                    <a:lstStyle/>
                    <a:p>
                      <a:pPr algn="l"/>
                      <a:r>
                        <a:rPr sz="1200" b="0">
                          <a:solidFill>
                            <a:srgbClr val="0E2F57"/>
                          </a:solidFill>
                          <a:latin typeface="Calibri"/>
                        </a:rPr>
                        <a:t>XGBoost – none</a:t>
                      </a:r>
                    </a:p>
                  </a:txBody>
                  <a:tcPr marL="54864" marR="54864" marT="18288" marB="18288" anchor="ctr">
                    <a:solidFill>
                      <a:srgbClr val="FFFFFF"/>
                    </a:solidFill>
                  </a:tcPr>
                </a:tc>
                <a:tc>
                  <a:txBody>
                    <a:bodyPr wrap="square"/>
                    <a:lstStyle/>
                    <a:p>
                      <a:pPr algn="ctr"/>
                      <a:r>
                        <a:rPr sz="1200" b="0">
                          <a:solidFill>
                            <a:srgbClr val="0E2F57"/>
                          </a:solidFill>
                          <a:latin typeface="Calibri"/>
                        </a:rPr>
                        <a:t>0.6197  (3rd)</a:t>
                      </a:r>
                    </a:p>
                  </a:txBody>
                  <a:tcPr marL="54864" marR="54864" marT="18288" marB="18288" anchor="ctr">
                    <a:solidFill>
                      <a:srgbClr val="FFFFFF"/>
                    </a:solidFill>
                  </a:tcPr>
                </a:tc>
                <a:tc>
                  <a:txBody>
                    <a:bodyPr wrap="square"/>
                    <a:lstStyle/>
                    <a:p>
                      <a:pPr algn="ctr"/>
                      <a:r>
                        <a:rPr sz="1200" b="0">
                          <a:solidFill>
                            <a:srgbClr val="0E2F57"/>
                          </a:solidFill>
                          <a:latin typeface="Calibri"/>
                        </a:rPr>
                        <a:t>0.6217 ± 0.0101  (2nd)</a:t>
                      </a:r>
                    </a:p>
                  </a:txBody>
                  <a:tcPr marL="54864" marR="54864" marT="18288" marB="18288" anchor="ctr">
                    <a:solidFill>
                      <a:srgbClr val="FFFFFF"/>
                    </a:solidFill>
                  </a:tcPr>
                </a:tc>
              </a:tr>
              <a:tr h="420624">
                <a:tc>
                  <a:txBody>
                    <a:bodyPr wrap="square"/>
                    <a:lstStyle/>
                    <a:p>
                      <a:pPr algn="l"/>
                      <a:r>
                        <a:rPr sz="1200" b="0">
                          <a:solidFill>
                            <a:srgbClr val="0E2F57"/>
                          </a:solidFill>
                          <a:latin typeface="Calibri"/>
                        </a:rPr>
                        <a:t>Random Forest – none</a:t>
                      </a:r>
                    </a:p>
                  </a:txBody>
                  <a:tcPr marL="54864" marR="54864" marT="18288" marB="18288" anchor="ctr">
                    <a:solidFill>
                      <a:srgbClr val="F3F5F8"/>
                    </a:solidFill>
                  </a:tcPr>
                </a:tc>
                <a:tc>
                  <a:txBody>
                    <a:bodyPr wrap="square"/>
                    <a:lstStyle/>
                    <a:p>
                      <a:pPr algn="ctr"/>
                      <a:r>
                        <a:rPr sz="1200" b="0">
                          <a:solidFill>
                            <a:srgbClr val="0E2F57"/>
                          </a:solidFill>
                          <a:latin typeface="Calibri"/>
                        </a:rPr>
                        <a:t>0.6149  (4th)</a:t>
                      </a:r>
                    </a:p>
                  </a:txBody>
                  <a:tcPr marL="54864" marR="54864" marT="18288" marB="18288" anchor="ctr">
                    <a:solidFill>
                      <a:srgbClr val="F3F5F8"/>
                    </a:solidFill>
                  </a:tcPr>
                </a:tc>
                <a:tc>
                  <a:txBody>
                    <a:bodyPr wrap="square"/>
                    <a:lstStyle/>
                    <a:p>
                      <a:pPr algn="ctr"/>
                      <a:r>
                        <a:rPr sz="1200" b="0">
                          <a:solidFill>
                            <a:srgbClr val="0E2F57"/>
                          </a:solidFill>
                          <a:latin typeface="Calibri"/>
                        </a:rPr>
                        <a:t>0.6216 ± 0.0097  (3rd)</a:t>
                      </a:r>
                    </a:p>
                  </a:txBody>
                  <a:tcPr marL="54864" marR="54864" marT="18288" marB="18288" anchor="ctr">
                    <a:solidFill>
                      <a:srgbClr val="F3F5F8"/>
                    </a:solidFill>
                  </a:tcPr>
                </a:tc>
              </a:tr>
              <a:tr h="420624">
                <a:tc>
                  <a:txBody>
                    <a:bodyPr wrap="square"/>
                    <a:lstStyle/>
                    <a:p>
                      <a:pPr algn="l"/>
                      <a:r>
                        <a:rPr sz="1200" b="0">
                          <a:solidFill>
                            <a:srgbClr val="0E2F57"/>
                          </a:solidFill>
                          <a:latin typeface="Calibri"/>
                        </a:rPr>
                        <a:t>CatBoost – none</a:t>
                      </a:r>
                    </a:p>
                  </a:txBody>
                  <a:tcPr marL="54864" marR="54864" marT="18288" marB="18288" anchor="ctr">
                    <a:solidFill>
                      <a:srgbClr val="FFFFFF"/>
                    </a:solidFill>
                  </a:tcPr>
                </a:tc>
                <a:tc>
                  <a:txBody>
                    <a:bodyPr wrap="square"/>
                    <a:lstStyle/>
                    <a:p>
                      <a:pPr algn="ctr"/>
                      <a:r>
                        <a:rPr sz="1200" b="0">
                          <a:solidFill>
                            <a:srgbClr val="0E2F57"/>
                          </a:solidFill>
                          <a:latin typeface="Calibri"/>
                        </a:rPr>
                        <a:t>0.6074  (5th)</a:t>
                      </a:r>
                    </a:p>
                  </a:txBody>
                  <a:tcPr marL="54864" marR="54864" marT="18288" marB="18288" anchor="ctr">
                    <a:solidFill>
                      <a:srgbClr val="FFFFFF"/>
                    </a:solidFill>
                  </a:tcPr>
                </a:tc>
                <a:tc>
                  <a:txBody>
                    <a:bodyPr wrap="square"/>
                    <a:lstStyle/>
                    <a:p>
                      <a:pPr algn="ctr"/>
                      <a:r>
                        <a:rPr sz="1200" b="0">
                          <a:solidFill>
                            <a:srgbClr val="0E2F57"/>
                          </a:solidFill>
                          <a:latin typeface="Calibri"/>
                        </a:rPr>
                        <a:t>0.6042 ± 0.0116  (5th)</a:t>
                      </a:r>
                    </a:p>
                  </a:txBody>
                  <a:tcPr marL="54864" marR="54864" marT="18288" marB="18288" anchor="ctr">
                    <a:solidFill>
                      <a:srgbClr val="FFFFFF"/>
                    </a:solidFill>
                  </a:tcPr>
                </a:tc>
              </a:tr>
            </a:tbl>
          </a:graphicData>
        </a:graphic>
      </p:graphicFrame>
      <p:sp>
        <p:nvSpPr>
          <p:cNvPr id="4" name="Rounded Rectangle 3"/>
          <p:cNvSpPr/>
          <p:nvPr/>
        </p:nvSpPr>
        <p:spPr>
          <a:xfrm>
            <a:off x="6858000" y="2743200"/>
            <a:ext cx="4498848" cy="91440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995160" y="2807208"/>
            <a:ext cx="4251960" cy="292608"/>
          </a:xfrm>
          <a:prstGeom prst="rect">
            <a:avLst/>
          </a:prstGeom>
          <a:noFill/>
        </p:spPr>
        <p:txBody>
          <a:bodyPr wrap="square" lIns="0" rIns="0" tIns="18288" bIns="18288" anchor="t"/>
          <a:lstStyle/>
          <a:p>
            <a:pPr algn="l">
              <a:spcAft>
                <a:spcPts val="400"/>
              </a:spcAft>
            </a:pPr>
            <a:r>
              <a:rPr sz="1300" b="1" i="0">
                <a:solidFill>
                  <a:srgbClr val="144E8C"/>
                </a:solidFill>
                <a:latin typeface="Calibri"/>
              </a:rPr>
              <a:t>Hold-out says: LightGBM &gt; XGBoost</a:t>
            </a:r>
          </a:p>
        </p:txBody>
      </p:sp>
      <p:sp>
        <p:nvSpPr>
          <p:cNvPr id="6" name="TextBox 5"/>
          <p:cNvSpPr txBox="1"/>
          <p:nvPr/>
        </p:nvSpPr>
        <p:spPr>
          <a:xfrm>
            <a:off x="6995160" y="3108960"/>
            <a:ext cx="4251960" cy="530352"/>
          </a:xfrm>
          <a:prstGeom prst="rect">
            <a:avLst/>
          </a:prstGeom>
          <a:noFill/>
        </p:spPr>
        <p:txBody>
          <a:bodyPr wrap="square" lIns="0" rIns="0" tIns="18288" bIns="18288" anchor="t"/>
          <a:lstStyle/>
          <a:p>
            <a:pPr algn="l">
              <a:spcAft>
                <a:spcPts val="400"/>
              </a:spcAft>
            </a:pPr>
            <a:r>
              <a:rPr sz="1150" b="0" i="0">
                <a:solidFill>
                  <a:srgbClr val="0E2F57"/>
                </a:solidFill>
                <a:latin typeface="Calibri"/>
              </a:rPr>
              <a:t>0.6248 vs 0.6197 — a publishable headline.</a:t>
            </a:r>
          </a:p>
        </p:txBody>
      </p:sp>
      <p:sp>
        <p:nvSpPr>
          <p:cNvPr id="7" name="Rounded Rectangle 6"/>
          <p:cNvSpPr/>
          <p:nvPr/>
        </p:nvSpPr>
        <p:spPr>
          <a:xfrm>
            <a:off x="6858000" y="3749039"/>
            <a:ext cx="4498848" cy="91440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995160" y="3813048"/>
            <a:ext cx="4251960" cy="292608"/>
          </a:xfrm>
          <a:prstGeom prst="rect">
            <a:avLst/>
          </a:prstGeom>
          <a:noFill/>
        </p:spPr>
        <p:txBody>
          <a:bodyPr wrap="square" lIns="0" rIns="0" tIns="18288" bIns="18288" anchor="t"/>
          <a:lstStyle/>
          <a:p>
            <a:pPr algn="l">
              <a:spcAft>
                <a:spcPts val="400"/>
              </a:spcAft>
            </a:pPr>
            <a:r>
              <a:rPr sz="1300" b="1" i="0">
                <a:solidFill>
                  <a:srgbClr val="144E8C"/>
                </a:solidFill>
                <a:latin typeface="Calibri"/>
              </a:rPr>
              <a:t>Repeated CV says: order reverses</a:t>
            </a:r>
          </a:p>
        </p:txBody>
      </p:sp>
      <p:sp>
        <p:nvSpPr>
          <p:cNvPr id="9" name="TextBox 8"/>
          <p:cNvSpPr txBox="1"/>
          <p:nvPr/>
        </p:nvSpPr>
        <p:spPr>
          <a:xfrm>
            <a:off x="6995160" y="4114800"/>
            <a:ext cx="4251960" cy="530352"/>
          </a:xfrm>
          <a:prstGeom prst="rect">
            <a:avLst/>
          </a:prstGeom>
          <a:noFill/>
        </p:spPr>
        <p:txBody>
          <a:bodyPr wrap="square" lIns="0" rIns="0" tIns="18288" bIns="18288" anchor="t"/>
          <a:lstStyle/>
          <a:p>
            <a:pPr algn="l">
              <a:spcAft>
                <a:spcPts val="400"/>
              </a:spcAft>
            </a:pPr>
            <a:r>
              <a:rPr sz="1150" b="0" i="0">
                <a:solidFill>
                  <a:srgbClr val="0E2F57"/>
                </a:solidFill>
                <a:latin typeface="Calibri"/>
              </a:rPr>
              <a:t>0.6183 vs 0.6217; corrected test p = 0.3844. The ranking was an artefact of one split.</a:t>
            </a:r>
          </a:p>
        </p:txBody>
      </p:sp>
      <p:sp>
        <p:nvSpPr>
          <p:cNvPr id="10" name="Rounded Rectangle 9"/>
          <p:cNvSpPr/>
          <p:nvPr/>
        </p:nvSpPr>
        <p:spPr>
          <a:xfrm>
            <a:off x="6858000" y="4754879"/>
            <a:ext cx="4498848" cy="914400"/>
          </a:xfrm>
          <a:prstGeom prst="roundRect">
            <a:avLst>
              <a:gd name="adj" fmla="val 6000"/>
            </a:avLst>
          </a:prstGeom>
          <a:solidFill>
            <a:srgbClr val="FD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95160" y="4818888"/>
            <a:ext cx="4251960" cy="292608"/>
          </a:xfrm>
          <a:prstGeom prst="rect">
            <a:avLst/>
          </a:prstGeom>
          <a:noFill/>
        </p:spPr>
        <p:txBody>
          <a:bodyPr wrap="square" lIns="0" rIns="0" tIns="18288" bIns="18288" anchor="t"/>
          <a:lstStyle/>
          <a:p>
            <a:pPr algn="l">
              <a:spcAft>
                <a:spcPts val="400"/>
              </a:spcAft>
            </a:pPr>
            <a:r>
              <a:rPr sz="1300" b="1" i="0">
                <a:solidFill>
                  <a:srgbClr val="F2581E"/>
                </a:solidFill>
                <a:latin typeface="Calibri"/>
              </a:rPr>
              <a:t>Our own erratum</a:t>
            </a:r>
          </a:p>
        </p:txBody>
      </p:sp>
      <p:sp>
        <p:nvSpPr>
          <p:cNvPr id="12" name="TextBox 11"/>
          <p:cNvSpPr txBox="1"/>
          <p:nvPr/>
        </p:nvSpPr>
        <p:spPr>
          <a:xfrm>
            <a:off x="6995160" y="5120640"/>
            <a:ext cx="4251960" cy="530352"/>
          </a:xfrm>
          <a:prstGeom prst="rect">
            <a:avLst/>
          </a:prstGeom>
          <a:noFill/>
        </p:spPr>
        <p:txBody>
          <a:bodyPr wrap="square" lIns="0" rIns="0" tIns="18288" bIns="18288" anchor="t"/>
          <a:lstStyle/>
          <a:p>
            <a:pPr algn="l">
              <a:spcAft>
                <a:spcPts val="400"/>
              </a:spcAft>
            </a:pPr>
            <a:r>
              <a:rPr sz="1150" b="0" i="0">
                <a:solidFill>
                  <a:srgbClr val="0E2F57"/>
                </a:solidFill>
                <a:latin typeface="Calibri"/>
              </a:rPr>
              <a:t>CatBoost–none vs LightGBM–weighted, tested directly: p = 0.031 raw → 0.063 after Holm. Claim restated.</a:t>
            </a:r>
          </a:p>
        </p:txBody>
      </p:sp>
      <p:sp>
        <p:nvSpPr>
          <p:cNvPr id="13" name="TextBox 12"/>
          <p:cNvSpPr txBox="1"/>
          <p:nvPr/>
        </p:nvSpPr>
        <p:spPr>
          <a:xfrm>
            <a:off x="841248" y="5486400"/>
            <a:ext cx="5760720" cy="411480"/>
          </a:xfrm>
          <a:prstGeom prst="rect">
            <a:avLst/>
          </a:prstGeom>
          <a:noFill/>
        </p:spPr>
        <p:txBody>
          <a:bodyPr wrap="square" lIns="0" rIns="0" tIns="18288" bIns="18288" anchor="t"/>
          <a:lstStyle/>
          <a:p>
            <a:pPr algn="l">
              <a:spcAft>
                <a:spcPts val="400"/>
              </a:spcAft>
            </a:pPr>
            <a:r>
              <a:rPr sz="1300" b="1" i="1">
                <a:solidFill>
                  <a:srgbClr val="144E8C"/>
                </a:solidFill>
                <a:latin typeface="Calibri"/>
              </a:rPr>
              <a:t>A test that fails to reject is as much a governance result as one that rejects.</a:t>
            </a:r>
          </a:p>
        </p:txBody>
      </p:sp>
      <p:sp>
        <p:nvSpPr>
          <p:cNvPr id="14" name="Footer Placeholder 4">
            <a:extLst>
              <a:ext uri="{FF2B5EF4-FFF2-40B4-BE49-F238E27FC236}">
                <a16:creationId xmlns:a16="http://schemas.microsoft.com/office/drawing/2014/main" id="{8009A512-E938-477E-9A3C-114EC3609A98}"/>
              </a:ext>
            </a:extLst>
          </p:cNvPr>
          <p:cNvSpPr>
            <a:spLocks noGrp="1"/>
          </p:cNvSpPr>
          <p:nvPr>
            <p:ph type="ftr" sz="quarter" idx="11"/>
          </p:nvPr>
        </p:nvSpPr>
        <p:spPr/>
        <p:txBody>
          <a:bodyPr/>
          <a:lstStyle/>
          <a:p>
            <a:r>
              <a:rPr lang="en-US" dirty="0"/>
              <a:t>UEL-SEBL</a:t>
            </a:r>
          </a:p>
        </p:txBody>
      </p:sp>
      <p:sp>
        <p:nvSpPr>
          <p:cNvPr id="15" name="Slide Number Placeholder 5">
            <a:extLst>
              <a:ext uri="{FF2B5EF4-FFF2-40B4-BE49-F238E27FC236}">
                <a16:creationId xmlns:a16="http://schemas.microsoft.com/office/drawing/2014/main" id="{C4B863E4-FA4C-4B2F-A7CE-827913F8E33B}"/>
              </a:ext>
            </a:extLst>
          </p:cNvPr>
          <p:cNvSpPr>
            <a:spLocks noGrp="1"/>
          </p:cNvSpPr>
          <p:nvPr>
            <p:ph type="sldNum" sz="quarter" idx="12"/>
          </p:nvPr>
        </p:nvSpPr>
        <p:spPr/>
        <p:txBody>
          <a:bodyPr/>
          <a:lstStyle/>
          <a:p>
            <a:fld id="{ECEBCFE7-CD98-4988-B164-8232B2F80098}" type="slidenum">
              <a:rPr lang="en-US" smtClean="0"/>
              <a:pPr/>
              <a:t>12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Conclusions &amp; Governance Implications</a:t>
            </a:r>
          </a:p>
        </p:txBody>
      </p:sp>
      <p:sp>
        <p:nvSpPr>
          <p:cNvPr id="3" name="TextBox 2"/>
          <p:cNvSpPr txBox="1"/>
          <p:nvPr/>
        </p:nvSpPr>
        <p:spPr>
          <a:xfrm>
            <a:off x="841248" y="2331720"/>
            <a:ext cx="4937760" cy="274320"/>
          </a:xfrm>
          <a:prstGeom prst="rect">
            <a:avLst/>
          </a:prstGeom>
          <a:noFill/>
        </p:spPr>
        <p:txBody>
          <a:bodyPr wrap="square" lIns="0" rIns="0" tIns="18288" bIns="18288" anchor="t"/>
          <a:lstStyle/>
          <a:p>
            <a:pPr algn="l">
              <a:spcAft>
                <a:spcPts val="400"/>
              </a:spcAft>
            </a:pPr>
            <a:r>
              <a:rPr sz="1500" b="1" i="0">
                <a:solidFill>
                  <a:srgbClr val="144E8C"/>
                </a:solidFill>
                <a:latin typeface="Calibri"/>
              </a:rPr>
              <a:t>What we found</a:t>
            </a:r>
          </a:p>
        </p:txBody>
      </p:sp>
      <p:sp>
        <p:nvSpPr>
          <p:cNvPr id="4" name="Rounded Rectangle 3"/>
          <p:cNvSpPr/>
          <p:nvPr/>
        </p:nvSpPr>
        <p:spPr>
          <a:xfrm>
            <a:off x="841248" y="2697480"/>
            <a:ext cx="5029200" cy="86868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60120" y="2880360"/>
            <a:ext cx="502920" cy="502920"/>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RQ1</a:t>
            </a:r>
          </a:p>
        </p:txBody>
      </p:sp>
      <p:sp>
        <p:nvSpPr>
          <p:cNvPr id="6" name="TextBox 5"/>
          <p:cNvSpPr txBox="1"/>
          <p:nvPr/>
        </p:nvSpPr>
        <p:spPr>
          <a:xfrm>
            <a:off x="1600200" y="2743200"/>
            <a:ext cx="4160520" cy="777240"/>
          </a:xfrm>
          <a:prstGeom prst="rect">
            <a:avLst/>
          </a:prstGeom>
          <a:noFill/>
        </p:spPr>
        <p:txBody>
          <a:bodyPr wrap="square" lIns="0" rIns="0" tIns="18288" bIns="18288" anchor="ctr"/>
          <a:lstStyle/>
          <a:p>
            <a:pPr algn="l">
              <a:spcAft>
                <a:spcPts val="400"/>
              </a:spcAft>
            </a:pPr>
            <a:r>
              <a:rPr sz="1200" b="0" i="0">
                <a:solidFill>
                  <a:srgbClr val="0E2F57"/>
                </a:solidFill>
                <a:latin typeface="Calibri"/>
              </a:rPr>
              <a:t>The imbalance treatment is better identified than the algorithm. Top 4 configurations inseparable (0.6183–0.6271); we name no winner.</a:t>
            </a:r>
          </a:p>
        </p:txBody>
      </p:sp>
      <p:sp>
        <p:nvSpPr>
          <p:cNvPr id="7" name="Rounded Rectangle 6"/>
          <p:cNvSpPr/>
          <p:nvPr/>
        </p:nvSpPr>
        <p:spPr>
          <a:xfrm>
            <a:off x="841248" y="3657600"/>
            <a:ext cx="5029200" cy="86868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60120" y="3840480"/>
            <a:ext cx="502920" cy="502920"/>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RQ2</a:t>
            </a:r>
          </a:p>
        </p:txBody>
      </p:sp>
      <p:sp>
        <p:nvSpPr>
          <p:cNvPr id="9" name="TextBox 8"/>
          <p:cNvSpPr txBox="1"/>
          <p:nvPr/>
        </p:nvSpPr>
        <p:spPr>
          <a:xfrm>
            <a:off x="1600200" y="3703320"/>
            <a:ext cx="4160520" cy="777240"/>
          </a:xfrm>
          <a:prstGeom prst="rect">
            <a:avLst/>
          </a:prstGeom>
          <a:noFill/>
        </p:spPr>
        <p:txBody>
          <a:bodyPr wrap="square" lIns="0" rIns="0" tIns="18288" bIns="18288" anchor="ctr"/>
          <a:lstStyle/>
          <a:p>
            <a:pPr algn="l">
              <a:spcAft>
                <a:spcPts val="400"/>
              </a:spcAft>
            </a:pPr>
            <a:r>
              <a:rPr sz="1200" b="0" i="0">
                <a:solidFill>
                  <a:srgbClr val="0E2F57"/>
                </a:solidFill>
                <a:latin typeface="Calibri"/>
              </a:rPr>
              <a:t>9 of 13 features recover 98–99% of peak Macro-F1; honest in-fold selection costs &lt; 1%.</a:t>
            </a:r>
          </a:p>
        </p:txBody>
      </p:sp>
      <p:sp>
        <p:nvSpPr>
          <p:cNvPr id="10" name="Rounded Rectangle 9"/>
          <p:cNvSpPr/>
          <p:nvPr/>
        </p:nvSpPr>
        <p:spPr>
          <a:xfrm>
            <a:off x="841248" y="4617720"/>
            <a:ext cx="5029200" cy="868680"/>
          </a:xfrm>
          <a:prstGeom prst="roundRect">
            <a:avLst>
              <a:gd name="adj" fmla="val 6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60120" y="4800600"/>
            <a:ext cx="502920" cy="502920"/>
          </a:xfrm>
          <a:prstGeom prst="ellipse">
            <a:avLst/>
          </a:prstGeom>
          <a:solidFill>
            <a:srgbClr val="144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RQ3</a:t>
            </a:r>
          </a:p>
        </p:txBody>
      </p:sp>
      <p:sp>
        <p:nvSpPr>
          <p:cNvPr id="12" name="TextBox 11"/>
          <p:cNvSpPr txBox="1"/>
          <p:nvPr/>
        </p:nvSpPr>
        <p:spPr>
          <a:xfrm>
            <a:off x="1600200" y="4663440"/>
            <a:ext cx="4160520" cy="777240"/>
          </a:xfrm>
          <a:prstGeom prst="rect">
            <a:avLst/>
          </a:prstGeom>
          <a:noFill/>
        </p:spPr>
        <p:txBody>
          <a:bodyPr wrap="square" lIns="0" rIns="0" tIns="18288" bIns="18288" anchor="ctr"/>
          <a:lstStyle/>
          <a:p>
            <a:pPr algn="l">
              <a:spcAft>
                <a:spcPts val="400"/>
              </a:spcAft>
            </a:pPr>
            <a:r>
              <a:rPr sz="1200" b="0" i="0">
                <a:solidFill>
                  <a:srgbClr val="0E2F57"/>
                </a:solidFill>
                <a:latin typeface="Calibri"/>
              </a:rPr>
              <a:t>SHAP rankings are stable across algorithms and treatments; Gain agrees only on the leader.</a:t>
            </a:r>
          </a:p>
        </p:txBody>
      </p:sp>
      <p:sp>
        <p:nvSpPr>
          <p:cNvPr id="13" name="TextBox 12"/>
          <p:cNvSpPr txBox="1"/>
          <p:nvPr/>
        </p:nvSpPr>
        <p:spPr>
          <a:xfrm>
            <a:off x="6327648" y="2331720"/>
            <a:ext cx="5029200" cy="274320"/>
          </a:xfrm>
          <a:prstGeom prst="rect">
            <a:avLst/>
          </a:prstGeom>
          <a:noFill/>
        </p:spPr>
        <p:txBody>
          <a:bodyPr wrap="square" lIns="0" rIns="0" tIns="18288" bIns="18288" anchor="t"/>
          <a:lstStyle/>
          <a:p>
            <a:pPr algn="l">
              <a:spcAft>
                <a:spcPts val="400"/>
              </a:spcAft>
            </a:pPr>
            <a:r>
              <a:rPr sz="1500" b="1" i="0">
                <a:solidFill>
                  <a:srgbClr val="F2581E"/>
                </a:solidFill>
                <a:latin typeface="Calibri"/>
              </a:rPr>
              <a:t>What it means for governance</a:t>
            </a:r>
          </a:p>
        </p:txBody>
      </p:sp>
      <p:sp>
        <p:nvSpPr>
          <p:cNvPr id="14" name="TextBox 13"/>
          <p:cNvSpPr txBox="1"/>
          <p:nvPr/>
        </p:nvSpPr>
        <p:spPr>
          <a:xfrm>
            <a:off x="6327648" y="2697480"/>
            <a:ext cx="365760" cy="365760"/>
          </a:xfrm>
          <a:prstGeom prst="rect">
            <a:avLst/>
          </a:prstGeom>
          <a:noFill/>
        </p:spPr>
        <p:txBody>
          <a:bodyPr wrap="square" lIns="0" rIns="0" tIns="18288" bIns="18288" anchor="t"/>
          <a:lstStyle/>
          <a:p>
            <a:pPr algn="l">
              <a:spcAft>
                <a:spcPts val="400"/>
              </a:spcAft>
            </a:pPr>
            <a:r>
              <a:rPr sz="2000" b="1" i="0">
                <a:solidFill>
                  <a:srgbClr val="F2581E"/>
                </a:solidFill>
                <a:latin typeface="Calibri"/>
              </a:rPr>
              <a:t>1</a:t>
            </a:r>
          </a:p>
        </p:txBody>
      </p:sp>
      <p:sp>
        <p:nvSpPr>
          <p:cNvPr id="15" name="TextBox 14"/>
          <p:cNvSpPr txBox="1"/>
          <p:nvPr/>
        </p:nvSpPr>
        <p:spPr>
          <a:xfrm>
            <a:off x="6720840" y="2724912"/>
            <a:ext cx="4617720" cy="658368"/>
          </a:xfrm>
          <a:prstGeom prst="rect">
            <a:avLst/>
          </a:prstGeom>
          <a:noFill/>
        </p:spPr>
        <p:txBody>
          <a:bodyPr wrap="square" lIns="0" rIns="0" tIns="18288" bIns="18288" anchor="t"/>
          <a:lstStyle/>
          <a:p>
            <a:pPr algn="l">
              <a:spcAft>
                <a:spcPts val="400"/>
              </a:spcAft>
            </a:pPr>
            <a:r>
              <a:rPr sz="1200" b="1" i="0">
                <a:solidFill>
                  <a:srgbClr val="0E2F57"/>
                </a:solidFill>
                <a:latin typeface="Calibri"/>
              </a:rPr>
              <a:t>Evaluate per class, not just Macro-F1</a:t>
            </a:r>
            <a:r>
              <a:rPr sz="1200" b="0" i="0">
                <a:solidFill>
                  <a:srgbClr val="0E2F57"/>
                </a:solidFill>
                <a:latin typeface="Calibri"/>
              </a:rPr>
              <a:t> — similar scores can hide opposite behaviour.</a:t>
            </a:r>
          </a:p>
        </p:txBody>
      </p:sp>
      <p:sp>
        <p:nvSpPr>
          <p:cNvPr id="16" name="TextBox 15"/>
          <p:cNvSpPr txBox="1"/>
          <p:nvPr/>
        </p:nvSpPr>
        <p:spPr>
          <a:xfrm>
            <a:off x="6327648" y="3410712"/>
            <a:ext cx="365760" cy="365760"/>
          </a:xfrm>
          <a:prstGeom prst="rect">
            <a:avLst/>
          </a:prstGeom>
          <a:noFill/>
        </p:spPr>
        <p:txBody>
          <a:bodyPr wrap="square" lIns="0" rIns="0" tIns="18288" bIns="18288" anchor="t"/>
          <a:lstStyle/>
          <a:p>
            <a:pPr algn="l">
              <a:spcAft>
                <a:spcPts val="400"/>
              </a:spcAft>
            </a:pPr>
            <a:r>
              <a:rPr sz="2000" b="1" i="0">
                <a:solidFill>
                  <a:srgbClr val="F2581E"/>
                </a:solidFill>
                <a:latin typeface="Calibri"/>
              </a:rPr>
              <a:t>2</a:t>
            </a:r>
          </a:p>
        </p:txBody>
      </p:sp>
      <p:sp>
        <p:nvSpPr>
          <p:cNvPr id="17" name="TextBox 16"/>
          <p:cNvSpPr txBox="1"/>
          <p:nvPr/>
        </p:nvSpPr>
        <p:spPr>
          <a:xfrm>
            <a:off x="6720840" y="3438144"/>
            <a:ext cx="4617720" cy="658368"/>
          </a:xfrm>
          <a:prstGeom prst="rect">
            <a:avLst/>
          </a:prstGeom>
          <a:noFill/>
        </p:spPr>
        <p:txBody>
          <a:bodyPr wrap="square" lIns="0" rIns="0" tIns="18288" bIns="18288" anchor="t"/>
          <a:lstStyle/>
          <a:p>
            <a:pPr algn="l">
              <a:spcAft>
                <a:spcPts val="400"/>
              </a:spcAft>
            </a:pPr>
            <a:r>
              <a:rPr sz="1200" b="1" i="0">
                <a:solidFill>
                  <a:srgbClr val="0E2F57"/>
                </a:solidFill>
                <a:latin typeface="Calibri"/>
              </a:rPr>
              <a:t>Parsimony lowers governance cost</a:t>
            </a:r>
            <a:r>
              <a:rPr sz="1200" b="0" i="0">
                <a:solidFill>
                  <a:srgbClr val="0E2F57"/>
                </a:solidFill>
                <a:latin typeface="Calibri"/>
              </a:rPr>
              <a:t> — each dropped feed is one less to document and monitor.</a:t>
            </a:r>
          </a:p>
        </p:txBody>
      </p:sp>
      <p:sp>
        <p:nvSpPr>
          <p:cNvPr id="18" name="TextBox 17"/>
          <p:cNvSpPr txBox="1"/>
          <p:nvPr/>
        </p:nvSpPr>
        <p:spPr>
          <a:xfrm>
            <a:off x="6327648" y="4123944"/>
            <a:ext cx="365760" cy="365760"/>
          </a:xfrm>
          <a:prstGeom prst="rect">
            <a:avLst/>
          </a:prstGeom>
          <a:noFill/>
        </p:spPr>
        <p:txBody>
          <a:bodyPr wrap="square" lIns="0" rIns="0" tIns="18288" bIns="18288" anchor="t"/>
          <a:lstStyle/>
          <a:p>
            <a:pPr algn="l">
              <a:spcAft>
                <a:spcPts val="400"/>
              </a:spcAft>
            </a:pPr>
            <a:r>
              <a:rPr sz="2000" b="1" i="0">
                <a:solidFill>
                  <a:srgbClr val="F2581E"/>
                </a:solidFill>
                <a:latin typeface="Calibri"/>
              </a:rPr>
              <a:t>3</a:t>
            </a:r>
          </a:p>
        </p:txBody>
      </p:sp>
      <p:sp>
        <p:nvSpPr>
          <p:cNvPr id="19" name="TextBox 18"/>
          <p:cNvSpPr txBox="1"/>
          <p:nvPr/>
        </p:nvSpPr>
        <p:spPr>
          <a:xfrm>
            <a:off x="6720840" y="4151376"/>
            <a:ext cx="4617720" cy="658368"/>
          </a:xfrm>
          <a:prstGeom prst="rect">
            <a:avLst/>
          </a:prstGeom>
          <a:noFill/>
        </p:spPr>
        <p:txBody>
          <a:bodyPr wrap="square" lIns="0" rIns="0" tIns="18288" bIns="18288" anchor="t"/>
          <a:lstStyle/>
          <a:p>
            <a:pPr algn="l">
              <a:spcAft>
                <a:spcPts val="400"/>
              </a:spcAft>
            </a:pPr>
            <a:r>
              <a:rPr sz="1200" b="1" i="0">
                <a:solidFill>
                  <a:srgbClr val="0E2F57"/>
                </a:solidFill>
                <a:latin typeface="Calibri"/>
              </a:rPr>
              <a:t>Check every measure against an independent one</a:t>
            </a:r>
            <a:r>
              <a:rPr sz="1200" b="0" i="0">
                <a:solidFill>
                  <a:srgbClr val="0E2F57"/>
                </a:solidFill>
                <a:latin typeface="Calibri"/>
              </a:rPr>
              <a:t> — it overturned our own ranking.</a:t>
            </a:r>
          </a:p>
        </p:txBody>
      </p:sp>
      <p:sp>
        <p:nvSpPr>
          <p:cNvPr id="20" name="TextBox 19"/>
          <p:cNvSpPr txBox="1"/>
          <p:nvPr/>
        </p:nvSpPr>
        <p:spPr>
          <a:xfrm>
            <a:off x="6327648" y="4837176"/>
            <a:ext cx="365760" cy="365760"/>
          </a:xfrm>
          <a:prstGeom prst="rect">
            <a:avLst/>
          </a:prstGeom>
          <a:noFill/>
        </p:spPr>
        <p:txBody>
          <a:bodyPr wrap="square" lIns="0" rIns="0" tIns="18288" bIns="18288" anchor="t"/>
          <a:lstStyle/>
          <a:p>
            <a:pPr algn="l">
              <a:spcAft>
                <a:spcPts val="400"/>
              </a:spcAft>
            </a:pPr>
            <a:r>
              <a:rPr sz="2000" b="1" i="0">
                <a:solidFill>
                  <a:srgbClr val="F2581E"/>
                </a:solidFill>
                <a:latin typeface="Calibri"/>
              </a:rPr>
              <a:t>4</a:t>
            </a:r>
          </a:p>
        </p:txBody>
      </p:sp>
      <p:sp>
        <p:nvSpPr>
          <p:cNvPr id="21" name="TextBox 20"/>
          <p:cNvSpPr txBox="1"/>
          <p:nvPr/>
        </p:nvSpPr>
        <p:spPr>
          <a:xfrm>
            <a:off x="6720840" y="4864608"/>
            <a:ext cx="4617720" cy="658368"/>
          </a:xfrm>
          <a:prstGeom prst="rect">
            <a:avLst/>
          </a:prstGeom>
          <a:noFill/>
        </p:spPr>
        <p:txBody>
          <a:bodyPr wrap="square" lIns="0" rIns="0" tIns="18288" bIns="18288" anchor="t"/>
          <a:lstStyle/>
          <a:p>
            <a:pPr algn="l">
              <a:spcAft>
                <a:spcPts val="400"/>
              </a:spcAft>
            </a:pPr>
            <a:r>
              <a:rPr sz="1200" b="1" i="0">
                <a:solidFill>
                  <a:srgbClr val="0E2F57"/>
                </a:solidFill>
                <a:latin typeface="Calibri"/>
              </a:rPr>
              <a:t>An automated flag should trigger a falsifiable check</a:t>
            </a:r>
            <a:r>
              <a:rPr sz="1200" b="0" i="0">
                <a:solidFill>
                  <a:srgbClr val="0E2F57"/>
                </a:solidFill>
                <a:latin typeface="Calibri"/>
              </a:rPr>
              <a:t> — IV &gt; 1.0 prompts review, not auto-exclusion.</a:t>
            </a:r>
          </a:p>
        </p:txBody>
      </p:sp>
      <p:sp>
        <p:nvSpPr>
          <p:cNvPr id="22" name="Rounded Rectangle 21"/>
          <p:cNvSpPr/>
          <p:nvPr/>
        </p:nvSpPr>
        <p:spPr>
          <a:xfrm>
            <a:off x="841248" y="5577840"/>
            <a:ext cx="10515600" cy="411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0120" y="5577840"/>
            <a:ext cx="10287000" cy="411480"/>
          </a:xfrm>
          <a:prstGeom prst="rect">
            <a:avLst/>
          </a:prstGeom>
          <a:noFill/>
        </p:spPr>
        <p:txBody>
          <a:bodyPr wrap="square" lIns="0" rIns="0" tIns="18288" bIns="18288" anchor="ctr"/>
          <a:lstStyle/>
          <a:p>
            <a:pPr algn="l">
              <a:spcAft>
                <a:spcPts val="400"/>
              </a:spcAft>
            </a:pPr>
            <a:r>
              <a:rPr sz="1150" b="1" i="0">
                <a:solidFill>
                  <a:srgbClr val="0E2F57"/>
                </a:solidFill>
                <a:latin typeface="Calibri"/>
              </a:rPr>
              <a:t>Conditional: </a:t>
            </a:r>
            <a:r>
              <a:rPr sz="1150" b="0" i="0">
                <a:solidFill>
                  <a:srgbClr val="0E2F57"/>
                </a:solidFill>
                <a:latin typeface="Calibri"/>
              </a:rPr>
              <a:t>one bank, one snapshot, no out-of-time validation. What transfers is the order of the checks, not the coefficients.</a:t>
            </a:r>
          </a:p>
        </p:txBody>
      </p:sp>
      <p:sp>
        <p:nvSpPr>
          <p:cNvPr id="24"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25"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13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Limitations &amp; Future Work</a:t>
            </a:r>
          </a:p>
        </p:txBody>
      </p:sp>
      <p:sp>
        <p:nvSpPr>
          <p:cNvPr id="3" name="Rounded Rectangle 2"/>
          <p:cNvSpPr/>
          <p:nvPr/>
        </p:nvSpPr>
        <p:spPr>
          <a:xfrm>
            <a:off x="841248" y="2743200"/>
            <a:ext cx="5166360" cy="1115568"/>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78408" y="2880360"/>
            <a:ext cx="384048" cy="384048"/>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499616" y="2852928"/>
            <a:ext cx="4389120" cy="329184"/>
          </a:xfrm>
          <a:prstGeom prst="rect">
            <a:avLst/>
          </a:prstGeom>
          <a:noFill/>
        </p:spPr>
        <p:txBody>
          <a:bodyPr wrap="square" lIns="0" rIns="0" tIns="18288" bIns="18288" anchor="t"/>
          <a:lstStyle/>
          <a:p>
            <a:pPr algn="l">
              <a:spcAft>
                <a:spcPts val="400"/>
              </a:spcAft>
            </a:pPr>
            <a:r>
              <a:rPr sz="1400" b="1" i="0">
                <a:solidFill>
                  <a:srgbClr val="144E8C"/>
                </a:solidFill>
                <a:latin typeface="Calibri"/>
              </a:rPr>
              <a:t>Small minority groups</a:t>
            </a:r>
          </a:p>
        </p:txBody>
      </p:sp>
      <p:sp>
        <p:nvSpPr>
          <p:cNvPr id="6" name="TextBox 5"/>
          <p:cNvSpPr txBox="1"/>
          <p:nvPr/>
        </p:nvSpPr>
        <p:spPr>
          <a:xfrm>
            <a:off x="1499616" y="3182112"/>
            <a:ext cx="4389120" cy="658368"/>
          </a:xfrm>
          <a:prstGeom prst="rect">
            <a:avLst/>
          </a:prstGeom>
          <a:noFill/>
        </p:spPr>
        <p:txBody>
          <a:bodyPr wrap="square" lIns="0" rIns="0" tIns="18288" bIns="18288" anchor="t"/>
          <a:lstStyle/>
          <a:p>
            <a:pPr algn="l">
              <a:spcAft>
                <a:spcPts val="400"/>
              </a:spcAft>
            </a:pPr>
            <a:r>
              <a:rPr sz="1150" b="0" i="0">
                <a:solidFill>
                  <a:srgbClr val="0E2F57"/>
                </a:solidFill>
                <a:latin typeface="Calibri"/>
              </a:rPr>
              <a:t>Only 121 Group-3 loans in the test set — per-class estimates are noisy; rely on repeated-CV figures.</a:t>
            </a:r>
          </a:p>
        </p:txBody>
      </p:sp>
      <p:sp>
        <p:nvSpPr>
          <p:cNvPr id="7" name="Rounded Rectangle 6"/>
          <p:cNvSpPr/>
          <p:nvPr/>
        </p:nvSpPr>
        <p:spPr>
          <a:xfrm>
            <a:off x="6190488" y="2743200"/>
            <a:ext cx="5166360" cy="1115568"/>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327648" y="2880360"/>
            <a:ext cx="384048" cy="384048"/>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9" name="TextBox 8"/>
          <p:cNvSpPr txBox="1"/>
          <p:nvPr/>
        </p:nvSpPr>
        <p:spPr>
          <a:xfrm>
            <a:off x="6848855" y="2852928"/>
            <a:ext cx="4389120" cy="329184"/>
          </a:xfrm>
          <a:prstGeom prst="rect">
            <a:avLst/>
          </a:prstGeom>
          <a:noFill/>
        </p:spPr>
        <p:txBody>
          <a:bodyPr wrap="square" lIns="0" rIns="0" tIns="18288" bIns="18288" anchor="t"/>
          <a:lstStyle/>
          <a:p>
            <a:pPr algn="l">
              <a:spcAft>
                <a:spcPts val="400"/>
              </a:spcAft>
            </a:pPr>
            <a:r>
              <a:rPr sz="1400" b="1" i="0">
                <a:solidFill>
                  <a:srgbClr val="144E8C"/>
                </a:solidFill>
                <a:latin typeface="Calibri"/>
              </a:rPr>
              <a:t>One bank, one snapshot</a:t>
            </a:r>
          </a:p>
        </p:txBody>
      </p:sp>
      <p:sp>
        <p:nvSpPr>
          <p:cNvPr id="10" name="TextBox 9"/>
          <p:cNvSpPr txBox="1"/>
          <p:nvPr/>
        </p:nvSpPr>
        <p:spPr>
          <a:xfrm>
            <a:off x="6848855" y="3182112"/>
            <a:ext cx="4389120" cy="658368"/>
          </a:xfrm>
          <a:prstGeom prst="rect">
            <a:avLst/>
          </a:prstGeom>
          <a:noFill/>
        </p:spPr>
        <p:txBody>
          <a:bodyPr wrap="square" lIns="0" rIns="0" tIns="18288" bIns="18288" anchor="t"/>
          <a:lstStyle/>
          <a:p>
            <a:pPr algn="l">
              <a:spcAft>
                <a:spcPts val="400"/>
              </a:spcAft>
            </a:pPr>
            <a:r>
              <a:rPr sz="1150" b="0" i="0">
                <a:solidFill>
                  <a:srgbClr val="0E2F57"/>
                </a:solidFill>
                <a:latin typeface="Calibri"/>
              </a:rPr>
              <a:t>No classification date, so resampling is random, not temporal. Out-of-time validation is the next step — the Group-5 legacy stock suggests in-sample results may flatter.</a:t>
            </a:r>
          </a:p>
        </p:txBody>
      </p:sp>
      <p:sp>
        <p:nvSpPr>
          <p:cNvPr id="11" name="Rounded Rectangle 10"/>
          <p:cNvSpPr/>
          <p:nvPr/>
        </p:nvSpPr>
        <p:spPr>
          <a:xfrm>
            <a:off x="841248" y="3977639"/>
            <a:ext cx="5166360" cy="1115568"/>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4114800"/>
            <a:ext cx="384048" cy="384048"/>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3" name="TextBox 12"/>
          <p:cNvSpPr txBox="1"/>
          <p:nvPr/>
        </p:nvSpPr>
        <p:spPr>
          <a:xfrm>
            <a:off x="1499616" y="4087368"/>
            <a:ext cx="4389120" cy="329184"/>
          </a:xfrm>
          <a:prstGeom prst="rect">
            <a:avLst/>
          </a:prstGeom>
          <a:noFill/>
        </p:spPr>
        <p:txBody>
          <a:bodyPr wrap="square" lIns="0" rIns="0" tIns="18288" bIns="18288" anchor="t"/>
          <a:lstStyle/>
          <a:p>
            <a:pPr algn="l">
              <a:spcAft>
                <a:spcPts val="400"/>
              </a:spcAft>
            </a:pPr>
            <a:r>
              <a:rPr sz="1400" b="1" i="0">
                <a:solidFill>
                  <a:srgbClr val="144E8C"/>
                </a:solidFill>
                <a:latin typeface="Calibri"/>
              </a:rPr>
              <a:t>Label encoding</a:t>
            </a:r>
          </a:p>
        </p:txBody>
      </p:sp>
      <p:sp>
        <p:nvSpPr>
          <p:cNvPr id="14" name="TextBox 13"/>
          <p:cNvSpPr txBox="1"/>
          <p:nvPr/>
        </p:nvSpPr>
        <p:spPr>
          <a:xfrm>
            <a:off x="1499616" y="4416552"/>
            <a:ext cx="4389120" cy="658368"/>
          </a:xfrm>
          <a:prstGeom prst="rect">
            <a:avLst/>
          </a:prstGeom>
          <a:noFill/>
        </p:spPr>
        <p:txBody>
          <a:bodyPr wrap="square" lIns="0" rIns="0" tIns="18288" bIns="18288" anchor="t"/>
          <a:lstStyle/>
          <a:p>
            <a:pPr algn="l">
              <a:spcAft>
                <a:spcPts val="400"/>
              </a:spcAft>
            </a:pPr>
            <a:r>
              <a:rPr sz="1150" b="0" i="0">
                <a:solidFill>
                  <a:srgbClr val="0E2F57"/>
                </a:solidFill>
                <a:latin typeface="Calibri"/>
              </a:rPr>
              <a:t>Nominal codes (e.g. branch IDs) are label-encoded for non-CatBoost models; native categorical handling verified for CatBoost only.</a:t>
            </a:r>
          </a:p>
        </p:txBody>
      </p:sp>
      <p:sp>
        <p:nvSpPr>
          <p:cNvPr id="15" name="Rounded Rectangle 14"/>
          <p:cNvSpPr/>
          <p:nvPr/>
        </p:nvSpPr>
        <p:spPr>
          <a:xfrm>
            <a:off x="6190488" y="3977639"/>
            <a:ext cx="5166360" cy="1115568"/>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27648" y="4114800"/>
            <a:ext cx="384048" cy="384048"/>
          </a:xfrm>
          <a:prstGeom prst="ellipse">
            <a:avLst/>
          </a:prstGeom>
          <a:solidFill>
            <a:srgbClr val="F258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7" name="TextBox 16"/>
          <p:cNvSpPr txBox="1"/>
          <p:nvPr/>
        </p:nvSpPr>
        <p:spPr>
          <a:xfrm>
            <a:off x="6848855" y="4087368"/>
            <a:ext cx="4389120" cy="329184"/>
          </a:xfrm>
          <a:prstGeom prst="rect">
            <a:avLst/>
          </a:prstGeom>
          <a:noFill/>
        </p:spPr>
        <p:txBody>
          <a:bodyPr wrap="square" lIns="0" rIns="0" tIns="18288" bIns="18288" anchor="t"/>
          <a:lstStyle/>
          <a:p>
            <a:pPr algn="l">
              <a:spcAft>
                <a:spcPts val="400"/>
              </a:spcAft>
            </a:pPr>
            <a:r>
              <a:rPr sz="1400" b="1" i="0">
                <a:solidFill>
                  <a:srgbClr val="144E8C"/>
                </a:solidFill>
                <a:latin typeface="Calibri"/>
              </a:rPr>
              <a:t>Fixed hyperparameters</a:t>
            </a:r>
          </a:p>
        </p:txBody>
      </p:sp>
      <p:sp>
        <p:nvSpPr>
          <p:cNvPr id="18" name="TextBox 17"/>
          <p:cNvSpPr txBox="1"/>
          <p:nvPr/>
        </p:nvSpPr>
        <p:spPr>
          <a:xfrm>
            <a:off x="6848855" y="4416552"/>
            <a:ext cx="4389120" cy="658368"/>
          </a:xfrm>
          <a:prstGeom prst="rect">
            <a:avLst/>
          </a:prstGeom>
          <a:noFill/>
        </p:spPr>
        <p:txBody>
          <a:bodyPr wrap="square" lIns="0" rIns="0" tIns="18288" bIns="18288" anchor="t"/>
          <a:lstStyle/>
          <a:p>
            <a:pPr algn="l">
              <a:spcAft>
                <a:spcPts val="400"/>
              </a:spcAft>
            </a:pPr>
            <a:r>
              <a:rPr sz="1150" b="0" i="0">
                <a:solidFill>
                  <a:srgbClr val="0E2F57"/>
                </a:solidFill>
                <a:latin typeface="Calibri"/>
              </a:rPr>
              <a:t>Clean comparison, but at defaults, not optima. Tuning could reorder the top 4 — unlikely to overturn the 10× larger treatment effect.</a:t>
            </a:r>
          </a:p>
        </p:txBody>
      </p:sp>
      <p:sp>
        <p:nvSpPr>
          <p:cNvPr id="19" name="TextBox 18"/>
          <p:cNvSpPr txBox="1"/>
          <p:nvPr/>
        </p:nvSpPr>
        <p:spPr>
          <a:xfrm>
            <a:off x="841248" y="5285232"/>
            <a:ext cx="10515600" cy="548640"/>
          </a:xfrm>
          <a:prstGeom prst="rect">
            <a:avLst/>
          </a:prstGeom>
          <a:noFill/>
        </p:spPr>
        <p:txBody>
          <a:bodyPr wrap="square" lIns="0" rIns="0" tIns="18288" bIns="18288" anchor="t"/>
          <a:lstStyle/>
          <a:p>
            <a:pPr algn="l">
              <a:spcAft>
                <a:spcPts val="400"/>
              </a:spcAft>
            </a:pPr>
            <a:r>
              <a:rPr sz="1250" b="1" i="0">
                <a:solidFill>
                  <a:srgbClr val="F2581E"/>
                </a:solidFill>
                <a:latin typeface="Calibri"/>
              </a:rPr>
              <a:t>Next: </a:t>
            </a:r>
            <a:r>
              <a:rPr sz="1250" b="0" i="0">
                <a:solidFill>
                  <a:srgbClr val="0E2F57"/>
                </a:solidFill>
                <a:latin typeface="Calibri"/>
              </a:rPr>
              <a:t>out-of-time validation (train on an earlier classification date, test on a later one) and confirming DAYS_TO_MATURITY against the bank's classification methodology.</a:t>
            </a:r>
          </a:p>
        </p:txBody>
      </p:sp>
      <p:sp>
        <p:nvSpPr>
          <p:cNvPr id="20" name="Footer Placeholder 4">
            <a:extLst>
              <a:ext uri="{FF2B5EF4-FFF2-40B4-BE49-F238E27FC236}">
                <a16:creationId xmlns:a16="http://schemas.microsoft.com/office/drawing/2014/main" id="{8009A512-E938-477E-9A3C-114EC3609A98}"/>
              </a:ext>
            </a:extLst>
          </p:cNvPr>
          <p:cNvSpPr>
            <a:spLocks noGrp="1"/>
          </p:cNvSpPr>
          <p:nvPr>
            <p:ph type="ftr" sz="quarter" idx="11"/>
          </p:nvPr>
        </p:nvSpPr>
        <p:spPr/>
        <p:txBody>
          <a:bodyPr/>
          <a:lstStyle/>
          <a:p>
            <a:r>
              <a:rPr lang="en-US" dirty="0"/>
              <a:t>UEL-SEBL</a:t>
            </a:r>
          </a:p>
        </p:txBody>
      </p:sp>
      <p:sp>
        <p:nvSpPr>
          <p:cNvPr id="21" name="Slide Number Placeholder 5">
            <a:extLst>
              <a:ext uri="{FF2B5EF4-FFF2-40B4-BE49-F238E27FC236}">
                <a16:creationId xmlns:a16="http://schemas.microsoft.com/office/drawing/2014/main" id="{C4B863E4-FA4C-4B2F-A7CE-827913F8E33B}"/>
              </a:ext>
            </a:extLst>
          </p:cNvPr>
          <p:cNvSpPr>
            <a:spLocks noGrp="1"/>
          </p:cNvSpPr>
          <p:nvPr>
            <p:ph type="sldNum" sz="quarter" idx="12"/>
          </p:nvPr>
        </p:nvSpPr>
        <p:spPr/>
        <p:txBody>
          <a:bodyPr/>
          <a:lstStyle/>
          <a:p>
            <a:fld id="{ECEBCFE7-CD98-4988-B164-8232B2F80098}" type="slidenum">
              <a:rPr lang="en-US" smtClean="0"/>
              <a:pPr/>
              <a:t>14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sz="4000">
                <a:solidFill>
                  <a:srgbClr val="144E8C"/>
                </a:solidFill>
              </a:rPr>
              <a:t>Thank You!</a:t>
            </a:r>
          </a:p>
        </p:txBody>
      </p:sp>
      <p:sp>
        <p:nvSpPr>
          <p:cNvPr id="3" name="TextBox 2"/>
          <p:cNvSpPr txBox="1"/>
          <p:nvPr/>
        </p:nvSpPr>
        <p:spPr>
          <a:xfrm>
            <a:off x="1591056" y="3063240"/>
            <a:ext cx="8997696" cy="365760"/>
          </a:xfrm>
          <a:prstGeom prst="rect">
            <a:avLst/>
          </a:prstGeom>
          <a:noFill/>
        </p:spPr>
        <p:txBody>
          <a:bodyPr wrap="square" lIns="0" rIns="0" tIns="18288" bIns="18288" anchor="t"/>
          <a:lstStyle/>
          <a:p>
            <a:pPr algn="ctr">
              <a:spcAft>
                <a:spcPts val="400"/>
              </a:spcAft>
            </a:pPr>
            <a:r>
              <a:rPr sz="2000" b="1" i="0">
                <a:solidFill>
                  <a:srgbClr val="F2581E"/>
                </a:solidFill>
                <a:latin typeface="Calibri"/>
              </a:rPr>
              <a:t>Questions &amp; Discussion</a:t>
            </a:r>
          </a:p>
        </p:txBody>
      </p:sp>
      <p:sp>
        <p:nvSpPr>
          <p:cNvPr id="4" name="TextBox 3"/>
          <p:cNvSpPr txBox="1"/>
          <p:nvPr/>
        </p:nvSpPr>
        <p:spPr>
          <a:xfrm>
            <a:off x="1591056" y="3611880"/>
            <a:ext cx="8997696" cy="365760"/>
          </a:xfrm>
          <a:prstGeom prst="rect">
            <a:avLst/>
          </a:prstGeom>
          <a:noFill/>
        </p:spPr>
        <p:txBody>
          <a:bodyPr wrap="square" lIns="0" rIns="0" tIns="18288" bIns="18288" anchor="t"/>
          <a:lstStyle/>
          <a:p>
            <a:pPr algn="ctr">
              <a:spcAft>
                <a:spcPts val="400"/>
              </a:spcAft>
            </a:pPr>
            <a:r>
              <a:rPr sz="1800" b="1" i="0">
                <a:solidFill>
                  <a:srgbClr val="0E2F57"/>
                </a:solidFill>
                <a:latin typeface="Calibri"/>
              </a:rPr>
              <a:t>Đàm Công Danh</a:t>
            </a:r>
          </a:p>
        </p:txBody>
      </p:sp>
      <p:sp>
        <p:nvSpPr>
          <p:cNvPr id="5" name="TextBox 4"/>
          <p:cNvSpPr txBox="1"/>
          <p:nvPr/>
        </p:nvSpPr>
        <p:spPr>
          <a:xfrm>
            <a:off x="1591056" y="4023360"/>
            <a:ext cx="8997696" cy="365760"/>
          </a:xfrm>
          <a:prstGeom prst="rect">
            <a:avLst/>
          </a:prstGeom>
          <a:noFill/>
        </p:spPr>
        <p:txBody>
          <a:bodyPr wrap="square" lIns="0" rIns="0" tIns="18288" bIns="18288" anchor="t"/>
          <a:lstStyle/>
          <a:p>
            <a:pPr algn="ctr">
              <a:spcAft>
                <a:spcPts val="400"/>
              </a:spcAft>
            </a:pPr>
            <a:r>
              <a:rPr sz="1400" b="0" i="0">
                <a:solidFill>
                  <a:srgbClr val="5A6573"/>
                </a:solidFill>
                <a:latin typeface="Calibri"/>
              </a:rPr>
              <a:t>danh.dc251317m@sis.hust.edu.vn   ·   +84 966 565 830</a:t>
            </a:r>
          </a:p>
        </p:txBody>
      </p:sp>
      <p:sp>
        <p:nvSpPr>
          <p:cNvPr id="6" name="TextBox 5"/>
          <p:cNvSpPr txBox="1"/>
          <p:nvPr/>
        </p:nvSpPr>
        <p:spPr>
          <a:xfrm>
            <a:off x="1591056" y="4434840"/>
            <a:ext cx="8997696" cy="365760"/>
          </a:xfrm>
          <a:prstGeom prst="rect">
            <a:avLst/>
          </a:prstGeom>
          <a:noFill/>
        </p:spPr>
        <p:txBody>
          <a:bodyPr wrap="square" lIns="0" rIns="0" tIns="18288" bIns="18288" anchor="t"/>
          <a:lstStyle/>
          <a:p>
            <a:pPr algn="ctr">
              <a:spcAft>
                <a:spcPts val="400"/>
              </a:spcAft>
            </a:pPr>
            <a:r>
              <a:rPr sz="1300" b="0" i="0">
                <a:solidFill>
                  <a:srgbClr val="5A6573"/>
                </a:solidFill>
                <a:latin typeface="Calibri"/>
              </a:rPr>
              <a:t>Hanoi University of Science and Technology (HUST)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r>
              <a:rPr sz="4000">
                <a:solidFill>
                  <a:srgbClr val="144E8C"/>
                </a:solidFill>
              </a:rPr>
              <a:t>Backup Slides</a:t>
            </a:r>
          </a:p>
        </p:txBody>
      </p:sp>
      <p:sp>
        <p:nvSpPr>
          <p:cNvPr id="3" name="TextBox 2"/>
          <p:cNvSpPr txBox="1"/>
          <p:nvPr/>
        </p:nvSpPr>
        <p:spPr>
          <a:xfrm>
            <a:off x="1527048" y="4297680"/>
            <a:ext cx="9144000" cy="822960"/>
          </a:xfrm>
          <a:prstGeom prst="rect">
            <a:avLst/>
          </a:prstGeom>
          <a:noFill/>
        </p:spPr>
        <p:txBody>
          <a:bodyPr wrap="square" lIns="0" rIns="0" tIns="18288" bIns="18288" anchor="t"/>
          <a:lstStyle/>
          <a:p>
            <a:pPr algn="ctr">
              <a:spcAft>
                <a:spcPts val="400"/>
              </a:spcAft>
            </a:pPr>
            <a:r>
              <a:rPr sz="1400" b="0" i="0">
                <a:solidFill>
                  <a:srgbClr val="5A6573"/>
                </a:solidFill>
                <a:latin typeface="Calibri"/>
              </a:rPr>
              <a:t>B1 Leakage diagnostics  ·  B2 Confusion matrices  ·  B3 Hold-out results  ·  B4 Corrected paired test  ·  B5 Hyperparameters</a:t>
            </a:r>
          </a:p>
        </p:txBody>
      </p:sp>
      <p:sp>
        <p:nvSpPr>
          <p:cNvPr id="4" name="Footer Placeholder 3">
            <a:extLst>
              <a:ext uri="{FF2B5EF4-FFF2-40B4-BE49-F238E27FC236}">
                <a16:creationId xmlns:a16="http://schemas.microsoft.com/office/drawing/2014/main" id="{22725A72-A91E-4590-8322-F610EBBE382B}"/>
              </a:ext>
            </a:extLst>
          </p:cNvPr>
          <p:cNvSpPr>
            <a:spLocks noGrp="1"/>
          </p:cNvSpPr>
          <p:nvPr>
            <p:ph type="ftr" sz="quarter" idx="11"/>
          </p:nvPr>
        </p:nvSpPr>
        <p:spPr/>
        <p:txBody>
          <a:bodyPr/>
          <a:lstStyle/>
          <a:p>
            <a:r>
              <a:rPr lang="en-US" dirty="0"/>
              <a:t>UEL-SEBL</a:t>
            </a:r>
          </a:p>
        </p:txBody>
      </p:sp>
      <p:sp>
        <p:nvSpPr>
          <p:cNvPr id="5" name="Slide Number Placeholder 4">
            <a:extLst>
              <a:ext uri="{FF2B5EF4-FFF2-40B4-BE49-F238E27FC236}">
                <a16:creationId xmlns:a16="http://schemas.microsoft.com/office/drawing/2014/main" id="{939E6433-8652-4AF3-9661-16E67D917C78}"/>
              </a:ext>
            </a:extLst>
          </p:cNvPr>
          <p:cNvSpPr>
            <a:spLocks noGrp="1"/>
          </p:cNvSpPr>
          <p:nvPr>
            <p:ph type="sldNum" sz="quarter" idx="12"/>
          </p:nvPr>
        </p:nvSpPr>
        <p:spPr/>
        <p:txBody>
          <a:bodyPr/>
          <a:lstStyle/>
          <a:p>
            <a:fld id="{ECEBCFE7-CD98-4988-B164-8232B2F80098}" type="slidenum">
              <a:rPr lang="en-US" smtClean="0"/>
              <a:pPr/>
              <a:t>16</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B1 — Leakage Diagnostics &amp; Ablation</a:t>
            </a:r>
          </a:p>
        </p:txBody>
      </p:sp>
      <p:sp>
        <p:nvSpPr>
          <p:cNvPr id="3" name="TextBox 2"/>
          <p:cNvSpPr txBox="1"/>
          <p:nvPr/>
        </p:nvSpPr>
        <p:spPr>
          <a:xfrm>
            <a:off x="841248" y="2286000"/>
            <a:ext cx="5029200" cy="274320"/>
          </a:xfrm>
          <a:prstGeom prst="rect">
            <a:avLst/>
          </a:prstGeom>
          <a:noFill/>
        </p:spPr>
        <p:txBody>
          <a:bodyPr wrap="square" lIns="0" rIns="0" tIns="18288" bIns="18288" anchor="t"/>
          <a:lstStyle/>
          <a:p>
            <a:pPr algn="l">
              <a:spcAft>
                <a:spcPts val="400"/>
              </a:spcAft>
            </a:pPr>
            <a:r>
              <a:rPr sz="1250" b="1" i="0">
                <a:solidFill>
                  <a:srgbClr val="144E8C"/>
                </a:solidFill>
                <a:latin typeface="Calibri"/>
              </a:rPr>
              <a:t>DAYS_TO_MATURITY by debt group (Table 2b)</a:t>
            </a:r>
          </a:p>
        </p:txBody>
      </p:sp>
      <p:graphicFrame>
        <p:nvGraphicFramePr>
          <p:cNvPr id="4" name="Table 3"/>
          <p:cNvGraphicFramePr>
            <a:graphicFrameLocks noGrp="1"/>
          </p:cNvGraphicFramePr>
          <p:nvPr/>
        </p:nvGraphicFramePr>
        <p:xfrm>
          <a:off x="841248" y="2606040"/>
          <a:ext cx="5029198" cy="1645920"/>
        </p:xfrm>
        <a:graphic>
          <a:graphicData uri="http://schemas.openxmlformats.org/drawingml/2006/table">
            <a:tbl>
              <a:tblPr firstRow="0" bandRow="0">
                <a:tableStyleId>{5C22544A-7EE6-4342-B048-85BDC9FD1C3A}</a:tableStyleId>
              </a:tblPr>
              <a:tblGrid>
                <a:gridCol w="2052734"/>
                <a:gridCol w="1642187"/>
                <a:gridCol w="1334277"/>
              </a:tblGrid>
              <a:tr h="274320">
                <a:tc>
                  <a:txBody>
                    <a:bodyPr wrap="square"/>
                    <a:lstStyle/>
                    <a:p>
                      <a:pPr algn="l"/>
                      <a:r>
                        <a:rPr sz="1100" b="1">
                          <a:solidFill>
                            <a:srgbClr val="FFFFFF"/>
                          </a:solidFill>
                          <a:latin typeface="Calibri"/>
                        </a:rPr>
                        <a:t>Group</a:t>
                      </a:r>
                    </a:p>
                  </a:txBody>
                  <a:tcPr marL="54864" marR="54864" marT="18288" marB="18288" anchor="ctr">
                    <a:solidFill>
                      <a:srgbClr val="144E8C"/>
                    </a:solidFill>
                  </a:tcPr>
                </a:tc>
                <a:tc>
                  <a:txBody>
                    <a:bodyPr wrap="square"/>
                    <a:lstStyle/>
                    <a:p>
                      <a:pPr algn="ctr"/>
                      <a:r>
                        <a:rPr sz="1100" b="1">
                          <a:solidFill>
                            <a:srgbClr val="FFFFFF"/>
                          </a:solidFill>
                          <a:latin typeface="Calibri"/>
                        </a:rPr>
                        <a:t>Median DTM (days)</a:t>
                      </a:r>
                    </a:p>
                  </a:txBody>
                  <a:tcPr marL="54864" marR="54864" marT="18288" marB="18288" anchor="ctr">
                    <a:solidFill>
                      <a:srgbClr val="144E8C"/>
                    </a:solidFill>
                  </a:tcPr>
                </a:tc>
                <a:tc>
                  <a:txBody>
                    <a:bodyPr wrap="square"/>
                    <a:lstStyle/>
                    <a:p>
                      <a:pPr algn="ctr"/>
                      <a:r>
                        <a:rPr sz="1100" b="1">
                          <a:solidFill>
                            <a:srgbClr val="FFFFFF"/>
                          </a:solidFill>
                          <a:latin typeface="Calibri"/>
                        </a:rPr>
                        <a:t>Past maturity</a:t>
                      </a:r>
                    </a:p>
                  </a:txBody>
                  <a:tcPr marL="54864" marR="54864" marT="18288" marB="18288" anchor="ctr">
                    <a:solidFill>
                      <a:srgbClr val="144E8C"/>
                    </a:solidFill>
                  </a:tcPr>
                </a:tc>
              </a:tr>
              <a:tr h="274320">
                <a:tc>
                  <a:txBody>
                    <a:bodyPr wrap="square"/>
                    <a:lstStyle/>
                    <a:p>
                      <a:pPr algn="l"/>
                      <a:r>
                        <a:rPr sz="1100" b="0">
                          <a:solidFill>
                            <a:srgbClr val="0E2F57"/>
                          </a:solidFill>
                          <a:latin typeface="Calibri"/>
                        </a:rPr>
                        <a:t>1 Standard</a:t>
                      </a:r>
                    </a:p>
                  </a:txBody>
                  <a:tcPr marL="54864" marR="54864" marT="18288" marB="18288" anchor="ctr">
                    <a:solidFill>
                      <a:srgbClr val="FFFFFF"/>
                    </a:solidFill>
                  </a:tcPr>
                </a:tc>
                <a:tc>
                  <a:txBody>
                    <a:bodyPr wrap="square"/>
                    <a:lstStyle/>
                    <a:p>
                      <a:pPr algn="ctr"/>
                      <a:r>
                        <a:rPr sz="1100" b="0">
                          <a:solidFill>
                            <a:srgbClr val="0E2F57"/>
                          </a:solidFill>
                          <a:latin typeface="Calibri"/>
                        </a:rPr>
                        <a:t>224</a:t>
                      </a:r>
                    </a:p>
                  </a:txBody>
                  <a:tcPr marL="54864" marR="54864" marT="18288" marB="18288" anchor="ctr">
                    <a:solidFill>
                      <a:srgbClr val="FFFFFF"/>
                    </a:solidFill>
                  </a:tcPr>
                </a:tc>
                <a:tc>
                  <a:txBody>
                    <a:bodyPr wrap="square"/>
                    <a:lstStyle/>
                    <a:p>
                      <a:pPr algn="ctr"/>
                      <a:r>
                        <a:rPr sz="1100" b="0">
                          <a:solidFill>
                            <a:srgbClr val="0E2F57"/>
                          </a:solidFill>
                          <a:latin typeface="Calibri"/>
                        </a:rPr>
                        <a:t>35.1%</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2 Special mention</a:t>
                      </a:r>
                    </a:p>
                  </a:txBody>
                  <a:tcPr marL="54864" marR="54864" marT="18288" marB="18288" anchor="ctr">
                    <a:solidFill>
                      <a:srgbClr val="F3F5F8"/>
                    </a:solidFill>
                  </a:tcPr>
                </a:tc>
                <a:tc>
                  <a:txBody>
                    <a:bodyPr wrap="square"/>
                    <a:lstStyle/>
                    <a:p>
                      <a:pPr algn="ctr"/>
                      <a:r>
                        <a:rPr sz="1100" b="0">
                          <a:solidFill>
                            <a:srgbClr val="0E2F57"/>
                          </a:solidFill>
                          <a:latin typeface="Calibri"/>
                        </a:rPr>
                        <a:t>172</a:t>
                      </a:r>
                    </a:p>
                  </a:txBody>
                  <a:tcPr marL="54864" marR="54864" marT="18288" marB="18288" anchor="ctr">
                    <a:solidFill>
                      <a:srgbClr val="F3F5F8"/>
                    </a:solidFill>
                  </a:tcPr>
                </a:tc>
                <a:tc>
                  <a:txBody>
                    <a:bodyPr wrap="square"/>
                    <a:lstStyle/>
                    <a:p>
                      <a:pPr algn="ctr"/>
                      <a:r>
                        <a:rPr sz="1100" b="0">
                          <a:solidFill>
                            <a:srgbClr val="0E2F57"/>
                          </a:solidFill>
                          <a:latin typeface="Calibri"/>
                        </a:rPr>
                        <a:t>44.2%</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3 Sub-standard</a:t>
                      </a:r>
                    </a:p>
                  </a:txBody>
                  <a:tcPr marL="54864" marR="54864" marT="18288" marB="18288" anchor="ctr">
                    <a:solidFill>
                      <a:srgbClr val="FFFFFF"/>
                    </a:solidFill>
                  </a:tcPr>
                </a:tc>
                <a:tc>
                  <a:txBody>
                    <a:bodyPr wrap="square"/>
                    <a:lstStyle/>
                    <a:p>
                      <a:pPr algn="ctr"/>
                      <a:r>
                        <a:rPr sz="1100" b="0">
                          <a:solidFill>
                            <a:srgbClr val="0E2F57"/>
                          </a:solidFill>
                          <a:latin typeface="Calibri"/>
                        </a:rPr>
                        <a:t>−418</a:t>
                      </a:r>
                    </a:p>
                  </a:txBody>
                  <a:tcPr marL="54864" marR="54864" marT="18288" marB="18288" anchor="ctr">
                    <a:solidFill>
                      <a:srgbClr val="FFFFFF"/>
                    </a:solidFill>
                  </a:tcPr>
                </a:tc>
                <a:tc>
                  <a:txBody>
                    <a:bodyPr wrap="square"/>
                    <a:lstStyle/>
                    <a:p>
                      <a:pPr algn="ctr"/>
                      <a:r>
                        <a:rPr sz="1100" b="0">
                          <a:solidFill>
                            <a:srgbClr val="0E2F57"/>
                          </a:solidFill>
                          <a:latin typeface="Calibri"/>
                        </a:rPr>
                        <a:t>60.3%</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4 Doubtful</a:t>
                      </a:r>
                    </a:p>
                  </a:txBody>
                  <a:tcPr marL="54864" marR="54864" marT="18288" marB="18288" anchor="ctr">
                    <a:solidFill>
                      <a:srgbClr val="F3F5F8"/>
                    </a:solidFill>
                  </a:tcPr>
                </a:tc>
                <a:tc>
                  <a:txBody>
                    <a:bodyPr wrap="square"/>
                    <a:lstStyle/>
                    <a:p>
                      <a:pPr algn="ctr"/>
                      <a:r>
                        <a:rPr sz="1100" b="0">
                          <a:solidFill>
                            <a:srgbClr val="0E2F57"/>
                          </a:solidFill>
                          <a:latin typeface="Calibri"/>
                        </a:rPr>
                        <a:t>−517</a:t>
                      </a:r>
                    </a:p>
                  </a:txBody>
                  <a:tcPr marL="54864" marR="54864" marT="18288" marB="18288" anchor="ctr">
                    <a:solidFill>
                      <a:srgbClr val="F3F5F8"/>
                    </a:solidFill>
                  </a:tcPr>
                </a:tc>
                <a:tc>
                  <a:txBody>
                    <a:bodyPr wrap="square"/>
                    <a:lstStyle/>
                    <a:p>
                      <a:pPr algn="ctr"/>
                      <a:r>
                        <a:rPr sz="1100" b="0">
                          <a:solidFill>
                            <a:srgbClr val="0E2F57"/>
                          </a:solidFill>
                          <a:latin typeface="Calibri"/>
                        </a:rPr>
                        <a:t>68.1%</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5 Loss</a:t>
                      </a:r>
                    </a:p>
                  </a:txBody>
                  <a:tcPr marL="54864" marR="54864" marT="18288" marB="18288" anchor="ctr">
                    <a:solidFill>
                      <a:srgbClr val="FFFFFF"/>
                    </a:solidFill>
                  </a:tcPr>
                </a:tc>
                <a:tc>
                  <a:txBody>
                    <a:bodyPr wrap="square"/>
                    <a:lstStyle/>
                    <a:p>
                      <a:pPr algn="ctr"/>
                      <a:r>
                        <a:rPr sz="1100" b="0">
                          <a:solidFill>
                            <a:srgbClr val="0E2F57"/>
                          </a:solidFill>
                          <a:latin typeface="Calibri"/>
                        </a:rPr>
                        <a:t>−2,236</a:t>
                      </a:r>
                    </a:p>
                  </a:txBody>
                  <a:tcPr marL="54864" marR="54864" marT="18288" marB="18288" anchor="ctr">
                    <a:solidFill>
                      <a:srgbClr val="FFFFFF"/>
                    </a:solidFill>
                  </a:tcPr>
                </a:tc>
                <a:tc>
                  <a:txBody>
                    <a:bodyPr wrap="square"/>
                    <a:lstStyle/>
                    <a:p>
                      <a:pPr algn="ctr"/>
                      <a:r>
                        <a:rPr sz="1100" b="0">
                          <a:solidFill>
                            <a:srgbClr val="0E2F57"/>
                          </a:solidFill>
                          <a:latin typeface="Calibri"/>
                        </a:rPr>
                        <a:t>92.1%</a:t>
                      </a:r>
                    </a:p>
                  </a:txBody>
                  <a:tcPr marL="54864" marR="54864" marT="18288" marB="18288" anchor="ctr">
                    <a:solidFill>
                      <a:srgbClr val="FFFFFF"/>
                    </a:solidFill>
                  </a:tcPr>
                </a:tc>
              </a:tr>
            </a:tbl>
          </a:graphicData>
        </a:graphic>
      </p:graphicFrame>
      <p:sp>
        <p:nvSpPr>
          <p:cNvPr id="5" name="TextBox 4"/>
          <p:cNvSpPr txBox="1"/>
          <p:nvPr/>
        </p:nvSpPr>
        <p:spPr>
          <a:xfrm>
            <a:off x="841248" y="4343400"/>
            <a:ext cx="5029200" cy="1600200"/>
          </a:xfrm>
          <a:prstGeom prst="rect">
            <a:avLst/>
          </a:prstGeom>
          <a:noFill/>
        </p:spPr>
        <p:txBody>
          <a:bodyPr wrap="square" lIns="0" rIns="0" tIns="18288" bIns="18288" anchor="t"/>
          <a:lstStyle/>
          <a:p>
            <a:pPr algn="l" marL="201168" indent="-201168">
              <a:spcAft>
                <a:spcPts val="400"/>
              </a:spcAft>
              <a:buFont typeface="Arial"/>
              <a:buChar char="•"/>
            </a:pPr>
            <a:r>
              <a:rPr sz="1100" b="0" i="0">
                <a:solidFill>
                  <a:srgbClr val="0E2F57"/>
                </a:solidFill>
                <a:latin typeface="Calibri"/>
              </a:rPr>
              <a:t>Admissibility criterion: available no later than the classification point, and not a direct or derived restatement of the target.</a:t>
            </a:r>
          </a:p>
          <a:p>
            <a:pPr algn="l" marL="201168" indent="-201168">
              <a:spcAft>
                <a:spcPts val="400"/>
              </a:spcAft>
              <a:buFont typeface="Arial"/>
              <a:buChar char="•"/>
            </a:pPr>
            <a:r>
              <a:rPr sz="1100" b="0" i="0">
                <a:solidFill>
                  <a:srgbClr val="0E2F57"/>
                </a:solidFill>
                <a:latin typeface="Calibri"/>
              </a:rPr>
              <a:t>CURRMIACCTTYPCD (31 product sub-types) and MUCDICHVAY (79 loan purposes) are fixed at origination — unlike NHOMNO / NHOMNO_TCBS, which were excluded.</a:t>
            </a:r>
          </a:p>
        </p:txBody>
      </p:sp>
      <p:sp>
        <p:nvSpPr>
          <p:cNvPr id="6" name="TextBox 5"/>
          <p:cNvSpPr txBox="1"/>
          <p:nvPr/>
        </p:nvSpPr>
        <p:spPr>
          <a:xfrm>
            <a:off x="6327648" y="2286000"/>
            <a:ext cx="5029200" cy="274320"/>
          </a:xfrm>
          <a:prstGeom prst="rect">
            <a:avLst/>
          </a:prstGeom>
          <a:noFill/>
        </p:spPr>
        <p:txBody>
          <a:bodyPr wrap="square" lIns="0" rIns="0" tIns="18288" bIns="18288" anchor="t"/>
          <a:lstStyle/>
          <a:p>
            <a:pPr algn="l">
              <a:spcAft>
                <a:spcPts val="400"/>
              </a:spcAft>
            </a:pPr>
            <a:r>
              <a:rPr sz="1250" b="1" i="0">
                <a:solidFill>
                  <a:srgbClr val="144E8C"/>
                </a:solidFill>
                <a:latin typeface="Calibri"/>
              </a:rPr>
              <a:t>Variables above the IV = 1.0 flag (Table 2)</a:t>
            </a:r>
          </a:p>
        </p:txBody>
      </p:sp>
      <p:graphicFrame>
        <p:nvGraphicFramePr>
          <p:cNvPr id="7" name="Table 6"/>
          <p:cNvGraphicFramePr>
            <a:graphicFrameLocks noGrp="1"/>
          </p:cNvGraphicFramePr>
          <p:nvPr/>
        </p:nvGraphicFramePr>
        <p:xfrm>
          <a:off x="6327648" y="2606040"/>
          <a:ext cx="5029200" cy="1645920"/>
        </p:xfrm>
        <a:graphic>
          <a:graphicData uri="http://schemas.openxmlformats.org/drawingml/2006/table">
            <a:tbl>
              <a:tblPr firstRow="0" bandRow="0">
                <a:tableStyleId>{5C22544A-7EE6-4342-B048-85BDC9FD1C3A}</a:tableStyleId>
              </a:tblPr>
              <a:tblGrid>
                <a:gridCol w="2212848"/>
                <a:gridCol w="905256"/>
                <a:gridCol w="1911096"/>
              </a:tblGrid>
              <a:tr h="274320">
                <a:tc>
                  <a:txBody>
                    <a:bodyPr wrap="square"/>
                    <a:lstStyle/>
                    <a:p>
                      <a:pPr algn="l"/>
                      <a:r>
                        <a:rPr sz="1100" b="1">
                          <a:solidFill>
                            <a:srgbClr val="FFFFFF"/>
                          </a:solidFill>
                          <a:latin typeface="Calibri"/>
                        </a:rPr>
                        <a:t>Feature</a:t>
                      </a:r>
                    </a:p>
                  </a:txBody>
                  <a:tcPr marL="54864" marR="54864" marT="18288" marB="18288" anchor="ctr">
                    <a:solidFill>
                      <a:srgbClr val="144E8C"/>
                    </a:solidFill>
                  </a:tcPr>
                </a:tc>
                <a:tc>
                  <a:txBody>
                    <a:bodyPr wrap="square"/>
                    <a:lstStyle/>
                    <a:p>
                      <a:pPr algn="ctr"/>
                      <a:r>
                        <a:rPr sz="1100" b="1">
                          <a:solidFill>
                            <a:srgbClr val="FFFFFF"/>
                          </a:solidFill>
                          <a:latin typeface="Calibri"/>
                        </a:rPr>
                        <a:t>IV</a:t>
                      </a:r>
                    </a:p>
                  </a:txBody>
                  <a:tcPr marL="54864" marR="54864" marT="18288" marB="18288" anchor="ctr">
                    <a:solidFill>
                      <a:srgbClr val="144E8C"/>
                    </a:solidFill>
                  </a:tcPr>
                </a:tc>
                <a:tc>
                  <a:txBody>
                    <a:bodyPr wrap="square"/>
                    <a:lstStyle/>
                    <a:p>
                      <a:pPr algn="ctr"/>
                      <a:r>
                        <a:rPr sz="1100" b="1">
                          <a:solidFill>
                            <a:srgbClr val="FFFFFF"/>
                          </a:solidFill>
                          <a:latin typeface="Calibri"/>
                        </a:rPr>
                        <a:t>Decision</a:t>
                      </a:r>
                    </a:p>
                  </a:txBody>
                  <a:tcPr marL="54864" marR="54864" marT="18288" marB="18288" anchor="ctr">
                    <a:solidFill>
                      <a:srgbClr val="144E8C"/>
                    </a:solidFill>
                  </a:tcPr>
                </a:tc>
              </a:tr>
              <a:tr h="274320">
                <a:tc>
                  <a:txBody>
                    <a:bodyPr wrap="square"/>
                    <a:lstStyle/>
                    <a:p>
                      <a:pPr algn="l"/>
                      <a:r>
                        <a:rPr sz="1100" b="0">
                          <a:solidFill>
                            <a:srgbClr val="0E2F57"/>
                          </a:solidFill>
                          <a:latin typeface="Calibri"/>
                        </a:rPr>
                        <a:t>DAYS_TO_MATURITY</a:t>
                      </a:r>
                    </a:p>
                  </a:txBody>
                  <a:tcPr marL="54864" marR="54864" marT="18288" marB="18288" anchor="ctr">
                    <a:solidFill>
                      <a:srgbClr val="FFFFFF"/>
                    </a:solidFill>
                  </a:tcPr>
                </a:tc>
                <a:tc>
                  <a:txBody>
                    <a:bodyPr wrap="square"/>
                    <a:lstStyle/>
                    <a:p>
                      <a:pPr algn="ctr"/>
                      <a:r>
                        <a:rPr sz="1100" b="0">
                          <a:solidFill>
                            <a:srgbClr val="0E2F57"/>
                          </a:solidFill>
                          <a:latin typeface="Calibri"/>
                        </a:rPr>
                        <a:t>4.554</a:t>
                      </a:r>
                    </a:p>
                  </a:txBody>
                  <a:tcPr marL="54864" marR="54864" marT="18288" marB="18288" anchor="ctr">
                    <a:solidFill>
                      <a:srgbClr val="FFFFFF"/>
                    </a:solidFill>
                  </a:tcPr>
                </a:tc>
                <a:tc>
                  <a:txBody>
                    <a:bodyPr wrap="square"/>
                    <a:lstStyle/>
                    <a:p>
                      <a:pPr algn="ctr"/>
                      <a:r>
                        <a:rPr sz="1100" b="0">
                          <a:solidFill>
                            <a:srgbClr val="0E2F57"/>
                          </a:solidFill>
                          <a:latin typeface="Calibri"/>
                        </a:rPr>
                        <a:t>Reviewed, retained</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CURRMIACCTTYPCD</a:t>
                      </a:r>
                    </a:p>
                  </a:txBody>
                  <a:tcPr marL="54864" marR="54864" marT="18288" marB="18288" anchor="ctr">
                    <a:solidFill>
                      <a:srgbClr val="F3F5F8"/>
                    </a:solidFill>
                  </a:tcPr>
                </a:tc>
                <a:tc>
                  <a:txBody>
                    <a:bodyPr wrap="square"/>
                    <a:lstStyle/>
                    <a:p>
                      <a:pPr algn="ctr"/>
                      <a:r>
                        <a:rPr sz="1100" b="0">
                          <a:solidFill>
                            <a:srgbClr val="0E2F57"/>
                          </a:solidFill>
                          <a:latin typeface="Calibri"/>
                        </a:rPr>
                        <a:t>1.992</a:t>
                      </a:r>
                    </a:p>
                  </a:txBody>
                  <a:tcPr marL="54864" marR="54864" marT="18288" marB="18288" anchor="ctr">
                    <a:solidFill>
                      <a:srgbClr val="F3F5F8"/>
                    </a:solidFill>
                  </a:tcPr>
                </a:tc>
                <a:tc>
                  <a:txBody>
                    <a:bodyPr wrap="square"/>
                    <a:lstStyle/>
                    <a:p>
                      <a:pPr algn="ctr"/>
                      <a:r>
                        <a:rPr sz="1100" b="0">
                          <a:solidFill>
                            <a:srgbClr val="0E2F57"/>
                          </a:solidFill>
                          <a:latin typeface="Calibri"/>
                        </a:rPr>
                        <a:t>Reviewed, retained</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LOAN_TENURE_DAYS</a:t>
                      </a:r>
                    </a:p>
                  </a:txBody>
                  <a:tcPr marL="54864" marR="54864" marT="18288" marB="18288" anchor="ctr">
                    <a:solidFill>
                      <a:srgbClr val="FFFFFF"/>
                    </a:solidFill>
                  </a:tcPr>
                </a:tc>
                <a:tc>
                  <a:txBody>
                    <a:bodyPr wrap="square"/>
                    <a:lstStyle/>
                    <a:p>
                      <a:pPr algn="ctr"/>
                      <a:r>
                        <a:rPr sz="1100" b="0">
                          <a:solidFill>
                            <a:srgbClr val="0E2F57"/>
                          </a:solidFill>
                          <a:latin typeface="Calibri"/>
                        </a:rPr>
                        <a:t>1.941</a:t>
                      </a:r>
                    </a:p>
                  </a:txBody>
                  <a:tcPr marL="54864" marR="54864" marT="18288" marB="18288" anchor="ctr">
                    <a:solidFill>
                      <a:srgbClr val="FFFFFF"/>
                    </a:solidFill>
                  </a:tcPr>
                </a:tc>
                <a:tc>
                  <a:txBody>
                    <a:bodyPr wrap="square"/>
                    <a:lstStyle/>
                    <a:p>
                      <a:pPr algn="ctr"/>
                      <a:r>
                        <a:rPr sz="1100" b="0">
                          <a:solidFill>
                            <a:srgbClr val="0E2F57"/>
                          </a:solidFill>
                          <a:latin typeface="Calibri"/>
                        </a:rPr>
                        <a:t>Reviewed, retained</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MUCDICHVAY</a:t>
                      </a:r>
                    </a:p>
                  </a:txBody>
                  <a:tcPr marL="54864" marR="54864" marT="18288" marB="18288" anchor="ctr">
                    <a:solidFill>
                      <a:srgbClr val="F3F5F8"/>
                    </a:solidFill>
                  </a:tcPr>
                </a:tc>
                <a:tc>
                  <a:txBody>
                    <a:bodyPr wrap="square"/>
                    <a:lstStyle/>
                    <a:p>
                      <a:pPr algn="ctr"/>
                      <a:r>
                        <a:rPr sz="1100" b="0">
                          <a:solidFill>
                            <a:srgbClr val="0E2F57"/>
                          </a:solidFill>
                          <a:latin typeface="Calibri"/>
                        </a:rPr>
                        <a:t>1.414</a:t>
                      </a:r>
                    </a:p>
                  </a:txBody>
                  <a:tcPr marL="54864" marR="54864" marT="18288" marB="18288" anchor="ctr">
                    <a:solidFill>
                      <a:srgbClr val="F3F5F8"/>
                    </a:solidFill>
                  </a:tcPr>
                </a:tc>
                <a:tc>
                  <a:txBody>
                    <a:bodyPr wrap="square"/>
                    <a:lstStyle/>
                    <a:p>
                      <a:pPr algn="ctr"/>
                      <a:r>
                        <a:rPr sz="1100" b="0">
                          <a:solidFill>
                            <a:srgbClr val="0E2F57"/>
                          </a:solidFill>
                          <a:latin typeface="Calibri"/>
                        </a:rPr>
                        <a:t>Reviewed, retained</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UTIL_RATE</a:t>
                      </a:r>
                    </a:p>
                  </a:txBody>
                  <a:tcPr marL="54864" marR="54864" marT="18288" marB="18288" anchor="ctr">
                    <a:solidFill>
                      <a:srgbClr val="FFFFFF"/>
                    </a:solidFill>
                  </a:tcPr>
                </a:tc>
                <a:tc>
                  <a:txBody>
                    <a:bodyPr wrap="square"/>
                    <a:lstStyle/>
                    <a:p>
                      <a:pPr algn="ctr"/>
                      <a:r>
                        <a:rPr sz="1100" b="0">
                          <a:solidFill>
                            <a:srgbClr val="0E2F57"/>
                          </a:solidFill>
                          <a:latin typeface="Calibri"/>
                        </a:rPr>
                        <a:t>1.333</a:t>
                      </a:r>
                    </a:p>
                  </a:txBody>
                  <a:tcPr marL="54864" marR="54864" marT="18288" marB="18288" anchor="ctr">
                    <a:solidFill>
                      <a:srgbClr val="FFFFFF"/>
                    </a:solidFill>
                  </a:tcPr>
                </a:tc>
                <a:tc>
                  <a:txBody>
                    <a:bodyPr wrap="square"/>
                    <a:lstStyle/>
                    <a:p>
                      <a:pPr algn="ctr"/>
                      <a:r>
                        <a:rPr sz="1100" b="0">
                          <a:solidFill>
                            <a:srgbClr val="0E2F57"/>
                          </a:solidFill>
                          <a:latin typeface="Calibri"/>
                        </a:rPr>
                        <a:t>Reviewed, retained</a:t>
                      </a:r>
                    </a:p>
                  </a:txBody>
                  <a:tcPr marL="54864" marR="54864" marT="18288" marB="18288" anchor="ctr">
                    <a:solidFill>
                      <a:srgbClr val="FFFFFF"/>
                    </a:solidFill>
                  </a:tcPr>
                </a:tc>
              </a:tr>
            </a:tbl>
          </a:graphicData>
        </a:graphic>
      </p:graphicFrame>
      <p:sp>
        <p:nvSpPr>
          <p:cNvPr id="8" name="TextBox 7"/>
          <p:cNvSpPr txBox="1"/>
          <p:nvPr/>
        </p:nvSpPr>
        <p:spPr>
          <a:xfrm>
            <a:off x="6327648" y="4343400"/>
            <a:ext cx="5029200" cy="274320"/>
          </a:xfrm>
          <a:prstGeom prst="rect">
            <a:avLst/>
          </a:prstGeom>
          <a:noFill/>
        </p:spPr>
        <p:txBody>
          <a:bodyPr wrap="square" lIns="0" rIns="0" tIns="18288" bIns="18288" anchor="t"/>
          <a:lstStyle/>
          <a:p>
            <a:pPr algn="l">
              <a:spcAft>
                <a:spcPts val="400"/>
              </a:spcAft>
            </a:pPr>
            <a:r>
              <a:rPr sz="1250" b="1" i="0">
                <a:solidFill>
                  <a:srgbClr val="144E8C"/>
                </a:solidFill>
                <a:latin typeface="Calibri"/>
              </a:rPr>
              <a:t>Removing DAYS_TO_MATURITY (Table 6)</a:t>
            </a:r>
          </a:p>
        </p:txBody>
      </p:sp>
      <p:graphicFrame>
        <p:nvGraphicFramePr>
          <p:cNvPr id="9" name="Table 8"/>
          <p:cNvGraphicFramePr>
            <a:graphicFrameLocks noGrp="1"/>
          </p:cNvGraphicFramePr>
          <p:nvPr/>
        </p:nvGraphicFramePr>
        <p:xfrm>
          <a:off x="6327648" y="4645152"/>
          <a:ext cx="5029200" cy="1234440"/>
        </p:xfrm>
        <a:graphic>
          <a:graphicData uri="http://schemas.openxmlformats.org/drawingml/2006/table">
            <a:tbl>
              <a:tblPr firstRow="0" bandRow="0">
                <a:tableStyleId>{5C22544A-7EE6-4342-B048-85BDC9FD1C3A}</a:tableStyleId>
              </a:tblPr>
              <a:tblGrid>
                <a:gridCol w="1188720"/>
                <a:gridCol w="1097280"/>
                <a:gridCol w="914400"/>
                <a:gridCol w="914400"/>
                <a:gridCol w="914400"/>
              </a:tblGrid>
              <a:tr h="246888">
                <a:tc>
                  <a:txBody>
                    <a:bodyPr wrap="square"/>
                    <a:lstStyle/>
                    <a:p>
                      <a:pPr algn="l"/>
                      <a:r>
                        <a:rPr sz="1050" b="1">
                          <a:solidFill>
                            <a:srgbClr val="FFFFFF"/>
                          </a:solidFill>
                          <a:latin typeface="Calibri"/>
                        </a:rPr>
                        <a:t>Model</a:t>
                      </a:r>
                    </a:p>
                  </a:txBody>
                  <a:tcPr marL="54864" marR="54864" marT="18288" marB="18288" anchor="ctr">
                    <a:solidFill>
                      <a:srgbClr val="144E8C"/>
                    </a:solidFill>
                  </a:tcPr>
                </a:tc>
                <a:tc>
                  <a:txBody>
                    <a:bodyPr wrap="square"/>
                    <a:lstStyle/>
                    <a:p>
                      <a:pPr algn="ctr"/>
                      <a:r>
                        <a:rPr sz="1050" b="1">
                          <a:solidFill>
                            <a:srgbClr val="FFFFFF"/>
                          </a:solidFill>
                          <a:latin typeface="Calibri"/>
                        </a:rPr>
                        <a:t>Treatment</a:t>
                      </a:r>
                    </a:p>
                  </a:txBody>
                  <a:tcPr marL="54864" marR="54864" marT="18288" marB="18288" anchor="ctr">
                    <a:solidFill>
                      <a:srgbClr val="144E8C"/>
                    </a:solidFill>
                  </a:tcPr>
                </a:tc>
                <a:tc>
                  <a:txBody>
                    <a:bodyPr wrap="square"/>
                    <a:lstStyle/>
                    <a:p>
                      <a:pPr algn="ctr"/>
                      <a:r>
                        <a:rPr sz="1050" b="1">
                          <a:solidFill>
                            <a:srgbClr val="FFFFFF"/>
                          </a:solidFill>
                          <a:latin typeface="Calibri"/>
                        </a:rPr>
                        <a:t>11 feat.</a:t>
                      </a:r>
                    </a:p>
                  </a:txBody>
                  <a:tcPr marL="54864" marR="54864" marT="18288" marB="18288" anchor="ctr">
                    <a:solidFill>
                      <a:srgbClr val="144E8C"/>
                    </a:solidFill>
                  </a:tcPr>
                </a:tc>
                <a:tc>
                  <a:txBody>
                    <a:bodyPr wrap="square"/>
                    <a:lstStyle/>
                    <a:p>
                      <a:pPr algn="ctr"/>
                      <a:r>
                        <a:rPr sz="1050" b="1">
                          <a:solidFill>
                            <a:srgbClr val="FFFFFF"/>
                          </a:solidFill>
                          <a:latin typeface="Calibri"/>
                        </a:rPr>
                        <a:t>10 feat.</a:t>
                      </a:r>
                    </a:p>
                  </a:txBody>
                  <a:tcPr marL="54864" marR="54864" marT="18288" marB="18288" anchor="ctr">
                    <a:solidFill>
                      <a:srgbClr val="144E8C"/>
                    </a:solidFill>
                  </a:tcPr>
                </a:tc>
                <a:tc>
                  <a:txBody>
                    <a:bodyPr wrap="square"/>
                    <a:lstStyle/>
                    <a:p>
                      <a:pPr algn="ctr"/>
                      <a:r>
                        <a:rPr sz="1050" b="1">
                          <a:solidFill>
                            <a:srgbClr val="FFFFFF"/>
                          </a:solidFill>
                          <a:latin typeface="Calibri"/>
                        </a:rPr>
                        <a:t>Change</a:t>
                      </a:r>
                    </a:p>
                  </a:txBody>
                  <a:tcPr marL="54864" marR="54864" marT="18288" marB="18288" anchor="ctr">
                    <a:solidFill>
                      <a:srgbClr val="144E8C"/>
                    </a:solidFill>
                  </a:tcPr>
                </a:tc>
              </a:tr>
              <a:tr h="246888">
                <a:tc>
                  <a:txBody>
                    <a:bodyPr wrap="square"/>
                    <a:lstStyle/>
                    <a:p>
                      <a:pPr algn="l"/>
                      <a:r>
                        <a:rPr sz="1050" b="0">
                          <a:solidFill>
                            <a:srgbClr val="0E2F57"/>
                          </a:solidFill>
                          <a:latin typeface="Calibri"/>
                        </a:rPr>
                        <a:t>XGBoost</a:t>
                      </a:r>
                    </a:p>
                  </a:txBody>
                  <a:tcPr marL="54864" marR="54864" marT="18288" marB="18288" anchor="ctr">
                    <a:solidFill>
                      <a:srgbClr val="FFFFFF"/>
                    </a:solidFill>
                  </a:tcPr>
                </a:tc>
                <a:tc>
                  <a:txBody>
                    <a:bodyPr wrap="square"/>
                    <a:lstStyle/>
                    <a:p>
                      <a:pPr algn="ctr"/>
                      <a:r>
                        <a:rPr sz="1050" b="0">
                          <a:solidFill>
                            <a:srgbClr val="0E2F57"/>
                          </a:solidFill>
                          <a:latin typeface="Calibri"/>
                        </a:rPr>
                        <a:t>none</a:t>
                      </a:r>
                    </a:p>
                  </a:txBody>
                  <a:tcPr marL="54864" marR="54864" marT="18288" marB="18288" anchor="ctr">
                    <a:solidFill>
                      <a:srgbClr val="FFFFFF"/>
                    </a:solidFill>
                  </a:tcPr>
                </a:tc>
                <a:tc>
                  <a:txBody>
                    <a:bodyPr wrap="square"/>
                    <a:lstStyle/>
                    <a:p>
                      <a:pPr algn="ctr"/>
                      <a:r>
                        <a:rPr sz="1050" b="0">
                          <a:solidFill>
                            <a:srgbClr val="0E2F57"/>
                          </a:solidFill>
                          <a:latin typeface="Calibri"/>
                        </a:rPr>
                        <a:t>0.6197</a:t>
                      </a:r>
                    </a:p>
                  </a:txBody>
                  <a:tcPr marL="54864" marR="54864" marT="18288" marB="18288" anchor="ctr">
                    <a:solidFill>
                      <a:srgbClr val="FFFFFF"/>
                    </a:solidFill>
                  </a:tcPr>
                </a:tc>
                <a:tc>
                  <a:txBody>
                    <a:bodyPr wrap="square"/>
                    <a:lstStyle/>
                    <a:p>
                      <a:pPr algn="ctr"/>
                      <a:r>
                        <a:rPr sz="1050" b="0">
                          <a:solidFill>
                            <a:srgbClr val="0E2F57"/>
                          </a:solidFill>
                          <a:latin typeface="Calibri"/>
                        </a:rPr>
                        <a:t>0.4776</a:t>
                      </a:r>
                    </a:p>
                  </a:txBody>
                  <a:tcPr marL="54864" marR="54864" marT="18288" marB="18288" anchor="ctr">
                    <a:solidFill>
                      <a:srgbClr val="FFFFFF"/>
                    </a:solidFill>
                  </a:tcPr>
                </a:tc>
                <a:tc>
                  <a:txBody>
                    <a:bodyPr wrap="square"/>
                    <a:lstStyle/>
                    <a:p>
                      <a:pPr algn="ctr"/>
                      <a:r>
                        <a:rPr sz="1050" b="0">
                          <a:solidFill>
                            <a:srgbClr val="0E2F57"/>
                          </a:solidFill>
                          <a:latin typeface="Calibri"/>
                        </a:rPr>
                        <a:t>−22.9%</a:t>
                      </a:r>
                    </a:p>
                  </a:txBody>
                  <a:tcPr marL="54864" marR="54864" marT="18288" marB="18288" anchor="ctr">
                    <a:solidFill>
                      <a:srgbClr val="FFFFFF"/>
                    </a:solidFill>
                  </a:tcPr>
                </a:tc>
              </a:tr>
              <a:tr h="246888">
                <a:tc>
                  <a:txBody>
                    <a:bodyPr wrap="square"/>
                    <a:lstStyle/>
                    <a:p>
                      <a:pPr algn="l"/>
                      <a:r>
                        <a:rPr sz="1050" b="0">
                          <a:solidFill>
                            <a:srgbClr val="0E2F57"/>
                          </a:solidFill>
                          <a:latin typeface="Calibri"/>
                        </a:rPr>
                        <a:t>XGBoost</a:t>
                      </a:r>
                    </a:p>
                  </a:txBody>
                  <a:tcPr marL="54864" marR="54864" marT="18288" marB="18288" anchor="ctr">
                    <a:solidFill>
                      <a:srgbClr val="F3F5F8"/>
                    </a:solidFill>
                  </a:tcPr>
                </a:tc>
                <a:tc>
                  <a:txBody>
                    <a:bodyPr wrap="square"/>
                    <a:lstStyle/>
                    <a:p>
                      <a:pPr algn="ctr"/>
                      <a:r>
                        <a:rPr sz="1050" b="0">
                          <a:solidFill>
                            <a:srgbClr val="0E2F57"/>
                          </a:solidFill>
                          <a:latin typeface="Calibri"/>
                        </a:rPr>
                        <a:t>weighted</a:t>
                      </a:r>
                    </a:p>
                  </a:txBody>
                  <a:tcPr marL="54864" marR="54864" marT="18288" marB="18288" anchor="ctr">
                    <a:solidFill>
                      <a:srgbClr val="F3F5F8"/>
                    </a:solidFill>
                  </a:tcPr>
                </a:tc>
                <a:tc>
                  <a:txBody>
                    <a:bodyPr wrap="square"/>
                    <a:lstStyle/>
                    <a:p>
                      <a:pPr algn="ctr"/>
                      <a:r>
                        <a:rPr sz="1050" b="0">
                          <a:solidFill>
                            <a:srgbClr val="0E2F57"/>
                          </a:solidFill>
                          <a:latin typeface="Calibri"/>
                        </a:rPr>
                        <a:t>0.5966</a:t>
                      </a:r>
                    </a:p>
                  </a:txBody>
                  <a:tcPr marL="54864" marR="54864" marT="18288" marB="18288" anchor="ctr">
                    <a:solidFill>
                      <a:srgbClr val="F3F5F8"/>
                    </a:solidFill>
                  </a:tcPr>
                </a:tc>
                <a:tc>
                  <a:txBody>
                    <a:bodyPr wrap="square"/>
                    <a:lstStyle/>
                    <a:p>
                      <a:pPr algn="ctr"/>
                      <a:r>
                        <a:rPr sz="1050" b="0">
                          <a:solidFill>
                            <a:srgbClr val="0E2F57"/>
                          </a:solidFill>
                          <a:latin typeface="Calibri"/>
                        </a:rPr>
                        <a:t>0.4995</a:t>
                      </a:r>
                    </a:p>
                  </a:txBody>
                  <a:tcPr marL="54864" marR="54864" marT="18288" marB="18288" anchor="ctr">
                    <a:solidFill>
                      <a:srgbClr val="F3F5F8"/>
                    </a:solidFill>
                  </a:tcPr>
                </a:tc>
                <a:tc>
                  <a:txBody>
                    <a:bodyPr wrap="square"/>
                    <a:lstStyle/>
                    <a:p>
                      <a:pPr algn="ctr"/>
                      <a:r>
                        <a:rPr sz="1050" b="0">
                          <a:solidFill>
                            <a:srgbClr val="0E2F57"/>
                          </a:solidFill>
                          <a:latin typeface="Calibri"/>
                        </a:rPr>
                        <a:t>−16.3%</a:t>
                      </a:r>
                    </a:p>
                  </a:txBody>
                  <a:tcPr marL="54864" marR="54864" marT="18288" marB="18288" anchor="ctr">
                    <a:solidFill>
                      <a:srgbClr val="F3F5F8"/>
                    </a:solidFill>
                  </a:tcPr>
                </a:tc>
              </a:tr>
              <a:tr h="246888">
                <a:tc>
                  <a:txBody>
                    <a:bodyPr wrap="square"/>
                    <a:lstStyle/>
                    <a:p>
                      <a:pPr algn="l"/>
                      <a:r>
                        <a:rPr sz="1050" b="0">
                          <a:solidFill>
                            <a:srgbClr val="0E2F57"/>
                          </a:solidFill>
                          <a:latin typeface="Calibri"/>
                        </a:rPr>
                        <a:t>LightGBM</a:t>
                      </a:r>
                    </a:p>
                  </a:txBody>
                  <a:tcPr marL="54864" marR="54864" marT="18288" marB="18288" anchor="ctr">
                    <a:solidFill>
                      <a:srgbClr val="FFFFFF"/>
                    </a:solidFill>
                  </a:tcPr>
                </a:tc>
                <a:tc>
                  <a:txBody>
                    <a:bodyPr wrap="square"/>
                    <a:lstStyle/>
                    <a:p>
                      <a:pPr algn="ctr"/>
                      <a:r>
                        <a:rPr sz="1050" b="0">
                          <a:solidFill>
                            <a:srgbClr val="0E2F57"/>
                          </a:solidFill>
                          <a:latin typeface="Calibri"/>
                        </a:rPr>
                        <a:t>none</a:t>
                      </a:r>
                    </a:p>
                  </a:txBody>
                  <a:tcPr marL="54864" marR="54864" marT="18288" marB="18288" anchor="ctr">
                    <a:solidFill>
                      <a:srgbClr val="FFFFFF"/>
                    </a:solidFill>
                  </a:tcPr>
                </a:tc>
                <a:tc>
                  <a:txBody>
                    <a:bodyPr wrap="square"/>
                    <a:lstStyle/>
                    <a:p>
                      <a:pPr algn="ctr"/>
                      <a:r>
                        <a:rPr sz="1050" b="0">
                          <a:solidFill>
                            <a:srgbClr val="0E2F57"/>
                          </a:solidFill>
                          <a:latin typeface="Calibri"/>
                        </a:rPr>
                        <a:t>0.6248</a:t>
                      </a:r>
                    </a:p>
                  </a:txBody>
                  <a:tcPr marL="54864" marR="54864" marT="18288" marB="18288" anchor="ctr">
                    <a:solidFill>
                      <a:srgbClr val="FFFFFF"/>
                    </a:solidFill>
                  </a:tcPr>
                </a:tc>
                <a:tc>
                  <a:txBody>
                    <a:bodyPr wrap="square"/>
                    <a:lstStyle/>
                    <a:p>
                      <a:pPr algn="ctr"/>
                      <a:r>
                        <a:rPr sz="1050" b="0">
                          <a:solidFill>
                            <a:srgbClr val="0E2F57"/>
                          </a:solidFill>
                          <a:latin typeface="Calibri"/>
                        </a:rPr>
                        <a:t>0.4823</a:t>
                      </a:r>
                    </a:p>
                  </a:txBody>
                  <a:tcPr marL="54864" marR="54864" marT="18288" marB="18288" anchor="ctr">
                    <a:solidFill>
                      <a:srgbClr val="FFFFFF"/>
                    </a:solidFill>
                  </a:tcPr>
                </a:tc>
                <a:tc>
                  <a:txBody>
                    <a:bodyPr wrap="square"/>
                    <a:lstStyle/>
                    <a:p>
                      <a:pPr algn="ctr"/>
                      <a:r>
                        <a:rPr sz="1050" b="0">
                          <a:solidFill>
                            <a:srgbClr val="0E2F57"/>
                          </a:solidFill>
                          <a:latin typeface="Calibri"/>
                        </a:rPr>
                        <a:t>−22.8%</a:t>
                      </a:r>
                    </a:p>
                  </a:txBody>
                  <a:tcPr marL="54864" marR="54864" marT="18288" marB="18288" anchor="ctr">
                    <a:solidFill>
                      <a:srgbClr val="FFFFFF"/>
                    </a:solidFill>
                  </a:tcPr>
                </a:tc>
              </a:tr>
              <a:tr h="246888">
                <a:tc>
                  <a:txBody>
                    <a:bodyPr wrap="square"/>
                    <a:lstStyle/>
                    <a:p>
                      <a:pPr algn="l"/>
                      <a:r>
                        <a:rPr sz="1050" b="0">
                          <a:solidFill>
                            <a:srgbClr val="0E2F57"/>
                          </a:solidFill>
                          <a:latin typeface="Calibri"/>
                        </a:rPr>
                        <a:t>LightGBM</a:t>
                      </a:r>
                    </a:p>
                  </a:txBody>
                  <a:tcPr marL="54864" marR="54864" marT="18288" marB="18288" anchor="ctr">
                    <a:solidFill>
                      <a:srgbClr val="F3F5F8"/>
                    </a:solidFill>
                  </a:tcPr>
                </a:tc>
                <a:tc>
                  <a:txBody>
                    <a:bodyPr wrap="square"/>
                    <a:lstStyle/>
                    <a:p>
                      <a:pPr algn="ctr"/>
                      <a:r>
                        <a:rPr sz="1050" b="0">
                          <a:solidFill>
                            <a:srgbClr val="0E2F57"/>
                          </a:solidFill>
                          <a:latin typeface="Calibri"/>
                        </a:rPr>
                        <a:t>weighted</a:t>
                      </a:r>
                    </a:p>
                  </a:txBody>
                  <a:tcPr marL="54864" marR="54864" marT="18288" marB="18288" anchor="ctr">
                    <a:solidFill>
                      <a:srgbClr val="F3F5F8"/>
                    </a:solidFill>
                  </a:tcPr>
                </a:tc>
                <a:tc>
                  <a:txBody>
                    <a:bodyPr wrap="square"/>
                    <a:lstStyle/>
                    <a:p>
                      <a:pPr algn="ctr"/>
                      <a:r>
                        <a:rPr sz="1050" b="0">
                          <a:solidFill>
                            <a:srgbClr val="0E2F57"/>
                          </a:solidFill>
                          <a:latin typeface="Calibri"/>
                        </a:rPr>
                        <a:t>0.6044</a:t>
                      </a:r>
                    </a:p>
                  </a:txBody>
                  <a:tcPr marL="54864" marR="54864" marT="18288" marB="18288" anchor="ctr">
                    <a:solidFill>
                      <a:srgbClr val="F3F5F8"/>
                    </a:solidFill>
                  </a:tcPr>
                </a:tc>
                <a:tc>
                  <a:txBody>
                    <a:bodyPr wrap="square"/>
                    <a:lstStyle/>
                    <a:p>
                      <a:pPr algn="ctr"/>
                      <a:r>
                        <a:rPr sz="1050" b="0">
                          <a:solidFill>
                            <a:srgbClr val="0E2F57"/>
                          </a:solidFill>
                          <a:latin typeface="Calibri"/>
                        </a:rPr>
                        <a:t>0.5052</a:t>
                      </a:r>
                    </a:p>
                  </a:txBody>
                  <a:tcPr marL="54864" marR="54864" marT="18288" marB="18288" anchor="ctr">
                    <a:solidFill>
                      <a:srgbClr val="F3F5F8"/>
                    </a:solidFill>
                  </a:tcPr>
                </a:tc>
                <a:tc>
                  <a:txBody>
                    <a:bodyPr wrap="square"/>
                    <a:lstStyle/>
                    <a:p>
                      <a:pPr algn="ctr"/>
                      <a:r>
                        <a:rPr sz="1050" b="0">
                          <a:solidFill>
                            <a:srgbClr val="0E2F57"/>
                          </a:solidFill>
                          <a:latin typeface="Calibri"/>
                        </a:rPr>
                        <a:t>−16.4%</a:t>
                      </a:r>
                    </a:p>
                  </a:txBody>
                  <a:tcPr marL="54864" marR="54864" marT="18288" marB="18288" anchor="ctr">
                    <a:solidFill>
                      <a:srgbClr val="F3F5F8"/>
                    </a:solidFill>
                  </a:tcPr>
                </a:tc>
              </a:tr>
            </a:tbl>
          </a:graphicData>
        </a:graphic>
      </p:graphicFrame>
      <p:sp>
        <p:nvSpPr>
          <p:cNvPr id="10"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11"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B2 — Confusion Matrices, LightGBM</a:t>
            </a:r>
          </a:p>
        </p:txBody>
      </p:sp>
      <p:sp>
        <p:nvSpPr>
          <p:cNvPr id="3" name="TextBox 2"/>
          <p:cNvSpPr txBox="1"/>
          <p:nvPr/>
        </p:nvSpPr>
        <p:spPr>
          <a:xfrm>
            <a:off x="841248" y="2286000"/>
            <a:ext cx="5120640" cy="274320"/>
          </a:xfrm>
          <a:prstGeom prst="rect">
            <a:avLst/>
          </a:prstGeom>
          <a:noFill/>
        </p:spPr>
        <p:txBody>
          <a:bodyPr wrap="square" lIns="0" rIns="0" tIns="18288" bIns="18288" anchor="t"/>
          <a:lstStyle/>
          <a:p>
            <a:pPr algn="l">
              <a:spcAft>
                <a:spcPts val="400"/>
              </a:spcAft>
            </a:pPr>
            <a:r>
              <a:rPr sz="1250" b="1" i="0">
                <a:solidFill>
                  <a:srgbClr val="144E8C"/>
                </a:solidFill>
                <a:latin typeface="Calibri"/>
              </a:rPr>
              <a:t>No weighting — Macro-F1 0.6248</a:t>
            </a:r>
          </a:p>
        </p:txBody>
      </p:sp>
      <p:graphicFrame>
        <p:nvGraphicFramePr>
          <p:cNvPr id="4" name="Table 3"/>
          <p:cNvGraphicFramePr>
            <a:graphicFrameLocks noGrp="1"/>
          </p:cNvGraphicFramePr>
          <p:nvPr/>
        </p:nvGraphicFramePr>
        <p:xfrm>
          <a:off x="841248" y="2606040"/>
          <a:ext cx="5120637" cy="1810512"/>
        </p:xfrm>
        <a:graphic>
          <a:graphicData uri="http://schemas.openxmlformats.org/drawingml/2006/table">
            <a:tbl>
              <a:tblPr firstRow="0" bandRow="0">
                <a:tableStyleId>{5C22544A-7EE6-4342-B048-85BDC9FD1C3A}</a:tableStyleId>
              </a:tblPr>
              <a:tblGrid>
                <a:gridCol w="899571"/>
                <a:gridCol w="691978"/>
                <a:gridCol w="691978"/>
                <a:gridCol w="691978"/>
                <a:gridCol w="691978"/>
                <a:gridCol w="691978"/>
                <a:gridCol w="761176"/>
              </a:tblGrid>
              <a:tr h="301752">
                <a:tc>
                  <a:txBody>
                    <a:bodyPr wrap="square"/>
                    <a:lstStyle/>
                    <a:p>
                      <a:pPr algn="l"/>
                      <a:r>
                        <a:rPr sz="1100" b="1">
                          <a:solidFill>
                            <a:srgbClr val="FFFFFF"/>
                          </a:solidFill>
                          <a:latin typeface="Calibri"/>
                        </a:rPr>
                        <a:t>True \ Pred</a:t>
                      </a:r>
                    </a:p>
                  </a:txBody>
                  <a:tcPr marL="54864" marR="54864" marT="18288" marB="18288" anchor="ctr">
                    <a:solidFill>
                      <a:srgbClr val="144E8C"/>
                    </a:solidFill>
                  </a:tcPr>
                </a:tc>
                <a:tc>
                  <a:txBody>
                    <a:bodyPr wrap="square"/>
                    <a:lstStyle/>
                    <a:p>
                      <a:pPr algn="ctr"/>
                      <a:r>
                        <a:rPr sz="1100" b="1">
                          <a:solidFill>
                            <a:srgbClr val="FFFFFF"/>
                          </a:solidFill>
                          <a:latin typeface="Calibri"/>
                        </a:rPr>
                        <a:t>1</a:t>
                      </a:r>
                    </a:p>
                  </a:txBody>
                  <a:tcPr marL="54864" marR="54864" marT="18288" marB="18288" anchor="ctr">
                    <a:solidFill>
                      <a:srgbClr val="144E8C"/>
                    </a:solidFill>
                  </a:tcPr>
                </a:tc>
                <a:tc>
                  <a:txBody>
                    <a:bodyPr wrap="square"/>
                    <a:lstStyle/>
                    <a:p>
                      <a:pPr algn="ctr"/>
                      <a:r>
                        <a:rPr sz="1100" b="1">
                          <a:solidFill>
                            <a:srgbClr val="FFFFFF"/>
                          </a:solidFill>
                          <a:latin typeface="Calibri"/>
                        </a:rPr>
                        <a:t>2</a:t>
                      </a:r>
                    </a:p>
                  </a:txBody>
                  <a:tcPr marL="54864" marR="54864" marT="18288" marB="18288" anchor="ctr">
                    <a:solidFill>
                      <a:srgbClr val="144E8C"/>
                    </a:solidFill>
                  </a:tcPr>
                </a:tc>
                <a:tc>
                  <a:txBody>
                    <a:bodyPr wrap="square"/>
                    <a:lstStyle/>
                    <a:p>
                      <a:pPr algn="ctr"/>
                      <a:r>
                        <a:rPr sz="1100" b="1">
                          <a:solidFill>
                            <a:srgbClr val="FFFFFF"/>
                          </a:solidFill>
                          <a:latin typeface="Calibri"/>
                        </a:rPr>
                        <a:t>3</a:t>
                      </a:r>
                    </a:p>
                  </a:txBody>
                  <a:tcPr marL="54864" marR="54864" marT="18288" marB="18288" anchor="ctr">
                    <a:solidFill>
                      <a:srgbClr val="144E8C"/>
                    </a:solidFill>
                  </a:tcPr>
                </a:tc>
                <a:tc>
                  <a:txBody>
                    <a:bodyPr wrap="square"/>
                    <a:lstStyle/>
                    <a:p>
                      <a:pPr algn="ctr"/>
                      <a:r>
                        <a:rPr sz="1100" b="1">
                          <a:solidFill>
                            <a:srgbClr val="FFFFFF"/>
                          </a:solidFill>
                          <a:latin typeface="Calibri"/>
                        </a:rPr>
                        <a:t>4</a:t>
                      </a:r>
                    </a:p>
                  </a:txBody>
                  <a:tcPr marL="54864" marR="54864" marT="18288" marB="18288" anchor="ctr">
                    <a:solidFill>
                      <a:srgbClr val="144E8C"/>
                    </a:solidFill>
                  </a:tcPr>
                </a:tc>
                <a:tc>
                  <a:txBody>
                    <a:bodyPr wrap="square"/>
                    <a:lstStyle/>
                    <a:p>
                      <a:pPr algn="ctr"/>
                      <a:r>
                        <a:rPr sz="1100" b="1">
                          <a:solidFill>
                            <a:srgbClr val="FFFFFF"/>
                          </a:solidFill>
                          <a:latin typeface="Calibri"/>
                        </a:rPr>
                        <a:t>5</a:t>
                      </a:r>
                    </a:p>
                  </a:txBody>
                  <a:tcPr marL="54864" marR="54864" marT="18288" marB="18288" anchor="ctr">
                    <a:solidFill>
                      <a:srgbClr val="144E8C"/>
                    </a:solidFill>
                  </a:tcPr>
                </a:tc>
                <a:tc>
                  <a:txBody>
                    <a:bodyPr wrap="square"/>
                    <a:lstStyle/>
                    <a:p>
                      <a:pPr algn="ctr"/>
                      <a:r>
                        <a:rPr sz="1100" b="1">
                          <a:solidFill>
                            <a:srgbClr val="FFFFFF"/>
                          </a:solidFill>
                          <a:latin typeface="Calibri"/>
                        </a:rPr>
                        <a:t>Recall</a:t>
                      </a:r>
                    </a:p>
                  </a:txBody>
                  <a:tcPr marL="54864" marR="54864" marT="18288" marB="18288" anchor="ctr">
                    <a:solidFill>
                      <a:srgbClr val="144E8C"/>
                    </a:solidFill>
                  </a:tcPr>
                </a:tc>
              </a:tr>
              <a:tr h="301752">
                <a:tc>
                  <a:txBody>
                    <a:bodyPr wrap="square"/>
                    <a:lstStyle/>
                    <a:p>
                      <a:pPr algn="l"/>
                      <a:r>
                        <a:rPr sz="1100" b="0">
                          <a:solidFill>
                            <a:srgbClr val="0E2F57"/>
                          </a:solidFill>
                          <a:latin typeface="Calibri"/>
                        </a:rPr>
                        <a:t>1</a:t>
                      </a:r>
                    </a:p>
                  </a:txBody>
                  <a:tcPr marL="54864" marR="54864" marT="18288" marB="18288" anchor="ctr">
                    <a:solidFill>
                      <a:srgbClr val="FFFFFF"/>
                    </a:solidFill>
                  </a:tcPr>
                </a:tc>
                <a:tc>
                  <a:txBody>
                    <a:bodyPr wrap="square"/>
                    <a:lstStyle/>
                    <a:p>
                      <a:pPr algn="ctr"/>
                      <a:r>
                        <a:rPr sz="1100" b="0">
                          <a:solidFill>
                            <a:srgbClr val="0E2F57"/>
                          </a:solidFill>
                          <a:latin typeface="Calibri"/>
                        </a:rPr>
                        <a:t>4,153</a:t>
                      </a:r>
                    </a:p>
                  </a:txBody>
                  <a:tcPr marL="54864" marR="54864" marT="18288" marB="18288" anchor="ctr">
                    <a:solidFill>
                      <a:srgbClr val="FFFFFF"/>
                    </a:solidFill>
                  </a:tcPr>
                </a:tc>
                <a:tc>
                  <a:txBody>
                    <a:bodyPr wrap="square"/>
                    <a:lstStyle/>
                    <a:p>
                      <a:pPr algn="ctr"/>
                      <a:r>
                        <a:rPr sz="1100" b="0">
                          <a:solidFill>
                            <a:srgbClr val="0E2F57"/>
                          </a:solidFill>
                          <a:latin typeface="Calibri"/>
                        </a:rPr>
                        <a:t>22</a:t>
                      </a:r>
                    </a:p>
                  </a:txBody>
                  <a:tcPr marL="54864" marR="54864" marT="18288" marB="18288" anchor="ctr">
                    <a:solidFill>
                      <a:srgbClr val="FFFFFF"/>
                    </a:solidFill>
                  </a:tcPr>
                </a:tc>
                <a:tc>
                  <a:txBody>
                    <a:bodyPr wrap="square"/>
                    <a:lstStyle/>
                    <a:p>
                      <a:pPr algn="ctr"/>
                      <a:r>
                        <a:rPr sz="1100" b="0">
                          <a:solidFill>
                            <a:srgbClr val="0E2F57"/>
                          </a:solidFill>
                          <a:latin typeface="Calibri"/>
                        </a:rPr>
                        <a:t>6</a:t>
                      </a:r>
                    </a:p>
                  </a:txBody>
                  <a:tcPr marL="54864" marR="54864" marT="18288" marB="18288" anchor="ctr">
                    <a:solidFill>
                      <a:srgbClr val="FFFFFF"/>
                    </a:solidFill>
                  </a:tcPr>
                </a:tc>
                <a:tc>
                  <a:txBody>
                    <a:bodyPr wrap="square"/>
                    <a:lstStyle/>
                    <a:p>
                      <a:pPr algn="ctr"/>
                      <a:r>
                        <a:rPr sz="1100" b="0">
                          <a:solidFill>
                            <a:srgbClr val="0E2F57"/>
                          </a:solidFill>
                          <a:latin typeface="Calibri"/>
                        </a:rPr>
                        <a:t>3</a:t>
                      </a:r>
                    </a:p>
                  </a:txBody>
                  <a:tcPr marL="54864" marR="54864" marT="18288" marB="18288" anchor="ctr">
                    <a:solidFill>
                      <a:srgbClr val="FFFFFF"/>
                    </a:solidFill>
                  </a:tcPr>
                </a:tc>
                <a:tc>
                  <a:txBody>
                    <a:bodyPr wrap="square"/>
                    <a:lstStyle/>
                    <a:p>
                      <a:pPr algn="ctr"/>
                      <a:r>
                        <a:rPr sz="1100" b="0">
                          <a:solidFill>
                            <a:srgbClr val="0E2F57"/>
                          </a:solidFill>
                          <a:latin typeface="Calibri"/>
                        </a:rPr>
                        <a:t>10</a:t>
                      </a:r>
                    </a:p>
                  </a:txBody>
                  <a:tcPr marL="54864" marR="54864" marT="18288" marB="18288" anchor="ctr">
                    <a:solidFill>
                      <a:srgbClr val="FFFFFF"/>
                    </a:solidFill>
                  </a:tcPr>
                </a:tc>
                <a:tc>
                  <a:txBody>
                    <a:bodyPr wrap="square"/>
                    <a:lstStyle/>
                    <a:p>
                      <a:pPr algn="ctr"/>
                      <a:r>
                        <a:rPr sz="1100" b="0">
                          <a:solidFill>
                            <a:srgbClr val="0E2F57"/>
                          </a:solidFill>
                          <a:latin typeface="Calibri"/>
                        </a:rPr>
                        <a:t>0.990</a:t>
                      </a:r>
                    </a:p>
                  </a:txBody>
                  <a:tcPr marL="54864" marR="54864" marT="18288" marB="18288" anchor="ctr">
                    <a:solidFill>
                      <a:srgbClr val="FFFFFF"/>
                    </a:solidFill>
                  </a:tcPr>
                </a:tc>
              </a:tr>
              <a:tr h="301752">
                <a:tc>
                  <a:txBody>
                    <a:bodyPr wrap="square"/>
                    <a:lstStyle/>
                    <a:p>
                      <a:pPr algn="l"/>
                      <a:r>
                        <a:rPr sz="1100" b="0">
                          <a:solidFill>
                            <a:srgbClr val="0E2F57"/>
                          </a:solidFill>
                          <a:latin typeface="Calibri"/>
                        </a:rPr>
                        <a:t>2</a:t>
                      </a:r>
                    </a:p>
                  </a:txBody>
                  <a:tcPr marL="54864" marR="54864" marT="18288" marB="18288" anchor="ctr">
                    <a:solidFill>
                      <a:srgbClr val="F3F5F8"/>
                    </a:solidFill>
                  </a:tcPr>
                </a:tc>
                <a:tc>
                  <a:txBody>
                    <a:bodyPr wrap="square"/>
                    <a:lstStyle/>
                    <a:p>
                      <a:pPr algn="ctr"/>
                      <a:r>
                        <a:rPr sz="1100" b="0">
                          <a:solidFill>
                            <a:srgbClr val="0E2F57"/>
                          </a:solidFill>
                          <a:latin typeface="Calibri"/>
                        </a:rPr>
                        <a:t>195</a:t>
                      </a:r>
                    </a:p>
                  </a:txBody>
                  <a:tcPr marL="54864" marR="54864" marT="18288" marB="18288" anchor="ctr">
                    <a:solidFill>
                      <a:srgbClr val="F3F5F8"/>
                    </a:solidFill>
                  </a:tcPr>
                </a:tc>
                <a:tc>
                  <a:txBody>
                    <a:bodyPr wrap="square"/>
                    <a:lstStyle/>
                    <a:p>
                      <a:pPr algn="ctr"/>
                      <a:r>
                        <a:rPr sz="1100" b="0">
                          <a:solidFill>
                            <a:srgbClr val="0E2F57"/>
                          </a:solidFill>
                          <a:latin typeface="Calibri"/>
                        </a:rPr>
                        <a:t>47</a:t>
                      </a:r>
                    </a:p>
                  </a:txBody>
                  <a:tcPr marL="54864" marR="54864" marT="18288" marB="18288" anchor="ctr">
                    <a:solidFill>
                      <a:srgbClr val="F3F5F8"/>
                    </a:solidFill>
                  </a:tcPr>
                </a:tc>
                <a:tc>
                  <a:txBody>
                    <a:bodyPr wrap="square"/>
                    <a:lstStyle/>
                    <a:p>
                      <a:pPr algn="ctr"/>
                      <a:r>
                        <a:rPr sz="1100" b="0">
                          <a:solidFill>
                            <a:srgbClr val="0E2F57"/>
                          </a:solidFill>
                          <a:latin typeface="Calibri"/>
                        </a:rPr>
                        <a:t>10</a:t>
                      </a:r>
                    </a:p>
                  </a:txBody>
                  <a:tcPr marL="54864" marR="54864" marT="18288" marB="18288" anchor="ctr">
                    <a:solidFill>
                      <a:srgbClr val="F3F5F8"/>
                    </a:solidFill>
                  </a:tcPr>
                </a:tc>
                <a:tc>
                  <a:txBody>
                    <a:bodyPr wrap="square"/>
                    <a:lstStyle/>
                    <a:p>
                      <a:pPr algn="ctr"/>
                      <a:r>
                        <a:rPr sz="1100" b="0">
                          <a:solidFill>
                            <a:srgbClr val="0E2F57"/>
                          </a:solidFill>
                          <a:latin typeface="Calibri"/>
                        </a:rPr>
                        <a:t>3</a:t>
                      </a:r>
                    </a:p>
                  </a:txBody>
                  <a:tcPr marL="54864" marR="54864" marT="18288" marB="18288" anchor="ctr">
                    <a:solidFill>
                      <a:srgbClr val="F3F5F8"/>
                    </a:solidFill>
                  </a:tcPr>
                </a:tc>
                <a:tc>
                  <a:txBody>
                    <a:bodyPr wrap="square"/>
                    <a:lstStyle/>
                    <a:p>
                      <a:pPr algn="ctr"/>
                      <a:r>
                        <a:rPr sz="1100" b="0">
                          <a:solidFill>
                            <a:srgbClr val="0E2F57"/>
                          </a:solidFill>
                          <a:latin typeface="Calibri"/>
                        </a:rPr>
                        <a:t>2</a:t>
                      </a:r>
                    </a:p>
                  </a:txBody>
                  <a:tcPr marL="54864" marR="54864" marT="18288" marB="18288" anchor="ctr">
                    <a:solidFill>
                      <a:srgbClr val="F3F5F8"/>
                    </a:solidFill>
                  </a:tcPr>
                </a:tc>
                <a:tc>
                  <a:txBody>
                    <a:bodyPr wrap="square"/>
                    <a:lstStyle/>
                    <a:p>
                      <a:pPr algn="ctr"/>
                      <a:r>
                        <a:rPr sz="1100" b="0">
                          <a:solidFill>
                            <a:srgbClr val="0E2F57"/>
                          </a:solidFill>
                          <a:latin typeface="Calibri"/>
                        </a:rPr>
                        <a:t>0.183</a:t>
                      </a:r>
                    </a:p>
                  </a:txBody>
                  <a:tcPr marL="54864" marR="54864" marT="18288" marB="18288" anchor="ctr">
                    <a:solidFill>
                      <a:srgbClr val="F3F5F8"/>
                    </a:solidFill>
                  </a:tcPr>
                </a:tc>
              </a:tr>
              <a:tr h="301752">
                <a:tc>
                  <a:txBody>
                    <a:bodyPr wrap="square"/>
                    <a:lstStyle/>
                    <a:p>
                      <a:pPr algn="l"/>
                      <a:r>
                        <a:rPr sz="1100" b="0">
                          <a:solidFill>
                            <a:srgbClr val="0E2F57"/>
                          </a:solidFill>
                          <a:latin typeface="Calibri"/>
                        </a:rPr>
                        <a:t>3</a:t>
                      </a:r>
                    </a:p>
                  </a:txBody>
                  <a:tcPr marL="54864" marR="54864" marT="18288" marB="18288" anchor="ctr">
                    <a:solidFill>
                      <a:srgbClr val="FFFFFF"/>
                    </a:solidFill>
                  </a:tcPr>
                </a:tc>
                <a:tc>
                  <a:txBody>
                    <a:bodyPr wrap="square"/>
                    <a:lstStyle/>
                    <a:p>
                      <a:pPr algn="ctr"/>
                      <a:r>
                        <a:rPr sz="1100" b="0">
                          <a:solidFill>
                            <a:srgbClr val="0E2F57"/>
                          </a:solidFill>
                          <a:latin typeface="Calibri"/>
                        </a:rPr>
                        <a:t>68</a:t>
                      </a:r>
                    </a:p>
                  </a:txBody>
                  <a:tcPr marL="54864" marR="54864" marT="18288" marB="18288" anchor="ctr">
                    <a:solidFill>
                      <a:srgbClr val="FFFFFF"/>
                    </a:solidFill>
                  </a:tcPr>
                </a:tc>
                <a:tc>
                  <a:txBody>
                    <a:bodyPr wrap="square"/>
                    <a:lstStyle/>
                    <a:p>
                      <a:pPr algn="ctr"/>
                      <a:r>
                        <a:rPr sz="1100" b="0">
                          <a:solidFill>
                            <a:srgbClr val="0E2F57"/>
                          </a:solidFill>
                          <a:latin typeface="Calibri"/>
                        </a:rPr>
                        <a:t>3</a:t>
                      </a:r>
                    </a:p>
                  </a:txBody>
                  <a:tcPr marL="54864" marR="54864" marT="18288" marB="18288" anchor="ctr">
                    <a:solidFill>
                      <a:srgbClr val="FFFFFF"/>
                    </a:solidFill>
                  </a:tcPr>
                </a:tc>
                <a:tc>
                  <a:txBody>
                    <a:bodyPr wrap="square"/>
                    <a:lstStyle/>
                    <a:p>
                      <a:pPr algn="ctr"/>
                      <a:r>
                        <a:rPr sz="1100" b="0">
                          <a:solidFill>
                            <a:srgbClr val="0E2F57"/>
                          </a:solidFill>
                          <a:latin typeface="Calibri"/>
                        </a:rPr>
                        <a:t>38</a:t>
                      </a:r>
                    </a:p>
                  </a:txBody>
                  <a:tcPr marL="54864" marR="54864" marT="18288" marB="18288" anchor="ctr">
                    <a:solidFill>
                      <a:srgbClr val="FFFFFF"/>
                    </a:solidFill>
                  </a:tcPr>
                </a:tc>
                <a:tc>
                  <a:txBody>
                    <a:bodyPr wrap="square"/>
                    <a:lstStyle/>
                    <a:p>
                      <a:pPr algn="ctr"/>
                      <a:r>
                        <a:rPr sz="1100" b="0">
                          <a:solidFill>
                            <a:srgbClr val="0E2F57"/>
                          </a:solidFill>
                          <a:latin typeface="Calibri"/>
                        </a:rPr>
                        <a:t>10</a:t>
                      </a:r>
                    </a:p>
                  </a:txBody>
                  <a:tcPr marL="54864" marR="54864" marT="18288" marB="18288" anchor="ctr">
                    <a:solidFill>
                      <a:srgbClr val="FFFFFF"/>
                    </a:solidFill>
                  </a:tcPr>
                </a:tc>
                <a:tc>
                  <a:txBody>
                    <a:bodyPr wrap="square"/>
                    <a:lstStyle/>
                    <a:p>
                      <a:pPr algn="ctr"/>
                      <a:r>
                        <a:rPr sz="1100" b="0">
                          <a:solidFill>
                            <a:srgbClr val="0E2F57"/>
                          </a:solidFill>
                          <a:latin typeface="Calibri"/>
                        </a:rPr>
                        <a:t>2</a:t>
                      </a:r>
                    </a:p>
                  </a:txBody>
                  <a:tcPr marL="54864" marR="54864" marT="18288" marB="18288" anchor="ctr">
                    <a:solidFill>
                      <a:srgbClr val="FFFFFF"/>
                    </a:solidFill>
                  </a:tcPr>
                </a:tc>
                <a:tc>
                  <a:txBody>
                    <a:bodyPr wrap="square"/>
                    <a:lstStyle/>
                    <a:p>
                      <a:pPr algn="ctr"/>
                      <a:r>
                        <a:rPr sz="1100" b="0">
                          <a:solidFill>
                            <a:srgbClr val="0E2F57"/>
                          </a:solidFill>
                          <a:latin typeface="Calibri"/>
                        </a:rPr>
                        <a:t>0.314</a:t>
                      </a:r>
                    </a:p>
                  </a:txBody>
                  <a:tcPr marL="54864" marR="54864" marT="18288" marB="18288" anchor="ctr">
                    <a:solidFill>
                      <a:srgbClr val="FFFFFF"/>
                    </a:solidFill>
                  </a:tcPr>
                </a:tc>
              </a:tr>
              <a:tr h="301752">
                <a:tc>
                  <a:txBody>
                    <a:bodyPr wrap="square"/>
                    <a:lstStyle/>
                    <a:p>
                      <a:pPr algn="l"/>
                      <a:r>
                        <a:rPr sz="1100" b="0">
                          <a:solidFill>
                            <a:srgbClr val="0E2F57"/>
                          </a:solidFill>
                          <a:latin typeface="Calibri"/>
                        </a:rPr>
                        <a:t>4</a:t>
                      </a:r>
                    </a:p>
                  </a:txBody>
                  <a:tcPr marL="54864" marR="54864" marT="18288" marB="18288" anchor="ctr">
                    <a:solidFill>
                      <a:srgbClr val="F3F5F8"/>
                    </a:solidFill>
                  </a:tcPr>
                </a:tc>
                <a:tc>
                  <a:txBody>
                    <a:bodyPr wrap="square"/>
                    <a:lstStyle/>
                    <a:p>
                      <a:pPr algn="ctr"/>
                      <a:r>
                        <a:rPr sz="1100" b="0">
                          <a:solidFill>
                            <a:srgbClr val="0E2F57"/>
                          </a:solidFill>
                          <a:latin typeface="Calibri"/>
                        </a:rPr>
                        <a:t>59</a:t>
                      </a:r>
                    </a:p>
                  </a:txBody>
                  <a:tcPr marL="54864" marR="54864" marT="18288" marB="18288" anchor="ctr">
                    <a:solidFill>
                      <a:srgbClr val="F3F5F8"/>
                    </a:solidFill>
                  </a:tcPr>
                </a:tc>
                <a:tc>
                  <a:txBody>
                    <a:bodyPr wrap="square"/>
                    <a:lstStyle/>
                    <a:p>
                      <a:pPr algn="ctr"/>
                      <a:r>
                        <a:rPr sz="1100" b="0">
                          <a:solidFill>
                            <a:srgbClr val="0E2F57"/>
                          </a:solidFill>
                          <a:latin typeface="Calibri"/>
                        </a:rPr>
                        <a:t>2</a:t>
                      </a:r>
                    </a:p>
                  </a:txBody>
                  <a:tcPr marL="54864" marR="54864" marT="18288" marB="18288" anchor="ctr">
                    <a:solidFill>
                      <a:srgbClr val="F3F5F8"/>
                    </a:solidFill>
                  </a:tcPr>
                </a:tc>
                <a:tc>
                  <a:txBody>
                    <a:bodyPr wrap="square"/>
                    <a:lstStyle/>
                    <a:p>
                      <a:pPr algn="ctr"/>
                      <a:r>
                        <a:rPr sz="1100" b="0">
                          <a:solidFill>
                            <a:srgbClr val="0E2F57"/>
                          </a:solidFill>
                          <a:latin typeface="Calibri"/>
                        </a:rPr>
                        <a:t>7</a:t>
                      </a:r>
                    </a:p>
                  </a:txBody>
                  <a:tcPr marL="54864" marR="54864" marT="18288" marB="18288" anchor="ctr">
                    <a:solidFill>
                      <a:srgbClr val="F3F5F8"/>
                    </a:solidFill>
                  </a:tcPr>
                </a:tc>
                <a:tc>
                  <a:txBody>
                    <a:bodyPr wrap="square"/>
                    <a:lstStyle/>
                    <a:p>
                      <a:pPr algn="ctr"/>
                      <a:r>
                        <a:rPr sz="1100" b="0">
                          <a:solidFill>
                            <a:srgbClr val="0E2F57"/>
                          </a:solidFill>
                          <a:latin typeface="Calibri"/>
                        </a:rPr>
                        <a:t>73</a:t>
                      </a:r>
                    </a:p>
                  </a:txBody>
                  <a:tcPr marL="54864" marR="54864" marT="18288" marB="18288" anchor="ctr">
                    <a:solidFill>
                      <a:srgbClr val="F3F5F8"/>
                    </a:solidFill>
                  </a:tcPr>
                </a:tc>
                <a:tc>
                  <a:txBody>
                    <a:bodyPr wrap="square"/>
                    <a:lstStyle/>
                    <a:p>
                      <a:pPr algn="ctr"/>
                      <a:r>
                        <a:rPr sz="1100" b="0">
                          <a:solidFill>
                            <a:srgbClr val="0E2F57"/>
                          </a:solidFill>
                          <a:latin typeface="Calibri"/>
                        </a:rPr>
                        <a:t>16</a:t>
                      </a:r>
                    </a:p>
                  </a:txBody>
                  <a:tcPr marL="54864" marR="54864" marT="18288" marB="18288" anchor="ctr">
                    <a:solidFill>
                      <a:srgbClr val="F3F5F8"/>
                    </a:solidFill>
                  </a:tcPr>
                </a:tc>
                <a:tc>
                  <a:txBody>
                    <a:bodyPr wrap="square"/>
                    <a:lstStyle/>
                    <a:p>
                      <a:pPr algn="ctr"/>
                      <a:r>
                        <a:rPr sz="1100" b="0">
                          <a:solidFill>
                            <a:srgbClr val="0E2F57"/>
                          </a:solidFill>
                          <a:latin typeface="Calibri"/>
                        </a:rPr>
                        <a:t>0.465</a:t>
                      </a:r>
                    </a:p>
                  </a:txBody>
                  <a:tcPr marL="54864" marR="54864" marT="18288" marB="18288" anchor="ctr">
                    <a:solidFill>
                      <a:srgbClr val="F3F5F8"/>
                    </a:solidFill>
                  </a:tcPr>
                </a:tc>
              </a:tr>
              <a:tr h="301752">
                <a:tc>
                  <a:txBody>
                    <a:bodyPr wrap="square"/>
                    <a:lstStyle/>
                    <a:p>
                      <a:pPr algn="l"/>
                      <a:r>
                        <a:rPr sz="1100" b="0">
                          <a:solidFill>
                            <a:srgbClr val="0E2F57"/>
                          </a:solidFill>
                          <a:latin typeface="Calibri"/>
                        </a:rPr>
                        <a:t>5</a:t>
                      </a:r>
                    </a:p>
                  </a:txBody>
                  <a:tcPr marL="54864" marR="54864" marT="18288" marB="18288" anchor="ctr">
                    <a:solidFill>
                      <a:srgbClr val="FFFFFF"/>
                    </a:solidFill>
                  </a:tcPr>
                </a:tc>
                <a:tc>
                  <a:txBody>
                    <a:bodyPr wrap="square"/>
                    <a:lstStyle/>
                    <a:p>
                      <a:pPr algn="ctr"/>
                      <a:r>
                        <a:rPr sz="1100" b="0">
                          <a:solidFill>
                            <a:srgbClr val="0E2F57"/>
                          </a:solidFill>
                          <a:latin typeface="Calibri"/>
                        </a:rPr>
                        <a:t>33</a:t>
                      </a:r>
                    </a:p>
                  </a:txBody>
                  <a:tcPr marL="54864" marR="54864" marT="18288" marB="18288" anchor="ctr">
                    <a:solidFill>
                      <a:srgbClr val="FFFFFF"/>
                    </a:solidFill>
                  </a:tcPr>
                </a:tc>
                <a:tc>
                  <a:txBody>
                    <a:bodyPr wrap="square"/>
                    <a:lstStyle/>
                    <a:p>
                      <a:pPr algn="ctr"/>
                      <a:r>
                        <a:rPr sz="1100" b="0">
                          <a:solidFill>
                            <a:srgbClr val="0E2F57"/>
                          </a:solidFill>
                          <a:latin typeface="Calibri"/>
                        </a:rPr>
                        <a:t>4</a:t>
                      </a:r>
                    </a:p>
                  </a:txBody>
                  <a:tcPr marL="54864" marR="54864" marT="18288" marB="18288" anchor="ctr">
                    <a:solidFill>
                      <a:srgbClr val="FFFFFF"/>
                    </a:solidFill>
                  </a:tcPr>
                </a:tc>
                <a:tc>
                  <a:txBody>
                    <a:bodyPr wrap="square"/>
                    <a:lstStyle/>
                    <a:p>
                      <a:pPr algn="ctr"/>
                      <a:r>
                        <a:rPr sz="1100" b="0">
                          <a:solidFill>
                            <a:srgbClr val="0E2F57"/>
                          </a:solidFill>
                          <a:latin typeface="Calibri"/>
                        </a:rPr>
                        <a:t>1</a:t>
                      </a:r>
                    </a:p>
                  </a:txBody>
                  <a:tcPr marL="54864" marR="54864" marT="18288" marB="18288" anchor="ctr">
                    <a:solidFill>
                      <a:srgbClr val="FFFFFF"/>
                    </a:solidFill>
                  </a:tcPr>
                </a:tc>
                <a:tc>
                  <a:txBody>
                    <a:bodyPr wrap="square"/>
                    <a:lstStyle/>
                    <a:p>
                      <a:pPr algn="ctr"/>
                      <a:r>
                        <a:rPr sz="1100" b="0">
                          <a:solidFill>
                            <a:srgbClr val="0E2F57"/>
                          </a:solidFill>
                          <a:latin typeface="Calibri"/>
                        </a:rPr>
                        <a:t>23</a:t>
                      </a:r>
                    </a:p>
                  </a:txBody>
                  <a:tcPr marL="54864" marR="54864" marT="18288" marB="18288" anchor="ctr">
                    <a:solidFill>
                      <a:srgbClr val="FFFFFF"/>
                    </a:solidFill>
                  </a:tcPr>
                </a:tc>
                <a:tc>
                  <a:txBody>
                    <a:bodyPr wrap="square"/>
                    <a:lstStyle/>
                    <a:p>
                      <a:pPr algn="ctr"/>
                      <a:r>
                        <a:rPr sz="1100" b="0">
                          <a:solidFill>
                            <a:srgbClr val="0E2F57"/>
                          </a:solidFill>
                          <a:latin typeface="Calibri"/>
                        </a:rPr>
                        <a:t>611</a:t>
                      </a:r>
                    </a:p>
                  </a:txBody>
                  <a:tcPr marL="54864" marR="54864" marT="18288" marB="18288" anchor="ctr">
                    <a:solidFill>
                      <a:srgbClr val="FFFFFF"/>
                    </a:solidFill>
                  </a:tcPr>
                </a:tc>
                <a:tc>
                  <a:txBody>
                    <a:bodyPr wrap="square"/>
                    <a:lstStyle/>
                    <a:p>
                      <a:pPr algn="ctr"/>
                      <a:r>
                        <a:rPr sz="1100" b="0">
                          <a:solidFill>
                            <a:srgbClr val="0E2F57"/>
                          </a:solidFill>
                          <a:latin typeface="Calibri"/>
                        </a:rPr>
                        <a:t>0.909</a:t>
                      </a:r>
                    </a:p>
                  </a:txBody>
                  <a:tcPr marL="54864" marR="54864" marT="18288" marB="18288" anchor="ctr">
                    <a:solidFill>
                      <a:srgbClr val="FFFFFF"/>
                    </a:solidFill>
                  </a:tcPr>
                </a:tc>
              </a:tr>
            </a:tbl>
          </a:graphicData>
        </a:graphic>
      </p:graphicFrame>
      <p:sp>
        <p:nvSpPr>
          <p:cNvPr id="5" name="TextBox 4"/>
          <p:cNvSpPr txBox="1"/>
          <p:nvPr/>
        </p:nvSpPr>
        <p:spPr>
          <a:xfrm>
            <a:off x="6236208" y="2286000"/>
            <a:ext cx="5120640" cy="274320"/>
          </a:xfrm>
          <a:prstGeom prst="rect">
            <a:avLst/>
          </a:prstGeom>
          <a:noFill/>
        </p:spPr>
        <p:txBody>
          <a:bodyPr wrap="square" lIns="0" rIns="0" tIns="18288" bIns="18288" anchor="t"/>
          <a:lstStyle/>
          <a:p>
            <a:pPr algn="l">
              <a:spcAft>
                <a:spcPts val="400"/>
              </a:spcAft>
            </a:pPr>
            <a:r>
              <a:rPr sz="1250" b="1" i="0">
                <a:solidFill>
                  <a:srgbClr val="144E8C"/>
                </a:solidFill>
                <a:latin typeface="Calibri"/>
              </a:rPr>
              <a:t>Class weighting — Macro-F1 0.6044</a:t>
            </a:r>
          </a:p>
        </p:txBody>
      </p:sp>
      <p:graphicFrame>
        <p:nvGraphicFramePr>
          <p:cNvPr id="6" name="Table 5"/>
          <p:cNvGraphicFramePr>
            <a:graphicFrameLocks noGrp="1"/>
          </p:cNvGraphicFramePr>
          <p:nvPr/>
        </p:nvGraphicFramePr>
        <p:xfrm>
          <a:off x="6236208" y="2606040"/>
          <a:ext cx="5120637" cy="1810512"/>
        </p:xfrm>
        <a:graphic>
          <a:graphicData uri="http://schemas.openxmlformats.org/drawingml/2006/table">
            <a:tbl>
              <a:tblPr firstRow="0" bandRow="0">
                <a:tableStyleId>{5C22544A-7EE6-4342-B048-85BDC9FD1C3A}</a:tableStyleId>
              </a:tblPr>
              <a:tblGrid>
                <a:gridCol w="899571"/>
                <a:gridCol w="691978"/>
                <a:gridCol w="691978"/>
                <a:gridCol w="691978"/>
                <a:gridCol w="691978"/>
                <a:gridCol w="691978"/>
                <a:gridCol w="761176"/>
              </a:tblGrid>
              <a:tr h="301752">
                <a:tc>
                  <a:txBody>
                    <a:bodyPr wrap="square"/>
                    <a:lstStyle/>
                    <a:p>
                      <a:pPr algn="l"/>
                      <a:r>
                        <a:rPr sz="1100" b="1">
                          <a:solidFill>
                            <a:srgbClr val="FFFFFF"/>
                          </a:solidFill>
                          <a:latin typeface="Calibri"/>
                        </a:rPr>
                        <a:t>True \ Pred</a:t>
                      </a:r>
                    </a:p>
                  </a:txBody>
                  <a:tcPr marL="54864" marR="54864" marT="18288" marB="18288" anchor="ctr">
                    <a:solidFill>
                      <a:srgbClr val="144E8C"/>
                    </a:solidFill>
                  </a:tcPr>
                </a:tc>
                <a:tc>
                  <a:txBody>
                    <a:bodyPr wrap="square"/>
                    <a:lstStyle/>
                    <a:p>
                      <a:pPr algn="ctr"/>
                      <a:r>
                        <a:rPr sz="1100" b="1">
                          <a:solidFill>
                            <a:srgbClr val="FFFFFF"/>
                          </a:solidFill>
                          <a:latin typeface="Calibri"/>
                        </a:rPr>
                        <a:t>1</a:t>
                      </a:r>
                    </a:p>
                  </a:txBody>
                  <a:tcPr marL="54864" marR="54864" marT="18288" marB="18288" anchor="ctr">
                    <a:solidFill>
                      <a:srgbClr val="144E8C"/>
                    </a:solidFill>
                  </a:tcPr>
                </a:tc>
                <a:tc>
                  <a:txBody>
                    <a:bodyPr wrap="square"/>
                    <a:lstStyle/>
                    <a:p>
                      <a:pPr algn="ctr"/>
                      <a:r>
                        <a:rPr sz="1100" b="1">
                          <a:solidFill>
                            <a:srgbClr val="FFFFFF"/>
                          </a:solidFill>
                          <a:latin typeface="Calibri"/>
                        </a:rPr>
                        <a:t>2</a:t>
                      </a:r>
                    </a:p>
                  </a:txBody>
                  <a:tcPr marL="54864" marR="54864" marT="18288" marB="18288" anchor="ctr">
                    <a:solidFill>
                      <a:srgbClr val="144E8C"/>
                    </a:solidFill>
                  </a:tcPr>
                </a:tc>
                <a:tc>
                  <a:txBody>
                    <a:bodyPr wrap="square"/>
                    <a:lstStyle/>
                    <a:p>
                      <a:pPr algn="ctr"/>
                      <a:r>
                        <a:rPr sz="1100" b="1">
                          <a:solidFill>
                            <a:srgbClr val="FFFFFF"/>
                          </a:solidFill>
                          <a:latin typeface="Calibri"/>
                        </a:rPr>
                        <a:t>3</a:t>
                      </a:r>
                    </a:p>
                  </a:txBody>
                  <a:tcPr marL="54864" marR="54864" marT="18288" marB="18288" anchor="ctr">
                    <a:solidFill>
                      <a:srgbClr val="144E8C"/>
                    </a:solidFill>
                  </a:tcPr>
                </a:tc>
                <a:tc>
                  <a:txBody>
                    <a:bodyPr wrap="square"/>
                    <a:lstStyle/>
                    <a:p>
                      <a:pPr algn="ctr"/>
                      <a:r>
                        <a:rPr sz="1100" b="1">
                          <a:solidFill>
                            <a:srgbClr val="FFFFFF"/>
                          </a:solidFill>
                          <a:latin typeface="Calibri"/>
                        </a:rPr>
                        <a:t>4</a:t>
                      </a:r>
                    </a:p>
                  </a:txBody>
                  <a:tcPr marL="54864" marR="54864" marT="18288" marB="18288" anchor="ctr">
                    <a:solidFill>
                      <a:srgbClr val="144E8C"/>
                    </a:solidFill>
                  </a:tcPr>
                </a:tc>
                <a:tc>
                  <a:txBody>
                    <a:bodyPr wrap="square"/>
                    <a:lstStyle/>
                    <a:p>
                      <a:pPr algn="ctr"/>
                      <a:r>
                        <a:rPr sz="1100" b="1">
                          <a:solidFill>
                            <a:srgbClr val="FFFFFF"/>
                          </a:solidFill>
                          <a:latin typeface="Calibri"/>
                        </a:rPr>
                        <a:t>5</a:t>
                      </a:r>
                    </a:p>
                  </a:txBody>
                  <a:tcPr marL="54864" marR="54864" marT="18288" marB="18288" anchor="ctr">
                    <a:solidFill>
                      <a:srgbClr val="144E8C"/>
                    </a:solidFill>
                  </a:tcPr>
                </a:tc>
                <a:tc>
                  <a:txBody>
                    <a:bodyPr wrap="square"/>
                    <a:lstStyle/>
                    <a:p>
                      <a:pPr algn="ctr"/>
                      <a:r>
                        <a:rPr sz="1100" b="1">
                          <a:solidFill>
                            <a:srgbClr val="FFFFFF"/>
                          </a:solidFill>
                          <a:latin typeface="Calibri"/>
                        </a:rPr>
                        <a:t>Recall</a:t>
                      </a:r>
                    </a:p>
                  </a:txBody>
                  <a:tcPr marL="54864" marR="54864" marT="18288" marB="18288" anchor="ctr">
                    <a:solidFill>
                      <a:srgbClr val="144E8C"/>
                    </a:solidFill>
                  </a:tcPr>
                </a:tc>
              </a:tr>
              <a:tr h="301752">
                <a:tc>
                  <a:txBody>
                    <a:bodyPr wrap="square"/>
                    <a:lstStyle/>
                    <a:p>
                      <a:pPr algn="l"/>
                      <a:r>
                        <a:rPr sz="1100" b="0">
                          <a:solidFill>
                            <a:srgbClr val="0E2F57"/>
                          </a:solidFill>
                          <a:latin typeface="Calibri"/>
                        </a:rPr>
                        <a:t>1</a:t>
                      </a:r>
                    </a:p>
                  </a:txBody>
                  <a:tcPr marL="54864" marR="54864" marT="18288" marB="18288" anchor="ctr">
                    <a:solidFill>
                      <a:srgbClr val="FFFFFF"/>
                    </a:solidFill>
                  </a:tcPr>
                </a:tc>
                <a:tc>
                  <a:txBody>
                    <a:bodyPr wrap="square"/>
                    <a:lstStyle/>
                    <a:p>
                      <a:pPr algn="ctr"/>
                      <a:r>
                        <a:rPr sz="1100" b="0">
                          <a:solidFill>
                            <a:srgbClr val="0E2F57"/>
                          </a:solidFill>
                          <a:latin typeface="Calibri"/>
                        </a:rPr>
                        <a:t>3,755</a:t>
                      </a:r>
                    </a:p>
                  </a:txBody>
                  <a:tcPr marL="54864" marR="54864" marT="18288" marB="18288" anchor="ctr">
                    <a:solidFill>
                      <a:srgbClr val="FFFFFF"/>
                    </a:solidFill>
                  </a:tcPr>
                </a:tc>
                <a:tc>
                  <a:txBody>
                    <a:bodyPr wrap="square"/>
                    <a:lstStyle/>
                    <a:p>
                      <a:pPr algn="ctr"/>
                      <a:r>
                        <a:rPr sz="1100" b="0">
                          <a:solidFill>
                            <a:srgbClr val="0E2F57"/>
                          </a:solidFill>
                          <a:latin typeface="Calibri"/>
                        </a:rPr>
                        <a:t>323</a:t>
                      </a:r>
                    </a:p>
                  </a:txBody>
                  <a:tcPr marL="54864" marR="54864" marT="18288" marB="18288" anchor="ctr">
                    <a:solidFill>
                      <a:srgbClr val="FFFFFF"/>
                    </a:solidFill>
                  </a:tcPr>
                </a:tc>
                <a:tc>
                  <a:txBody>
                    <a:bodyPr wrap="square"/>
                    <a:lstStyle/>
                    <a:p>
                      <a:pPr algn="ctr"/>
                      <a:r>
                        <a:rPr sz="1100" b="0">
                          <a:solidFill>
                            <a:srgbClr val="0E2F57"/>
                          </a:solidFill>
                          <a:latin typeface="Calibri"/>
                        </a:rPr>
                        <a:t>54</a:t>
                      </a:r>
                    </a:p>
                  </a:txBody>
                  <a:tcPr marL="54864" marR="54864" marT="18288" marB="18288" anchor="ctr">
                    <a:solidFill>
                      <a:srgbClr val="FFFFFF"/>
                    </a:solidFill>
                  </a:tcPr>
                </a:tc>
                <a:tc>
                  <a:txBody>
                    <a:bodyPr wrap="square"/>
                    <a:lstStyle/>
                    <a:p>
                      <a:pPr algn="ctr"/>
                      <a:r>
                        <a:rPr sz="1100" b="0">
                          <a:solidFill>
                            <a:srgbClr val="0E2F57"/>
                          </a:solidFill>
                          <a:latin typeface="Calibri"/>
                        </a:rPr>
                        <a:t>47</a:t>
                      </a:r>
                    </a:p>
                  </a:txBody>
                  <a:tcPr marL="54864" marR="54864" marT="18288" marB="18288" anchor="ctr">
                    <a:solidFill>
                      <a:srgbClr val="FFFFFF"/>
                    </a:solidFill>
                  </a:tcPr>
                </a:tc>
                <a:tc>
                  <a:txBody>
                    <a:bodyPr wrap="square"/>
                    <a:lstStyle/>
                    <a:p>
                      <a:pPr algn="ctr"/>
                      <a:r>
                        <a:rPr sz="1100" b="0">
                          <a:solidFill>
                            <a:srgbClr val="0E2F57"/>
                          </a:solidFill>
                          <a:latin typeface="Calibri"/>
                        </a:rPr>
                        <a:t>15</a:t>
                      </a:r>
                    </a:p>
                  </a:txBody>
                  <a:tcPr marL="54864" marR="54864" marT="18288" marB="18288" anchor="ctr">
                    <a:solidFill>
                      <a:srgbClr val="FFFFFF"/>
                    </a:solidFill>
                  </a:tcPr>
                </a:tc>
                <a:tc>
                  <a:txBody>
                    <a:bodyPr wrap="square"/>
                    <a:lstStyle/>
                    <a:p>
                      <a:pPr algn="ctr"/>
                      <a:r>
                        <a:rPr sz="1100" b="0">
                          <a:solidFill>
                            <a:srgbClr val="0E2F57"/>
                          </a:solidFill>
                          <a:latin typeface="Calibri"/>
                        </a:rPr>
                        <a:t>0.895</a:t>
                      </a:r>
                    </a:p>
                  </a:txBody>
                  <a:tcPr marL="54864" marR="54864" marT="18288" marB="18288" anchor="ctr">
                    <a:solidFill>
                      <a:srgbClr val="FFFFFF"/>
                    </a:solidFill>
                  </a:tcPr>
                </a:tc>
              </a:tr>
              <a:tr h="301752">
                <a:tc>
                  <a:txBody>
                    <a:bodyPr wrap="square"/>
                    <a:lstStyle/>
                    <a:p>
                      <a:pPr algn="l"/>
                      <a:r>
                        <a:rPr sz="1100" b="0">
                          <a:solidFill>
                            <a:srgbClr val="0E2F57"/>
                          </a:solidFill>
                          <a:latin typeface="Calibri"/>
                        </a:rPr>
                        <a:t>2</a:t>
                      </a:r>
                    </a:p>
                  </a:txBody>
                  <a:tcPr marL="54864" marR="54864" marT="18288" marB="18288" anchor="ctr">
                    <a:solidFill>
                      <a:srgbClr val="F3F5F8"/>
                    </a:solidFill>
                  </a:tcPr>
                </a:tc>
                <a:tc>
                  <a:txBody>
                    <a:bodyPr wrap="square"/>
                    <a:lstStyle/>
                    <a:p>
                      <a:pPr algn="ctr"/>
                      <a:r>
                        <a:rPr sz="1100" b="0">
                          <a:solidFill>
                            <a:srgbClr val="0E2F57"/>
                          </a:solidFill>
                          <a:latin typeface="Calibri"/>
                        </a:rPr>
                        <a:t>99</a:t>
                      </a:r>
                    </a:p>
                  </a:txBody>
                  <a:tcPr marL="54864" marR="54864" marT="18288" marB="18288" anchor="ctr">
                    <a:solidFill>
                      <a:srgbClr val="F3F5F8"/>
                    </a:solidFill>
                  </a:tcPr>
                </a:tc>
                <a:tc>
                  <a:txBody>
                    <a:bodyPr wrap="square"/>
                    <a:lstStyle/>
                    <a:p>
                      <a:pPr algn="ctr"/>
                      <a:r>
                        <a:rPr sz="1100" b="0">
                          <a:solidFill>
                            <a:srgbClr val="0E2F57"/>
                          </a:solidFill>
                          <a:latin typeface="Calibri"/>
                        </a:rPr>
                        <a:t>121</a:t>
                      </a:r>
                    </a:p>
                  </a:txBody>
                  <a:tcPr marL="54864" marR="54864" marT="18288" marB="18288" anchor="ctr">
                    <a:solidFill>
                      <a:srgbClr val="F3F5F8"/>
                    </a:solidFill>
                  </a:tcPr>
                </a:tc>
                <a:tc>
                  <a:txBody>
                    <a:bodyPr wrap="square"/>
                    <a:lstStyle/>
                    <a:p>
                      <a:pPr algn="ctr"/>
                      <a:r>
                        <a:rPr sz="1100" b="0">
                          <a:solidFill>
                            <a:srgbClr val="0E2F57"/>
                          </a:solidFill>
                          <a:latin typeface="Calibri"/>
                        </a:rPr>
                        <a:t>21</a:t>
                      </a:r>
                    </a:p>
                  </a:txBody>
                  <a:tcPr marL="54864" marR="54864" marT="18288" marB="18288" anchor="ctr">
                    <a:solidFill>
                      <a:srgbClr val="F3F5F8"/>
                    </a:solidFill>
                  </a:tcPr>
                </a:tc>
                <a:tc>
                  <a:txBody>
                    <a:bodyPr wrap="square"/>
                    <a:lstStyle/>
                    <a:p>
                      <a:pPr algn="ctr"/>
                      <a:r>
                        <a:rPr sz="1100" b="0">
                          <a:solidFill>
                            <a:srgbClr val="0E2F57"/>
                          </a:solidFill>
                          <a:latin typeface="Calibri"/>
                        </a:rPr>
                        <a:t>15</a:t>
                      </a:r>
                    </a:p>
                  </a:txBody>
                  <a:tcPr marL="54864" marR="54864" marT="18288" marB="18288" anchor="ctr">
                    <a:solidFill>
                      <a:srgbClr val="F3F5F8"/>
                    </a:solidFill>
                  </a:tcPr>
                </a:tc>
                <a:tc>
                  <a:txBody>
                    <a:bodyPr wrap="square"/>
                    <a:lstStyle/>
                    <a:p>
                      <a:pPr algn="ctr"/>
                      <a:r>
                        <a:rPr sz="1100" b="0">
                          <a:solidFill>
                            <a:srgbClr val="0E2F57"/>
                          </a:solidFill>
                          <a:latin typeface="Calibri"/>
                        </a:rPr>
                        <a:t>1</a:t>
                      </a:r>
                    </a:p>
                  </a:txBody>
                  <a:tcPr marL="54864" marR="54864" marT="18288" marB="18288" anchor="ctr">
                    <a:solidFill>
                      <a:srgbClr val="F3F5F8"/>
                    </a:solidFill>
                  </a:tcPr>
                </a:tc>
                <a:tc>
                  <a:txBody>
                    <a:bodyPr wrap="square"/>
                    <a:lstStyle/>
                    <a:p>
                      <a:pPr algn="ctr"/>
                      <a:r>
                        <a:rPr sz="1100" b="0">
                          <a:solidFill>
                            <a:srgbClr val="0E2F57"/>
                          </a:solidFill>
                          <a:latin typeface="Calibri"/>
                        </a:rPr>
                        <a:t>0.471</a:t>
                      </a:r>
                    </a:p>
                  </a:txBody>
                  <a:tcPr marL="54864" marR="54864" marT="18288" marB="18288" anchor="ctr">
                    <a:solidFill>
                      <a:srgbClr val="F3F5F8"/>
                    </a:solidFill>
                  </a:tcPr>
                </a:tc>
              </a:tr>
              <a:tr h="301752">
                <a:tc>
                  <a:txBody>
                    <a:bodyPr wrap="square"/>
                    <a:lstStyle/>
                    <a:p>
                      <a:pPr algn="l"/>
                      <a:r>
                        <a:rPr sz="1100" b="0">
                          <a:solidFill>
                            <a:srgbClr val="0E2F57"/>
                          </a:solidFill>
                          <a:latin typeface="Calibri"/>
                        </a:rPr>
                        <a:t>3</a:t>
                      </a:r>
                    </a:p>
                  </a:txBody>
                  <a:tcPr marL="54864" marR="54864" marT="18288" marB="18288" anchor="ctr">
                    <a:solidFill>
                      <a:srgbClr val="FFFFFF"/>
                    </a:solidFill>
                  </a:tcPr>
                </a:tc>
                <a:tc>
                  <a:txBody>
                    <a:bodyPr wrap="square"/>
                    <a:lstStyle/>
                    <a:p>
                      <a:pPr algn="ctr"/>
                      <a:r>
                        <a:rPr sz="1100" b="0">
                          <a:solidFill>
                            <a:srgbClr val="0E2F57"/>
                          </a:solidFill>
                          <a:latin typeface="Calibri"/>
                        </a:rPr>
                        <a:t>24</a:t>
                      </a:r>
                    </a:p>
                  </a:txBody>
                  <a:tcPr marL="54864" marR="54864" marT="18288" marB="18288" anchor="ctr">
                    <a:solidFill>
                      <a:srgbClr val="FFFFFF"/>
                    </a:solidFill>
                  </a:tcPr>
                </a:tc>
                <a:tc>
                  <a:txBody>
                    <a:bodyPr wrap="square"/>
                    <a:lstStyle/>
                    <a:p>
                      <a:pPr algn="ctr"/>
                      <a:r>
                        <a:rPr sz="1100" b="0">
                          <a:solidFill>
                            <a:srgbClr val="0E2F57"/>
                          </a:solidFill>
                          <a:latin typeface="Calibri"/>
                        </a:rPr>
                        <a:t>27</a:t>
                      </a:r>
                    </a:p>
                  </a:txBody>
                  <a:tcPr marL="54864" marR="54864" marT="18288" marB="18288" anchor="ctr">
                    <a:solidFill>
                      <a:srgbClr val="FFFFFF"/>
                    </a:solidFill>
                  </a:tcPr>
                </a:tc>
                <a:tc>
                  <a:txBody>
                    <a:bodyPr wrap="square"/>
                    <a:lstStyle/>
                    <a:p>
                      <a:pPr algn="ctr"/>
                      <a:r>
                        <a:rPr sz="1100" b="0">
                          <a:solidFill>
                            <a:srgbClr val="0E2F57"/>
                          </a:solidFill>
                          <a:latin typeface="Calibri"/>
                        </a:rPr>
                        <a:t>50</a:t>
                      </a:r>
                    </a:p>
                  </a:txBody>
                  <a:tcPr marL="54864" marR="54864" marT="18288" marB="18288" anchor="ctr">
                    <a:solidFill>
                      <a:srgbClr val="FFFFFF"/>
                    </a:solidFill>
                  </a:tcPr>
                </a:tc>
                <a:tc>
                  <a:txBody>
                    <a:bodyPr wrap="square"/>
                    <a:lstStyle/>
                    <a:p>
                      <a:pPr algn="ctr"/>
                      <a:r>
                        <a:rPr sz="1100" b="0">
                          <a:solidFill>
                            <a:srgbClr val="0E2F57"/>
                          </a:solidFill>
                          <a:latin typeface="Calibri"/>
                        </a:rPr>
                        <a:t>18</a:t>
                      </a:r>
                    </a:p>
                  </a:txBody>
                  <a:tcPr marL="54864" marR="54864" marT="18288" marB="18288" anchor="ctr">
                    <a:solidFill>
                      <a:srgbClr val="FFFFFF"/>
                    </a:solidFill>
                  </a:tcPr>
                </a:tc>
                <a:tc>
                  <a:txBody>
                    <a:bodyPr wrap="square"/>
                    <a:lstStyle/>
                    <a:p>
                      <a:pPr algn="ctr"/>
                      <a:r>
                        <a:rPr sz="1100" b="0">
                          <a:solidFill>
                            <a:srgbClr val="0E2F57"/>
                          </a:solidFill>
                          <a:latin typeface="Calibri"/>
                        </a:rPr>
                        <a:t>2</a:t>
                      </a:r>
                    </a:p>
                  </a:txBody>
                  <a:tcPr marL="54864" marR="54864" marT="18288" marB="18288" anchor="ctr">
                    <a:solidFill>
                      <a:srgbClr val="FFFFFF"/>
                    </a:solidFill>
                  </a:tcPr>
                </a:tc>
                <a:tc>
                  <a:txBody>
                    <a:bodyPr wrap="square"/>
                    <a:lstStyle/>
                    <a:p>
                      <a:pPr algn="ctr"/>
                      <a:r>
                        <a:rPr sz="1100" b="0">
                          <a:solidFill>
                            <a:srgbClr val="0E2F57"/>
                          </a:solidFill>
                          <a:latin typeface="Calibri"/>
                        </a:rPr>
                        <a:t>0.413</a:t>
                      </a:r>
                    </a:p>
                  </a:txBody>
                  <a:tcPr marL="54864" marR="54864" marT="18288" marB="18288" anchor="ctr">
                    <a:solidFill>
                      <a:srgbClr val="FFFFFF"/>
                    </a:solidFill>
                  </a:tcPr>
                </a:tc>
              </a:tr>
              <a:tr h="301752">
                <a:tc>
                  <a:txBody>
                    <a:bodyPr wrap="square"/>
                    <a:lstStyle/>
                    <a:p>
                      <a:pPr algn="l"/>
                      <a:r>
                        <a:rPr sz="1100" b="0">
                          <a:solidFill>
                            <a:srgbClr val="0E2F57"/>
                          </a:solidFill>
                          <a:latin typeface="Calibri"/>
                        </a:rPr>
                        <a:t>4</a:t>
                      </a:r>
                    </a:p>
                  </a:txBody>
                  <a:tcPr marL="54864" marR="54864" marT="18288" marB="18288" anchor="ctr">
                    <a:solidFill>
                      <a:srgbClr val="F3F5F8"/>
                    </a:solidFill>
                  </a:tcPr>
                </a:tc>
                <a:tc>
                  <a:txBody>
                    <a:bodyPr wrap="square"/>
                    <a:lstStyle/>
                    <a:p>
                      <a:pPr algn="ctr"/>
                      <a:r>
                        <a:rPr sz="1100" b="0">
                          <a:solidFill>
                            <a:srgbClr val="0E2F57"/>
                          </a:solidFill>
                          <a:latin typeface="Calibri"/>
                        </a:rPr>
                        <a:t>31</a:t>
                      </a:r>
                    </a:p>
                  </a:txBody>
                  <a:tcPr marL="54864" marR="54864" marT="18288" marB="18288" anchor="ctr">
                    <a:solidFill>
                      <a:srgbClr val="F3F5F8"/>
                    </a:solidFill>
                  </a:tcPr>
                </a:tc>
                <a:tc>
                  <a:txBody>
                    <a:bodyPr wrap="square"/>
                    <a:lstStyle/>
                    <a:p>
                      <a:pPr algn="ctr"/>
                      <a:r>
                        <a:rPr sz="1100" b="0">
                          <a:solidFill>
                            <a:srgbClr val="0E2F57"/>
                          </a:solidFill>
                          <a:latin typeface="Calibri"/>
                        </a:rPr>
                        <a:t>13</a:t>
                      </a:r>
                    </a:p>
                  </a:txBody>
                  <a:tcPr marL="54864" marR="54864" marT="18288" marB="18288" anchor="ctr">
                    <a:solidFill>
                      <a:srgbClr val="F3F5F8"/>
                    </a:solidFill>
                  </a:tcPr>
                </a:tc>
                <a:tc>
                  <a:txBody>
                    <a:bodyPr wrap="square"/>
                    <a:lstStyle/>
                    <a:p>
                      <a:pPr algn="ctr"/>
                      <a:r>
                        <a:rPr sz="1100" b="0">
                          <a:solidFill>
                            <a:srgbClr val="0E2F57"/>
                          </a:solidFill>
                          <a:latin typeface="Calibri"/>
                        </a:rPr>
                        <a:t>14</a:t>
                      </a:r>
                    </a:p>
                  </a:txBody>
                  <a:tcPr marL="54864" marR="54864" marT="18288" marB="18288" anchor="ctr">
                    <a:solidFill>
                      <a:srgbClr val="F3F5F8"/>
                    </a:solidFill>
                  </a:tcPr>
                </a:tc>
                <a:tc>
                  <a:txBody>
                    <a:bodyPr wrap="square"/>
                    <a:lstStyle/>
                    <a:p>
                      <a:pPr algn="ctr"/>
                      <a:r>
                        <a:rPr sz="1100" b="0">
                          <a:solidFill>
                            <a:srgbClr val="0E2F57"/>
                          </a:solidFill>
                          <a:latin typeface="Calibri"/>
                        </a:rPr>
                        <a:t>86</a:t>
                      </a:r>
                    </a:p>
                  </a:txBody>
                  <a:tcPr marL="54864" marR="54864" marT="18288" marB="18288" anchor="ctr">
                    <a:solidFill>
                      <a:srgbClr val="F3F5F8"/>
                    </a:solidFill>
                  </a:tcPr>
                </a:tc>
                <a:tc>
                  <a:txBody>
                    <a:bodyPr wrap="square"/>
                    <a:lstStyle/>
                    <a:p>
                      <a:pPr algn="ctr"/>
                      <a:r>
                        <a:rPr sz="1100" b="0">
                          <a:solidFill>
                            <a:srgbClr val="0E2F57"/>
                          </a:solidFill>
                          <a:latin typeface="Calibri"/>
                        </a:rPr>
                        <a:t>13</a:t>
                      </a:r>
                    </a:p>
                  </a:txBody>
                  <a:tcPr marL="54864" marR="54864" marT="18288" marB="18288" anchor="ctr">
                    <a:solidFill>
                      <a:srgbClr val="F3F5F8"/>
                    </a:solidFill>
                  </a:tcPr>
                </a:tc>
                <a:tc>
                  <a:txBody>
                    <a:bodyPr wrap="square"/>
                    <a:lstStyle/>
                    <a:p>
                      <a:pPr algn="ctr"/>
                      <a:r>
                        <a:rPr sz="1100" b="0">
                          <a:solidFill>
                            <a:srgbClr val="0E2F57"/>
                          </a:solidFill>
                          <a:latin typeface="Calibri"/>
                        </a:rPr>
                        <a:t>0.548</a:t>
                      </a:r>
                    </a:p>
                  </a:txBody>
                  <a:tcPr marL="54864" marR="54864" marT="18288" marB="18288" anchor="ctr">
                    <a:solidFill>
                      <a:srgbClr val="F3F5F8"/>
                    </a:solidFill>
                  </a:tcPr>
                </a:tc>
              </a:tr>
              <a:tr h="301752">
                <a:tc>
                  <a:txBody>
                    <a:bodyPr wrap="square"/>
                    <a:lstStyle/>
                    <a:p>
                      <a:pPr algn="l"/>
                      <a:r>
                        <a:rPr sz="1100" b="0">
                          <a:solidFill>
                            <a:srgbClr val="0E2F57"/>
                          </a:solidFill>
                          <a:latin typeface="Calibri"/>
                        </a:rPr>
                        <a:t>5</a:t>
                      </a:r>
                    </a:p>
                  </a:txBody>
                  <a:tcPr marL="54864" marR="54864" marT="18288" marB="18288" anchor="ctr">
                    <a:solidFill>
                      <a:srgbClr val="FFFFFF"/>
                    </a:solidFill>
                  </a:tcPr>
                </a:tc>
                <a:tc>
                  <a:txBody>
                    <a:bodyPr wrap="square"/>
                    <a:lstStyle/>
                    <a:p>
                      <a:pPr algn="ctr"/>
                      <a:r>
                        <a:rPr sz="1100" b="0">
                          <a:solidFill>
                            <a:srgbClr val="0E2F57"/>
                          </a:solidFill>
                          <a:latin typeface="Calibri"/>
                        </a:rPr>
                        <a:t>11</a:t>
                      </a:r>
                    </a:p>
                  </a:txBody>
                  <a:tcPr marL="54864" marR="54864" marT="18288" marB="18288" anchor="ctr">
                    <a:solidFill>
                      <a:srgbClr val="FFFFFF"/>
                    </a:solidFill>
                  </a:tcPr>
                </a:tc>
                <a:tc>
                  <a:txBody>
                    <a:bodyPr wrap="square"/>
                    <a:lstStyle/>
                    <a:p>
                      <a:pPr algn="ctr"/>
                      <a:r>
                        <a:rPr sz="1100" b="0">
                          <a:solidFill>
                            <a:srgbClr val="0E2F57"/>
                          </a:solidFill>
                          <a:latin typeface="Calibri"/>
                        </a:rPr>
                        <a:t>9</a:t>
                      </a:r>
                    </a:p>
                  </a:txBody>
                  <a:tcPr marL="54864" marR="54864" marT="18288" marB="18288" anchor="ctr">
                    <a:solidFill>
                      <a:srgbClr val="FFFFFF"/>
                    </a:solidFill>
                  </a:tcPr>
                </a:tc>
                <a:tc>
                  <a:txBody>
                    <a:bodyPr wrap="square"/>
                    <a:lstStyle/>
                    <a:p>
                      <a:pPr algn="ctr"/>
                      <a:r>
                        <a:rPr sz="1100" b="0">
                          <a:solidFill>
                            <a:srgbClr val="0E2F57"/>
                          </a:solidFill>
                          <a:latin typeface="Calibri"/>
                        </a:rPr>
                        <a:t>4</a:t>
                      </a:r>
                    </a:p>
                  </a:txBody>
                  <a:tcPr marL="54864" marR="54864" marT="18288" marB="18288" anchor="ctr">
                    <a:solidFill>
                      <a:srgbClr val="FFFFFF"/>
                    </a:solidFill>
                  </a:tcPr>
                </a:tc>
                <a:tc>
                  <a:txBody>
                    <a:bodyPr wrap="square"/>
                    <a:lstStyle/>
                    <a:p>
                      <a:pPr algn="ctr"/>
                      <a:r>
                        <a:rPr sz="1100" b="0">
                          <a:solidFill>
                            <a:srgbClr val="0E2F57"/>
                          </a:solidFill>
                          <a:latin typeface="Calibri"/>
                        </a:rPr>
                        <a:t>43</a:t>
                      </a:r>
                    </a:p>
                  </a:txBody>
                  <a:tcPr marL="54864" marR="54864" marT="18288" marB="18288" anchor="ctr">
                    <a:solidFill>
                      <a:srgbClr val="FFFFFF"/>
                    </a:solidFill>
                  </a:tcPr>
                </a:tc>
                <a:tc>
                  <a:txBody>
                    <a:bodyPr wrap="square"/>
                    <a:lstStyle/>
                    <a:p>
                      <a:pPr algn="ctr"/>
                      <a:r>
                        <a:rPr sz="1100" b="0">
                          <a:solidFill>
                            <a:srgbClr val="0E2F57"/>
                          </a:solidFill>
                          <a:latin typeface="Calibri"/>
                        </a:rPr>
                        <a:t>605</a:t>
                      </a:r>
                    </a:p>
                  </a:txBody>
                  <a:tcPr marL="54864" marR="54864" marT="18288" marB="18288" anchor="ctr">
                    <a:solidFill>
                      <a:srgbClr val="FFFFFF"/>
                    </a:solidFill>
                  </a:tcPr>
                </a:tc>
                <a:tc>
                  <a:txBody>
                    <a:bodyPr wrap="square"/>
                    <a:lstStyle/>
                    <a:p>
                      <a:pPr algn="ctr"/>
                      <a:r>
                        <a:rPr sz="1100" b="0">
                          <a:solidFill>
                            <a:srgbClr val="0E2F57"/>
                          </a:solidFill>
                          <a:latin typeface="Calibri"/>
                        </a:rPr>
                        <a:t>0.900</a:t>
                      </a:r>
                    </a:p>
                  </a:txBody>
                  <a:tcPr marL="54864" marR="54864" marT="18288" marB="18288" anchor="ctr">
                    <a:solidFill>
                      <a:srgbClr val="FFFFFF"/>
                    </a:solidFill>
                  </a:tcPr>
                </a:tc>
              </a:tr>
            </a:tbl>
          </a:graphicData>
        </a:graphic>
      </p:graphicFrame>
      <p:sp>
        <p:nvSpPr>
          <p:cNvPr id="7" name="Rounded Rectangle 6"/>
          <p:cNvSpPr/>
          <p:nvPr/>
        </p:nvSpPr>
        <p:spPr>
          <a:xfrm>
            <a:off x="841248" y="4617720"/>
            <a:ext cx="10515600" cy="9144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4645152"/>
            <a:ext cx="10241280" cy="859536"/>
          </a:xfrm>
          <a:prstGeom prst="rect">
            <a:avLst/>
          </a:prstGeom>
          <a:noFill/>
        </p:spPr>
        <p:txBody>
          <a:bodyPr wrap="square" lIns="0" rIns="0" tIns="18288" bIns="18288" anchor="ctr"/>
          <a:lstStyle/>
          <a:p>
            <a:pPr algn="l">
              <a:spcAft>
                <a:spcPts val="400"/>
              </a:spcAft>
            </a:pPr>
            <a:r>
              <a:rPr sz="1200" b="1" i="0">
                <a:solidFill>
                  <a:srgbClr val="0E2F57"/>
                </a:solidFill>
                <a:latin typeface="Calibri"/>
              </a:rPr>
              <a:t>Rows = true group, columns = predicted (hold-out, n = 5,401). </a:t>
            </a:r>
            <a:r>
              <a:rPr sz="1200" b="0" i="0">
                <a:solidFill>
                  <a:srgbClr val="0E2F57"/>
                </a:solidFill>
                <a:latin typeface="Calibri"/>
              </a:rPr>
              <a:t>Unweighted: errors are concentrated — 68 true Group-3 and 59 true Group-4 loans go to Group 1, under-classification a provisioning process cannot absorb quietly. </a:t>
            </a:r>
            <a:r>
              <a:rPr sz="1200" b="0" i="0">
                <a:solidFill>
                  <a:srgbClr val="0E2F57"/>
                </a:solidFill>
                <a:latin typeface="Calibri"/>
              </a:rPr>
              <a:t>Weighted: 323 Group-1 loans are pushed into Group 2 — the source of its Group-2 precision of 0.245.</a:t>
            </a:r>
          </a:p>
        </p:txBody>
      </p:sp>
      <p:sp>
        <p:nvSpPr>
          <p:cNvPr id="9"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10"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B3 — Hold-out Results, All 12 Configurations</a:t>
            </a:r>
          </a:p>
        </p:txBody>
      </p:sp>
      <p:graphicFrame>
        <p:nvGraphicFramePr>
          <p:cNvPr id="3" name="Table 2"/>
          <p:cNvGraphicFramePr>
            <a:graphicFrameLocks noGrp="1"/>
          </p:cNvGraphicFramePr>
          <p:nvPr/>
        </p:nvGraphicFramePr>
        <p:xfrm>
          <a:off x="841248" y="2286000"/>
          <a:ext cx="10515596" cy="3566160"/>
        </p:xfrm>
        <a:graphic>
          <a:graphicData uri="http://schemas.openxmlformats.org/drawingml/2006/table">
            <a:tbl>
              <a:tblPr firstRow="0" bandRow="0">
                <a:tableStyleId>{5C22544A-7EE6-4342-B048-85BDC9FD1C3A}</a:tableStyleId>
              </a:tblPr>
              <a:tblGrid>
                <a:gridCol w="2754085"/>
                <a:gridCol w="1752599"/>
                <a:gridCol w="1502228"/>
                <a:gridCol w="1502228"/>
                <a:gridCol w="1502228"/>
                <a:gridCol w="1502228"/>
              </a:tblGrid>
              <a:tr h="274320">
                <a:tc>
                  <a:txBody>
                    <a:bodyPr wrap="square"/>
                    <a:lstStyle/>
                    <a:p>
                      <a:pPr algn="l"/>
                      <a:r>
                        <a:rPr sz="1100" b="1">
                          <a:solidFill>
                            <a:srgbClr val="FFFFFF"/>
                          </a:solidFill>
                          <a:latin typeface="Calibri"/>
                        </a:rPr>
                        <a:t>Model</a:t>
                      </a:r>
                    </a:p>
                  </a:txBody>
                  <a:tcPr marL="54864" marR="54864" marT="18288" marB="18288" anchor="ctr">
                    <a:solidFill>
                      <a:srgbClr val="144E8C"/>
                    </a:solidFill>
                  </a:tcPr>
                </a:tc>
                <a:tc>
                  <a:txBody>
                    <a:bodyPr wrap="square"/>
                    <a:lstStyle/>
                    <a:p>
                      <a:pPr algn="ctr"/>
                      <a:r>
                        <a:rPr sz="1100" b="1">
                          <a:solidFill>
                            <a:srgbClr val="FFFFFF"/>
                          </a:solidFill>
                          <a:latin typeface="Calibri"/>
                        </a:rPr>
                        <a:t>Treatment</a:t>
                      </a:r>
                    </a:p>
                  </a:txBody>
                  <a:tcPr marL="54864" marR="54864" marT="18288" marB="18288" anchor="ctr">
                    <a:solidFill>
                      <a:srgbClr val="144E8C"/>
                    </a:solidFill>
                  </a:tcPr>
                </a:tc>
                <a:tc>
                  <a:txBody>
                    <a:bodyPr wrap="square"/>
                    <a:lstStyle/>
                    <a:p>
                      <a:pPr algn="ctr"/>
                      <a:r>
                        <a:rPr sz="1100" b="1">
                          <a:solidFill>
                            <a:srgbClr val="FFFFFF"/>
                          </a:solidFill>
                          <a:latin typeface="Calibri"/>
                        </a:rPr>
                        <a:t>Accuracy</a:t>
                      </a:r>
                    </a:p>
                  </a:txBody>
                  <a:tcPr marL="54864" marR="54864" marT="18288" marB="18288" anchor="ctr">
                    <a:solidFill>
                      <a:srgbClr val="144E8C"/>
                    </a:solidFill>
                  </a:tcPr>
                </a:tc>
                <a:tc>
                  <a:txBody>
                    <a:bodyPr wrap="square"/>
                    <a:lstStyle/>
                    <a:p>
                      <a:pPr algn="ctr"/>
                      <a:r>
                        <a:rPr sz="1100" b="1">
                          <a:solidFill>
                            <a:srgbClr val="FFFFFF"/>
                          </a:solidFill>
                          <a:latin typeface="Calibri"/>
                        </a:rPr>
                        <a:t>Macro-F1</a:t>
                      </a:r>
                    </a:p>
                  </a:txBody>
                  <a:tcPr marL="54864" marR="54864" marT="18288" marB="18288" anchor="ctr">
                    <a:solidFill>
                      <a:srgbClr val="144E8C"/>
                    </a:solidFill>
                  </a:tcPr>
                </a:tc>
                <a:tc>
                  <a:txBody>
                    <a:bodyPr wrap="square"/>
                    <a:lstStyle/>
                    <a:p>
                      <a:pPr algn="ctr"/>
                      <a:r>
                        <a:rPr sz="1100" b="1">
                          <a:solidFill>
                            <a:srgbClr val="FFFFFF"/>
                          </a:solidFill>
                          <a:latin typeface="Calibri"/>
                        </a:rPr>
                        <a:t>Weighted-F1</a:t>
                      </a:r>
                    </a:p>
                  </a:txBody>
                  <a:tcPr marL="54864" marR="54864" marT="18288" marB="18288" anchor="ctr">
                    <a:solidFill>
                      <a:srgbClr val="144E8C"/>
                    </a:solidFill>
                  </a:tcPr>
                </a:tc>
                <a:tc>
                  <a:txBody>
                    <a:bodyPr wrap="square"/>
                    <a:lstStyle/>
                    <a:p>
                      <a:pPr algn="ctr"/>
                      <a:r>
                        <a:rPr sz="1100" b="1">
                          <a:solidFill>
                            <a:srgbClr val="FFFFFF"/>
                          </a:solidFill>
                          <a:latin typeface="Calibri"/>
                        </a:rPr>
                        <a:t>ROC-AUC</a:t>
                      </a:r>
                    </a:p>
                  </a:txBody>
                  <a:tcPr marL="54864" marR="54864" marT="18288" marB="18288" anchor="ctr">
                    <a:solidFill>
                      <a:srgbClr val="144E8C"/>
                    </a:solidFill>
                  </a:tcPr>
                </a:tc>
              </a:tr>
              <a:tr h="274320">
                <a:tc>
                  <a:txBody>
                    <a:bodyPr wrap="square"/>
                    <a:lstStyle/>
                    <a:p>
                      <a:pPr algn="l"/>
                      <a:r>
                        <a:rPr sz="1100" b="0">
                          <a:solidFill>
                            <a:srgbClr val="0E2F57"/>
                          </a:solidFill>
                          <a:latin typeface="Calibri"/>
                        </a:rPr>
                        <a:t>Logistic Regression</a:t>
                      </a:r>
                    </a:p>
                  </a:txBody>
                  <a:tcPr marL="54864" marR="54864" marT="18288" marB="18288" anchor="ctr">
                    <a:solidFill>
                      <a:srgbClr val="FFFFFF"/>
                    </a:solidFill>
                  </a:tcPr>
                </a:tc>
                <a:tc>
                  <a:txBody>
                    <a:bodyPr wrap="square"/>
                    <a:lstStyle/>
                    <a:p>
                      <a:pPr algn="ctr"/>
                      <a:r>
                        <a:rPr sz="1100" b="0">
                          <a:solidFill>
                            <a:srgbClr val="0E2F57"/>
                          </a:solidFill>
                          <a:latin typeface="Calibri"/>
                        </a:rPr>
                        <a:t>weighted</a:t>
                      </a:r>
                    </a:p>
                  </a:txBody>
                  <a:tcPr marL="54864" marR="54864" marT="18288" marB="18288" anchor="ctr">
                    <a:solidFill>
                      <a:srgbClr val="FFFFFF"/>
                    </a:solidFill>
                  </a:tcPr>
                </a:tc>
                <a:tc>
                  <a:txBody>
                    <a:bodyPr wrap="square"/>
                    <a:lstStyle/>
                    <a:p>
                      <a:pPr algn="ctr"/>
                      <a:r>
                        <a:rPr sz="1100" b="0">
                          <a:solidFill>
                            <a:srgbClr val="0E2F57"/>
                          </a:solidFill>
                          <a:latin typeface="Calibri"/>
                        </a:rPr>
                        <a:t>0.6091</a:t>
                      </a:r>
                    </a:p>
                  </a:txBody>
                  <a:tcPr marL="54864" marR="54864" marT="18288" marB="18288" anchor="ctr">
                    <a:solidFill>
                      <a:srgbClr val="FFFFFF"/>
                    </a:solidFill>
                  </a:tcPr>
                </a:tc>
                <a:tc>
                  <a:txBody>
                    <a:bodyPr wrap="square"/>
                    <a:lstStyle/>
                    <a:p>
                      <a:pPr algn="ctr"/>
                      <a:r>
                        <a:rPr sz="1100" b="0">
                          <a:solidFill>
                            <a:srgbClr val="0E2F57"/>
                          </a:solidFill>
                          <a:latin typeface="Calibri"/>
                        </a:rPr>
                        <a:t>0.3946</a:t>
                      </a:r>
                    </a:p>
                  </a:txBody>
                  <a:tcPr marL="54864" marR="54864" marT="18288" marB="18288" anchor="ctr">
                    <a:solidFill>
                      <a:srgbClr val="FFFFFF"/>
                    </a:solidFill>
                  </a:tcPr>
                </a:tc>
                <a:tc>
                  <a:txBody>
                    <a:bodyPr wrap="square"/>
                    <a:lstStyle/>
                    <a:p>
                      <a:pPr algn="ctr"/>
                      <a:r>
                        <a:rPr sz="1100" b="0">
                          <a:solidFill>
                            <a:srgbClr val="0E2F57"/>
                          </a:solidFill>
                          <a:latin typeface="Calibri"/>
                        </a:rPr>
                        <a:t>0.6886</a:t>
                      </a:r>
                    </a:p>
                  </a:txBody>
                  <a:tcPr marL="54864" marR="54864" marT="18288" marB="18288" anchor="ctr">
                    <a:solidFill>
                      <a:srgbClr val="FFFFFF"/>
                    </a:solidFill>
                  </a:tcPr>
                </a:tc>
                <a:tc>
                  <a:txBody>
                    <a:bodyPr wrap="square"/>
                    <a:lstStyle/>
                    <a:p>
                      <a:pPr algn="ctr"/>
                      <a:r>
                        <a:rPr sz="1100" b="0">
                          <a:solidFill>
                            <a:srgbClr val="0E2F57"/>
                          </a:solidFill>
                          <a:latin typeface="Calibri"/>
                        </a:rPr>
                        <a:t>0.7744</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Logistic Regression</a:t>
                      </a:r>
                    </a:p>
                  </a:txBody>
                  <a:tcPr marL="54864" marR="54864" marT="18288" marB="18288" anchor="ctr">
                    <a:solidFill>
                      <a:srgbClr val="F3F5F8"/>
                    </a:solidFill>
                  </a:tcPr>
                </a:tc>
                <a:tc>
                  <a:txBody>
                    <a:bodyPr wrap="square"/>
                    <a:lstStyle/>
                    <a:p>
                      <a:pPr algn="ctr"/>
                      <a:r>
                        <a:rPr sz="1100" b="0">
                          <a:solidFill>
                            <a:srgbClr val="0E2F57"/>
                          </a:solidFill>
                          <a:latin typeface="Calibri"/>
                        </a:rPr>
                        <a:t>none</a:t>
                      </a:r>
                    </a:p>
                  </a:txBody>
                  <a:tcPr marL="54864" marR="54864" marT="18288" marB="18288" anchor="ctr">
                    <a:solidFill>
                      <a:srgbClr val="F3F5F8"/>
                    </a:solidFill>
                  </a:tcPr>
                </a:tc>
                <a:tc>
                  <a:txBody>
                    <a:bodyPr wrap="square"/>
                    <a:lstStyle/>
                    <a:p>
                      <a:pPr algn="ctr"/>
                      <a:r>
                        <a:rPr sz="1100" b="0">
                          <a:solidFill>
                            <a:srgbClr val="0E2F57"/>
                          </a:solidFill>
                          <a:latin typeface="Calibri"/>
                        </a:rPr>
                        <a:t>0.8752</a:t>
                      </a:r>
                    </a:p>
                  </a:txBody>
                  <a:tcPr marL="54864" marR="54864" marT="18288" marB="18288" anchor="ctr">
                    <a:solidFill>
                      <a:srgbClr val="F3F5F8"/>
                    </a:solidFill>
                  </a:tcPr>
                </a:tc>
                <a:tc>
                  <a:txBody>
                    <a:bodyPr wrap="square"/>
                    <a:lstStyle/>
                    <a:p>
                      <a:pPr algn="ctr"/>
                      <a:r>
                        <a:rPr sz="1100" b="0">
                          <a:solidFill>
                            <a:srgbClr val="0E2F57"/>
                          </a:solidFill>
                          <a:latin typeface="Calibri"/>
                        </a:rPr>
                        <a:t>0.3628</a:t>
                      </a:r>
                    </a:p>
                  </a:txBody>
                  <a:tcPr marL="54864" marR="54864" marT="18288" marB="18288" anchor="ctr">
                    <a:solidFill>
                      <a:srgbClr val="F3F5F8"/>
                    </a:solidFill>
                  </a:tcPr>
                </a:tc>
                <a:tc>
                  <a:txBody>
                    <a:bodyPr wrap="square"/>
                    <a:lstStyle/>
                    <a:p>
                      <a:pPr algn="ctr"/>
                      <a:r>
                        <a:rPr sz="1100" b="0">
                          <a:solidFill>
                            <a:srgbClr val="0E2F57"/>
                          </a:solidFill>
                          <a:latin typeface="Calibri"/>
                        </a:rPr>
                        <a:t>0.8298</a:t>
                      </a:r>
                    </a:p>
                  </a:txBody>
                  <a:tcPr marL="54864" marR="54864" marT="18288" marB="18288" anchor="ctr">
                    <a:solidFill>
                      <a:srgbClr val="F3F5F8"/>
                    </a:solidFill>
                  </a:tcPr>
                </a:tc>
                <a:tc>
                  <a:txBody>
                    <a:bodyPr wrap="square"/>
                    <a:lstStyle/>
                    <a:p>
                      <a:pPr algn="ctr"/>
                      <a:r>
                        <a:rPr sz="1100" b="0">
                          <a:solidFill>
                            <a:srgbClr val="0E2F57"/>
                          </a:solidFill>
                          <a:latin typeface="Calibri"/>
                        </a:rPr>
                        <a:t>0.8083</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Decision Tree</a:t>
                      </a:r>
                    </a:p>
                  </a:txBody>
                  <a:tcPr marL="54864" marR="54864" marT="18288" marB="18288" anchor="ctr">
                    <a:solidFill>
                      <a:srgbClr val="FFFFFF"/>
                    </a:solidFill>
                  </a:tcPr>
                </a:tc>
                <a:tc>
                  <a:txBody>
                    <a:bodyPr wrap="square"/>
                    <a:lstStyle/>
                    <a:p>
                      <a:pPr algn="ctr"/>
                      <a:r>
                        <a:rPr sz="1100" b="0">
                          <a:solidFill>
                            <a:srgbClr val="0E2F57"/>
                          </a:solidFill>
                          <a:latin typeface="Calibri"/>
                        </a:rPr>
                        <a:t>weighted</a:t>
                      </a:r>
                    </a:p>
                  </a:txBody>
                  <a:tcPr marL="54864" marR="54864" marT="18288" marB="18288" anchor="ctr">
                    <a:solidFill>
                      <a:srgbClr val="FFFFFF"/>
                    </a:solidFill>
                  </a:tcPr>
                </a:tc>
                <a:tc>
                  <a:txBody>
                    <a:bodyPr wrap="square"/>
                    <a:lstStyle/>
                    <a:p>
                      <a:pPr algn="ctr"/>
                      <a:r>
                        <a:rPr sz="1100" b="0">
                          <a:solidFill>
                            <a:srgbClr val="0E2F57"/>
                          </a:solidFill>
                          <a:latin typeface="Calibri"/>
                        </a:rPr>
                        <a:t>0.6441</a:t>
                      </a:r>
                    </a:p>
                  </a:txBody>
                  <a:tcPr marL="54864" marR="54864" marT="18288" marB="18288" anchor="ctr">
                    <a:solidFill>
                      <a:srgbClr val="FFFFFF"/>
                    </a:solidFill>
                  </a:tcPr>
                </a:tc>
                <a:tc>
                  <a:txBody>
                    <a:bodyPr wrap="square"/>
                    <a:lstStyle/>
                    <a:p>
                      <a:pPr algn="ctr"/>
                      <a:r>
                        <a:rPr sz="1100" b="0">
                          <a:solidFill>
                            <a:srgbClr val="0E2F57"/>
                          </a:solidFill>
                          <a:latin typeface="Calibri"/>
                        </a:rPr>
                        <a:t>0.4962</a:t>
                      </a:r>
                    </a:p>
                  </a:txBody>
                  <a:tcPr marL="54864" marR="54864" marT="18288" marB="18288" anchor="ctr">
                    <a:solidFill>
                      <a:srgbClr val="FFFFFF"/>
                    </a:solidFill>
                  </a:tcPr>
                </a:tc>
                <a:tc>
                  <a:txBody>
                    <a:bodyPr wrap="square"/>
                    <a:lstStyle/>
                    <a:p>
                      <a:pPr algn="ctr"/>
                      <a:r>
                        <a:rPr sz="1100" b="0">
                          <a:solidFill>
                            <a:srgbClr val="0E2F57"/>
                          </a:solidFill>
                          <a:latin typeface="Calibri"/>
                        </a:rPr>
                        <a:t>0.7243</a:t>
                      </a:r>
                    </a:p>
                  </a:txBody>
                  <a:tcPr marL="54864" marR="54864" marT="18288" marB="18288" anchor="ctr">
                    <a:solidFill>
                      <a:srgbClr val="FFFFFF"/>
                    </a:solidFill>
                  </a:tcPr>
                </a:tc>
                <a:tc>
                  <a:txBody>
                    <a:bodyPr wrap="square"/>
                    <a:lstStyle/>
                    <a:p>
                      <a:pPr algn="ctr"/>
                      <a:r>
                        <a:rPr sz="1100" b="0">
                          <a:solidFill>
                            <a:srgbClr val="0E2F57"/>
                          </a:solidFill>
                          <a:latin typeface="Calibri"/>
                        </a:rPr>
                        <a:t>0.8647</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Decision Tree</a:t>
                      </a:r>
                    </a:p>
                  </a:txBody>
                  <a:tcPr marL="54864" marR="54864" marT="18288" marB="18288" anchor="ctr">
                    <a:solidFill>
                      <a:srgbClr val="F3F5F8"/>
                    </a:solidFill>
                  </a:tcPr>
                </a:tc>
                <a:tc>
                  <a:txBody>
                    <a:bodyPr wrap="square"/>
                    <a:lstStyle/>
                    <a:p>
                      <a:pPr algn="ctr"/>
                      <a:r>
                        <a:rPr sz="1100" b="0">
                          <a:solidFill>
                            <a:srgbClr val="0E2F57"/>
                          </a:solidFill>
                          <a:latin typeface="Calibri"/>
                        </a:rPr>
                        <a:t>none</a:t>
                      </a:r>
                    </a:p>
                  </a:txBody>
                  <a:tcPr marL="54864" marR="54864" marT="18288" marB="18288" anchor="ctr">
                    <a:solidFill>
                      <a:srgbClr val="F3F5F8"/>
                    </a:solidFill>
                  </a:tcPr>
                </a:tc>
                <a:tc>
                  <a:txBody>
                    <a:bodyPr wrap="square"/>
                    <a:lstStyle/>
                    <a:p>
                      <a:pPr algn="ctr"/>
                      <a:r>
                        <a:rPr sz="1100" b="0">
                          <a:solidFill>
                            <a:srgbClr val="0E2F57"/>
                          </a:solidFill>
                          <a:latin typeface="Calibri"/>
                        </a:rPr>
                        <a:t>0.9082</a:t>
                      </a:r>
                    </a:p>
                  </a:txBody>
                  <a:tcPr marL="54864" marR="54864" marT="18288" marB="18288" anchor="ctr">
                    <a:solidFill>
                      <a:srgbClr val="F3F5F8"/>
                    </a:solidFill>
                  </a:tcPr>
                </a:tc>
                <a:tc>
                  <a:txBody>
                    <a:bodyPr wrap="square"/>
                    <a:lstStyle/>
                    <a:p>
                      <a:pPr algn="ctr"/>
                      <a:r>
                        <a:rPr sz="1100" b="0">
                          <a:solidFill>
                            <a:srgbClr val="0E2F57"/>
                          </a:solidFill>
                          <a:latin typeface="Calibri"/>
                        </a:rPr>
                        <a:t>0.6245</a:t>
                      </a:r>
                    </a:p>
                  </a:txBody>
                  <a:tcPr marL="54864" marR="54864" marT="18288" marB="18288" anchor="ctr">
                    <a:solidFill>
                      <a:srgbClr val="F3F5F8"/>
                    </a:solidFill>
                  </a:tcPr>
                </a:tc>
                <a:tc>
                  <a:txBody>
                    <a:bodyPr wrap="square"/>
                    <a:lstStyle/>
                    <a:p>
                      <a:pPr algn="ctr"/>
                      <a:r>
                        <a:rPr sz="1100" b="0">
                          <a:solidFill>
                            <a:srgbClr val="0E2F57"/>
                          </a:solidFill>
                          <a:latin typeface="Calibri"/>
                        </a:rPr>
                        <a:t>0.8907</a:t>
                      </a:r>
                    </a:p>
                  </a:txBody>
                  <a:tcPr marL="54864" marR="54864" marT="18288" marB="18288" anchor="ctr">
                    <a:solidFill>
                      <a:srgbClr val="F3F5F8"/>
                    </a:solidFill>
                  </a:tcPr>
                </a:tc>
                <a:tc>
                  <a:txBody>
                    <a:bodyPr wrap="square"/>
                    <a:lstStyle/>
                    <a:p>
                      <a:pPr algn="ctr"/>
                      <a:r>
                        <a:rPr sz="1100" b="0">
                          <a:solidFill>
                            <a:srgbClr val="0E2F57"/>
                          </a:solidFill>
                          <a:latin typeface="Calibri"/>
                        </a:rPr>
                        <a:t>0.8921</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Random Forest</a:t>
                      </a:r>
                    </a:p>
                  </a:txBody>
                  <a:tcPr marL="54864" marR="54864" marT="18288" marB="18288" anchor="ctr">
                    <a:solidFill>
                      <a:srgbClr val="FFFFFF"/>
                    </a:solidFill>
                  </a:tcPr>
                </a:tc>
                <a:tc>
                  <a:txBody>
                    <a:bodyPr wrap="square"/>
                    <a:lstStyle/>
                    <a:p>
                      <a:pPr algn="ctr"/>
                      <a:r>
                        <a:rPr sz="1100" b="0">
                          <a:solidFill>
                            <a:srgbClr val="0E2F57"/>
                          </a:solidFill>
                          <a:latin typeface="Calibri"/>
                        </a:rPr>
                        <a:t>weighted</a:t>
                      </a:r>
                    </a:p>
                  </a:txBody>
                  <a:tcPr marL="54864" marR="54864" marT="18288" marB="18288" anchor="ctr">
                    <a:solidFill>
                      <a:srgbClr val="FFFFFF"/>
                    </a:solidFill>
                  </a:tcPr>
                </a:tc>
                <a:tc>
                  <a:txBody>
                    <a:bodyPr wrap="square"/>
                    <a:lstStyle/>
                    <a:p>
                      <a:pPr algn="ctr"/>
                      <a:r>
                        <a:rPr sz="1100" b="0">
                          <a:solidFill>
                            <a:srgbClr val="0E2F57"/>
                          </a:solidFill>
                          <a:latin typeface="Calibri"/>
                        </a:rPr>
                        <a:t>0.7784</a:t>
                      </a:r>
                    </a:p>
                  </a:txBody>
                  <a:tcPr marL="54864" marR="54864" marT="18288" marB="18288" anchor="ctr">
                    <a:solidFill>
                      <a:srgbClr val="FFFFFF"/>
                    </a:solidFill>
                  </a:tcPr>
                </a:tc>
                <a:tc>
                  <a:txBody>
                    <a:bodyPr wrap="square"/>
                    <a:lstStyle/>
                    <a:p>
                      <a:pPr algn="ctr"/>
                      <a:r>
                        <a:rPr sz="1100" b="0">
                          <a:solidFill>
                            <a:srgbClr val="0E2F57"/>
                          </a:solidFill>
                          <a:latin typeface="Calibri"/>
                        </a:rPr>
                        <a:t>0.5699</a:t>
                      </a:r>
                    </a:p>
                  </a:txBody>
                  <a:tcPr marL="54864" marR="54864" marT="18288" marB="18288" anchor="ctr">
                    <a:solidFill>
                      <a:srgbClr val="FFFFFF"/>
                    </a:solidFill>
                  </a:tcPr>
                </a:tc>
                <a:tc>
                  <a:txBody>
                    <a:bodyPr wrap="square"/>
                    <a:lstStyle/>
                    <a:p>
                      <a:pPr algn="ctr"/>
                      <a:r>
                        <a:rPr sz="1100" b="0">
                          <a:solidFill>
                            <a:srgbClr val="0E2F57"/>
                          </a:solidFill>
                          <a:latin typeface="Calibri"/>
                        </a:rPr>
                        <a:t>0.8229</a:t>
                      </a:r>
                    </a:p>
                  </a:txBody>
                  <a:tcPr marL="54864" marR="54864" marT="18288" marB="18288" anchor="ctr">
                    <a:solidFill>
                      <a:srgbClr val="FFFFFF"/>
                    </a:solidFill>
                  </a:tcPr>
                </a:tc>
                <a:tc>
                  <a:txBody>
                    <a:bodyPr wrap="square"/>
                    <a:lstStyle/>
                    <a:p>
                      <a:pPr algn="ctr"/>
                      <a:r>
                        <a:rPr sz="1100" b="0">
                          <a:solidFill>
                            <a:srgbClr val="0E2F57"/>
                          </a:solidFill>
                          <a:latin typeface="Calibri"/>
                        </a:rPr>
                        <a:t>0.9071</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Random Forest</a:t>
                      </a:r>
                    </a:p>
                  </a:txBody>
                  <a:tcPr marL="54864" marR="54864" marT="18288" marB="18288" anchor="ctr">
                    <a:solidFill>
                      <a:srgbClr val="F3F5F8"/>
                    </a:solidFill>
                  </a:tcPr>
                </a:tc>
                <a:tc>
                  <a:txBody>
                    <a:bodyPr wrap="square"/>
                    <a:lstStyle/>
                    <a:p>
                      <a:pPr algn="ctr"/>
                      <a:r>
                        <a:rPr sz="1100" b="0">
                          <a:solidFill>
                            <a:srgbClr val="0E2F57"/>
                          </a:solidFill>
                          <a:latin typeface="Calibri"/>
                        </a:rPr>
                        <a:t>none</a:t>
                      </a:r>
                    </a:p>
                  </a:txBody>
                  <a:tcPr marL="54864" marR="54864" marT="18288" marB="18288" anchor="ctr">
                    <a:solidFill>
                      <a:srgbClr val="F3F5F8"/>
                    </a:solidFill>
                  </a:tcPr>
                </a:tc>
                <a:tc>
                  <a:txBody>
                    <a:bodyPr wrap="square"/>
                    <a:lstStyle/>
                    <a:p>
                      <a:pPr algn="ctr"/>
                      <a:r>
                        <a:rPr sz="1100" b="0">
                          <a:solidFill>
                            <a:srgbClr val="0E2F57"/>
                          </a:solidFill>
                          <a:latin typeface="Calibri"/>
                        </a:rPr>
                        <a:t>0.9080</a:t>
                      </a:r>
                    </a:p>
                  </a:txBody>
                  <a:tcPr marL="54864" marR="54864" marT="18288" marB="18288" anchor="ctr">
                    <a:solidFill>
                      <a:srgbClr val="F3F5F8"/>
                    </a:solidFill>
                  </a:tcPr>
                </a:tc>
                <a:tc>
                  <a:txBody>
                    <a:bodyPr wrap="square"/>
                    <a:lstStyle/>
                    <a:p>
                      <a:pPr algn="ctr"/>
                      <a:r>
                        <a:rPr sz="1100" b="0">
                          <a:solidFill>
                            <a:srgbClr val="0E2F57"/>
                          </a:solidFill>
                          <a:latin typeface="Calibri"/>
                        </a:rPr>
                        <a:t>0.6149</a:t>
                      </a:r>
                    </a:p>
                  </a:txBody>
                  <a:tcPr marL="54864" marR="54864" marT="18288" marB="18288" anchor="ctr">
                    <a:solidFill>
                      <a:srgbClr val="F3F5F8"/>
                    </a:solidFill>
                  </a:tcPr>
                </a:tc>
                <a:tc>
                  <a:txBody>
                    <a:bodyPr wrap="square"/>
                    <a:lstStyle/>
                    <a:p>
                      <a:pPr algn="ctr"/>
                      <a:r>
                        <a:rPr sz="1100" b="0">
                          <a:solidFill>
                            <a:srgbClr val="0E2F57"/>
                          </a:solidFill>
                          <a:latin typeface="Calibri"/>
                        </a:rPr>
                        <a:t>0.8908</a:t>
                      </a:r>
                    </a:p>
                  </a:txBody>
                  <a:tcPr marL="54864" marR="54864" marT="18288" marB="18288" anchor="ctr">
                    <a:solidFill>
                      <a:srgbClr val="F3F5F8"/>
                    </a:solidFill>
                  </a:tcPr>
                </a:tc>
                <a:tc>
                  <a:txBody>
                    <a:bodyPr wrap="square"/>
                    <a:lstStyle/>
                    <a:p>
                      <a:pPr algn="ctr"/>
                      <a:r>
                        <a:rPr sz="1100" b="0">
                          <a:solidFill>
                            <a:srgbClr val="0E2F57"/>
                          </a:solidFill>
                          <a:latin typeface="Calibri"/>
                        </a:rPr>
                        <a:t>0.9239</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XGBoost</a:t>
                      </a:r>
                    </a:p>
                  </a:txBody>
                  <a:tcPr marL="54864" marR="54864" marT="18288" marB="18288" anchor="ctr">
                    <a:solidFill>
                      <a:srgbClr val="FFFFFF"/>
                    </a:solidFill>
                  </a:tcPr>
                </a:tc>
                <a:tc>
                  <a:txBody>
                    <a:bodyPr wrap="square"/>
                    <a:lstStyle/>
                    <a:p>
                      <a:pPr algn="ctr"/>
                      <a:r>
                        <a:rPr sz="1100" b="0">
                          <a:solidFill>
                            <a:srgbClr val="0E2F57"/>
                          </a:solidFill>
                          <a:latin typeface="Calibri"/>
                        </a:rPr>
                        <a:t>weighted</a:t>
                      </a:r>
                    </a:p>
                  </a:txBody>
                  <a:tcPr marL="54864" marR="54864" marT="18288" marB="18288" anchor="ctr">
                    <a:solidFill>
                      <a:srgbClr val="FFFFFF"/>
                    </a:solidFill>
                  </a:tcPr>
                </a:tc>
                <a:tc>
                  <a:txBody>
                    <a:bodyPr wrap="square"/>
                    <a:lstStyle/>
                    <a:p>
                      <a:pPr algn="ctr"/>
                      <a:r>
                        <a:rPr sz="1100" b="0">
                          <a:solidFill>
                            <a:srgbClr val="0E2F57"/>
                          </a:solidFill>
                          <a:latin typeface="Calibri"/>
                        </a:rPr>
                        <a:t>0.8298</a:t>
                      </a:r>
                    </a:p>
                  </a:txBody>
                  <a:tcPr marL="54864" marR="54864" marT="18288" marB="18288" anchor="ctr">
                    <a:solidFill>
                      <a:srgbClr val="FFFFFF"/>
                    </a:solidFill>
                  </a:tcPr>
                </a:tc>
                <a:tc>
                  <a:txBody>
                    <a:bodyPr wrap="square"/>
                    <a:lstStyle/>
                    <a:p>
                      <a:pPr algn="ctr"/>
                      <a:r>
                        <a:rPr sz="1100" b="0">
                          <a:solidFill>
                            <a:srgbClr val="0E2F57"/>
                          </a:solidFill>
                          <a:latin typeface="Calibri"/>
                        </a:rPr>
                        <a:t>0.5966</a:t>
                      </a:r>
                    </a:p>
                  </a:txBody>
                  <a:tcPr marL="54864" marR="54864" marT="18288" marB="18288" anchor="ctr">
                    <a:solidFill>
                      <a:srgbClr val="FFFFFF"/>
                    </a:solidFill>
                  </a:tcPr>
                </a:tc>
                <a:tc>
                  <a:txBody>
                    <a:bodyPr wrap="square"/>
                    <a:lstStyle/>
                    <a:p>
                      <a:pPr algn="ctr"/>
                      <a:r>
                        <a:rPr sz="1100" b="0">
                          <a:solidFill>
                            <a:srgbClr val="0E2F57"/>
                          </a:solidFill>
                          <a:latin typeface="Calibri"/>
                        </a:rPr>
                        <a:t>0.8556</a:t>
                      </a:r>
                    </a:p>
                  </a:txBody>
                  <a:tcPr marL="54864" marR="54864" marT="18288" marB="18288" anchor="ctr">
                    <a:solidFill>
                      <a:srgbClr val="FFFFFF"/>
                    </a:solidFill>
                  </a:tcPr>
                </a:tc>
                <a:tc>
                  <a:txBody>
                    <a:bodyPr wrap="square"/>
                    <a:lstStyle/>
                    <a:p>
                      <a:pPr algn="ctr"/>
                      <a:r>
                        <a:rPr sz="1100" b="0">
                          <a:solidFill>
                            <a:srgbClr val="0E2F57"/>
                          </a:solidFill>
                          <a:latin typeface="Calibri"/>
                        </a:rPr>
                        <a:t>0.9147</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XGBoost</a:t>
                      </a:r>
                    </a:p>
                  </a:txBody>
                  <a:tcPr marL="54864" marR="54864" marT="18288" marB="18288" anchor="ctr">
                    <a:solidFill>
                      <a:srgbClr val="F3F5F8"/>
                    </a:solidFill>
                  </a:tcPr>
                </a:tc>
                <a:tc>
                  <a:txBody>
                    <a:bodyPr wrap="square"/>
                    <a:lstStyle/>
                    <a:p>
                      <a:pPr algn="ctr"/>
                      <a:r>
                        <a:rPr sz="1100" b="0">
                          <a:solidFill>
                            <a:srgbClr val="0E2F57"/>
                          </a:solidFill>
                          <a:latin typeface="Calibri"/>
                        </a:rPr>
                        <a:t>none</a:t>
                      </a:r>
                    </a:p>
                  </a:txBody>
                  <a:tcPr marL="54864" marR="54864" marT="18288" marB="18288" anchor="ctr">
                    <a:solidFill>
                      <a:srgbClr val="F3F5F8"/>
                    </a:solidFill>
                  </a:tcPr>
                </a:tc>
                <a:tc>
                  <a:txBody>
                    <a:bodyPr wrap="square"/>
                    <a:lstStyle/>
                    <a:p>
                      <a:pPr algn="ctr"/>
                      <a:r>
                        <a:rPr sz="1100" b="0">
                          <a:solidFill>
                            <a:srgbClr val="0E2F57"/>
                          </a:solidFill>
                          <a:latin typeface="Calibri"/>
                        </a:rPr>
                        <a:t>0.9113</a:t>
                      </a:r>
                    </a:p>
                  </a:txBody>
                  <a:tcPr marL="54864" marR="54864" marT="18288" marB="18288" anchor="ctr">
                    <a:solidFill>
                      <a:srgbClr val="F3F5F8"/>
                    </a:solidFill>
                  </a:tcPr>
                </a:tc>
                <a:tc>
                  <a:txBody>
                    <a:bodyPr wrap="square"/>
                    <a:lstStyle/>
                    <a:p>
                      <a:pPr algn="ctr"/>
                      <a:r>
                        <a:rPr sz="1100" b="0">
                          <a:solidFill>
                            <a:srgbClr val="0E2F57"/>
                          </a:solidFill>
                          <a:latin typeface="Calibri"/>
                        </a:rPr>
                        <a:t>0.6197</a:t>
                      </a:r>
                    </a:p>
                  </a:txBody>
                  <a:tcPr marL="54864" marR="54864" marT="18288" marB="18288" anchor="ctr">
                    <a:solidFill>
                      <a:srgbClr val="F3F5F8"/>
                    </a:solidFill>
                  </a:tcPr>
                </a:tc>
                <a:tc>
                  <a:txBody>
                    <a:bodyPr wrap="square"/>
                    <a:lstStyle/>
                    <a:p>
                      <a:pPr algn="ctr"/>
                      <a:r>
                        <a:rPr sz="1100" b="0">
                          <a:solidFill>
                            <a:srgbClr val="0E2F57"/>
                          </a:solidFill>
                          <a:latin typeface="Calibri"/>
                        </a:rPr>
                        <a:t>0.8942</a:t>
                      </a:r>
                    </a:p>
                  </a:txBody>
                  <a:tcPr marL="54864" marR="54864" marT="18288" marB="18288" anchor="ctr">
                    <a:solidFill>
                      <a:srgbClr val="F3F5F8"/>
                    </a:solidFill>
                  </a:tcPr>
                </a:tc>
                <a:tc>
                  <a:txBody>
                    <a:bodyPr wrap="square"/>
                    <a:lstStyle/>
                    <a:p>
                      <a:pPr algn="ctr"/>
                      <a:r>
                        <a:rPr sz="1100" b="0">
                          <a:solidFill>
                            <a:srgbClr val="0E2F57"/>
                          </a:solidFill>
                          <a:latin typeface="Calibri"/>
                        </a:rPr>
                        <a:t>0.9282</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LightGBM</a:t>
                      </a:r>
                    </a:p>
                  </a:txBody>
                  <a:tcPr marL="54864" marR="54864" marT="18288" marB="18288" anchor="ctr">
                    <a:solidFill>
                      <a:srgbClr val="FFFFFF"/>
                    </a:solidFill>
                  </a:tcPr>
                </a:tc>
                <a:tc>
                  <a:txBody>
                    <a:bodyPr wrap="square"/>
                    <a:lstStyle/>
                    <a:p>
                      <a:pPr algn="ctr"/>
                      <a:r>
                        <a:rPr sz="1100" b="0">
                          <a:solidFill>
                            <a:srgbClr val="0E2F57"/>
                          </a:solidFill>
                          <a:latin typeface="Calibri"/>
                        </a:rPr>
                        <a:t>weighted</a:t>
                      </a:r>
                    </a:p>
                  </a:txBody>
                  <a:tcPr marL="54864" marR="54864" marT="18288" marB="18288" anchor="ctr">
                    <a:solidFill>
                      <a:srgbClr val="FFFFFF"/>
                    </a:solidFill>
                  </a:tcPr>
                </a:tc>
                <a:tc>
                  <a:txBody>
                    <a:bodyPr wrap="square"/>
                    <a:lstStyle/>
                    <a:p>
                      <a:pPr algn="ctr"/>
                      <a:r>
                        <a:rPr sz="1100" b="0">
                          <a:solidFill>
                            <a:srgbClr val="0E2F57"/>
                          </a:solidFill>
                          <a:latin typeface="Calibri"/>
                        </a:rPr>
                        <a:t>0.8548</a:t>
                      </a:r>
                    </a:p>
                  </a:txBody>
                  <a:tcPr marL="54864" marR="54864" marT="18288" marB="18288" anchor="ctr">
                    <a:solidFill>
                      <a:srgbClr val="FFFFFF"/>
                    </a:solidFill>
                  </a:tcPr>
                </a:tc>
                <a:tc>
                  <a:txBody>
                    <a:bodyPr wrap="square"/>
                    <a:lstStyle/>
                    <a:p>
                      <a:pPr algn="ctr"/>
                      <a:r>
                        <a:rPr sz="1100" b="0">
                          <a:solidFill>
                            <a:srgbClr val="0E2F57"/>
                          </a:solidFill>
                          <a:latin typeface="Calibri"/>
                        </a:rPr>
                        <a:t>0.6044</a:t>
                      </a:r>
                    </a:p>
                  </a:txBody>
                  <a:tcPr marL="54864" marR="54864" marT="18288" marB="18288" anchor="ctr">
                    <a:solidFill>
                      <a:srgbClr val="FFFFFF"/>
                    </a:solidFill>
                  </a:tcPr>
                </a:tc>
                <a:tc>
                  <a:txBody>
                    <a:bodyPr wrap="square"/>
                    <a:lstStyle/>
                    <a:p>
                      <a:pPr algn="ctr"/>
                      <a:r>
                        <a:rPr sz="1100" b="0">
                          <a:solidFill>
                            <a:srgbClr val="0E2F57"/>
                          </a:solidFill>
                          <a:latin typeface="Calibri"/>
                        </a:rPr>
                        <a:t>0.8713</a:t>
                      </a:r>
                    </a:p>
                  </a:txBody>
                  <a:tcPr marL="54864" marR="54864" marT="18288" marB="18288" anchor="ctr">
                    <a:solidFill>
                      <a:srgbClr val="FFFFFF"/>
                    </a:solidFill>
                  </a:tcPr>
                </a:tc>
                <a:tc>
                  <a:txBody>
                    <a:bodyPr wrap="square"/>
                    <a:lstStyle/>
                    <a:p>
                      <a:pPr algn="ctr"/>
                      <a:r>
                        <a:rPr sz="1100" b="0">
                          <a:solidFill>
                            <a:srgbClr val="0E2F57"/>
                          </a:solidFill>
                          <a:latin typeface="Calibri"/>
                        </a:rPr>
                        <a:t>0.9128</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LightGBM</a:t>
                      </a:r>
                    </a:p>
                  </a:txBody>
                  <a:tcPr marL="54864" marR="54864" marT="18288" marB="18288" anchor="ctr">
                    <a:solidFill>
                      <a:srgbClr val="F3F5F8"/>
                    </a:solidFill>
                  </a:tcPr>
                </a:tc>
                <a:tc>
                  <a:txBody>
                    <a:bodyPr wrap="square"/>
                    <a:lstStyle/>
                    <a:p>
                      <a:pPr algn="ctr"/>
                      <a:r>
                        <a:rPr sz="1100" b="0">
                          <a:solidFill>
                            <a:srgbClr val="0E2F57"/>
                          </a:solidFill>
                          <a:latin typeface="Calibri"/>
                        </a:rPr>
                        <a:t>none</a:t>
                      </a:r>
                    </a:p>
                  </a:txBody>
                  <a:tcPr marL="54864" marR="54864" marT="18288" marB="18288" anchor="ctr">
                    <a:solidFill>
                      <a:srgbClr val="F3F5F8"/>
                    </a:solidFill>
                  </a:tcPr>
                </a:tc>
                <a:tc>
                  <a:txBody>
                    <a:bodyPr wrap="square"/>
                    <a:lstStyle/>
                    <a:p>
                      <a:pPr algn="ctr"/>
                      <a:r>
                        <a:rPr sz="1100" b="0">
                          <a:solidFill>
                            <a:srgbClr val="0E2F57"/>
                          </a:solidFill>
                          <a:latin typeface="Calibri"/>
                        </a:rPr>
                        <a:t>0.9113</a:t>
                      </a:r>
                    </a:p>
                  </a:txBody>
                  <a:tcPr marL="54864" marR="54864" marT="18288" marB="18288" anchor="ctr">
                    <a:solidFill>
                      <a:srgbClr val="F3F5F8"/>
                    </a:solidFill>
                  </a:tcPr>
                </a:tc>
                <a:tc>
                  <a:txBody>
                    <a:bodyPr wrap="square"/>
                    <a:lstStyle/>
                    <a:p>
                      <a:pPr algn="ctr"/>
                      <a:r>
                        <a:rPr sz="1100" b="0">
                          <a:solidFill>
                            <a:srgbClr val="0E2F57"/>
                          </a:solidFill>
                          <a:latin typeface="Calibri"/>
                        </a:rPr>
                        <a:t>0.6248</a:t>
                      </a:r>
                    </a:p>
                  </a:txBody>
                  <a:tcPr marL="54864" marR="54864" marT="18288" marB="18288" anchor="ctr">
                    <a:solidFill>
                      <a:srgbClr val="F3F5F8"/>
                    </a:solidFill>
                  </a:tcPr>
                </a:tc>
                <a:tc>
                  <a:txBody>
                    <a:bodyPr wrap="square"/>
                    <a:lstStyle/>
                    <a:p>
                      <a:pPr algn="ctr"/>
                      <a:r>
                        <a:rPr sz="1100" b="0">
                          <a:solidFill>
                            <a:srgbClr val="0E2F57"/>
                          </a:solidFill>
                          <a:latin typeface="Calibri"/>
                        </a:rPr>
                        <a:t>0.8954</a:t>
                      </a:r>
                    </a:p>
                  </a:txBody>
                  <a:tcPr marL="54864" marR="54864" marT="18288" marB="18288" anchor="ctr">
                    <a:solidFill>
                      <a:srgbClr val="F3F5F8"/>
                    </a:solidFill>
                  </a:tcPr>
                </a:tc>
                <a:tc>
                  <a:txBody>
                    <a:bodyPr wrap="square"/>
                    <a:lstStyle/>
                    <a:p>
                      <a:pPr algn="ctr"/>
                      <a:r>
                        <a:rPr sz="1100" b="0">
                          <a:solidFill>
                            <a:srgbClr val="0E2F57"/>
                          </a:solidFill>
                          <a:latin typeface="Calibri"/>
                        </a:rPr>
                        <a:t>0.9246</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CatBoost</a:t>
                      </a:r>
                    </a:p>
                  </a:txBody>
                  <a:tcPr marL="54864" marR="54864" marT="18288" marB="18288" anchor="ctr">
                    <a:solidFill>
                      <a:srgbClr val="FFFFFF"/>
                    </a:solidFill>
                  </a:tcPr>
                </a:tc>
                <a:tc>
                  <a:txBody>
                    <a:bodyPr wrap="square"/>
                    <a:lstStyle/>
                    <a:p>
                      <a:pPr algn="ctr"/>
                      <a:r>
                        <a:rPr sz="1100" b="0">
                          <a:solidFill>
                            <a:srgbClr val="0E2F57"/>
                          </a:solidFill>
                          <a:latin typeface="Calibri"/>
                        </a:rPr>
                        <a:t>weighted</a:t>
                      </a:r>
                    </a:p>
                  </a:txBody>
                  <a:tcPr marL="54864" marR="54864" marT="18288" marB="18288" anchor="ctr">
                    <a:solidFill>
                      <a:srgbClr val="FFFFFF"/>
                    </a:solidFill>
                  </a:tcPr>
                </a:tc>
                <a:tc>
                  <a:txBody>
                    <a:bodyPr wrap="square"/>
                    <a:lstStyle/>
                    <a:p>
                      <a:pPr algn="ctr"/>
                      <a:r>
                        <a:rPr sz="1100" b="0">
                          <a:solidFill>
                            <a:srgbClr val="0E2F57"/>
                          </a:solidFill>
                          <a:latin typeface="Calibri"/>
                        </a:rPr>
                        <a:t>0.7730</a:t>
                      </a:r>
                    </a:p>
                  </a:txBody>
                  <a:tcPr marL="54864" marR="54864" marT="18288" marB="18288" anchor="ctr">
                    <a:solidFill>
                      <a:srgbClr val="FFFFFF"/>
                    </a:solidFill>
                  </a:tcPr>
                </a:tc>
                <a:tc>
                  <a:txBody>
                    <a:bodyPr wrap="square"/>
                    <a:lstStyle/>
                    <a:p>
                      <a:pPr algn="ctr"/>
                      <a:r>
                        <a:rPr sz="1100" b="0">
                          <a:solidFill>
                            <a:srgbClr val="0E2F57"/>
                          </a:solidFill>
                          <a:latin typeface="Calibri"/>
                        </a:rPr>
                        <a:t>0.5460</a:t>
                      </a:r>
                    </a:p>
                  </a:txBody>
                  <a:tcPr marL="54864" marR="54864" marT="18288" marB="18288" anchor="ctr">
                    <a:solidFill>
                      <a:srgbClr val="FFFFFF"/>
                    </a:solidFill>
                  </a:tcPr>
                </a:tc>
                <a:tc>
                  <a:txBody>
                    <a:bodyPr wrap="square"/>
                    <a:lstStyle/>
                    <a:p>
                      <a:pPr algn="ctr"/>
                      <a:r>
                        <a:rPr sz="1100" b="0">
                          <a:solidFill>
                            <a:srgbClr val="0E2F57"/>
                          </a:solidFill>
                          <a:latin typeface="Calibri"/>
                        </a:rPr>
                        <a:t>0.8192</a:t>
                      </a:r>
                    </a:p>
                  </a:txBody>
                  <a:tcPr marL="54864" marR="54864" marT="18288" marB="18288" anchor="ctr">
                    <a:solidFill>
                      <a:srgbClr val="FFFFFF"/>
                    </a:solidFill>
                  </a:tcPr>
                </a:tc>
                <a:tc>
                  <a:txBody>
                    <a:bodyPr wrap="square"/>
                    <a:lstStyle/>
                    <a:p>
                      <a:pPr algn="ctr"/>
                      <a:r>
                        <a:rPr sz="1100" b="0">
                          <a:solidFill>
                            <a:srgbClr val="0E2F57"/>
                          </a:solidFill>
                          <a:latin typeface="Calibri"/>
                        </a:rPr>
                        <a:t>0.9062</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CatBoost</a:t>
                      </a:r>
                    </a:p>
                  </a:txBody>
                  <a:tcPr marL="54864" marR="54864" marT="18288" marB="18288" anchor="ctr">
                    <a:solidFill>
                      <a:srgbClr val="F3F5F8"/>
                    </a:solidFill>
                  </a:tcPr>
                </a:tc>
                <a:tc>
                  <a:txBody>
                    <a:bodyPr wrap="square"/>
                    <a:lstStyle/>
                    <a:p>
                      <a:pPr algn="ctr"/>
                      <a:r>
                        <a:rPr sz="1100" b="0">
                          <a:solidFill>
                            <a:srgbClr val="0E2F57"/>
                          </a:solidFill>
                          <a:latin typeface="Calibri"/>
                        </a:rPr>
                        <a:t>none</a:t>
                      </a:r>
                    </a:p>
                  </a:txBody>
                  <a:tcPr marL="54864" marR="54864" marT="18288" marB="18288" anchor="ctr">
                    <a:solidFill>
                      <a:srgbClr val="F3F5F8"/>
                    </a:solidFill>
                  </a:tcPr>
                </a:tc>
                <a:tc>
                  <a:txBody>
                    <a:bodyPr wrap="square"/>
                    <a:lstStyle/>
                    <a:p>
                      <a:pPr algn="ctr"/>
                      <a:r>
                        <a:rPr sz="1100" b="0">
                          <a:solidFill>
                            <a:srgbClr val="0E2F57"/>
                          </a:solidFill>
                          <a:latin typeface="Calibri"/>
                        </a:rPr>
                        <a:t>0.9093</a:t>
                      </a:r>
                    </a:p>
                  </a:txBody>
                  <a:tcPr marL="54864" marR="54864" marT="18288" marB="18288" anchor="ctr">
                    <a:solidFill>
                      <a:srgbClr val="F3F5F8"/>
                    </a:solidFill>
                  </a:tcPr>
                </a:tc>
                <a:tc>
                  <a:txBody>
                    <a:bodyPr wrap="square"/>
                    <a:lstStyle/>
                    <a:p>
                      <a:pPr algn="ctr"/>
                      <a:r>
                        <a:rPr sz="1100" b="0">
                          <a:solidFill>
                            <a:srgbClr val="0E2F57"/>
                          </a:solidFill>
                          <a:latin typeface="Calibri"/>
                        </a:rPr>
                        <a:t>0.6074</a:t>
                      </a:r>
                    </a:p>
                  </a:txBody>
                  <a:tcPr marL="54864" marR="54864" marT="18288" marB="18288" anchor="ctr">
                    <a:solidFill>
                      <a:srgbClr val="F3F5F8"/>
                    </a:solidFill>
                  </a:tcPr>
                </a:tc>
                <a:tc>
                  <a:txBody>
                    <a:bodyPr wrap="square"/>
                    <a:lstStyle/>
                    <a:p>
                      <a:pPr algn="ctr"/>
                      <a:r>
                        <a:rPr sz="1100" b="0">
                          <a:solidFill>
                            <a:srgbClr val="0E2F57"/>
                          </a:solidFill>
                          <a:latin typeface="Calibri"/>
                        </a:rPr>
                        <a:t>0.8911</a:t>
                      </a:r>
                    </a:p>
                  </a:txBody>
                  <a:tcPr marL="54864" marR="54864" marT="18288" marB="18288" anchor="ctr">
                    <a:solidFill>
                      <a:srgbClr val="F3F5F8"/>
                    </a:solidFill>
                  </a:tcPr>
                </a:tc>
                <a:tc>
                  <a:txBody>
                    <a:bodyPr wrap="square"/>
                    <a:lstStyle/>
                    <a:p>
                      <a:pPr algn="ctr"/>
                      <a:r>
                        <a:rPr sz="1100" b="0">
                          <a:solidFill>
                            <a:srgbClr val="0E2F57"/>
                          </a:solidFill>
                          <a:latin typeface="Calibri"/>
                        </a:rPr>
                        <a:t>0.9235</a:t>
                      </a:r>
                    </a:p>
                  </a:txBody>
                  <a:tcPr marL="54864" marR="54864" marT="18288" marB="18288" anchor="ctr">
                    <a:solidFill>
                      <a:srgbClr val="F3F5F8"/>
                    </a:solidFill>
                  </a:tcPr>
                </a:tc>
              </a:tr>
            </a:tbl>
          </a:graphicData>
        </a:graphic>
      </p:graphicFrame>
      <p:sp>
        <p:nvSpPr>
          <p:cNvPr id="4" name="TextBox 3"/>
          <p:cNvSpPr txBox="1"/>
          <p:nvPr/>
        </p:nvSpPr>
        <p:spPr>
          <a:xfrm>
            <a:off x="841248" y="5897880"/>
            <a:ext cx="10515600" cy="228600"/>
          </a:xfrm>
          <a:prstGeom prst="rect">
            <a:avLst/>
          </a:prstGeom>
          <a:noFill/>
        </p:spPr>
        <p:txBody>
          <a:bodyPr wrap="square" lIns="0" rIns="0" tIns="18288" bIns="18288" anchor="t"/>
          <a:lstStyle/>
          <a:p>
            <a:pPr algn="l">
              <a:spcAft>
                <a:spcPts val="400"/>
              </a:spcAft>
            </a:pPr>
            <a:r>
              <a:rPr sz="1000" b="0" i="1">
                <a:solidFill>
                  <a:srgbClr val="5A6573"/>
                </a:solidFill>
                <a:latin typeface="Calibri"/>
              </a:rPr>
              <a:t>Table 3 · stratified 20% hold-out · 11-feature main configuration · ROC-AUC = macro one-vs-rest</a:t>
            </a:r>
          </a:p>
        </p:txBody>
      </p:sp>
      <p:sp>
        <p:nvSpPr>
          <p:cNvPr id="5"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6"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B4 — Corrected Paired t-test (Table 10)</a:t>
            </a:r>
          </a:p>
        </p:txBody>
      </p:sp>
      <p:graphicFrame>
        <p:nvGraphicFramePr>
          <p:cNvPr id="3" name="Table 2"/>
          <p:cNvGraphicFramePr>
            <a:graphicFrameLocks noGrp="1"/>
          </p:cNvGraphicFramePr>
          <p:nvPr/>
        </p:nvGraphicFramePr>
        <p:xfrm>
          <a:off x="841248" y="2286000"/>
          <a:ext cx="10515598" cy="3566160"/>
        </p:xfrm>
        <a:graphic>
          <a:graphicData uri="http://schemas.openxmlformats.org/drawingml/2006/table">
            <a:tbl>
              <a:tblPr firstRow="0" bandRow="0">
                <a:tableStyleId>{5C22544A-7EE6-4342-B048-85BDC9FD1C3A}</a:tableStyleId>
              </a:tblPr>
              <a:tblGrid>
                <a:gridCol w="3077736"/>
                <a:gridCol w="2308302"/>
                <a:gridCol w="2564780"/>
                <a:gridCol w="1154151"/>
                <a:gridCol w="1410629"/>
              </a:tblGrid>
              <a:tr h="274320">
                <a:tc>
                  <a:txBody>
                    <a:bodyPr wrap="square"/>
                    <a:lstStyle/>
                    <a:p>
                      <a:pPr algn="l"/>
                      <a:r>
                        <a:rPr sz="1100" b="1">
                          <a:solidFill>
                            <a:srgbClr val="FFFFFF"/>
                          </a:solidFill>
                          <a:latin typeface="Calibri"/>
                        </a:rPr>
                        <a:t>Configuration</a:t>
                      </a:r>
                    </a:p>
                  </a:txBody>
                  <a:tcPr marL="54864" marR="54864" marT="18288" marB="18288" anchor="ctr">
                    <a:solidFill>
                      <a:srgbClr val="144E8C"/>
                    </a:solidFill>
                  </a:tcPr>
                </a:tc>
                <a:tc>
                  <a:txBody>
                    <a:bodyPr wrap="square"/>
                    <a:lstStyle/>
                    <a:p>
                      <a:pPr algn="ctr"/>
                      <a:r>
                        <a:rPr sz="1100" b="1">
                          <a:solidFill>
                            <a:srgbClr val="FFFFFF"/>
                          </a:solidFill>
                          <a:latin typeface="Calibri"/>
                        </a:rPr>
                        <a:t>Macro-F1 (mean ± sd)</a:t>
                      </a:r>
                    </a:p>
                  </a:txBody>
                  <a:tcPr marL="54864" marR="54864" marT="18288" marB="18288" anchor="ctr">
                    <a:solidFill>
                      <a:srgbClr val="144E8C"/>
                    </a:solidFill>
                  </a:tcPr>
                </a:tc>
                <a:tc>
                  <a:txBody>
                    <a:bodyPr wrap="square"/>
                    <a:lstStyle/>
                    <a:p>
                      <a:pPr algn="ctr"/>
                      <a:r>
                        <a:rPr sz="1100" b="1">
                          <a:solidFill>
                            <a:srgbClr val="FFFFFF"/>
                          </a:solidFill>
                          <a:latin typeface="Calibri"/>
                        </a:rPr>
                        <a:t>DT–none minus comparator</a:t>
                      </a:r>
                    </a:p>
                  </a:txBody>
                  <a:tcPr marL="54864" marR="54864" marT="18288" marB="18288" anchor="ctr">
                    <a:solidFill>
                      <a:srgbClr val="144E8C"/>
                    </a:solidFill>
                  </a:tcPr>
                </a:tc>
                <a:tc>
                  <a:txBody>
                    <a:bodyPr wrap="square"/>
                    <a:lstStyle/>
                    <a:p>
                      <a:pPr algn="ctr"/>
                      <a:r>
                        <a:rPr sz="1100" b="1">
                          <a:solidFill>
                            <a:srgbClr val="FFFFFF"/>
                          </a:solidFill>
                          <a:latin typeface="Calibri"/>
                        </a:rPr>
                        <a:t>t</a:t>
                      </a:r>
                    </a:p>
                  </a:txBody>
                  <a:tcPr marL="54864" marR="54864" marT="18288" marB="18288" anchor="ctr">
                    <a:solidFill>
                      <a:srgbClr val="144E8C"/>
                    </a:solidFill>
                  </a:tcPr>
                </a:tc>
                <a:tc>
                  <a:txBody>
                    <a:bodyPr wrap="square"/>
                    <a:lstStyle/>
                    <a:p>
                      <a:pPr algn="ctr"/>
                      <a:r>
                        <a:rPr sz="1100" b="1">
                          <a:solidFill>
                            <a:srgbClr val="FFFFFF"/>
                          </a:solidFill>
                          <a:latin typeface="Calibri"/>
                        </a:rPr>
                        <a:t>Holm p</a:t>
                      </a:r>
                    </a:p>
                  </a:txBody>
                  <a:tcPr marL="54864" marR="54864" marT="18288" marB="18288" anchor="ctr">
                    <a:solidFill>
                      <a:srgbClr val="144E8C"/>
                    </a:solidFill>
                  </a:tcPr>
                </a:tc>
              </a:tr>
              <a:tr h="274320">
                <a:tc>
                  <a:txBody>
                    <a:bodyPr wrap="square"/>
                    <a:lstStyle/>
                    <a:p>
                      <a:pPr algn="l"/>
                      <a:r>
                        <a:rPr sz="1100" b="0">
                          <a:solidFill>
                            <a:srgbClr val="0E2F57"/>
                          </a:solidFill>
                          <a:latin typeface="Calibri"/>
                        </a:rPr>
                        <a:t>Decision Tree – none</a:t>
                      </a:r>
                    </a:p>
                  </a:txBody>
                  <a:tcPr marL="54864" marR="54864" marT="18288" marB="18288" anchor="ctr">
                    <a:solidFill>
                      <a:srgbClr val="E8EFF8"/>
                    </a:solidFill>
                  </a:tcPr>
                </a:tc>
                <a:tc>
                  <a:txBody>
                    <a:bodyPr wrap="square"/>
                    <a:lstStyle/>
                    <a:p>
                      <a:pPr algn="ctr"/>
                      <a:r>
                        <a:rPr sz="1100" b="0">
                          <a:solidFill>
                            <a:srgbClr val="0E2F57"/>
                          </a:solidFill>
                          <a:latin typeface="Calibri"/>
                        </a:rPr>
                        <a:t>0.6271 ± 0.0109</a:t>
                      </a:r>
                    </a:p>
                  </a:txBody>
                  <a:tcPr marL="54864" marR="54864" marT="18288" marB="18288" anchor="ctr">
                    <a:solidFill>
                      <a:srgbClr val="E8EFF8"/>
                    </a:solidFill>
                  </a:tcPr>
                </a:tc>
                <a:tc>
                  <a:txBody>
                    <a:bodyPr wrap="square"/>
                    <a:lstStyle/>
                    <a:p>
                      <a:pPr algn="ctr"/>
                      <a:r>
                        <a:rPr sz="1100" b="0">
                          <a:solidFill>
                            <a:srgbClr val="0E2F57"/>
                          </a:solidFill>
                          <a:latin typeface="Calibri"/>
                        </a:rPr>
                        <a:t>—</a:t>
                      </a:r>
                    </a:p>
                  </a:txBody>
                  <a:tcPr marL="54864" marR="54864" marT="18288" marB="18288" anchor="ctr">
                    <a:solidFill>
                      <a:srgbClr val="E8EFF8"/>
                    </a:solidFill>
                  </a:tcPr>
                </a:tc>
                <a:tc>
                  <a:txBody>
                    <a:bodyPr wrap="square"/>
                    <a:lstStyle/>
                    <a:p>
                      <a:pPr algn="ctr"/>
                      <a:r>
                        <a:rPr sz="1100" b="0">
                          <a:solidFill>
                            <a:srgbClr val="0E2F57"/>
                          </a:solidFill>
                          <a:latin typeface="Calibri"/>
                        </a:rPr>
                        <a:t>—</a:t>
                      </a:r>
                    </a:p>
                  </a:txBody>
                  <a:tcPr marL="54864" marR="54864" marT="18288" marB="18288" anchor="ctr">
                    <a:solidFill>
                      <a:srgbClr val="E8EFF8"/>
                    </a:solidFill>
                  </a:tcPr>
                </a:tc>
                <a:tc>
                  <a:txBody>
                    <a:bodyPr wrap="square"/>
                    <a:lstStyle/>
                    <a:p>
                      <a:pPr algn="ctr"/>
                      <a:r>
                        <a:rPr sz="1100" b="0">
                          <a:solidFill>
                            <a:srgbClr val="0E2F57"/>
                          </a:solidFill>
                          <a:latin typeface="Calibri"/>
                        </a:rPr>
                        <a:t>—</a:t>
                      </a:r>
                    </a:p>
                  </a:txBody>
                  <a:tcPr marL="54864" marR="54864" marT="18288" marB="18288" anchor="ctr">
                    <a:solidFill>
                      <a:srgbClr val="E8EFF8"/>
                    </a:solidFill>
                  </a:tcPr>
                </a:tc>
              </a:tr>
              <a:tr h="274320">
                <a:tc>
                  <a:txBody>
                    <a:bodyPr wrap="square"/>
                    <a:lstStyle/>
                    <a:p>
                      <a:pPr algn="l"/>
                      <a:r>
                        <a:rPr sz="1100" b="0">
                          <a:solidFill>
                            <a:srgbClr val="0E2F57"/>
                          </a:solidFill>
                          <a:latin typeface="Calibri"/>
                        </a:rPr>
                        <a:t>XGBoost – none</a:t>
                      </a:r>
                    </a:p>
                  </a:txBody>
                  <a:tcPr marL="54864" marR="54864" marT="18288" marB="18288" anchor="ctr">
                    <a:solidFill>
                      <a:srgbClr val="E8EFF8"/>
                    </a:solidFill>
                  </a:tcPr>
                </a:tc>
                <a:tc>
                  <a:txBody>
                    <a:bodyPr wrap="square"/>
                    <a:lstStyle/>
                    <a:p>
                      <a:pPr algn="ctr"/>
                      <a:r>
                        <a:rPr sz="1100" b="0">
                          <a:solidFill>
                            <a:srgbClr val="0E2F57"/>
                          </a:solidFill>
                          <a:latin typeface="Calibri"/>
                        </a:rPr>
                        <a:t>0.6217 ± 0.0101</a:t>
                      </a:r>
                    </a:p>
                  </a:txBody>
                  <a:tcPr marL="54864" marR="54864" marT="18288" marB="18288" anchor="ctr">
                    <a:solidFill>
                      <a:srgbClr val="E8EFF8"/>
                    </a:solidFill>
                  </a:tcPr>
                </a:tc>
                <a:tc>
                  <a:txBody>
                    <a:bodyPr wrap="square"/>
                    <a:lstStyle/>
                    <a:p>
                      <a:pPr algn="ctr"/>
                      <a:r>
                        <a:rPr sz="1100" b="0">
                          <a:solidFill>
                            <a:srgbClr val="0E2F57"/>
                          </a:solidFill>
                          <a:latin typeface="Calibri"/>
                        </a:rPr>
                        <a:t>+0.0053</a:t>
                      </a:r>
                    </a:p>
                  </a:txBody>
                  <a:tcPr marL="54864" marR="54864" marT="18288" marB="18288" anchor="ctr">
                    <a:solidFill>
                      <a:srgbClr val="E8EFF8"/>
                    </a:solidFill>
                  </a:tcPr>
                </a:tc>
                <a:tc>
                  <a:txBody>
                    <a:bodyPr wrap="square"/>
                    <a:lstStyle/>
                    <a:p>
                      <a:pPr algn="ctr"/>
                      <a:r>
                        <a:rPr sz="1100" b="0">
                          <a:solidFill>
                            <a:srgbClr val="0E2F57"/>
                          </a:solidFill>
                          <a:latin typeface="Calibri"/>
                        </a:rPr>
                        <a:t>0.81</a:t>
                      </a:r>
                    </a:p>
                  </a:txBody>
                  <a:tcPr marL="54864" marR="54864" marT="18288" marB="18288" anchor="ctr">
                    <a:solidFill>
                      <a:srgbClr val="E8EFF8"/>
                    </a:solidFill>
                  </a:tcPr>
                </a:tc>
                <a:tc>
                  <a:txBody>
                    <a:bodyPr wrap="square"/>
                    <a:lstStyle/>
                    <a:p>
                      <a:pPr algn="ctr"/>
                      <a:r>
                        <a:rPr sz="1100" b="0">
                          <a:solidFill>
                            <a:srgbClr val="0E2F57"/>
                          </a:solidFill>
                          <a:latin typeface="Calibri"/>
                        </a:rPr>
                        <a:t>0.7885</a:t>
                      </a:r>
                    </a:p>
                  </a:txBody>
                  <a:tcPr marL="54864" marR="54864" marT="18288" marB="18288" anchor="ctr">
                    <a:solidFill>
                      <a:srgbClr val="E8EFF8"/>
                    </a:solidFill>
                  </a:tcPr>
                </a:tc>
              </a:tr>
              <a:tr h="274320">
                <a:tc>
                  <a:txBody>
                    <a:bodyPr wrap="square"/>
                    <a:lstStyle/>
                    <a:p>
                      <a:pPr algn="l"/>
                      <a:r>
                        <a:rPr sz="1100" b="0">
                          <a:solidFill>
                            <a:srgbClr val="0E2F57"/>
                          </a:solidFill>
                          <a:latin typeface="Calibri"/>
                        </a:rPr>
                        <a:t>Random Forest – none</a:t>
                      </a:r>
                    </a:p>
                  </a:txBody>
                  <a:tcPr marL="54864" marR="54864" marT="18288" marB="18288" anchor="ctr">
                    <a:solidFill>
                      <a:srgbClr val="E8EFF8"/>
                    </a:solidFill>
                  </a:tcPr>
                </a:tc>
                <a:tc>
                  <a:txBody>
                    <a:bodyPr wrap="square"/>
                    <a:lstStyle/>
                    <a:p>
                      <a:pPr algn="ctr"/>
                      <a:r>
                        <a:rPr sz="1100" b="0">
                          <a:solidFill>
                            <a:srgbClr val="0E2F57"/>
                          </a:solidFill>
                          <a:latin typeface="Calibri"/>
                        </a:rPr>
                        <a:t>0.6216 ± 0.0097</a:t>
                      </a:r>
                    </a:p>
                  </a:txBody>
                  <a:tcPr marL="54864" marR="54864" marT="18288" marB="18288" anchor="ctr">
                    <a:solidFill>
                      <a:srgbClr val="E8EFF8"/>
                    </a:solidFill>
                  </a:tcPr>
                </a:tc>
                <a:tc>
                  <a:txBody>
                    <a:bodyPr wrap="square"/>
                    <a:lstStyle/>
                    <a:p>
                      <a:pPr algn="ctr"/>
                      <a:r>
                        <a:rPr sz="1100" b="0">
                          <a:solidFill>
                            <a:srgbClr val="0E2F57"/>
                          </a:solidFill>
                          <a:latin typeface="Calibri"/>
                        </a:rPr>
                        <a:t>+0.0054</a:t>
                      </a:r>
                    </a:p>
                  </a:txBody>
                  <a:tcPr marL="54864" marR="54864" marT="18288" marB="18288" anchor="ctr">
                    <a:solidFill>
                      <a:srgbClr val="E8EFF8"/>
                    </a:solidFill>
                  </a:tcPr>
                </a:tc>
                <a:tc>
                  <a:txBody>
                    <a:bodyPr wrap="square"/>
                    <a:lstStyle/>
                    <a:p>
                      <a:pPr algn="ctr"/>
                      <a:r>
                        <a:rPr sz="1100" b="0">
                          <a:solidFill>
                            <a:srgbClr val="0E2F57"/>
                          </a:solidFill>
                          <a:latin typeface="Calibri"/>
                        </a:rPr>
                        <a:t>0.87</a:t>
                      </a:r>
                    </a:p>
                  </a:txBody>
                  <a:tcPr marL="54864" marR="54864" marT="18288" marB="18288" anchor="ctr">
                    <a:solidFill>
                      <a:srgbClr val="E8EFF8"/>
                    </a:solidFill>
                  </a:tcPr>
                </a:tc>
                <a:tc>
                  <a:txBody>
                    <a:bodyPr wrap="square"/>
                    <a:lstStyle/>
                    <a:p>
                      <a:pPr algn="ctr"/>
                      <a:r>
                        <a:rPr sz="1100" b="0">
                          <a:solidFill>
                            <a:srgbClr val="0E2F57"/>
                          </a:solidFill>
                          <a:latin typeface="Calibri"/>
                        </a:rPr>
                        <a:t>0.7885</a:t>
                      </a:r>
                    </a:p>
                  </a:txBody>
                  <a:tcPr marL="54864" marR="54864" marT="18288" marB="18288" anchor="ctr">
                    <a:solidFill>
                      <a:srgbClr val="E8EFF8"/>
                    </a:solidFill>
                  </a:tcPr>
                </a:tc>
              </a:tr>
              <a:tr h="274320">
                <a:tc>
                  <a:txBody>
                    <a:bodyPr wrap="square"/>
                    <a:lstStyle/>
                    <a:p>
                      <a:pPr algn="l"/>
                      <a:r>
                        <a:rPr sz="1100" b="0">
                          <a:solidFill>
                            <a:srgbClr val="0E2F57"/>
                          </a:solidFill>
                          <a:latin typeface="Calibri"/>
                        </a:rPr>
                        <a:t>LightGBM – none</a:t>
                      </a:r>
                    </a:p>
                  </a:txBody>
                  <a:tcPr marL="54864" marR="54864" marT="18288" marB="18288" anchor="ctr">
                    <a:solidFill>
                      <a:srgbClr val="E8EFF8"/>
                    </a:solidFill>
                  </a:tcPr>
                </a:tc>
                <a:tc>
                  <a:txBody>
                    <a:bodyPr wrap="square"/>
                    <a:lstStyle/>
                    <a:p>
                      <a:pPr algn="ctr"/>
                      <a:r>
                        <a:rPr sz="1100" b="0">
                          <a:solidFill>
                            <a:srgbClr val="0E2F57"/>
                          </a:solidFill>
                          <a:latin typeface="Calibri"/>
                        </a:rPr>
                        <a:t>0.6183 ± 0.0095</a:t>
                      </a:r>
                    </a:p>
                  </a:txBody>
                  <a:tcPr marL="54864" marR="54864" marT="18288" marB="18288" anchor="ctr">
                    <a:solidFill>
                      <a:srgbClr val="E8EFF8"/>
                    </a:solidFill>
                  </a:tcPr>
                </a:tc>
                <a:tc>
                  <a:txBody>
                    <a:bodyPr wrap="square"/>
                    <a:lstStyle/>
                    <a:p>
                      <a:pPr algn="ctr"/>
                      <a:r>
                        <a:rPr sz="1100" b="0">
                          <a:solidFill>
                            <a:srgbClr val="0E2F57"/>
                          </a:solidFill>
                          <a:latin typeface="Calibri"/>
                        </a:rPr>
                        <a:t>+0.0088</a:t>
                      </a:r>
                    </a:p>
                  </a:txBody>
                  <a:tcPr marL="54864" marR="54864" marT="18288" marB="18288" anchor="ctr">
                    <a:solidFill>
                      <a:srgbClr val="E8EFF8"/>
                    </a:solidFill>
                  </a:tcPr>
                </a:tc>
                <a:tc>
                  <a:txBody>
                    <a:bodyPr wrap="square"/>
                    <a:lstStyle/>
                    <a:p>
                      <a:pPr algn="ctr"/>
                      <a:r>
                        <a:rPr sz="1100" b="0">
                          <a:solidFill>
                            <a:srgbClr val="0E2F57"/>
                          </a:solidFill>
                          <a:latin typeface="Calibri"/>
                        </a:rPr>
                        <a:t>1.26</a:t>
                      </a:r>
                    </a:p>
                  </a:txBody>
                  <a:tcPr marL="54864" marR="54864" marT="18288" marB="18288" anchor="ctr">
                    <a:solidFill>
                      <a:srgbClr val="E8EFF8"/>
                    </a:solidFill>
                  </a:tcPr>
                </a:tc>
                <a:tc>
                  <a:txBody>
                    <a:bodyPr wrap="square"/>
                    <a:lstStyle/>
                    <a:p>
                      <a:pPr algn="ctr"/>
                      <a:r>
                        <a:rPr sz="1100" b="0">
                          <a:solidFill>
                            <a:srgbClr val="0E2F57"/>
                          </a:solidFill>
                          <a:latin typeface="Calibri"/>
                        </a:rPr>
                        <a:t>0.6634</a:t>
                      </a:r>
                    </a:p>
                  </a:txBody>
                  <a:tcPr marL="54864" marR="54864" marT="18288" marB="18288" anchor="ctr">
                    <a:solidFill>
                      <a:srgbClr val="E8EFF8"/>
                    </a:solidFill>
                  </a:tcPr>
                </a:tc>
              </a:tr>
              <a:tr h="274320">
                <a:tc>
                  <a:txBody>
                    <a:bodyPr wrap="square"/>
                    <a:lstStyle/>
                    <a:p>
                      <a:pPr algn="l"/>
                      <a:r>
                        <a:rPr sz="1100" b="0">
                          <a:solidFill>
                            <a:srgbClr val="0E2F57"/>
                          </a:solidFill>
                          <a:latin typeface="Calibri"/>
                        </a:rPr>
                        <a:t>CatBoost – none</a:t>
                      </a:r>
                    </a:p>
                  </a:txBody>
                  <a:tcPr marL="54864" marR="54864" marT="18288" marB="18288" anchor="ctr">
                    <a:solidFill>
                      <a:srgbClr val="FFFFFF"/>
                    </a:solidFill>
                  </a:tcPr>
                </a:tc>
                <a:tc>
                  <a:txBody>
                    <a:bodyPr wrap="square"/>
                    <a:lstStyle/>
                    <a:p>
                      <a:pPr algn="ctr"/>
                      <a:r>
                        <a:rPr sz="1100" b="0">
                          <a:solidFill>
                            <a:srgbClr val="0E2F57"/>
                          </a:solidFill>
                          <a:latin typeface="Calibri"/>
                        </a:rPr>
                        <a:t>0.6042 ± 0.0116</a:t>
                      </a:r>
                    </a:p>
                  </a:txBody>
                  <a:tcPr marL="54864" marR="54864" marT="18288" marB="18288" anchor="ctr">
                    <a:solidFill>
                      <a:srgbClr val="FFFFFF"/>
                    </a:solidFill>
                  </a:tcPr>
                </a:tc>
                <a:tc>
                  <a:txBody>
                    <a:bodyPr wrap="square"/>
                    <a:lstStyle/>
                    <a:p>
                      <a:pPr algn="ctr"/>
                      <a:r>
                        <a:rPr sz="1100" b="0">
                          <a:solidFill>
                            <a:srgbClr val="0E2F57"/>
                          </a:solidFill>
                          <a:latin typeface="Calibri"/>
                        </a:rPr>
                        <a:t>+0.0229</a:t>
                      </a:r>
                    </a:p>
                  </a:txBody>
                  <a:tcPr marL="54864" marR="54864" marT="18288" marB="18288" anchor="ctr">
                    <a:solidFill>
                      <a:srgbClr val="FFFFFF"/>
                    </a:solidFill>
                  </a:tcPr>
                </a:tc>
                <a:tc>
                  <a:txBody>
                    <a:bodyPr wrap="square"/>
                    <a:lstStyle/>
                    <a:p>
                      <a:pPr algn="ctr"/>
                      <a:r>
                        <a:rPr sz="1100" b="0">
                          <a:solidFill>
                            <a:srgbClr val="0E2F57"/>
                          </a:solidFill>
                          <a:latin typeface="Calibri"/>
                        </a:rPr>
                        <a:t>3.42</a:t>
                      </a:r>
                    </a:p>
                  </a:txBody>
                  <a:tcPr marL="54864" marR="54864" marT="18288" marB="18288" anchor="ctr">
                    <a:solidFill>
                      <a:srgbClr val="FFFFFF"/>
                    </a:solidFill>
                  </a:tcPr>
                </a:tc>
                <a:tc>
                  <a:txBody>
                    <a:bodyPr wrap="square"/>
                    <a:lstStyle/>
                    <a:p>
                      <a:pPr algn="ctr"/>
                      <a:r>
                        <a:rPr sz="1100" b="0">
                          <a:solidFill>
                            <a:srgbClr val="0E2F57"/>
                          </a:solidFill>
                          <a:latin typeface="Calibri"/>
                        </a:rPr>
                        <a:t>0.0091</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LightGBM – weighted</a:t>
                      </a:r>
                    </a:p>
                  </a:txBody>
                  <a:tcPr marL="54864" marR="54864" marT="18288" marB="18288" anchor="ctr">
                    <a:solidFill>
                      <a:srgbClr val="F3F5F8"/>
                    </a:solidFill>
                  </a:tcPr>
                </a:tc>
                <a:tc>
                  <a:txBody>
                    <a:bodyPr wrap="square"/>
                    <a:lstStyle/>
                    <a:p>
                      <a:pPr algn="ctr"/>
                      <a:r>
                        <a:rPr sz="1100" b="0">
                          <a:solidFill>
                            <a:srgbClr val="0E2F57"/>
                          </a:solidFill>
                          <a:latin typeface="Calibri"/>
                        </a:rPr>
                        <a:t>0.5917 ± 0.0089</a:t>
                      </a:r>
                    </a:p>
                  </a:txBody>
                  <a:tcPr marL="54864" marR="54864" marT="18288" marB="18288" anchor="ctr">
                    <a:solidFill>
                      <a:srgbClr val="F3F5F8"/>
                    </a:solidFill>
                  </a:tcPr>
                </a:tc>
                <a:tc>
                  <a:txBody>
                    <a:bodyPr wrap="square"/>
                    <a:lstStyle/>
                    <a:p>
                      <a:pPr algn="ctr"/>
                      <a:r>
                        <a:rPr sz="1100" b="0">
                          <a:solidFill>
                            <a:srgbClr val="0E2F57"/>
                          </a:solidFill>
                          <a:latin typeface="Calibri"/>
                        </a:rPr>
                        <a:t>+0.0354</a:t>
                      </a:r>
                    </a:p>
                  </a:txBody>
                  <a:tcPr marL="54864" marR="54864" marT="18288" marB="18288" anchor="ctr">
                    <a:solidFill>
                      <a:srgbClr val="F3F5F8"/>
                    </a:solidFill>
                  </a:tcPr>
                </a:tc>
                <a:tc>
                  <a:txBody>
                    <a:bodyPr wrap="square"/>
                    <a:lstStyle/>
                    <a:p>
                      <a:pPr algn="ctr"/>
                      <a:r>
                        <a:rPr sz="1100" b="0">
                          <a:solidFill>
                            <a:srgbClr val="0E2F57"/>
                          </a:solidFill>
                          <a:latin typeface="Calibri"/>
                        </a:rPr>
                        <a:t>5.51</a:t>
                      </a:r>
                    </a:p>
                  </a:txBody>
                  <a:tcPr marL="54864" marR="54864" marT="18288" marB="18288" anchor="ctr">
                    <a:solidFill>
                      <a:srgbClr val="F3F5F8"/>
                    </a:solidFill>
                  </a:tcPr>
                </a:tc>
                <a:tc>
                  <a:txBody>
                    <a:bodyPr wrap="square"/>
                    <a:lstStyle/>
                    <a:p>
                      <a:pPr algn="ctr"/>
                      <a:r>
                        <a:rPr sz="1100" b="0">
                          <a:solidFill>
                            <a:srgbClr val="0E2F57"/>
                          </a:solidFill>
                          <a:latin typeface="Calibri"/>
                        </a:rPr>
                        <a:t>&lt;0.0001</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XGBoost – weighted</a:t>
                      </a:r>
                    </a:p>
                  </a:txBody>
                  <a:tcPr marL="54864" marR="54864" marT="18288" marB="18288" anchor="ctr">
                    <a:solidFill>
                      <a:srgbClr val="FFFFFF"/>
                    </a:solidFill>
                  </a:tcPr>
                </a:tc>
                <a:tc>
                  <a:txBody>
                    <a:bodyPr wrap="square"/>
                    <a:lstStyle/>
                    <a:p>
                      <a:pPr algn="ctr"/>
                      <a:r>
                        <a:rPr sz="1100" b="0">
                          <a:solidFill>
                            <a:srgbClr val="0E2F57"/>
                          </a:solidFill>
                          <a:latin typeface="Calibri"/>
                        </a:rPr>
                        <a:t>0.5878 ± 0.0083</a:t>
                      </a:r>
                    </a:p>
                  </a:txBody>
                  <a:tcPr marL="54864" marR="54864" marT="18288" marB="18288" anchor="ctr">
                    <a:solidFill>
                      <a:srgbClr val="FFFFFF"/>
                    </a:solidFill>
                  </a:tcPr>
                </a:tc>
                <a:tc>
                  <a:txBody>
                    <a:bodyPr wrap="square"/>
                    <a:lstStyle/>
                    <a:p>
                      <a:pPr algn="ctr"/>
                      <a:r>
                        <a:rPr sz="1100" b="0">
                          <a:solidFill>
                            <a:srgbClr val="0E2F57"/>
                          </a:solidFill>
                          <a:latin typeface="Calibri"/>
                        </a:rPr>
                        <a:t>+0.0392</a:t>
                      </a:r>
                    </a:p>
                  </a:txBody>
                  <a:tcPr marL="54864" marR="54864" marT="18288" marB="18288" anchor="ctr">
                    <a:solidFill>
                      <a:srgbClr val="FFFFFF"/>
                    </a:solidFill>
                  </a:tcPr>
                </a:tc>
                <a:tc>
                  <a:txBody>
                    <a:bodyPr wrap="square"/>
                    <a:lstStyle/>
                    <a:p>
                      <a:pPr algn="ctr"/>
                      <a:r>
                        <a:rPr sz="1100" b="0">
                          <a:solidFill>
                            <a:srgbClr val="0E2F57"/>
                          </a:solidFill>
                          <a:latin typeface="Calibri"/>
                        </a:rPr>
                        <a:t>6.50</a:t>
                      </a:r>
                    </a:p>
                  </a:txBody>
                  <a:tcPr marL="54864" marR="54864" marT="18288" marB="18288" anchor="ctr">
                    <a:solidFill>
                      <a:srgbClr val="FFFFFF"/>
                    </a:solidFill>
                  </a:tcPr>
                </a:tc>
                <a:tc>
                  <a:txBody>
                    <a:bodyPr wrap="square"/>
                    <a:lstStyle/>
                    <a:p>
                      <a:pPr algn="ctr"/>
                      <a:r>
                        <a:rPr sz="1100" b="0">
                          <a:solidFill>
                            <a:srgbClr val="0E2F57"/>
                          </a:solidFill>
                          <a:latin typeface="Calibri"/>
                        </a:rPr>
                        <a:t>&lt;0.0001</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Random Forest – weighted</a:t>
                      </a:r>
                    </a:p>
                  </a:txBody>
                  <a:tcPr marL="54864" marR="54864" marT="18288" marB="18288" anchor="ctr">
                    <a:solidFill>
                      <a:srgbClr val="F3F5F8"/>
                    </a:solidFill>
                  </a:tcPr>
                </a:tc>
                <a:tc>
                  <a:txBody>
                    <a:bodyPr wrap="square"/>
                    <a:lstStyle/>
                    <a:p>
                      <a:pPr algn="ctr"/>
                      <a:r>
                        <a:rPr sz="1100" b="0">
                          <a:solidFill>
                            <a:srgbClr val="0E2F57"/>
                          </a:solidFill>
                          <a:latin typeface="Calibri"/>
                        </a:rPr>
                        <a:t>0.5637 ± 0.0072</a:t>
                      </a:r>
                    </a:p>
                  </a:txBody>
                  <a:tcPr marL="54864" marR="54864" marT="18288" marB="18288" anchor="ctr">
                    <a:solidFill>
                      <a:srgbClr val="F3F5F8"/>
                    </a:solidFill>
                  </a:tcPr>
                </a:tc>
                <a:tc>
                  <a:txBody>
                    <a:bodyPr wrap="square"/>
                    <a:lstStyle/>
                    <a:p>
                      <a:pPr algn="ctr"/>
                      <a:r>
                        <a:rPr sz="1100" b="0">
                          <a:solidFill>
                            <a:srgbClr val="0E2F57"/>
                          </a:solidFill>
                          <a:latin typeface="Calibri"/>
                        </a:rPr>
                        <a:t>+0.0634</a:t>
                      </a:r>
                    </a:p>
                  </a:txBody>
                  <a:tcPr marL="54864" marR="54864" marT="18288" marB="18288" anchor="ctr">
                    <a:solidFill>
                      <a:srgbClr val="F3F5F8"/>
                    </a:solidFill>
                  </a:tcPr>
                </a:tc>
                <a:tc>
                  <a:txBody>
                    <a:bodyPr wrap="square"/>
                    <a:lstStyle/>
                    <a:p>
                      <a:pPr algn="ctr"/>
                      <a:r>
                        <a:rPr sz="1100" b="0">
                          <a:solidFill>
                            <a:srgbClr val="0E2F57"/>
                          </a:solidFill>
                          <a:latin typeface="Calibri"/>
                        </a:rPr>
                        <a:t>10.98</a:t>
                      </a:r>
                    </a:p>
                  </a:txBody>
                  <a:tcPr marL="54864" marR="54864" marT="18288" marB="18288" anchor="ctr">
                    <a:solidFill>
                      <a:srgbClr val="F3F5F8"/>
                    </a:solidFill>
                  </a:tcPr>
                </a:tc>
                <a:tc>
                  <a:txBody>
                    <a:bodyPr wrap="square"/>
                    <a:lstStyle/>
                    <a:p>
                      <a:pPr algn="ctr"/>
                      <a:r>
                        <a:rPr sz="1100" b="0">
                          <a:solidFill>
                            <a:srgbClr val="0E2F57"/>
                          </a:solidFill>
                          <a:latin typeface="Calibri"/>
                        </a:rPr>
                        <a:t>&lt;0.0001</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CatBoost – weighted</a:t>
                      </a:r>
                    </a:p>
                  </a:txBody>
                  <a:tcPr marL="54864" marR="54864" marT="18288" marB="18288" anchor="ctr">
                    <a:solidFill>
                      <a:srgbClr val="FFFFFF"/>
                    </a:solidFill>
                  </a:tcPr>
                </a:tc>
                <a:tc>
                  <a:txBody>
                    <a:bodyPr wrap="square"/>
                    <a:lstStyle/>
                    <a:p>
                      <a:pPr algn="ctr"/>
                      <a:r>
                        <a:rPr sz="1100" b="0">
                          <a:solidFill>
                            <a:srgbClr val="0E2F57"/>
                          </a:solidFill>
                          <a:latin typeface="Calibri"/>
                        </a:rPr>
                        <a:t>0.5471 ± 0.0091</a:t>
                      </a:r>
                    </a:p>
                  </a:txBody>
                  <a:tcPr marL="54864" marR="54864" marT="18288" marB="18288" anchor="ctr">
                    <a:solidFill>
                      <a:srgbClr val="FFFFFF"/>
                    </a:solidFill>
                  </a:tcPr>
                </a:tc>
                <a:tc>
                  <a:txBody>
                    <a:bodyPr wrap="square"/>
                    <a:lstStyle/>
                    <a:p>
                      <a:pPr algn="ctr"/>
                      <a:r>
                        <a:rPr sz="1100" b="0">
                          <a:solidFill>
                            <a:srgbClr val="0E2F57"/>
                          </a:solidFill>
                          <a:latin typeface="Calibri"/>
                        </a:rPr>
                        <a:t>+0.0800</a:t>
                      </a:r>
                    </a:p>
                  </a:txBody>
                  <a:tcPr marL="54864" marR="54864" marT="18288" marB="18288" anchor="ctr">
                    <a:solidFill>
                      <a:srgbClr val="FFFFFF"/>
                    </a:solidFill>
                  </a:tcPr>
                </a:tc>
                <a:tc>
                  <a:txBody>
                    <a:bodyPr wrap="square"/>
                    <a:lstStyle/>
                    <a:p>
                      <a:pPr algn="ctr"/>
                      <a:r>
                        <a:rPr sz="1100" b="0">
                          <a:solidFill>
                            <a:srgbClr val="0E2F57"/>
                          </a:solidFill>
                          <a:latin typeface="Calibri"/>
                        </a:rPr>
                        <a:t>13.11</a:t>
                      </a:r>
                    </a:p>
                  </a:txBody>
                  <a:tcPr marL="54864" marR="54864" marT="18288" marB="18288" anchor="ctr">
                    <a:solidFill>
                      <a:srgbClr val="FFFFFF"/>
                    </a:solidFill>
                  </a:tcPr>
                </a:tc>
                <a:tc>
                  <a:txBody>
                    <a:bodyPr wrap="square"/>
                    <a:lstStyle/>
                    <a:p>
                      <a:pPr algn="ctr"/>
                      <a:r>
                        <a:rPr sz="1100" b="0">
                          <a:solidFill>
                            <a:srgbClr val="0E2F57"/>
                          </a:solidFill>
                          <a:latin typeface="Calibri"/>
                        </a:rPr>
                        <a:t>&lt;0.0001</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Decision Tree – weighted</a:t>
                      </a:r>
                    </a:p>
                  </a:txBody>
                  <a:tcPr marL="54864" marR="54864" marT="18288" marB="18288" anchor="ctr">
                    <a:solidFill>
                      <a:srgbClr val="F3F5F8"/>
                    </a:solidFill>
                  </a:tcPr>
                </a:tc>
                <a:tc>
                  <a:txBody>
                    <a:bodyPr wrap="square"/>
                    <a:lstStyle/>
                    <a:p>
                      <a:pPr algn="ctr"/>
                      <a:r>
                        <a:rPr sz="1100" b="0">
                          <a:solidFill>
                            <a:srgbClr val="0E2F57"/>
                          </a:solidFill>
                          <a:latin typeface="Calibri"/>
                        </a:rPr>
                        <a:t>0.4990 ± 0.0144</a:t>
                      </a:r>
                    </a:p>
                  </a:txBody>
                  <a:tcPr marL="54864" marR="54864" marT="18288" marB="18288" anchor="ctr">
                    <a:solidFill>
                      <a:srgbClr val="F3F5F8"/>
                    </a:solidFill>
                  </a:tcPr>
                </a:tc>
                <a:tc>
                  <a:txBody>
                    <a:bodyPr wrap="square"/>
                    <a:lstStyle/>
                    <a:p>
                      <a:pPr algn="ctr"/>
                      <a:r>
                        <a:rPr sz="1100" b="0">
                          <a:solidFill>
                            <a:srgbClr val="0E2F57"/>
                          </a:solidFill>
                          <a:latin typeface="Calibri"/>
                        </a:rPr>
                        <a:t>+0.1281</a:t>
                      </a:r>
                    </a:p>
                  </a:txBody>
                  <a:tcPr marL="54864" marR="54864" marT="18288" marB="18288" anchor="ctr">
                    <a:solidFill>
                      <a:srgbClr val="F3F5F8"/>
                    </a:solidFill>
                  </a:tcPr>
                </a:tc>
                <a:tc>
                  <a:txBody>
                    <a:bodyPr wrap="square"/>
                    <a:lstStyle/>
                    <a:p>
                      <a:pPr algn="ctr"/>
                      <a:r>
                        <a:rPr sz="1100" b="0">
                          <a:solidFill>
                            <a:srgbClr val="0E2F57"/>
                          </a:solidFill>
                          <a:latin typeface="Calibri"/>
                        </a:rPr>
                        <a:t>14.24</a:t>
                      </a:r>
                    </a:p>
                  </a:txBody>
                  <a:tcPr marL="54864" marR="54864" marT="18288" marB="18288" anchor="ctr">
                    <a:solidFill>
                      <a:srgbClr val="F3F5F8"/>
                    </a:solidFill>
                  </a:tcPr>
                </a:tc>
                <a:tc>
                  <a:txBody>
                    <a:bodyPr wrap="square"/>
                    <a:lstStyle/>
                    <a:p>
                      <a:pPr algn="ctr"/>
                      <a:r>
                        <a:rPr sz="1100" b="0">
                          <a:solidFill>
                            <a:srgbClr val="0E2F57"/>
                          </a:solidFill>
                          <a:latin typeface="Calibri"/>
                        </a:rPr>
                        <a:t>&lt;0.0001</a:t>
                      </a:r>
                    </a:p>
                  </a:txBody>
                  <a:tcPr marL="54864" marR="54864" marT="18288" marB="18288" anchor="ctr">
                    <a:solidFill>
                      <a:srgbClr val="F3F5F8"/>
                    </a:solidFill>
                  </a:tcPr>
                </a:tc>
              </a:tr>
              <a:tr h="274320">
                <a:tc>
                  <a:txBody>
                    <a:bodyPr wrap="square"/>
                    <a:lstStyle/>
                    <a:p>
                      <a:pPr algn="l"/>
                      <a:r>
                        <a:rPr sz="1100" b="0">
                          <a:solidFill>
                            <a:srgbClr val="0E2F57"/>
                          </a:solidFill>
                          <a:latin typeface="Calibri"/>
                        </a:rPr>
                        <a:t>Log. Regression – weighted</a:t>
                      </a:r>
                    </a:p>
                  </a:txBody>
                  <a:tcPr marL="54864" marR="54864" marT="18288" marB="18288" anchor="ctr">
                    <a:solidFill>
                      <a:srgbClr val="FFFFFF"/>
                    </a:solidFill>
                  </a:tcPr>
                </a:tc>
                <a:tc>
                  <a:txBody>
                    <a:bodyPr wrap="square"/>
                    <a:lstStyle/>
                    <a:p>
                      <a:pPr algn="ctr"/>
                      <a:r>
                        <a:rPr sz="1100" b="0">
                          <a:solidFill>
                            <a:srgbClr val="0E2F57"/>
                          </a:solidFill>
                          <a:latin typeface="Calibri"/>
                        </a:rPr>
                        <a:t>0.3876 ± 0.0055</a:t>
                      </a:r>
                    </a:p>
                  </a:txBody>
                  <a:tcPr marL="54864" marR="54864" marT="18288" marB="18288" anchor="ctr">
                    <a:solidFill>
                      <a:srgbClr val="FFFFFF"/>
                    </a:solidFill>
                  </a:tcPr>
                </a:tc>
                <a:tc>
                  <a:txBody>
                    <a:bodyPr wrap="square"/>
                    <a:lstStyle/>
                    <a:p>
                      <a:pPr algn="ctr"/>
                      <a:r>
                        <a:rPr sz="1100" b="0">
                          <a:solidFill>
                            <a:srgbClr val="0E2F57"/>
                          </a:solidFill>
                          <a:latin typeface="Calibri"/>
                        </a:rPr>
                        <a:t>+0.2394</a:t>
                      </a:r>
                    </a:p>
                  </a:txBody>
                  <a:tcPr marL="54864" marR="54864" marT="18288" marB="18288" anchor="ctr">
                    <a:solidFill>
                      <a:srgbClr val="FFFFFF"/>
                    </a:solidFill>
                  </a:tcPr>
                </a:tc>
                <a:tc>
                  <a:txBody>
                    <a:bodyPr wrap="square"/>
                    <a:lstStyle/>
                    <a:p>
                      <a:pPr algn="ctr"/>
                      <a:r>
                        <a:rPr sz="1100" b="0">
                          <a:solidFill>
                            <a:srgbClr val="0E2F57"/>
                          </a:solidFill>
                          <a:latin typeface="Calibri"/>
                        </a:rPr>
                        <a:t>41.55</a:t>
                      </a:r>
                    </a:p>
                  </a:txBody>
                  <a:tcPr marL="54864" marR="54864" marT="18288" marB="18288" anchor="ctr">
                    <a:solidFill>
                      <a:srgbClr val="FFFFFF"/>
                    </a:solidFill>
                  </a:tcPr>
                </a:tc>
                <a:tc>
                  <a:txBody>
                    <a:bodyPr wrap="square"/>
                    <a:lstStyle/>
                    <a:p>
                      <a:pPr algn="ctr"/>
                      <a:r>
                        <a:rPr sz="1100" b="0">
                          <a:solidFill>
                            <a:srgbClr val="0E2F57"/>
                          </a:solidFill>
                          <a:latin typeface="Calibri"/>
                        </a:rPr>
                        <a:t>&lt;0.0001</a:t>
                      </a:r>
                    </a:p>
                  </a:txBody>
                  <a:tcPr marL="54864" marR="54864" marT="18288" marB="18288" anchor="ctr">
                    <a:solidFill>
                      <a:srgbClr val="FFFFFF"/>
                    </a:solidFill>
                  </a:tcPr>
                </a:tc>
              </a:tr>
              <a:tr h="274320">
                <a:tc>
                  <a:txBody>
                    <a:bodyPr wrap="square"/>
                    <a:lstStyle/>
                    <a:p>
                      <a:pPr algn="l"/>
                      <a:r>
                        <a:rPr sz="1100" b="0">
                          <a:solidFill>
                            <a:srgbClr val="0E2F57"/>
                          </a:solidFill>
                          <a:latin typeface="Calibri"/>
                        </a:rPr>
                        <a:t>Log. Regression – none</a:t>
                      </a:r>
                    </a:p>
                  </a:txBody>
                  <a:tcPr marL="54864" marR="54864" marT="18288" marB="18288" anchor="ctr">
                    <a:solidFill>
                      <a:srgbClr val="F3F5F8"/>
                    </a:solidFill>
                  </a:tcPr>
                </a:tc>
                <a:tc>
                  <a:txBody>
                    <a:bodyPr wrap="square"/>
                    <a:lstStyle/>
                    <a:p>
                      <a:pPr algn="ctr"/>
                      <a:r>
                        <a:rPr sz="1100" b="0">
                          <a:solidFill>
                            <a:srgbClr val="0E2F57"/>
                          </a:solidFill>
                          <a:latin typeface="Calibri"/>
                        </a:rPr>
                        <a:t>0.3699 ± 0.0089</a:t>
                      </a:r>
                    </a:p>
                  </a:txBody>
                  <a:tcPr marL="54864" marR="54864" marT="18288" marB="18288" anchor="ctr">
                    <a:solidFill>
                      <a:srgbClr val="F3F5F8"/>
                    </a:solidFill>
                  </a:tcPr>
                </a:tc>
                <a:tc>
                  <a:txBody>
                    <a:bodyPr wrap="square"/>
                    <a:lstStyle/>
                    <a:p>
                      <a:pPr algn="ctr"/>
                      <a:r>
                        <a:rPr sz="1100" b="0">
                          <a:solidFill>
                            <a:srgbClr val="0E2F57"/>
                          </a:solidFill>
                          <a:latin typeface="Calibri"/>
                        </a:rPr>
                        <a:t>+0.2572</a:t>
                      </a:r>
                    </a:p>
                  </a:txBody>
                  <a:tcPr marL="54864" marR="54864" marT="18288" marB="18288" anchor="ctr">
                    <a:solidFill>
                      <a:srgbClr val="F3F5F8"/>
                    </a:solidFill>
                  </a:tcPr>
                </a:tc>
                <a:tc>
                  <a:txBody>
                    <a:bodyPr wrap="square"/>
                    <a:lstStyle/>
                    <a:p>
                      <a:pPr algn="ctr"/>
                      <a:r>
                        <a:rPr sz="1100" b="0">
                          <a:solidFill>
                            <a:srgbClr val="0E2F57"/>
                          </a:solidFill>
                          <a:latin typeface="Calibri"/>
                        </a:rPr>
                        <a:t>31.54</a:t>
                      </a:r>
                    </a:p>
                  </a:txBody>
                  <a:tcPr marL="54864" marR="54864" marT="18288" marB="18288" anchor="ctr">
                    <a:solidFill>
                      <a:srgbClr val="F3F5F8"/>
                    </a:solidFill>
                  </a:tcPr>
                </a:tc>
                <a:tc>
                  <a:txBody>
                    <a:bodyPr wrap="square"/>
                    <a:lstStyle/>
                    <a:p>
                      <a:pPr algn="ctr"/>
                      <a:r>
                        <a:rPr sz="1100" b="0">
                          <a:solidFill>
                            <a:srgbClr val="0E2F57"/>
                          </a:solidFill>
                          <a:latin typeface="Calibri"/>
                        </a:rPr>
                        <a:t>&lt;0.0001</a:t>
                      </a:r>
                    </a:p>
                  </a:txBody>
                  <a:tcPr marL="54864" marR="54864" marT="18288" marB="18288" anchor="ctr">
                    <a:solidFill>
                      <a:srgbClr val="F3F5F8"/>
                    </a:solidFill>
                  </a:tcPr>
                </a:tc>
              </a:tr>
            </a:tbl>
          </a:graphicData>
        </a:graphic>
      </p:graphicFrame>
      <p:sp>
        <p:nvSpPr>
          <p:cNvPr id="4" name="TextBox 3"/>
          <p:cNvSpPr txBox="1"/>
          <p:nvPr/>
        </p:nvSpPr>
        <p:spPr>
          <a:xfrm>
            <a:off x="841248" y="5897880"/>
            <a:ext cx="10515600" cy="228600"/>
          </a:xfrm>
          <a:prstGeom prst="rect">
            <a:avLst/>
          </a:prstGeom>
          <a:noFill/>
        </p:spPr>
        <p:txBody>
          <a:bodyPr wrap="square" lIns="0" rIns="0" tIns="18288" bIns="18288" anchor="t"/>
          <a:lstStyle/>
          <a:p>
            <a:pPr algn="l">
              <a:spcAft>
                <a:spcPts val="400"/>
              </a:spcAft>
            </a:pPr>
            <a:r>
              <a:rPr sz="1000" b="0" i="1">
                <a:solidFill>
                  <a:srgbClr val="5A6573"/>
                </a:solidFill>
                <a:latin typeface="Calibri"/>
              </a:rPr>
              <a:t>5-fold × 5-repeat CV on identical folds · Nadeau–Bengio correction · Holm over 11 comparisons · shaded = not separable from the reference</a:t>
            </a:r>
          </a:p>
        </p:txBody>
      </p:sp>
      <p:sp>
        <p:nvSpPr>
          <p:cNvPr id="5"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6"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a:t>B5 — Hyperparameters &amp; Reproducibility</a:t>
            </a:r>
          </a:p>
        </p:txBody>
      </p:sp>
      <p:graphicFrame>
        <p:nvGraphicFramePr>
          <p:cNvPr id="3" name="Table 2"/>
          <p:cNvGraphicFramePr>
            <a:graphicFrameLocks noGrp="1"/>
          </p:cNvGraphicFramePr>
          <p:nvPr/>
        </p:nvGraphicFramePr>
        <p:xfrm>
          <a:off x="841248" y="2286000"/>
          <a:ext cx="6035039" cy="3200400"/>
        </p:xfrm>
        <a:graphic>
          <a:graphicData uri="http://schemas.openxmlformats.org/drawingml/2006/table">
            <a:tbl>
              <a:tblPr firstRow="0" bandRow="0">
                <a:tableStyleId>{5C22544A-7EE6-4342-B048-85BDC9FD1C3A}</a:tableStyleId>
              </a:tblPr>
              <a:tblGrid>
                <a:gridCol w="1738909"/>
                <a:gridCol w="4296130"/>
              </a:tblGrid>
              <a:tr h="457200">
                <a:tc>
                  <a:txBody>
                    <a:bodyPr wrap="square"/>
                    <a:lstStyle/>
                    <a:p>
                      <a:pPr algn="l"/>
                      <a:r>
                        <a:rPr sz="1100" b="1">
                          <a:solidFill>
                            <a:srgbClr val="FFFFFF"/>
                          </a:solidFill>
                          <a:latin typeface="Calibri"/>
                        </a:rPr>
                        <a:t>Classifier</a:t>
                      </a:r>
                    </a:p>
                  </a:txBody>
                  <a:tcPr marL="54864" marR="54864" marT="18288" marB="18288" anchor="ctr">
                    <a:solidFill>
                      <a:srgbClr val="144E8C"/>
                    </a:solidFill>
                  </a:tcPr>
                </a:tc>
                <a:tc>
                  <a:txBody>
                    <a:bodyPr wrap="square"/>
                    <a:lstStyle/>
                    <a:p>
                      <a:pPr algn="ctr"/>
                      <a:r>
                        <a:rPr sz="1100" b="1">
                          <a:solidFill>
                            <a:srgbClr val="FFFFFF"/>
                          </a:solidFill>
                          <a:latin typeface="Calibri"/>
                        </a:rPr>
                        <a:t>Fixed hyperparameters (no per-configuration tuning)</a:t>
                      </a:r>
                    </a:p>
                  </a:txBody>
                  <a:tcPr marL="54864" marR="54864" marT="18288" marB="18288" anchor="ctr">
                    <a:solidFill>
                      <a:srgbClr val="144E8C"/>
                    </a:solidFill>
                  </a:tcPr>
                </a:tc>
              </a:tr>
              <a:tr h="457200">
                <a:tc>
                  <a:txBody>
                    <a:bodyPr wrap="square"/>
                    <a:lstStyle/>
                    <a:p>
                      <a:pPr algn="l"/>
                      <a:r>
                        <a:rPr sz="1100" b="0">
                          <a:solidFill>
                            <a:srgbClr val="0E2F57"/>
                          </a:solidFill>
                          <a:latin typeface="Calibri"/>
                        </a:rPr>
                        <a:t>Logistic Regression</a:t>
                      </a:r>
                    </a:p>
                  </a:txBody>
                  <a:tcPr marL="54864" marR="54864" marT="18288" marB="18288" anchor="ctr">
                    <a:solidFill>
                      <a:srgbClr val="FFFFFF"/>
                    </a:solidFill>
                  </a:tcPr>
                </a:tc>
                <a:tc>
                  <a:txBody>
                    <a:bodyPr wrap="square"/>
                    <a:lstStyle/>
                    <a:p>
                      <a:pPr algn="ctr"/>
                      <a:r>
                        <a:rPr sz="1100" b="0">
                          <a:solidFill>
                            <a:srgbClr val="0E2F57"/>
                          </a:solidFill>
                          <a:latin typeface="Calibri"/>
                        </a:rPr>
                        <a:t>L2, C = 1.0, lbfgs, max_iter = 1,000</a:t>
                      </a:r>
                    </a:p>
                  </a:txBody>
                  <a:tcPr marL="54864" marR="54864" marT="18288" marB="18288" anchor="ctr">
                    <a:solidFill>
                      <a:srgbClr val="FFFFFF"/>
                    </a:solidFill>
                  </a:tcPr>
                </a:tc>
              </a:tr>
              <a:tr h="457200">
                <a:tc>
                  <a:txBody>
                    <a:bodyPr wrap="square"/>
                    <a:lstStyle/>
                    <a:p>
                      <a:pPr algn="l"/>
                      <a:r>
                        <a:rPr sz="1100" b="0">
                          <a:solidFill>
                            <a:srgbClr val="0E2F57"/>
                          </a:solidFill>
                          <a:latin typeface="Calibri"/>
                        </a:rPr>
                        <a:t>Decision Tree</a:t>
                      </a:r>
                    </a:p>
                  </a:txBody>
                  <a:tcPr marL="54864" marR="54864" marT="18288" marB="18288" anchor="ctr">
                    <a:solidFill>
                      <a:srgbClr val="F3F5F8"/>
                    </a:solidFill>
                  </a:tcPr>
                </a:tc>
                <a:tc>
                  <a:txBody>
                    <a:bodyPr wrap="square"/>
                    <a:lstStyle/>
                    <a:p>
                      <a:pPr algn="ctr"/>
                      <a:r>
                        <a:rPr sz="1100" b="0">
                          <a:solidFill>
                            <a:srgbClr val="0E2F57"/>
                          </a:solidFill>
                          <a:latin typeface="Calibri"/>
                        </a:rPr>
                        <a:t>max_depth = 10, min_samples_leaf = 10 (pruned)</a:t>
                      </a:r>
                    </a:p>
                  </a:txBody>
                  <a:tcPr marL="54864" marR="54864" marT="18288" marB="18288" anchor="ctr">
                    <a:solidFill>
                      <a:srgbClr val="F3F5F8"/>
                    </a:solidFill>
                  </a:tcPr>
                </a:tc>
              </a:tr>
              <a:tr h="457200">
                <a:tc>
                  <a:txBody>
                    <a:bodyPr wrap="square"/>
                    <a:lstStyle/>
                    <a:p>
                      <a:pPr algn="l"/>
                      <a:r>
                        <a:rPr sz="1100" b="0">
                          <a:solidFill>
                            <a:srgbClr val="0E2F57"/>
                          </a:solidFill>
                          <a:latin typeface="Calibri"/>
                        </a:rPr>
                        <a:t>Random Forest</a:t>
                      </a:r>
                    </a:p>
                  </a:txBody>
                  <a:tcPr marL="54864" marR="54864" marT="18288" marB="18288" anchor="ctr">
                    <a:solidFill>
                      <a:srgbClr val="FFFFFF"/>
                    </a:solidFill>
                  </a:tcPr>
                </a:tc>
                <a:tc>
                  <a:txBody>
                    <a:bodyPr wrap="square"/>
                    <a:lstStyle/>
                    <a:p>
                      <a:pPr algn="ctr"/>
                      <a:r>
                        <a:rPr sz="1100" b="0">
                          <a:solidFill>
                            <a:srgbClr val="0E2F57"/>
                          </a:solidFill>
                          <a:latin typeface="Calibri"/>
                        </a:rPr>
                        <a:t>300 trees, max_depth = 15, min_samples_leaf = 5</a:t>
                      </a:r>
                    </a:p>
                  </a:txBody>
                  <a:tcPr marL="54864" marR="54864" marT="18288" marB="18288" anchor="ctr">
                    <a:solidFill>
                      <a:srgbClr val="FFFFFF"/>
                    </a:solidFill>
                  </a:tcPr>
                </a:tc>
              </a:tr>
              <a:tr h="457200">
                <a:tc>
                  <a:txBody>
                    <a:bodyPr wrap="square"/>
                    <a:lstStyle/>
                    <a:p>
                      <a:pPr algn="l"/>
                      <a:r>
                        <a:rPr sz="1100" b="0">
                          <a:solidFill>
                            <a:srgbClr val="0E2F57"/>
                          </a:solidFill>
                          <a:latin typeface="Calibri"/>
                        </a:rPr>
                        <a:t>XGBoost</a:t>
                      </a:r>
                    </a:p>
                  </a:txBody>
                  <a:tcPr marL="54864" marR="54864" marT="18288" marB="18288" anchor="ctr">
                    <a:solidFill>
                      <a:srgbClr val="F3F5F8"/>
                    </a:solidFill>
                  </a:tcPr>
                </a:tc>
                <a:tc>
                  <a:txBody>
                    <a:bodyPr wrap="square"/>
                    <a:lstStyle/>
                    <a:p>
                      <a:pPr algn="ctr"/>
                      <a:r>
                        <a:rPr sz="1100" b="0">
                          <a:solidFill>
                            <a:srgbClr val="0E2F57"/>
                          </a:solidFill>
                          <a:latin typeface="Calibri"/>
                        </a:rPr>
                        <a:t>400 rounds, max_depth = 6, lr = 0.05, subsample = colsample = 0.8</a:t>
                      </a:r>
                    </a:p>
                  </a:txBody>
                  <a:tcPr marL="54864" marR="54864" marT="18288" marB="18288" anchor="ctr">
                    <a:solidFill>
                      <a:srgbClr val="F3F5F8"/>
                    </a:solidFill>
                  </a:tcPr>
                </a:tc>
              </a:tr>
              <a:tr h="457200">
                <a:tc>
                  <a:txBody>
                    <a:bodyPr wrap="square"/>
                    <a:lstStyle/>
                    <a:p>
                      <a:pPr algn="l"/>
                      <a:r>
                        <a:rPr sz="1100" b="0">
                          <a:solidFill>
                            <a:srgbClr val="0E2F57"/>
                          </a:solidFill>
                          <a:latin typeface="Calibri"/>
                        </a:rPr>
                        <a:t>LightGBM</a:t>
                      </a:r>
                    </a:p>
                  </a:txBody>
                  <a:tcPr marL="54864" marR="54864" marT="18288" marB="18288" anchor="ctr">
                    <a:solidFill>
                      <a:srgbClr val="FFFFFF"/>
                    </a:solidFill>
                  </a:tcPr>
                </a:tc>
                <a:tc>
                  <a:txBody>
                    <a:bodyPr wrap="square"/>
                    <a:lstStyle/>
                    <a:p>
                      <a:pPr algn="ctr"/>
                      <a:r>
                        <a:rPr sz="1100" b="0">
                          <a:solidFill>
                            <a:srgbClr val="0E2F57"/>
                          </a:solidFill>
                          <a:latin typeface="Calibri"/>
                        </a:rPr>
                        <a:t>as XGBoost, max_depth = 8</a:t>
                      </a:r>
                    </a:p>
                  </a:txBody>
                  <a:tcPr marL="54864" marR="54864" marT="18288" marB="18288" anchor="ctr">
                    <a:solidFill>
                      <a:srgbClr val="FFFFFF"/>
                    </a:solidFill>
                  </a:tcPr>
                </a:tc>
              </a:tr>
              <a:tr h="457200">
                <a:tc>
                  <a:txBody>
                    <a:bodyPr wrap="square"/>
                    <a:lstStyle/>
                    <a:p>
                      <a:pPr algn="l"/>
                      <a:r>
                        <a:rPr sz="1100" b="0">
                          <a:solidFill>
                            <a:srgbClr val="0E2F57"/>
                          </a:solidFill>
                          <a:latin typeface="Calibri"/>
                        </a:rPr>
                        <a:t>CatBoost</a:t>
                      </a:r>
                    </a:p>
                  </a:txBody>
                  <a:tcPr marL="54864" marR="54864" marT="18288" marB="18288" anchor="ctr">
                    <a:solidFill>
                      <a:srgbClr val="F3F5F8"/>
                    </a:solidFill>
                  </a:tcPr>
                </a:tc>
                <a:tc>
                  <a:txBody>
                    <a:bodyPr wrap="square"/>
                    <a:lstStyle/>
                    <a:p>
                      <a:pPr algn="ctr"/>
                      <a:r>
                        <a:rPr sz="1100" b="0">
                          <a:solidFill>
                            <a:srgbClr val="0E2F57"/>
                          </a:solidFill>
                          <a:latin typeface="Calibri"/>
                        </a:rPr>
                        <a:t>400 iterations, depth = 6, lr = 0.05</a:t>
                      </a:r>
                    </a:p>
                  </a:txBody>
                  <a:tcPr marL="54864" marR="54864" marT="18288" marB="18288" anchor="ctr">
                    <a:solidFill>
                      <a:srgbClr val="F3F5F8"/>
                    </a:solidFill>
                  </a:tcPr>
                </a:tc>
              </a:tr>
            </a:tbl>
          </a:graphicData>
        </a:graphic>
      </p:graphicFrame>
      <p:sp>
        <p:nvSpPr>
          <p:cNvPr id="4" name="TextBox 3"/>
          <p:cNvSpPr txBox="1"/>
          <p:nvPr/>
        </p:nvSpPr>
        <p:spPr>
          <a:xfrm>
            <a:off x="7178040" y="2286000"/>
            <a:ext cx="4178808" cy="3566160"/>
          </a:xfrm>
          <a:prstGeom prst="rect">
            <a:avLst/>
          </a:prstGeom>
          <a:noFill/>
        </p:spPr>
        <p:txBody>
          <a:bodyPr wrap="square" lIns="0" rIns="0" tIns="18288" bIns="18288" anchor="t"/>
          <a:lstStyle/>
          <a:p>
            <a:pPr algn="l" marL="201168" indent="-201168">
              <a:spcAft>
                <a:spcPts val="800"/>
              </a:spcAft>
              <a:buFont typeface="Arial"/>
              <a:buChar char="•"/>
            </a:pPr>
            <a:r>
              <a:rPr sz="1200" b="1" i="0">
                <a:solidFill>
                  <a:srgbClr val="0E2F57"/>
                </a:solidFill>
                <a:latin typeface="Calibri"/>
              </a:rPr>
              <a:t>No evaluation partition consumed by model selection</a:t>
            </a:r>
            <a:r>
              <a:rPr sz="1200" b="0" i="0">
                <a:solidFill>
                  <a:srgbClr val="0E2F57"/>
                </a:solidFill>
                <a:latin typeface="Calibri"/>
              </a:rPr>
              <a:t> — hold-out and CV folds never used for tuning.</a:t>
            </a:r>
          </a:p>
          <a:p>
            <a:pPr algn="l" marL="201168" indent="-201168">
              <a:spcAft>
                <a:spcPts val="800"/>
              </a:spcAft>
              <a:buFont typeface="Arial"/>
              <a:buChar char="•"/>
            </a:pPr>
            <a:r>
              <a:rPr sz="1200" b="1" i="0">
                <a:solidFill>
                  <a:srgbClr val="0E2F57"/>
                </a:solidFill>
                <a:latin typeface="Calibri"/>
              </a:rPr>
              <a:t>One software environment</a:t>
            </a:r>
            <a:r>
              <a:rPr sz="1200" b="0" i="0">
                <a:solidFill>
                  <a:srgbClr val="0E2F57"/>
                </a:solidFill>
                <a:latin typeface="Calibri"/>
              </a:rPr>
              <a:t> for every number: scikit-learn 1.9.0, xgboost 3.3.0, lightgbm 4.7.0, catboost 1.2.10, shap 0.52.0.</a:t>
            </a:r>
          </a:p>
          <a:p>
            <a:pPr algn="l" marL="201168" indent="-201168">
              <a:spcAft>
                <a:spcPts val="800"/>
              </a:spcAft>
              <a:buFont typeface="Arial"/>
              <a:buChar char="•"/>
            </a:pPr>
            <a:r>
              <a:rPr sz="1200" b="1" i="0">
                <a:solidFill>
                  <a:srgbClr val="0E2F57"/>
                </a:solidFill>
                <a:latin typeface="Calibri"/>
              </a:rPr>
              <a:t>random_state = 42</a:t>
            </a:r>
            <a:r>
              <a:rPr sz="1200" b="0" i="0">
                <a:solidFill>
                  <a:srgbClr val="0E2F57"/>
                </a:solidFill>
                <a:latin typeface="Calibri"/>
              </a:rPr>
              <a:t> for every split, resample and model fit; all 12 configurations on the identical 25 CV partitions.</a:t>
            </a:r>
          </a:p>
          <a:p>
            <a:pPr algn="l" marL="201168" indent="-201168">
              <a:spcAft>
                <a:spcPts val="400"/>
              </a:spcAft>
              <a:buFont typeface="Arial"/>
              <a:buChar char="•"/>
            </a:pPr>
            <a:r>
              <a:rPr sz="1200" b="1" i="0">
                <a:solidFill>
                  <a:srgbClr val="0E2F57"/>
                </a:solidFill>
                <a:latin typeface="Calibri"/>
              </a:rPr>
              <a:t>5 of 11 features are categorical</a:t>
            </a:r>
            <a:r>
              <a:rPr sz="1200" b="0" i="0">
                <a:solidFill>
                  <a:srgbClr val="0E2F57"/>
                </a:solidFill>
                <a:latin typeface="Calibri"/>
              </a:rPr>
              <a:t> (incl. ORGNBR, PARENTORGNBR) — label-encoded outside CatBoost, a stated limitation.</a:t>
            </a:r>
          </a:p>
        </p:txBody>
      </p:sp>
      <p:sp>
        <p:nvSpPr>
          <p:cNvPr id="5" name="Footer Placeholder 4">
            <a:extLst>
              <a:ext uri="{FF2B5EF4-FFF2-40B4-BE49-F238E27FC236}">
                <a16:creationId xmlns:a16="http://schemas.microsoft.com/office/drawing/2014/main" id="{E2ABE424-E3C3-46FD-B752-CABCBE775C59}"/>
              </a:ext>
            </a:extLst>
          </p:cNvPr>
          <p:cNvSpPr>
            <a:spLocks noGrp="1"/>
          </p:cNvSpPr>
          <p:nvPr>
            <p:ph type="ftr" sz="quarter" idx="11"/>
          </p:nvPr>
        </p:nvSpPr>
        <p:spPr/>
        <p:txBody>
          <a:bodyPr/>
          <a:lstStyle/>
          <a:p>
            <a:r>
              <a:rPr lang="en-US" dirty="0"/>
              <a:t>UEL-SEBL</a:t>
            </a:r>
          </a:p>
        </p:txBody>
      </p:sp>
      <p:sp>
        <p:nvSpPr>
          <p:cNvPr id="6" name="Slide Number Placeholder 5">
            <a:extLst>
              <a:ext uri="{FF2B5EF4-FFF2-40B4-BE49-F238E27FC236}">
                <a16:creationId xmlns:a16="http://schemas.microsoft.com/office/drawing/2014/main" id="{DD4ECD59-524F-4344-ABDA-7D3B1083344C}"/>
              </a:ext>
            </a:extLst>
          </p:cNvPr>
          <p:cNvSpPr>
            <a:spLocks noGrp="1"/>
          </p:cNvSpPr>
          <p:nvPr>
            <p:ph type="sldNum" sz="quarter" idx="12"/>
          </p:nvPr>
        </p:nvSpPr>
        <p:spPr/>
        <p:txBody>
          <a:bodyPr/>
          <a:lstStyle/>
          <a:p>
            <a:fld id="{ECEBCFE7-CD98-4988-B164-8232B2F80098}" type="slidenum">
              <a:rPr lang="en-US" smtClean="0"/>
              <a:pPr/>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TotalTime>
  <Words>12</Words>
  <Application>Microsoft Office PowerPoint</Application>
  <PresentationFormat>Widescreen</PresentationFormat>
  <Paragraphs>12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Lato</vt:lpstr>
      <vt:lpstr>Lato Black</vt:lpstr>
      <vt:lpstr>Lato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Trần Thị Kim Đào</cp:lastModifiedBy>
  <cp:revision>62</cp:revision>
  <dcterms:created xsi:type="dcterms:W3CDTF">2022-12-02T04:21:00Z</dcterms:created>
  <dcterms:modified xsi:type="dcterms:W3CDTF">2026-09-24T09:46:46Z</dcterms:modified>
</cp:coreProperties>
</file>