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80"/>
              </a:lnSpc>
              <a:spcAft>
                <a:spcPts val="2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Machine Learning for Credit Classification:</a:t>
            </a:r>
            <a:br/>
            <a:r>
              <a:t>Case Study in a Vietnamese Commercial Bank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200"/>
              </a:spcAft>
              <a:defRPr sz="2000" b="0">
                <a:solidFill>
                  <a:srgbClr val="BBDBF5"/>
                </a:solidFill>
                <a:latin typeface="Calibri"/>
              </a:defRPr>
            </a:pPr>
            <a:r>
              <a:t>Lê Thị Thanh An · Lê Kim Thư · Đàm Công Danh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200"/>
              </a:spcAft>
              <a:defRPr sz="1600" b="0">
                <a:solidFill>
                  <a:srgbClr val="88BBDD"/>
                </a:solidFill>
                <a:latin typeface="Calibri"/>
              </a:defRPr>
            </a:pPr>
            <a:r>
              <a:t>University of Economics and Law, VNU-HCM  ·  Hanoi University of Science and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572000"/>
            <a:ext cx="484632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200"/>
              </a:spcAft>
              <a:defRPr sz="1500" b="0">
                <a:solidFill>
                  <a:srgbClr val="BBDBF5"/>
                </a:solidFill>
                <a:latin typeface="Calibri"/>
              </a:defRPr>
            </a:pPr>
            <a:r>
              <a:t>3rd Global Conference on Sustainability in Economics, Business and Law</a:t>
            </a:r>
            <a:br/>
            <a:r>
              <a:t>(UEL SEBL International Conference 2026)</a:t>
            </a:r>
            <a:br/>
            <a:r>
              <a:t>Ho Chi Minh City · October 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60"/>
              </a:lnSpc>
              <a:spcBef>
                <a:spcPts val="400"/>
              </a:spcBef>
              <a:spcAft>
                <a:spcPts val="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 Motivation &amp; Research Questions</a:t>
            </a:r>
          </a:p>
          <a:p>
            <a:pPr>
              <a:lnSpc>
                <a:spcPts val="2860"/>
              </a:lnSpc>
              <a:spcBef>
                <a:spcPts val="400"/>
              </a:spcBef>
              <a:spcAft>
                <a:spcPts val="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 Literature &amp; Research Gaps</a:t>
            </a:r>
          </a:p>
          <a:p>
            <a:pPr>
              <a:lnSpc>
                <a:spcPts val="2860"/>
              </a:lnSpc>
              <a:spcBef>
                <a:spcPts val="400"/>
              </a:spcBef>
              <a:spcAft>
                <a:spcPts val="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 Data &amp; Methodology</a:t>
            </a:r>
          </a:p>
          <a:p>
            <a:pPr>
              <a:lnSpc>
                <a:spcPts val="2860"/>
              </a:lnSpc>
              <a:spcBef>
                <a:spcPts val="400"/>
              </a:spcBef>
              <a:spcAft>
                <a:spcPts val="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 Results — Model Comparison (RQ1)</a:t>
            </a:r>
          </a:p>
          <a:p>
            <a:pPr>
              <a:lnSpc>
                <a:spcPts val="2860"/>
              </a:lnSpc>
              <a:spcBef>
                <a:spcPts val="400"/>
              </a:spcBef>
              <a:spcAft>
                <a:spcPts val="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 Results — Feature Efficiency (RQ2)</a:t>
            </a:r>
          </a:p>
          <a:p>
            <a:pPr>
              <a:lnSpc>
                <a:spcPts val="2860"/>
              </a:lnSpc>
              <a:spcBef>
                <a:spcPts val="400"/>
              </a:spcBef>
              <a:spcAft>
                <a:spcPts val="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6.  Results — Gain vs. SHAP Importance (RQ3)</a:t>
            </a:r>
          </a:p>
          <a:p>
            <a:pPr>
              <a:lnSpc>
                <a:spcPts val="2860"/>
              </a:lnSpc>
              <a:spcBef>
                <a:spcPts val="400"/>
              </a:spcBef>
              <a:spcAft>
                <a:spcPts val="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7.  Statistical Robustness</a:t>
            </a:r>
          </a:p>
          <a:p>
            <a:pPr>
              <a:lnSpc>
                <a:spcPts val="2860"/>
              </a:lnSpc>
              <a:spcBef>
                <a:spcPts val="400"/>
              </a:spcBef>
              <a:spcAft>
                <a:spcPts val="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8.  Implications for Credit Governance</a:t>
            </a:r>
          </a:p>
          <a:p>
            <a:pPr>
              <a:lnSpc>
                <a:spcPts val="2860"/>
              </a:lnSpc>
              <a:spcBef>
                <a:spcPts val="400"/>
              </a:spcBef>
              <a:spcAft>
                <a:spcPts val="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9.  Conclusion &amp; 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Motivation &amp; 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79"/>
              </a:lnSpc>
              <a:spcAft>
                <a:spcPts val="2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Vietnam's regulatory framework (Circular 31/2024/TT-NHNN) requires banks to classify every loan into one of five debt groups. Accurate, transparent classification supports sustainable private-sector lending.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70"/>
              </a:lnSpc>
              <a:spcBef>
                <a:spcPts val="400"/>
              </a:spcBef>
              <a:spcAft>
                <a:spcPts val="400"/>
              </a:spcAft>
              <a:defRPr sz="1900">
                <a:solidFill>
                  <a:srgbClr val="002B5C"/>
                </a:solidFill>
                <a:latin typeface="Calibri"/>
              </a:defRPr>
            </a:pPr>
            <a:r>
              <a:t>RQ1: Which ML algorithm × imbalance-treatment combination yields the best</a:t>
            </a:r>
            <a:br/>
            <a:r>
              <a:t>         Macro-F1 for five-group debt classification?</a:t>
            </a:r>
          </a:p>
          <a:p>
            <a:pPr>
              <a:lnSpc>
                <a:spcPts val="2470"/>
              </a:lnSpc>
              <a:spcBef>
                <a:spcPts val="400"/>
              </a:spcBef>
              <a:spcAft>
                <a:spcPts val="400"/>
              </a:spcAft>
              <a:defRPr sz="1900">
                <a:solidFill>
                  <a:srgbClr val="002B5C"/>
                </a:solidFill>
                <a:latin typeface="Calibri"/>
              </a:defRPr>
            </a:pPr>
            <a:r>
              <a:t>RQ2: How many features are needed to recover ≥98% of the best Macro-F1?</a:t>
            </a:r>
          </a:p>
          <a:p>
            <a:pPr>
              <a:lnSpc>
                <a:spcPts val="2470"/>
              </a:lnSpc>
              <a:spcBef>
                <a:spcPts val="400"/>
              </a:spcBef>
              <a:spcAft>
                <a:spcPts val="400"/>
              </a:spcAft>
              <a:defRPr sz="1900">
                <a:solidFill>
                  <a:srgbClr val="002B5C"/>
                </a:solidFill>
                <a:latin typeface="Calibri"/>
              </a:defRPr>
            </a:pPr>
            <a:r>
              <a:t>RQ3: Does SHAP provide a more stable feature-importance ranking than</a:t>
            </a:r>
            <a:br/>
            <a:r>
              <a:t>         Gain across algorithms and treatments?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029200"/>
            <a:ext cx="10515600" cy="109728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200"/>
              </a:spcAft>
              <a:defRPr sz="1500" b="1">
                <a:solidFill>
                  <a:srgbClr val="002B5C"/>
                </a:solidFill>
                <a:latin typeface="Calibri"/>
              </a:defRPr>
            </a:pPr>
            <a:r>
              <a:t>Key design principle: Every non-trivial claim is cross-checked with an independent validation — leakage diagnostic, ablation, corrected paired test, SHAP vs. Gain — so that governance conclusions rest on tested, not asserted,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Literature &amp; Research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40"/>
              </a:lnSpc>
              <a:spcBef>
                <a:spcPts val="4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Gap 1 — Metric:  Prior Vietnamese studies use Accuracy as headline metric,</a:t>
            </a:r>
            <a:br/>
            <a:r>
              <a:t>  which is misleading under severe class imbalance (e.g. 77.6% of loans = Group 1).</a:t>
            </a:r>
          </a:p>
          <a:p>
            <a:pPr>
              <a:lnSpc>
                <a:spcPts val="2340"/>
              </a:lnSpc>
              <a:spcBef>
                <a:spcPts val="4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Gap 2 — Imbalance treatment:  Class weighting is typically either applied or</a:t>
            </a:r>
            <a:br/>
            <a:r>
              <a:t>  ignored — never systematically compared against no-weighting for the same models.</a:t>
            </a:r>
          </a:p>
          <a:p>
            <a:pPr>
              <a:lnSpc>
                <a:spcPts val="2340"/>
              </a:lnSpc>
              <a:spcBef>
                <a:spcPts val="4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Gap 3 — Feature trust:  Gain-based importance varies with algorithm and treatment;</a:t>
            </a:r>
            <a:br/>
            <a:r>
              <a:t>  no prior study cross-validates importance with SHAP or tests for data leakage explicitly.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79"/>
              </a:lnSpc>
              <a:spcAft>
                <a:spcPts val="200"/>
              </a:spcAft>
              <a:defRPr sz="1700" b="1">
                <a:solidFill>
                  <a:srgbClr val="0070C0"/>
                </a:solidFill>
                <a:latin typeface="Calibri"/>
              </a:defRPr>
            </a:pPr>
            <a:r>
              <a:t>→  This paper addresses all three gaps with a symmetric 6-algorithm × 2-treatment design,</a:t>
            </a:r>
            <a:br/>
            <a:r>
              <a:t>     Macro-F1 as primary metric, and SHAP + leakage diagnostics.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39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27,001 loan contracts from one Vietnamese commercial bank</a:t>
            </a:r>
          </a:p>
          <a:p>
            <a:pPr>
              <a:lnSpc>
                <a:spcPts val="1839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Target: NHOMNOMOI — 5 regulatory debt groups (Group 1–5)</a:t>
            </a:r>
          </a:p>
          <a:p>
            <a:pPr>
              <a:lnSpc>
                <a:spcPts val="1839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Class distribution:  G1 77.6%  |  G2 4.8%  |  G3 2.2%  |  G4 2.9%  |  G5 12.5%</a:t>
            </a:r>
          </a:p>
          <a:p>
            <a:pPr>
              <a:lnSpc>
                <a:spcPts val="1839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80/20 stratified train-test split; 5-fold × 5-repeat CV for robustness</a:t>
            </a:r>
          </a:p>
          <a:p>
            <a:pPr>
              <a:lnSpc>
                <a:spcPts val="1839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lnSpc>
                <a:spcPts val="1839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Leakage control:  NHOMNO (r = 0.98 with target) and NHOMNO_TCBS excluded</a:t>
            </a:r>
          </a:p>
          <a:p>
            <a:pPr>
              <a:lnSpc>
                <a:spcPts val="1839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IV screening:  5 variables &gt; IV = 1.0 flagged → manual review → retained</a:t>
            </a:r>
          </a:p>
          <a:p>
            <a:pPr>
              <a:lnSpc>
                <a:spcPts val="1839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Feature engineering:  LOAN_TENURE_DAYS, DAYS_TO_MATURITY, UTIL_RATE</a:t>
            </a:r>
          </a:p>
          <a:p>
            <a:pPr>
              <a:lnSpc>
                <a:spcPts val="1839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11 features in main config; 13-variable pool for top-k experiment</a:t>
            </a:r>
          </a:p>
          <a:p>
            <a:pPr>
              <a:lnSpc>
                <a:spcPts val="1839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lnSpc>
                <a:spcPts val="1839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6 classifiers: Logistic Regression, Decision Tree, Random Forest,</a:t>
            </a:r>
          </a:p>
          <a:p>
            <a:pPr>
              <a:lnSpc>
                <a:spcPts val="1839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                     XGBoost, LightGBM, CatBoost</a:t>
            </a:r>
          </a:p>
          <a:p>
            <a:pPr>
              <a:lnSpc>
                <a:spcPts val="1839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2 treatments each: class weighting  vs.  no weighting → 12 configurations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RQ1: Model Comparison — Hold-out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500" b="0">
                <a:solidFill>
                  <a:srgbClr val="BBDBF5"/>
                </a:solidFill>
                <a:latin typeface="Calibri"/>
              </a:defRPr>
            </a:pPr>
            <a:r>
              <a:t>Table 3 (11-feature main configuration)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37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5169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Macro-F1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Wtd-F1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Logistic Reg.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 wt.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0.4652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0.3806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0.8359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Logistic Reg.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0.8105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0.3627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0.7951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0.8221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 wt.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0.7887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0.5368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0.7739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0.9087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0.5833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0.8907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0.8067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 wt.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0.5427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0.9094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0.9087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0.6095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0.8907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0.9191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 wt.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0.8098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0.9145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0.9113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0.6197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0.8942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 wt.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0.9128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0.9113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0.6248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0.8954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0.9246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CatBoost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 wt.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0.9062</a:t>
                      </a:r>
                    </a:p>
                  </a:txBody>
                  <a:tcPr/>
                </a:tc>
              </a:tr>
              <a:tr h="35169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CatBoost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0.9093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0.6074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0.8911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200"/>
              </a:spcAft>
              <a:defRPr sz="1600" b="1">
                <a:solidFill>
                  <a:srgbClr val="0070C0"/>
                </a:solidFill>
                <a:latin typeface="Calibri"/>
              </a:defRPr>
            </a:pPr>
            <a:r>
              <a:t>Key finding:  Class weighting lowers Macro-F1 for 5 of 6 classifiers. LightGBM–none achieves the best Macro-F1 (0.6248).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RQ1: Precision–Recall Trade-off by Debt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500" b="0">
                <a:solidFill>
                  <a:srgbClr val="BBDBF5"/>
                </a:solidFill>
                <a:latin typeface="Calibri"/>
              </a:defRPr>
            </a:pPr>
            <a:r>
              <a:t>LightGBM — None vs. Class Weighting (Table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37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097279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2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Debt Group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 (none)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 (none)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 (none)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 (wt)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 (wt)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 (wt)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– 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– Special mention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 – Sub-standard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0.379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 – Doubtful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–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Macro avg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6634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10"/>
              </a:lnSpc>
              <a:spcBef>
                <a:spcPts val="4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Two configs reach similar Macro-F1 by opposite routes</a:t>
            </a:r>
          </a:p>
          <a:p>
            <a:pPr>
              <a:lnSpc>
                <a:spcPts val="2210"/>
              </a:lnSpc>
              <a:spcBef>
                <a:spcPts val="4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None: high Precision, low Recall on minority groups → fewer false alarms</a:t>
            </a:r>
          </a:p>
          <a:p>
            <a:pPr>
              <a:lnSpc>
                <a:spcPts val="2210"/>
              </a:lnSpc>
              <a:spcBef>
                <a:spcPts val="4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Class wt.: higher Recall on Groups 2–4, but much lower Precision</a:t>
            </a:r>
          </a:p>
          <a:p>
            <a:pPr>
              <a:lnSpc>
                <a:spcPts val="2210"/>
              </a:lnSpc>
              <a:spcBef>
                <a:spcPts val="4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This is a policy choice for the bank's credit-risk committee, not a modelling artefact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RQ2: Feature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500" b="0">
                <a:solidFill>
                  <a:srgbClr val="BBDBF5"/>
                </a:solidFill>
                <a:latin typeface="Calibri"/>
              </a:defRPr>
            </a:pPr>
            <a:r>
              <a:t>Top-k features &amp; DAYS_TO_MATURITY ablation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37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XGB Macro-F1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XGB ROC-AUC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LGBM Macro-F1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LGBM ROC-AUC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0.8885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0.5909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0.9008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0.6061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0.9121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0.6205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0.9215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0.6139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0.6147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0.9260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 (full)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0.6194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0.6167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663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10"/>
              </a:lnSpc>
              <a:spcBef>
                <a:spcPts val="4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9 of 13 features recover 98–99% of best Macro-F1</a:t>
            </a:r>
          </a:p>
          <a:p>
            <a:pPr>
              <a:lnSpc>
                <a:spcPts val="2210"/>
              </a:lnSpc>
              <a:spcBef>
                <a:spcPts val="4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Even 3 features → 95–97% (DAYS_TO_MATURITY + tenure + product/util.)</a:t>
            </a:r>
          </a:p>
          <a:p>
            <a:pPr>
              <a:lnSpc>
                <a:spcPts val="2210"/>
              </a:lnSpc>
              <a:spcBef>
                <a:spcPts val="4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Removing DAYS_TO_MATURITY alone costs 16–23% Macro-F1 (Table 6)</a:t>
            </a:r>
          </a:p>
          <a:p>
            <a:pPr>
              <a:lnSpc>
                <a:spcPts val="2210"/>
              </a:lnSpc>
              <a:spcBef>
                <a:spcPts val="4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Reference-date invariance confirmed across 5 candidate dates</a:t>
            </a:r>
          </a:p>
          <a:p>
            <a:pPr>
              <a:lnSpc>
                <a:spcPts val="2210"/>
              </a:lnSpc>
              <a:spcBef>
                <a:spcPts val="4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In-fold embedded selection: honest cost is &lt; 1% Macro-F1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RQ3: Gain vs. SHAP Feature-Group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500" b="0">
                <a:solidFill>
                  <a:srgbClr val="BBDBF5"/>
                </a:solidFill>
                <a:latin typeface="Calibri"/>
              </a:defRPr>
            </a:pPr>
            <a:r>
              <a:t>Tables 8–9: XGBoost &amp; LightGBM, both treatments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37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200"/>
              </a:spcAft>
              <a:defRPr sz="1600" b="1">
                <a:solidFill>
                  <a:srgbClr val="C00000"/>
                </a:solidFill>
                <a:latin typeface="Calibri"/>
              </a:defRPr>
            </a:pPr>
            <a:r>
              <a:t>Gain-based (unstable)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/>
                <a:gridCol w="1060704"/>
                <a:gridCol w="1060704"/>
                <a:gridCol w="1060704"/>
                <a:gridCol w="106070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XGB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LGBM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XGB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wt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LGBM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wt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Tenure/maturity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49.3%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Balance/util.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12.5%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Product/purpose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Interest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6.2%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200"/>
              </a:spcAft>
              <a:defRPr sz="1600" b="1">
                <a:solidFill>
                  <a:srgbClr val="008000"/>
                </a:solidFill>
                <a:latin typeface="Calibri"/>
              </a:defRPr>
            </a:pPr>
            <a:r>
              <a:t>SHAP-based (stable ✓)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55448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/>
                <a:gridCol w="1060704"/>
                <a:gridCol w="1060704"/>
                <a:gridCol w="1060704"/>
                <a:gridCol w="106070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006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XGB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06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LGBM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06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XGB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wt</a:t>
                      </a:r>
                    </a:p>
                  </a:txBody>
                  <a:tcPr>
                    <a:solidFill>
                      <a:srgbClr val="006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LGBM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wt</a:t>
                      </a:r>
                    </a:p>
                  </a:txBody>
                  <a:tcPr>
                    <a:solidFill>
                      <a:srgbClr val="006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Tenure/maturity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42.8%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Balance/util.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27.9%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28.0%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28.7%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13.7%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Interest rate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Product/purpose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8463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10"/>
              </a:lnSpc>
              <a:spcBef>
                <a:spcPts val="4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Gain: Product &amp; purpose ranges 5.7% to 24.7% — rank reversal across configs</a:t>
            </a:r>
          </a:p>
          <a:p>
            <a:pPr>
              <a:lnSpc>
                <a:spcPts val="2210"/>
              </a:lnSpc>
              <a:spcBef>
                <a:spcPts val="4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SHAP: Tenure/maturity 40.8–42.8%, Balance 26.1–28.7% — same ordering everywhere</a:t>
            </a:r>
          </a:p>
          <a:p>
            <a:pPr>
              <a:lnSpc>
                <a:spcPts val="2210"/>
              </a:lnSpc>
              <a:spcBef>
                <a:spcPts val="4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Practical implication: do NOT base data-investment decisions on Gain alone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Statistical Robustness: Corrected Paired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500" b="0">
                <a:solidFill>
                  <a:srgbClr val="BBDBF5"/>
                </a:solidFill>
                <a:latin typeface="Calibri"/>
              </a:defRPr>
            </a:pPr>
            <a:r>
              <a:t>5-fold × 5-repeat CV, Nadeau–Bengio correction, Holm adjustment (Table 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37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5169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Macro-F1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(mean ± sd)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 vs DT-none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Holm p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Decision Tree–none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0.6271 ± 0.0109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XGBoost–none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0.6217 ± 0.0101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+0.0053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Random Forest–none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0.6216 ± 0.0097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+0.0054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0.789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LightGBM–none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0.6183 ± 0.0095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+0.0088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CatBoost–none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0.6042 ± 0.0116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+0.0229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0.009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LightGBM–balanced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0.5917 ± 0.0089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+0.0354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&lt;0.0001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XGBoost–balanced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0.5878 ± 0.0083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+0.0392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&lt;0.0001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RF–balanced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0.5637 ± 0.0072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+0.0634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&lt;0.0001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CatBoost–balanced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0.5471 ± 0.0091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+0.0800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&lt;0.0001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DT–balanced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0.4990 ± 0.0144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+0.1281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&lt;0.0001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LogReg–balanced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0.3876 ± 0.0055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+0.2394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41.55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&lt;0.0001</a:t>
                      </a:r>
                    </a:p>
                  </a:txBody>
                  <a:tcPr/>
                </a:tc>
              </a:tr>
              <a:tr h="35169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LogReg–none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0.3699 ± 0.0089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+0.2572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31.54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&lt;0.0001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200"/>
              </a:spcAft>
              <a:defRPr sz="1600" b="1">
                <a:solidFill>
                  <a:srgbClr val="0070C0"/>
                </a:solidFill>
                <a:latin typeface="Calibri"/>
              </a:defRPr>
            </a:pPr>
            <a:r>
              <a:t>Top 4 unweighted tree ensembles cannot be separated statistically (p &gt; 0.05). Class weighting is significantly worse for every tree-based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Implications for Sustainable Credit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39"/>
              </a:lnSpc>
              <a:spcBef>
                <a:spcPts val="4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1.  Multi-metric evaluation is a governance safeguard</a:t>
            </a:r>
            <a:br/>
            <a:r>
              <a:t>     → Macro-F1 alone conceals the Precision–Recall trade-off that the bank must decide</a:t>
            </a:r>
          </a:p>
          <a:p>
            <a:pPr>
              <a:lnSpc>
                <a:spcPts val="2039"/>
              </a:lnSpc>
              <a:spcBef>
                <a:spcPts val="4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</a:p>
          <a:p>
            <a:pPr>
              <a:lnSpc>
                <a:spcPts val="2039"/>
              </a:lnSpc>
              <a:spcBef>
                <a:spcPts val="4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2.  Feature efficiency lowers governance cost</a:t>
            </a:r>
            <a:br/>
            <a:r>
              <a:t>     → 9 of 13 features suffice; each dropped feature = one fewer variable to audit</a:t>
            </a:r>
          </a:p>
          <a:p>
            <a:pPr>
              <a:lnSpc>
                <a:spcPts val="2039"/>
              </a:lnSpc>
              <a:spcBef>
                <a:spcPts val="4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</a:p>
          <a:p>
            <a:pPr>
              <a:lnSpc>
                <a:spcPts val="2039"/>
              </a:lnSpc>
              <a:spcBef>
                <a:spcPts val="4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3.  Cross-check every importance ranking</a:t>
            </a:r>
            <a:br/>
            <a:r>
              <a:t>     → Gain alone would support different conclusions depending on algorithm;</a:t>
            </a:r>
            <a:br/>
            <a:r>
              <a:t>        SHAP is demonstrably more stable</a:t>
            </a:r>
          </a:p>
          <a:p>
            <a:pPr>
              <a:lnSpc>
                <a:spcPts val="2039"/>
              </a:lnSpc>
              <a:spcBef>
                <a:spcPts val="4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</a:p>
          <a:p>
            <a:pPr>
              <a:lnSpc>
                <a:spcPts val="2039"/>
              </a:lnSpc>
              <a:spcBef>
                <a:spcPts val="4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4.  Automated flags require documented, falsifiable checks</a:t>
            </a:r>
            <a:br/>
            <a:r>
              <a:t>     → IV &gt; 1.0 is a prompt for human review, not automatic exclusion;</a:t>
            </a:r>
            <a:br/>
            <a:r>
              <a:t>        ablation + reference-date checks test (not just assert) admissibility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60"/>
              </a:lnSpc>
              <a:spcBef>
                <a:spcPts val="4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Three principal contributions:</a:t>
            </a:r>
          </a:p>
          <a:p>
            <a:pPr>
              <a:lnSpc>
                <a:spcPts val="2160"/>
              </a:lnSpc>
              <a:spcBef>
                <a:spcPts val="4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>
              <a:lnSpc>
                <a:spcPts val="2160"/>
              </a:lnSpc>
              <a:spcBef>
                <a:spcPts val="4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RQ1 — The imbalance treatment matters more than the algorithm.</a:t>
            </a:r>
            <a:br/>
            <a:r>
              <a:t>  Class weighting is significantly worse for every tree-based model.</a:t>
            </a:r>
            <a:br/>
            <a:r>
              <a:t>  The top 4 unweighted ensembles cannot be separated (Macro-F1 0.6183–0.6271).</a:t>
            </a:r>
            <a:br/>
            <a:r>
              <a:t>  → We deliberately name no single winning algorithm.</a:t>
            </a:r>
          </a:p>
          <a:p>
            <a:pPr>
              <a:lnSpc>
                <a:spcPts val="2160"/>
              </a:lnSpc>
              <a:spcBef>
                <a:spcPts val="4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>
              <a:lnSpc>
                <a:spcPts val="2160"/>
              </a:lnSpc>
              <a:spcBef>
                <a:spcPts val="4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RQ2 — 9 of 13 features recover ≥98% of peak performance.</a:t>
            </a:r>
            <a:br/>
            <a:r>
              <a:t>  DAYS_TO_MATURITY is the dominant predictor (ablation cost 16–23%).</a:t>
            </a:r>
            <a:br/>
            <a:r>
              <a:t>  Honest in-fold selection costs &lt; 1%.</a:t>
            </a:r>
          </a:p>
          <a:p>
            <a:pPr>
              <a:lnSpc>
                <a:spcPts val="2160"/>
              </a:lnSpc>
              <a:spcBef>
                <a:spcPts val="4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>
              <a:lnSpc>
                <a:spcPts val="2160"/>
              </a:lnSpc>
              <a:spcBef>
                <a:spcPts val="4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RQ3 — SHAP is stable across algorithms and treatments; Gain is not.</a:t>
            </a:r>
            <a:br/>
            <a:r>
              <a:t>  Data-investment decisions should use SHAP, not a single Gain ranking.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60"/>
              </a:lnSpc>
              <a:spcBef>
                <a:spcPts val="4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1.  Small sample sizes in Groups 2–4 (e.g. 121 Group-3 loans in test set)</a:t>
            </a:r>
            <a:br/>
            <a:r>
              <a:t>     → Per-class estimates carry uncertainty; rely on repeated-CV macro figures</a:t>
            </a:r>
          </a:p>
          <a:p>
            <a:pPr>
              <a:lnSpc>
                <a:spcPts val="2160"/>
              </a:lnSpc>
              <a:spcBef>
                <a:spcPts val="4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>
              <a:lnSpc>
                <a:spcPts val="2160"/>
              </a:lnSpc>
              <a:spcBef>
                <a:spcPts val="4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2.  Single institution, single snapshot</a:t>
            </a:r>
            <a:br/>
            <a:r>
              <a:t>     → Out-of-time and cross-bank validation needed before deployment</a:t>
            </a:r>
          </a:p>
          <a:p>
            <a:pPr>
              <a:lnSpc>
                <a:spcPts val="2160"/>
              </a:lnSpc>
              <a:spcBef>
                <a:spcPts val="4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>
              <a:lnSpc>
                <a:spcPts val="2160"/>
              </a:lnSpc>
              <a:spcBef>
                <a:spcPts val="4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3.  Temporal availability of DAYS_TO_MATURITY cannot be confirmed</a:t>
            </a:r>
            <a:br/>
            <a:r>
              <a:t>     from the dataset alone → requires bank's actual classification methodology</a:t>
            </a:r>
          </a:p>
          <a:p>
            <a:pPr>
              <a:lnSpc>
                <a:spcPts val="2160"/>
              </a:lnSpc>
              <a:spcBef>
                <a:spcPts val="4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>
              <a:lnSpc>
                <a:spcPts val="2160"/>
              </a:lnSpc>
              <a:spcBef>
                <a:spcPts val="4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4.  All governance claims are conditional on the out-of-time validation</a:t>
            </a:r>
            <a:br/>
            <a:r>
              <a:t>     this single-snapshot dataset cannot supply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80"/>
              </a:lnSpc>
              <a:spcAft>
                <a:spcPts val="2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017520"/>
            <a:ext cx="484632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Aft>
                <a:spcPts val="200"/>
              </a:spcAft>
              <a:defRPr sz="2000" b="0">
                <a:solidFill>
                  <a:srgbClr val="BBDBF5"/>
                </a:solidFill>
                <a:latin typeface="Calibri"/>
              </a:defRPr>
            </a:pPr>
            <a:r>
              <a:t>Đàm Công Danh</a:t>
            </a:r>
            <a:br/>
            <a:r>
              <a:t>danh.dc251317m@sis.hust.edu.vn</a:t>
            </a:r>
            <a:br/>
            <a:r>
              <a:t>Tel.: +84 966 565 830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2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