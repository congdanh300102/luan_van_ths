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Good morning. My name is Dam Cong Danh, from Hanoi University of Science and Technology,</a:t>
            </a:r>
          </a:p>
          <a:p>
            <a:r>
              <a:t>presenting joint work with Le Thi Thanh An of the University of Economics and Law, and Le Kim Thu.</a:t>
            </a:r>
          </a:p>
          <a:p/>
          <a:p>
            <a:r>
              <a:t>Our paper asks what it actually takes to govern a machine-learning credit-classification model</a:t>
            </a:r>
          </a:p>
          <a:p>
            <a:r>
              <a:t>responsibly in a Vietnamese bank — and the answer turned out to be less about which algorithm you</a:t>
            </a:r>
          </a:p>
          <a:p>
            <a:r>
              <a:t>pick than we expected.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In Vietnam this is a regulatory obligation, and it drives provisioning. So a model that is</a:t>
            </a:r>
          </a:p>
          <a:p>
            <a:r>
              <a:t>accurate but opaque, or that has quietly learned the labelling rule rather than genuine risk</a:t>
            </a:r>
          </a:p>
          <a:p>
            <a:r>
              <a:t>signal, is unusable in a regulated process.</a:t>
            </a:r>
          </a:p>
          <a:p/>
          <a:p>
            <a:r>
              <a:t>Three questions. Note how RQ1 is phrased: not "which algorithm wins", but how far the ranking</a:t>
            </a:r>
          </a:p>
          <a:p>
            <a:r>
              <a:t>depends on the imbalance treatment. That phrasing turned out to matter a great deal.</a:t>
            </a:r>
          </a:p>
          <a:p/>
          <a:p>
            <a:r>
              <a:t>On the right, the three gaps that motivated the design. The 81.84 percent figure is from the study</a:t>
            </a:r>
          </a:p>
          <a:p>
            <a:r>
              <a:t>closest in subject to ours — an early-warning system for debt-group migration. It is an Accuracy</a:t>
            </a:r>
          </a:p>
          <a:p>
            <a:r>
              <a:t>figure, on data with this kind of imbalance. Frame this as "checks we thought were missing", not</a:t>
            </a:r>
          </a:p>
          <a:p>
            <a:r>
              <a:t>as criticism — those authors may be in the room.</a:t>
            </a:r>
          </a:p>
          <a:p/>
          <a:p>
            <a:r>
              <a:t>Read the box at the bottom out loud. It is the real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 27,001 loans, 21 raw variables, one bank, stratified 80/20.</a:t>
            </a:r>
          </a:p>
          <a:p/>
          <a:p>
            <a:r>
              <a:t>Two things on the left worth pausing on. NHOMNO correlates 0.98 with the target — an alternate</a:t>
            </a:r>
          </a:p>
          <a:p>
            <a:r>
              <a:t>debt-group field. We treat removing it as leakage control, not feature selection, because</a:t>
            </a:r>
          </a:p>
          <a:p>
            <a:r>
              <a:t>retaining it would invalidate every downstream comparison. And IV screening flagged five variables</a:t>
            </a:r>
          </a:p>
          <a:p>
            <a:r>
              <a:t>above 1.0: we did NOT auto-exclude them, we reviewed each against a stated criterion and documented</a:t>
            </a:r>
          </a:p>
          <a:p>
            <a:r>
              <a:t>the decision. That distinction comes back on slide 7.</a:t>
            </a:r>
          </a:p>
          <a:p/>
          <a:p>
            <a:r>
              <a:t>On the right the key word is symmetric: six algorithms, both treatments, all twelve, on the same</a:t>
            </a:r>
          </a:p>
          <a:p>
            <a:r>
              <a:t>folds. Hyperparameters fixed in advance — a real limitation I own at the end, but it means no</a:t>
            </a:r>
          </a:p>
          <a:p>
            <a:r>
              <a:t>evaluation partition was consumed by model selection.</a:t>
            </a:r>
          </a:p>
          <a:p/>
          <a:p>
            <a:r>
              <a:t>Now the red box, and raise it here rather than let someone find it in the results. Group 5 alone</a:t>
            </a:r>
          </a:p>
          <a:p>
            <a:r>
              <a:t>is bigger than Groups 2, 3 and 4 combined. The median Group-5 loan is six years past maturity.</a:t>
            </a:r>
          </a:p>
          <a:p>
            <a:r>
              <a:t>This is a legacy loss stock. So when you see F1 of 0.93 on Group 5 later, that is NOT early</a:t>
            </a:r>
          </a:p>
          <a:p>
            <a:r>
              <a:t>warning — it is a settled end state that is easy to separate. The groups that matter operationally</a:t>
            </a:r>
          </a:p>
          <a:p>
            <a:r>
              <a:t>are 2 to 4, and that is exactly where the model is weakest.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 The core comparison. Twelve rows: six algorithms, each under both treatments.</a:t>
            </a:r>
          </a:p>
          <a:p/>
          <a:p>
            <a:r>
              <a:t>First, the headline: the imbalance treatment matters more than the choice of algorithm. Every</a:t>
            </a:r>
          </a:p>
          <a:p>
            <a:r>
              <a:t>tree-based model does better with weighting OFF. Counter-intuitive — class weighting is the</a:t>
            </a:r>
          </a:p>
          <a:p>
            <a:r>
              <a:t>standard reflex for imbalanced data — and here it costs Macro-F1 in five cases out of five.</a:t>
            </a:r>
          </a:p>
          <a:p/>
          <a:p>
            <a:r>
              <a:t>Second, Logistic Regression is the exception: weighting helps it, 0.3946 against 0.3628. But it</a:t>
            </a:r>
          </a:p>
          <a:p>
            <a:r>
              <a:t>trails every tree configuration either way, so the honest statement is that weighting is dominated</a:t>
            </a:r>
          </a:p>
          <a:p>
            <a:r>
              <a:t>for the tree-based models, not for all six without qualification.</a:t>
            </a:r>
          </a:p>
          <a:p/>
          <a:p>
            <a:r>
              <a:t>Third — top of the Macro-F1 column. LightGBM-none 0.6248. Decision Tree-none 0.6245. Three</a:t>
            </a:r>
          </a:p>
          <a:p>
            <a:r>
              <a:t>ten-thousandths apart, on one split. I am not going to call that a win; slide 9 shows why.</a:t>
            </a:r>
          </a:p>
          <a:p/>
          <a:p>
            <a:r>
              <a:t>And compare Accuracy against Macro-F1 for CatBoost: 0.9093 against 0.6074. That is Gap 1 from the</a:t>
            </a:r>
          </a:p>
          <a:p>
            <a:r>
              <a:t>previous slide, visible on our own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The most directly useful slide for any practitioner here.</a:t>
            </a:r>
          </a:p>
          <a:p/>
          <a:p>
            <a:r>
              <a:t>Two configurations of the SAME algorithm. Macro-F1 0.625 against 0.604 — close. But look at how</a:t>
            </a:r>
          </a:p>
          <a:p>
            <a:r>
              <a:t>they get there. Unweighted: precision 0.748, recall 0.572. It rarely raises a false alarm but</a:t>
            </a:r>
          </a:p>
          <a:p>
            <a:r>
              <a:t>misses most of what it should catch — Group-2 recall 0.183, four out of five special-mention loans</a:t>
            </a:r>
          </a:p>
          <a:p>
            <a:r>
              <a:t>called standard.</a:t>
            </a:r>
          </a:p>
          <a:p/>
          <a:p>
            <a:r>
              <a:t>Weighted: the mirror image. Group-2 recall jumps to 0.471, but precision collapses to 0.245 —</a:t>
            </a:r>
          </a:p>
          <a:p>
            <a:r>
              <a:t>three out of four flags now false.</a:t>
            </a:r>
          </a:p>
          <a:p/>
          <a:p>
            <a:r>
              <a:t>Which is better? Neither. [pause] It depends on whether a flag triggers costly manual review, in</a:t>
            </a:r>
          </a:p>
          <a:p>
            <a:r>
              <a:t>which case false positives burn analyst time, or whether missing a deteriorating loan is the</a:t>
            </a:r>
          </a:p>
          <a:p>
            <a:r>
              <a:t>expensive error. That is a credit-risk committee decision, not a modelling decision — and a single</a:t>
            </a:r>
          </a:p>
          <a:p>
            <a:r>
              <a:t>Macro-F1 number hides it completely.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Does more data always help? No. Thirteen features gives XGBoost 0.6194; nine gives 0.6139 —</a:t>
            </a:r>
          </a:p>
          <a:p>
            <a:r>
              <a:t>98 and a half percent. Three features still recovers 95 to 97 percent.</a:t>
            </a:r>
          </a:p>
          <a:p/>
          <a:p>
            <a:r>
              <a:t>Two caveats, in the blue box. The curve is not monotone — k=7 beats k=9 — because each k refits a</a:t>
            </a:r>
          </a:p>
          <a:p>
            <a:r>
              <a:t>different model, so those wiggles are noise. Do not read an optimum off this curve; there isn't</a:t>
            </a:r>
          </a:p>
          <a:p>
            <a:r>
              <a:t>one. And the in-fold number matters: selecting the top nine using a ranking computed over the whole</a:t>
            </a:r>
          </a:p>
          <a:p>
            <a:r>
              <a:t>dataset means you have peeked. Recomputing inside each training fold costs under one percent.</a:t>
            </a:r>
          </a:p>
          <a:p/>
          <a:p>
            <a:r>
              <a:t>Why a bank cares: each dropped feature is one fewer feed to source, document, monitor and explain.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 This slide exists because it is the single most likely question in this room.</a:t>
            </a:r>
          </a:p>
          <a:p/>
          <a:p>
            <a:r>
              <a:t>DAYS_TO_MATURITY dominates every importance ranking, and its IV is 4.554 — more than four times</a:t>
            </a:r>
          </a:p>
          <a:p>
            <a:r>
              <a:t>the leakage flag. So: is it just a restatement of the label, the way NHOMNO was?</a:t>
            </a:r>
          </a:p>
          <a:p/>
          <a:p>
            <a:r>
              <a:t>Four tests, and each one could have gone the other way.</a:t>
            </a:r>
          </a:p>
          <a:p/>
          <a:p>
            <a:r>
              <a:t>One. The dumbest possible classifier: call a loan non-performing if it is past maturity. If the</a:t>
            </a:r>
          </a:p>
          <a:p>
            <a:r>
              <a:t>variable encoded the labelling rule that would reconstruct the label almost perfectly. It gets</a:t>
            </a:r>
          </a:p>
          <a:p>
            <a:r>
              <a:t>67.3 percent, F1 0.508. Not a label copy.</a:t>
            </a:r>
          </a:p>
          <a:p/>
          <a:p>
            <a:r>
              <a:t>Two. The boundaries. If it WERE the overdue criterion, essentially no Group-1 loan would be past</a:t>
            </a:r>
          </a:p>
          <a:p>
            <a:r>
              <a:t>maturity. In fact 35 percent are — rolled-over working capital, common in Vietnamese lending. And</a:t>
            </a:r>
          </a:p>
          <a:p>
            <a:r>
              <a:t>8 percent of Group-5 loans are NOT past maturity, so the label reflects restructuring history too.</a:t>
            </a:r>
          </a:p>
          <a:p/>
          <a:p>
            <a:r>
              <a:t>Three. Ablation. Take it out: Macro-F1 falls 16 to 23 percent. A genuine strong predictor — if it</a:t>
            </a:r>
          </a:p>
          <a:p>
            <a:r>
              <a:t>were the label, the model would collapse, not degrade.</a:t>
            </a:r>
          </a:p>
          <a:p/>
          <a:p>
            <a:r>
              <a:t>Four. We chose d-zero arbitrarily. Shifting it adds a constant to every record, so tree partitions</a:t>
            </a:r>
          </a:p>
          <a:p>
            <a:r>
              <a:t>are unchanged. Identical to four decimals across five dates.</a:t>
            </a:r>
          </a:p>
          <a:p/>
          <a:p>
            <a:r>
              <a:t>Now the red box, and deliver it rather than skip it. None of this PROVES there is no leakage. The</a:t>
            </a:r>
          </a:p>
          <a:p>
            <a:r>
              <a:t>file has no days-past-due column at all. We say so in the paper and I say so here. What we claim</a:t>
            </a:r>
          </a:p>
          <a:p>
            <a:r>
              <a:t>is narrower: four tests that could have failed did not — materially stronger than a plausible</a:t>
            </a:r>
          </a:p>
          <a:p>
            <a:r>
              <a:t>narrative on its 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Two tables, same four model-and-treatment combinations, two importance measures. We set</a:t>
            </a:r>
          </a:p>
          <a:p>
            <a:r>
              <a:t>LightGBM's importance_type explicitly to "gain" so both libraries report the same quantity.</a:t>
            </a:r>
          </a:p>
          <a:p/>
          <a:p>
            <a:r>
              <a:t>Left: everyone agrees tenure/maturity leads. Below that, disagreement. Follow the "Product &amp; loan</a:t>
            </a:r>
          </a:p>
          <a:p>
            <a:r>
              <a:t>purpose" row: 24.7, 7.1, 21.7, 5.7. A factor of four — enough to move it from second to fifth</a:t>
            </a:r>
          </a:p>
          <a:p>
            <a:r>
              <a:t>depending only on which library computed it.</a:t>
            </a:r>
          </a:p>
          <a:p/>
          <a:p>
            <a:r>
              <a:t>Right: tenure/maturity 40.8, 41.2, 42.0, 42.8. Balance 26.1 to 28.7. Identical ordering in all four.</a:t>
            </a:r>
          </a:p>
          <a:p/>
          <a:p>
            <a:r>
              <a:t>Say the footnote out loud rather than hide it: the two tables sit on different feature sets, so do</a:t>
            </a:r>
          </a:p>
          <a:p>
            <a:r>
              <a:t>not compare a Gain cell against a SHAP cell. Read across the four columns WITHIN each table.</a:t>
            </a:r>
          </a:p>
          <a:p/>
          <a:p>
            <a:r>
              <a:t>Implication: if you are deciding which data to invest in collecting and you base it on one model's</a:t>
            </a:r>
          </a:p>
          <a:p>
            <a:r>
              <a:t>Gain ranking, you may be buying the wrong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 The proper test. Twelve configurations, twenty-five identical partitions, properly paired.</a:t>
            </a:r>
          </a:p>
          <a:p/>
          <a:p>
            <a:r>
              <a:t>Why the correction: folds in repeated k-fold CV overlap — they share data. A naive paired t-test</a:t>
            </a:r>
          </a:p>
          <a:p>
            <a:r>
              <a:t>treats them as independent, understating variance. Nadeau-Bengio replaces a variance factor of</a:t>
            </a:r>
          </a:p>
          <a:p>
            <a:r>
              <a:t>0.04 with 0.29 — a factor of seven. Then Holm, for the family of eleven comparisons.</a:t>
            </a:r>
          </a:p>
          <a:p/>
          <a:p>
            <a:r>
              <a:t>Highest point estimate: Decision Tree-none, 0.6271. A single depth-ten pruned tree, ahead of three</a:t>
            </a:r>
          </a:p>
          <a:p>
            <a:r>
              <a:t>gradient-boosting libraries. But read the Holm column: 0.789, 0.789, 0.663. Nowhere near rejection.</a:t>
            </a:r>
          </a:p>
          <a:p/>
          <a:p>
            <a:r>
              <a:t>So the correct statement is not "Decision Tree wins" — it is that these four cannot be separated</a:t>
            </a:r>
          </a:p>
          <a:p>
            <a:r>
              <a:t>on this evidence. We name no winning algorithm. Choosing among them has to rest on other grounds —</a:t>
            </a:r>
          </a:p>
          <a:p>
            <a:r>
              <a:t>training cost, interpretability, or the precision-recall profile from slide 5 — and stating which</a:t>
            </a:r>
          </a:p>
          <a:p>
            <a:r>
              <a:t>ground you used is itself part of the governance record.</a:t>
            </a:r>
          </a:p>
          <a:p/>
          <a:p>
            <a:r>
              <a:t>What does survive: the bottom eight rows, every class-weighted configuration. The treatment effect</a:t>
            </a:r>
          </a:p>
          <a:p>
            <a:r>
              <a:t>is roughly an order of magnitude larger than any algorithm effect. This is also exactly what Brown</a:t>
            </a:r>
          </a:p>
          <a:p>
            <a:r>
              <a:t>and Mues report: the best algorithm changes with the degree of imbalance.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The same discipline applied to ourselves — the part of the paper I am most confident about.</a:t>
            </a:r>
          </a:p>
          <a:p/>
          <a:p>
            <a:r>
              <a:t>On the hold-out split LightGBM-none was first. That is the natural headline: "LightGBM is best for</a:t>
            </a:r>
          </a:p>
          <a:p>
            <a:r>
              <a:t>Vietnamese debt-group classification." A perfectly publishable sentence.</a:t>
            </a:r>
          </a:p>
          <a:p/>
          <a:p>
            <a:r>
              <a:t>Under repeated CV it drops to fourth, behind XGBoost. The corrected test on that pair: p = 0.3844.</a:t>
            </a:r>
          </a:p>
          <a:p>
            <a:r>
              <a:t>No evidence either way. The ranking was an artefact of one random split.</a:t>
            </a:r>
          </a:p>
          <a:p/>
          <a:p>
            <a:r>
              <a:t>Third bullet is an erratum, stated deliberately. Every row of the Table 10 test is against the same</a:t>
            </a:r>
          </a:p>
          <a:p>
            <a:r>
              <a:t>reference configuration, so you cannot read a comparison between two non-reference rows off it. An</a:t>
            </a:r>
          </a:p>
          <a:p>
            <a:r>
              <a:t>earlier version of our paper did. Tested directly: the direction holds, but after Holm it is</a:t>
            </a:r>
          </a:p>
          <a:p>
            <a:r>
              <a:t>p = 0.063, not significant. We corrected the claim rather than leaving it standing.</a:t>
            </a:r>
          </a:p>
          <a:p/>
          <a:p>
            <a:r>
              <a:t>The takeaway generalises: a ranking that flips between two honest evaluation designs is a signal to</a:t>
            </a:r>
          </a:p>
          <a:p>
            <a:r>
              <a:t>report both, not to pick the flattering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Three findings on the left, four governance implications on the right.</a:t>
            </a:r>
          </a:p>
          <a:p/>
          <a:p>
            <a:r>
              <a:t>RQ1: the treatment is better identified than the algorithm. Say it plainly — we deliberately name</a:t>
            </a:r>
          </a:p>
          <a:p>
            <a:r>
              <a:t>no winning algorithm, and that refusal is a result, not a failure to reach one. Note the highest</a:t>
            </a:r>
          </a:p>
          <a:p>
            <a:r>
              <a:t>point estimate belongs to a single pruned decision tree.</a:t>
            </a:r>
          </a:p>
          <a:p/>
          <a:p>
            <a:r>
              <a:t>RQ2: nine of thirteen features, 98 to 99 percent, surviving honest in-fold selection.</a:t>
            </a:r>
          </a:p>
          <a:p>
            <a:r>
              <a:t>RQ3: SHAP stable, Gain not. Triangulate before you spend money on data.</a:t>
            </a:r>
          </a:p>
          <a:p/>
          <a:p>
            <a:r>
              <a:t>On the right, point 4 is the one I would most want you to take away. An automated screen flagged</a:t>
            </a:r>
          </a:p>
          <a:p>
            <a:r>
              <a:t>five of our variables. The wrong response is to auto-drop them. The wrong response is ALSO to write</a:t>
            </a:r>
          </a:p>
          <a:p>
            <a:r>
              <a:t>a paragraph explaining why they are fine. The right response is a check that could fail.</a:t>
            </a:r>
          </a:p>
          <a:p/>
          <a:p>
            <a:r>
              <a:t>And the box: these are conditional. One bank, one snapshot. I will not overclaim.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Four limitations, stated plainly — I would rather raise them than be asked.</a:t>
            </a:r>
          </a:p>
          <a:p/>
          <a:p>
            <a:r>
              <a:t>One. 121 Group-3 loans in the test set; the minority-group numbers are noisy. Trust repeated-CV.</a:t>
            </a:r>
          </a:p>
          <a:p/>
          <a:p>
            <a:r>
              <a:t>Two. One bank, one snapshot, no classification date, so all resampling is random not temporal. And</a:t>
            </a:r>
          </a:p>
          <a:p>
            <a:r>
              <a:t>I will go further than the paper: given the Group-5 legacy stock, I expect out-of-time numbers to</a:t>
            </a:r>
          </a:p>
          <a:p>
            <a:r>
              <a:t>be WORSE than these, not better.</a:t>
            </a:r>
          </a:p>
          <a:p/>
          <a:p>
            <a:r>
              <a:t>Three. Label encoding imposes a fake ordering on branch codes; native handling verified for</a:t>
            </a:r>
          </a:p>
          <a:p>
            <a:r>
              <a:t>CatBoost only.</a:t>
            </a:r>
          </a:p>
          <a:p/>
          <a:p>
            <a:r>
              <a:t>Four. No tuning. A genuine trade-off, not an oversight — tuning would have consumed an evaluation</a:t>
            </a:r>
          </a:p>
          <a:p>
            <a:r>
              <a:t>partition. It could reorder the four configurations the test already cannot separate; it is much</a:t>
            </a:r>
          </a:p>
          <a:p>
            <a:r>
              <a:t>less likely to overturn the treatment effect.</a:t>
            </a:r>
          </a:p>
          <a:p/>
          <a:p>
            <a:r>
              <a:t>Thank you. I have three backup slides — the leakage diagnostics and ablation, both confusion</a:t>
            </a:r>
          </a:p>
          <a:p>
            <a:r>
              <a:t>matrices, and the exact hyperparameters — if any would be useful.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Q1 (days past due vs. days to maturity), Q2 (leakage) and Q3 (why the flagged variables were kept).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Q4 (is Macro-F1 0.62 usable?) and questions on exactly where the errors fall.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Q3 (no tuning), Q5 (SMOTE), Q6 (Decision Tree) and Q10 (label encoding).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B5C"/>
        </a:solidFill>
        <a:effectLst/>
      </p:bgPr>
    </p:bg>
    <p:spTree>
      <p:nvGrpSpPr>
        <p:cNvPr id="1" name=""/>
        <p:cNvGrpSpPr/>
        <p:nvPr/>
      </p:nvGrpSpPr>
      <p:grpSpPr/>
      <p:sp>
        <p:nvSpPr>
          <p:cNvPr id="2" name="TextBox 1"/>
          <p:cNvSpPr txBox="1"/>
          <p:nvPr/>
        </p:nvSpPr>
        <p:spPr>
          <a:xfrm>
            <a:off x="914400" y="1417320"/>
            <a:ext cx="10332720" cy="1463040"/>
          </a:xfrm>
          <a:prstGeom prst="rect">
            <a:avLst/>
          </a:prstGeom>
          <a:noFill/>
        </p:spPr>
        <p:txBody>
          <a:bodyPr wrap="square" lIns="64008" rIns="64008" tIns="18288" bIns="18288">
            <a:noAutofit/>
          </a:bodyPr>
          <a:lstStyle/>
          <a:p>
            <a:pPr algn="ctr">
              <a:lnSpc>
                <a:spcPct val="120000"/>
              </a:lnSpc>
              <a:spcAft>
                <a:spcPts val="200"/>
              </a:spcAft>
              <a:defRPr sz="3600" b="1" i="0">
                <a:solidFill>
                  <a:srgbClr val="FFFFFF"/>
                </a:solidFill>
                <a:latin typeface="Calibri"/>
              </a:defRPr>
            </a:pPr>
            <a:r>
              <a:t>Machine Learning for Credit Classification:</a:t>
            </a:r>
          </a:p>
          <a:p>
            <a:pPr algn="ctr">
              <a:lnSpc>
                <a:spcPct val="120000"/>
              </a:lnSpc>
              <a:spcAft>
                <a:spcPts val="400"/>
              </a:spcAft>
              <a:defRPr sz="3600" b="1" i="0">
                <a:solidFill>
                  <a:srgbClr val="FFFFFF"/>
                </a:solidFill>
                <a:latin typeface="Calibri"/>
              </a:defRPr>
            </a:pPr>
            <a:r>
              <a:t>Case Study in a Vietnamese Commercial Bank</a:t>
            </a:r>
          </a:p>
        </p:txBody>
      </p:sp>
      <p:sp>
        <p:nvSpPr>
          <p:cNvPr id="3" name="TextBox 2"/>
          <p:cNvSpPr txBox="1"/>
          <p:nvPr/>
        </p:nvSpPr>
        <p:spPr>
          <a:xfrm>
            <a:off x="914400" y="3246120"/>
            <a:ext cx="10332720" cy="411480"/>
          </a:xfrm>
          <a:prstGeom prst="rect">
            <a:avLst/>
          </a:prstGeom>
          <a:noFill/>
        </p:spPr>
        <p:txBody>
          <a:bodyPr wrap="square" lIns="64008" rIns="64008" tIns="18288" bIns="18288">
            <a:noAutofit/>
          </a:bodyPr>
          <a:lstStyle/>
          <a:p>
            <a:pPr algn="ctr">
              <a:spcAft>
                <a:spcPts val="400"/>
              </a:spcAft>
              <a:defRPr sz="2000" b="0" i="0">
                <a:solidFill>
                  <a:srgbClr val="BBDBF5"/>
                </a:solidFill>
                <a:latin typeface="Calibri"/>
              </a:defRPr>
            </a:pPr>
            <a:r>
              <a:t>Lê Thị Thanh An  ·  Lê Kim Thư  ·  Đàm Công Danh</a:t>
            </a:r>
          </a:p>
        </p:txBody>
      </p:sp>
      <p:sp>
        <p:nvSpPr>
          <p:cNvPr id="4" name="TextBox 3"/>
          <p:cNvSpPr txBox="1"/>
          <p:nvPr/>
        </p:nvSpPr>
        <p:spPr>
          <a:xfrm>
            <a:off x="914400" y="3749039"/>
            <a:ext cx="10332720" cy="685800"/>
          </a:xfrm>
          <a:prstGeom prst="rect">
            <a:avLst/>
          </a:prstGeom>
          <a:noFill/>
        </p:spPr>
        <p:txBody>
          <a:bodyPr wrap="square" lIns="64008" rIns="64008" tIns="18288" bIns="18288">
            <a:noAutofit/>
          </a:bodyPr>
          <a:lstStyle/>
          <a:p>
            <a:pPr algn="ctr">
              <a:spcAft>
                <a:spcPts val="200"/>
              </a:spcAft>
              <a:defRPr sz="1500" b="0" i="0">
                <a:solidFill>
                  <a:srgbClr val="88BBDD"/>
                </a:solidFill>
                <a:latin typeface="Calibri"/>
              </a:defRPr>
            </a:pPr>
            <a:r>
              <a:t>University of Economics and Law, VNU-HCM</a:t>
            </a:r>
          </a:p>
          <a:p>
            <a:pPr algn="ctr">
              <a:spcAft>
                <a:spcPts val="400"/>
              </a:spcAft>
              <a:defRPr sz="1500" b="0" i="0">
                <a:solidFill>
                  <a:srgbClr val="88BBDD"/>
                </a:solidFill>
                <a:latin typeface="Calibri"/>
              </a:defRPr>
            </a:pPr>
            <a:r>
              <a:t>Hanoi University of Science and Technology</a:t>
            </a:r>
          </a:p>
        </p:txBody>
      </p:sp>
      <p:sp>
        <p:nvSpPr>
          <p:cNvPr id="5" name="Rectangle 4"/>
          <p:cNvSpPr/>
          <p:nvPr/>
        </p:nvSpPr>
        <p:spPr>
          <a:xfrm>
            <a:off x="3657600" y="4709160"/>
            <a:ext cx="4873752" cy="27432"/>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4983480"/>
            <a:ext cx="10332720" cy="914400"/>
          </a:xfrm>
          <a:prstGeom prst="rect">
            <a:avLst/>
          </a:prstGeom>
          <a:noFill/>
        </p:spPr>
        <p:txBody>
          <a:bodyPr wrap="square" lIns="64008" rIns="64008" tIns="18288" bIns="18288">
            <a:noAutofit/>
          </a:bodyPr>
          <a:lstStyle/>
          <a:p>
            <a:pPr algn="ctr">
              <a:spcAft>
                <a:spcPts val="200"/>
              </a:spcAft>
              <a:defRPr sz="1500" b="0" i="0">
                <a:solidFill>
                  <a:srgbClr val="BBDBF5"/>
                </a:solidFill>
                <a:latin typeface="Calibri"/>
              </a:defRPr>
            </a:pPr>
            <a:r>
              <a:t>3rd Global Conference on Sustainability in Economics, Business and Law</a:t>
            </a:r>
          </a:p>
          <a:p>
            <a:pPr algn="ctr">
              <a:spcAft>
                <a:spcPts val="200"/>
              </a:spcAft>
              <a:defRPr sz="1500" b="0" i="0">
                <a:solidFill>
                  <a:srgbClr val="BBDBF5"/>
                </a:solidFill>
                <a:latin typeface="Calibri"/>
              </a:defRPr>
            </a:pPr>
            <a:r>
              <a:t>(UEL SEBL International Conference 2026)</a:t>
            </a:r>
          </a:p>
          <a:p>
            <a:pPr algn="ctr">
              <a:spcAft>
                <a:spcPts val="400"/>
              </a:spcAft>
              <a:defRPr sz="1500" b="0" i="0">
                <a:solidFill>
                  <a:srgbClr val="BBDBF5"/>
                </a:solidFill>
                <a:latin typeface="Calibri"/>
              </a:defRPr>
            </a:pPr>
            <a:r>
              <a:t>Ho Chi Minh City  ·  October 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Motivation, Research Questions &amp; Gaps</a:t>
            </a:r>
          </a:p>
        </p:txBody>
      </p:sp>
      <p:sp>
        <p:nvSpPr>
          <p:cNvPr id="4" name="TextBox 3"/>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2</a:t>
            </a:r>
          </a:p>
        </p:txBody>
      </p:sp>
      <p:sp>
        <p:nvSpPr>
          <p:cNvPr id="5" name="TextBox 4"/>
          <p:cNvSpPr txBox="1"/>
          <p:nvPr/>
        </p:nvSpPr>
        <p:spPr>
          <a:xfrm>
            <a:off x="548640" y="1115568"/>
            <a:ext cx="11109960" cy="566928"/>
          </a:xfrm>
          <a:prstGeom prst="rect">
            <a:avLst/>
          </a:prstGeom>
          <a:noFill/>
        </p:spPr>
        <p:txBody>
          <a:bodyPr wrap="square" lIns="64008" rIns="64008" tIns="18288" bIns="18288">
            <a:noAutofit/>
          </a:bodyPr>
          <a:lstStyle/>
          <a:p>
            <a:pPr algn="l">
              <a:lnSpc>
                <a:spcPct val="120000"/>
              </a:lnSpc>
              <a:spcAft>
                <a:spcPts val="700"/>
              </a:spcAft>
              <a:defRPr sz="1500" b="0" i="0">
                <a:solidFill>
                  <a:srgbClr val="333333"/>
                </a:solidFill>
                <a:latin typeface="Calibri"/>
              </a:defRPr>
            </a:pPr>
            <a:r>
              <a:t>In Vietnam, debt-group classification is a regulatory obligation, not an internal modelling choice. Every loan goes into one of five groups; Groups 3–5 are non-performing; and that classification drives provisioning — and therefore how much credit reaches private borrowers.</a:t>
            </a:r>
          </a:p>
        </p:txBody>
      </p:sp>
      <p:sp>
        <p:nvSpPr>
          <p:cNvPr id="6" name="TextBox 5"/>
          <p:cNvSpPr txBox="1"/>
          <p:nvPr/>
        </p:nvSpPr>
        <p:spPr>
          <a:xfrm>
            <a:off x="548640" y="1993392"/>
            <a:ext cx="5577840" cy="292608"/>
          </a:xfrm>
          <a:prstGeom prst="rect">
            <a:avLst/>
          </a:prstGeom>
          <a:noFill/>
        </p:spPr>
        <p:txBody>
          <a:bodyPr wrap="square" lIns="64008" rIns="64008" tIns="18288" bIns="18288">
            <a:noAutofit/>
          </a:bodyPr>
          <a:lstStyle/>
          <a:p>
            <a:pPr algn="l">
              <a:lnSpc>
                <a:spcPct val="124000"/>
              </a:lnSpc>
              <a:spcAft>
                <a:spcPts val="700"/>
              </a:spcAft>
              <a:defRPr sz="1600" b="1" i="0">
                <a:solidFill>
                  <a:srgbClr val="002B5C"/>
                </a:solidFill>
                <a:latin typeface="Calibri"/>
              </a:defRPr>
            </a:pPr>
            <a:r>
              <a:t>Research questions</a:t>
            </a:r>
          </a:p>
        </p:txBody>
      </p:sp>
      <p:sp>
        <p:nvSpPr>
          <p:cNvPr id="7" name="TextBox 6"/>
          <p:cNvSpPr txBox="1"/>
          <p:nvPr/>
        </p:nvSpPr>
        <p:spPr>
          <a:xfrm>
            <a:off x="548640" y="2322576"/>
            <a:ext cx="5577840" cy="2880360"/>
          </a:xfrm>
          <a:prstGeom prst="rect">
            <a:avLst/>
          </a:prstGeom>
          <a:noFill/>
        </p:spPr>
        <p:txBody>
          <a:bodyPr wrap="square" lIns="64008" rIns="64008" tIns="18288" bIns="18288">
            <a:noAutofit/>
          </a:bodyPr>
          <a:lstStyle/>
          <a:p>
            <a:pPr algn="l">
              <a:lnSpc>
                <a:spcPct val="118000"/>
              </a:lnSpc>
              <a:spcAft>
                <a:spcPts val="900"/>
              </a:spcAft>
              <a:defRPr sz="1300" b="0" i="0">
                <a:solidFill>
                  <a:srgbClr val="002B5C"/>
                </a:solidFill>
                <a:latin typeface="Calibri"/>
              </a:defRPr>
            </a:pPr>
            <a:r>
              <a:t>RQ1   How do standard ML classifiers compare on a multi-class, severely imbalanced debt-group task — and how far does the ranking depend on the imbalance treatment?</a:t>
            </a:r>
          </a:p>
          <a:p>
            <a:pPr algn="l">
              <a:lnSpc>
                <a:spcPct val="118000"/>
              </a:lnSpc>
              <a:spcAft>
                <a:spcPts val="900"/>
              </a:spcAft>
              <a:defRPr sz="1300" b="0" i="0">
                <a:solidFill>
                  <a:srgbClr val="002B5C"/>
                </a:solidFill>
                <a:latin typeface="Calibri"/>
              </a:defRPr>
            </a:pPr>
            <a:r>
              <a:t>RQ2   Does adding more features always improve out-of-sample performance, or can a smaller, cheaper-to-maintain set retain near-full performance?</a:t>
            </a:r>
          </a:p>
          <a:p>
            <a:pPr algn="l">
              <a:lnSpc>
                <a:spcPct val="118000"/>
              </a:lnSpc>
              <a:spcAft>
                <a:spcPts val="700"/>
              </a:spcAft>
              <a:defRPr sz="1300" b="0" i="0">
                <a:solidFill>
                  <a:srgbClr val="002B5C"/>
                </a:solidFill>
                <a:latin typeface="Calibri"/>
              </a:defRPr>
            </a:pPr>
            <a:r>
              <a:t>RQ3   Which business groups of information drive prediction — and is that conclusion stable across two importance measures (Gain and SHAP)?</a:t>
            </a:r>
          </a:p>
        </p:txBody>
      </p:sp>
      <p:sp>
        <p:nvSpPr>
          <p:cNvPr id="8" name="Rectangle 7"/>
          <p:cNvSpPr/>
          <p:nvPr/>
        </p:nvSpPr>
        <p:spPr>
          <a:xfrm>
            <a:off x="6309360" y="2011680"/>
            <a:ext cx="13716" cy="306324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37960" y="1993392"/>
            <a:ext cx="5120640" cy="292608"/>
          </a:xfrm>
          <a:prstGeom prst="rect">
            <a:avLst/>
          </a:prstGeom>
          <a:noFill/>
        </p:spPr>
        <p:txBody>
          <a:bodyPr wrap="square" lIns="64008" rIns="64008" tIns="18288" bIns="18288">
            <a:noAutofit/>
          </a:bodyPr>
          <a:lstStyle/>
          <a:p>
            <a:pPr algn="l">
              <a:lnSpc>
                <a:spcPct val="124000"/>
              </a:lnSpc>
              <a:spcAft>
                <a:spcPts val="700"/>
              </a:spcAft>
              <a:defRPr sz="1600" b="1" i="0">
                <a:solidFill>
                  <a:srgbClr val="002B5C"/>
                </a:solidFill>
                <a:latin typeface="Calibri"/>
              </a:defRPr>
            </a:pPr>
            <a:r>
              <a:t>Gaps in the prior literature</a:t>
            </a:r>
          </a:p>
        </p:txBody>
      </p:sp>
      <p:sp>
        <p:nvSpPr>
          <p:cNvPr id="10" name="TextBox 9"/>
          <p:cNvSpPr txBox="1"/>
          <p:nvPr/>
        </p:nvSpPr>
        <p:spPr>
          <a:xfrm>
            <a:off x="6537960" y="2322576"/>
            <a:ext cx="5120640" cy="2880360"/>
          </a:xfrm>
          <a:prstGeom prst="rect">
            <a:avLst/>
          </a:prstGeom>
          <a:noFill/>
        </p:spPr>
        <p:txBody>
          <a:bodyPr wrap="square" lIns="64008" rIns="64008" tIns="18288" bIns="18288">
            <a:noAutofit/>
          </a:bodyPr>
          <a:lstStyle/>
          <a:p>
            <a:pPr algn="l">
              <a:lnSpc>
                <a:spcPct val="118000"/>
              </a:lnSpc>
              <a:spcAft>
                <a:spcPts val="900"/>
              </a:spcAft>
              <a:defRPr sz="1300" b="0" i="0">
                <a:solidFill>
                  <a:srgbClr val="333333"/>
                </a:solidFill>
                <a:latin typeface="Calibri"/>
              </a:defRPr>
            </a:pPr>
            <a:r>
              <a:t>1.  Metric.  Comparisons use Accuracy as headline (e.g. 81.84% for debt-group migration) without an imbalance-robust primary metric.</a:t>
            </a:r>
          </a:p>
          <a:p>
            <a:pPr algn="l">
              <a:lnSpc>
                <a:spcPct val="118000"/>
              </a:lnSpc>
              <a:spcAft>
                <a:spcPts val="900"/>
              </a:spcAft>
              <a:defRPr sz="1300" b="0" i="0">
                <a:solidFill>
                  <a:srgbClr val="333333"/>
                </a:solidFill>
                <a:latin typeface="Calibri"/>
              </a:defRPr>
            </a:pPr>
            <a:r>
              <a:t>2.  Stability of importance.  No study checks whether its feature-importance conclusions hold across more than one algorithm or measure.</a:t>
            </a:r>
          </a:p>
          <a:p>
            <a:pPr algn="l">
              <a:lnSpc>
                <a:spcPct val="118000"/>
              </a:lnSpc>
              <a:spcAft>
                <a:spcPts val="700"/>
              </a:spcAft>
              <a:defRPr sz="1300" b="0" i="0">
                <a:solidFill>
                  <a:srgbClr val="333333"/>
                </a:solidFill>
                <a:latin typeface="Calibri"/>
              </a:defRPr>
            </a:pPr>
            <a:r>
              <a:t>3.  Verification.  None reports a leakage diagnostic for a dominant predictor, an ablation, or a sensitivity check on an arbitrary convention.</a:t>
            </a:r>
          </a:p>
        </p:txBody>
      </p:sp>
      <p:sp>
        <p:nvSpPr>
          <p:cNvPr id="11" name="Rectangle 10"/>
          <p:cNvSpPr/>
          <p:nvPr/>
        </p:nvSpPr>
        <p:spPr>
          <a:xfrm>
            <a:off x="548640" y="5321808"/>
            <a:ext cx="11109960" cy="1115568"/>
          </a:xfrm>
          <a:prstGeom prst="rect">
            <a:avLst/>
          </a:prstGeom>
          <a:solidFill>
            <a:srgbClr val="D6E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5431536"/>
            <a:ext cx="10744200" cy="896112"/>
          </a:xfrm>
          <a:prstGeom prst="rect">
            <a:avLst/>
          </a:prstGeom>
          <a:noFill/>
        </p:spPr>
        <p:txBody>
          <a:bodyPr wrap="square" lIns="64008" rIns="64008" tIns="18288" bIns="18288">
            <a:noAutofit/>
          </a:bodyPr>
          <a:lstStyle/>
          <a:p>
            <a:pPr algn="l">
              <a:lnSpc>
                <a:spcPct val="124000"/>
              </a:lnSpc>
              <a:spcAft>
                <a:spcPts val="300"/>
              </a:spcAft>
              <a:defRPr sz="1500" b="1" i="0">
                <a:solidFill>
                  <a:srgbClr val="002B5C"/>
                </a:solidFill>
                <a:latin typeface="Calibri"/>
              </a:defRPr>
            </a:pPr>
            <a:r>
              <a:t>Key design principle</a:t>
            </a:r>
          </a:p>
          <a:p>
            <a:pPr algn="l">
              <a:lnSpc>
                <a:spcPct val="120000"/>
              </a:lnSpc>
              <a:spcAft>
                <a:spcPts val="700"/>
              </a:spcAft>
              <a:defRPr sz="1450" b="0" i="0">
                <a:solidFill>
                  <a:srgbClr val="002B5C"/>
                </a:solidFill>
                <a:latin typeface="Calibri"/>
              </a:defRPr>
            </a:pPr>
            <a:r>
              <a:t>Every non-trivial claim is cross-checked against an independent test — leakage diagnostic, ablation, reference-date check, corrected paired t-test, Gain vs. SHAP — so that governance conclusions rest on tested, not asserted,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Data &amp; Methodology</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27,001 loan contracts, one Vietnamese commercial bank, 21 raw variables</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3</a:t>
            </a:r>
          </a:p>
        </p:txBody>
      </p:sp>
      <p:graphicFrame>
        <p:nvGraphicFramePr>
          <p:cNvPr id="6" name="Table 5"/>
          <p:cNvGraphicFramePr>
            <a:graphicFrameLocks noGrp="1"/>
          </p:cNvGraphicFramePr>
          <p:nvPr/>
        </p:nvGraphicFramePr>
        <p:xfrm>
          <a:off x="548640" y="1152144"/>
          <a:ext cx="5074920" cy="2112264"/>
        </p:xfrm>
        <a:graphic>
          <a:graphicData uri="http://schemas.openxmlformats.org/drawingml/2006/table">
            <a:tbl>
              <a:tblPr firstRow="1" bandRow="1">
                <a:tableStyleId>{5C22544A-7EE6-4342-B048-85BDC9FD1C3A}</a:tableStyleId>
              </a:tblPr>
              <a:tblGrid>
                <a:gridCol w="1600200"/>
                <a:gridCol w="896112"/>
                <a:gridCol w="896112"/>
                <a:gridCol w="841248"/>
                <a:gridCol w="841248"/>
              </a:tblGrid>
              <a:tr h="301752">
                <a:tc>
                  <a:txBody>
                    <a:bodyPr wrap="square"/>
                    <a:lstStyle/>
                    <a:p>
                      <a:pPr algn="ctr">
                        <a:defRPr sz="1150" b="1">
                          <a:solidFill>
                            <a:srgbClr val="FFFFFF"/>
                          </a:solidFill>
                          <a:latin typeface="Calibri"/>
                        </a:defRPr>
                      </a:pPr>
                      <a:r>
                        <a:t>Debt group</a:t>
                      </a:r>
                    </a:p>
                  </a:txBody>
                  <a:tcPr marL="45720" marR="45720" marT="9144" marB="9144" anchor="ctr">
                    <a:solidFill>
                      <a:srgbClr val="002B5C"/>
                    </a:solidFill>
                  </a:tcPr>
                </a:tc>
                <a:tc>
                  <a:txBody>
                    <a:bodyPr wrap="square"/>
                    <a:lstStyle/>
                    <a:p>
                      <a:pPr algn="ctr">
                        <a:defRPr sz="1150" b="1">
                          <a:solidFill>
                            <a:srgbClr val="FFFFFF"/>
                          </a:solidFill>
                          <a:latin typeface="Calibri"/>
                        </a:defRPr>
                      </a:pPr>
                      <a:r>
                        <a:t>Total</a:t>
                      </a:r>
                    </a:p>
                  </a:txBody>
                  <a:tcPr marL="45720" marR="45720" marT="9144" marB="9144" anchor="ctr">
                    <a:solidFill>
                      <a:srgbClr val="002B5C"/>
                    </a:solidFill>
                  </a:tcPr>
                </a:tc>
                <a:tc>
                  <a:txBody>
                    <a:bodyPr wrap="square"/>
                    <a:lstStyle/>
                    <a:p>
                      <a:pPr algn="ctr">
                        <a:defRPr sz="1150" b="1">
                          <a:solidFill>
                            <a:srgbClr val="FFFFFF"/>
                          </a:solidFill>
                          <a:latin typeface="Calibri"/>
                        </a:defRPr>
                      </a:pPr>
                      <a:r>
                        <a:t>Share (%)</a:t>
                      </a:r>
                    </a:p>
                  </a:txBody>
                  <a:tcPr marL="45720" marR="45720" marT="9144" marB="9144" anchor="ctr">
                    <a:solidFill>
                      <a:srgbClr val="002B5C"/>
                    </a:solidFill>
                  </a:tcPr>
                </a:tc>
                <a:tc>
                  <a:txBody>
                    <a:bodyPr wrap="square"/>
                    <a:lstStyle/>
                    <a:p>
                      <a:pPr algn="ctr">
                        <a:defRPr sz="1150" b="1">
                          <a:solidFill>
                            <a:srgbClr val="FFFFFF"/>
                          </a:solidFill>
                          <a:latin typeface="Calibri"/>
                        </a:defRPr>
                      </a:pPr>
                      <a:r>
                        <a:t>Train</a:t>
                      </a:r>
                    </a:p>
                  </a:txBody>
                  <a:tcPr marL="45720" marR="45720" marT="9144" marB="9144" anchor="ctr">
                    <a:solidFill>
                      <a:srgbClr val="002B5C"/>
                    </a:solidFill>
                  </a:tcPr>
                </a:tc>
                <a:tc>
                  <a:txBody>
                    <a:bodyPr wrap="square"/>
                    <a:lstStyle/>
                    <a:p>
                      <a:pPr algn="ctr">
                        <a:defRPr sz="1150" b="1">
                          <a:solidFill>
                            <a:srgbClr val="FFFFFF"/>
                          </a:solidFill>
                          <a:latin typeface="Calibri"/>
                        </a:defRPr>
                      </a:pPr>
                      <a:r>
                        <a:t>Test</a:t>
                      </a:r>
                    </a:p>
                  </a:txBody>
                  <a:tcPr marL="45720" marR="45720" marT="9144" marB="9144" anchor="ctr">
                    <a:solidFill>
                      <a:srgbClr val="002B5C"/>
                    </a:solidFill>
                  </a:tcPr>
                </a:tc>
              </a:tr>
              <a:tr h="301752">
                <a:tc>
                  <a:txBody>
                    <a:bodyPr wrap="square"/>
                    <a:lstStyle/>
                    <a:p>
                      <a:pPr algn="l">
                        <a:defRPr sz="1150" b="0">
                          <a:solidFill>
                            <a:srgbClr val="333333"/>
                          </a:solidFill>
                          <a:latin typeface="Calibri"/>
                        </a:defRPr>
                      </a:pPr>
                      <a:r>
                        <a:t>1 — Standard</a:t>
                      </a:r>
                    </a:p>
                  </a:txBody>
                  <a:tcPr marL="45720" marR="45720" marT="9144" marB="9144" anchor="ctr"/>
                </a:tc>
                <a:tc>
                  <a:txBody>
                    <a:bodyPr wrap="square"/>
                    <a:lstStyle/>
                    <a:p>
                      <a:pPr algn="ctr">
                        <a:defRPr sz="1150" b="0">
                          <a:solidFill>
                            <a:srgbClr val="333333"/>
                          </a:solidFill>
                          <a:latin typeface="Calibri"/>
                        </a:defRPr>
                      </a:pPr>
                      <a:r>
                        <a:t>20,965</a:t>
                      </a:r>
                    </a:p>
                  </a:txBody>
                  <a:tcPr marL="45720" marR="45720" marT="9144" marB="9144" anchor="ctr"/>
                </a:tc>
                <a:tc>
                  <a:txBody>
                    <a:bodyPr wrap="square"/>
                    <a:lstStyle/>
                    <a:p>
                      <a:pPr algn="ctr">
                        <a:defRPr sz="1150" b="0">
                          <a:solidFill>
                            <a:srgbClr val="333333"/>
                          </a:solidFill>
                          <a:latin typeface="Calibri"/>
                        </a:defRPr>
                      </a:pPr>
                      <a:r>
                        <a:t>77.65</a:t>
                      </a:r>
                    </a:p>
                  </a:txBody>
                  <a:tcPr marL="45720" marR="45720" marT="9144" marB="9144" anchor="ctr"/>
                </a:tc>
                <a:tc>
                  <a:txBody>
                    <a:bodyPr wrap="square"/>
                    <a:lstStyle/>
                    <a:p>
                      <a:pPr algn="ctr">
                        <a:defRPr sz="1150" b="0">
                          <a:solidFill>
                            <a:srgbClr val="333333"/>
                          </a:solidFill>
                          <a:latin typeface="Calibri"/>
                        </a:defRPr>
                      </a:pPr>
                      <a:r>
                        <a:t>16,771</a:t>
                      </a:r>
                    </a:p>
                  </a:txBody>
                  <a:tcPr marL="45720" marR="45720" marT="9144" marB="9144" anchor="ctr"/>
                </a:tc>
                <a:tc>
                  <a:txBody>
                    <a:bodyPr wrap="square"/>
                    <a:lstStyle/>
                    <a:p>
                      <a:pPr algn="ctr">
                        <a:defRPr sz="1150" b="0">
                          <a:solidFill>
                            <a:srgbClr val="333333"/>
                          </a:solidFill>
                          <a:latin typeface="Calibri"/>
                        </a:defRPr>
                      </a:pPr>
                      <a:r>
                        <a:t>4,194</a:t>
                      </a:r>
                    </a:p>
                  </a:txBody>
                  <a:tcPr marL="45720" marR="45720" marT="9144" marB="9144" anchor="ctr"/>
                </a:tc>
              </a:tr>
              <a:tr h="301752">
                <a:tc>
                  <a:txBody>
                    <a:bodyPr wrap="square"/>
                    <a:lstStyle/>
                    <a:p>
                      <a:pPr algn="l">
                        <a:defRPr sz="1150" b="0">
                          <a:solidFill>
                            <a:srgbClr val="333333"/>
                          </a:solidFill>
                          <a:latin typeface="Calibri"/>
                        </a:defRPr>
                      </a:pPr>
                      <a:r>
                        <a:t>2 — Special mention</a:t>
                      </a:r>
                    </a:p>
                  </a:txBody>
                  <a:tcPr marL="45720" marR="45720" marT="9144" marB="9144" anchor="ctr">
                    <a:solidFill>
                      <a:srgbClr val="F2F2F2"/>
                    </a:solidFill>
                  </a:tcPr>
                </a:tc>
                <a:tc>
                  <a:txBody>
                    <a:bodyPr wrap="square"/>
                    <a:lstStyle/>
                    <a:p>
                      <a:pPr algn="ctr">
                        <a:defRPr sz="1150" b="0">
                          <a:solidFill>
                            <a:srgbClr val="333333"/>
                          </a:solidFill>
                          <a:latin typeface="Calibri"/>
                        </a:defRPr>
                      </a:pPr>
                      <a:r>
                        <a:t>1,287</a:t>
                      </a:r>
                    </a:p>
                  </a:txBody>
                  <a:tcPr marL="45720" marR="45720" marT="9144" marB="9144" anchor="ctr">
                    <a:solidFill>
                      <a:srgbClr val="F2F2F2"/>
                    </a:solidFill>
                  </a:tcPr>
                </a:tc>
                <a:tc>
                  <a:txBody>
                    <a:bodyPr wrap="square"/>
                    <a:lstStyle/>
                    <a:p>
                      <a:pPr algn="ctr">
                        <a:defRPr sz="1150" b="0">
                          <a:solidFill>
                            <a:srgbClr val="333333"/>
                          </a:solidFill>
                          <a:latin typeface="Calibri"/>
                        </a:defRPr>
                      </a:pPr>
                      <a:r>
                        <a:t>4.77</a:t>
                      </a:r>
                    </a:p>
                  </a:txBody>
                  <a:tcPr marL="45720" marR="45720" marT="9144" marB="9144" anchor="ctr">
                    <a:solidFill>
                      <a:srgbClr val="F2F2F2"/>
                    </a:solidFill>
                  </a:tcPr>
                </a:tc>
                <a:tc>
                  <a:txBody>
                    <a:bodyPr wrap="square"/>
                    <a:lstStyle/>
                    <a:p>
                      <a:pPr algn="ctr">
                        <a:defRPr sz="1150" b="0">
                          <a:solidFill>
                            <a:srgbClr val="333333"/>
                          </a:solidFill>
                          <a:latin typeface="Calibri"/>
                        </a:defRPr>
                      </a:pPr>
                      <a:r>
                        <a:t>1,030</a:t>
                      </a:r>
                    </a:p>
                  </a:txBody>
                  <a:tcPr marL="45720" marR="45720" marT="9144" marB="9144" anchor="ctr">
                    <a:solidFill>
                      <a:srgbClr val="F2F2F2"/>
                    </a:solidFill>
                  </a:tcPr>
                </a:tc>
                <a:tc>
                  <a:txBody>
                    <a:bodyPr wrap="square"/>
                    <a:lstStyle/>
                    <a:p>
                      <a:pPr algn="ctr">
                        <a:defRPr sz="1150" b="0">
                          <a:solidFill>
                            <a:srgbClr val="333333"/>
                          </a:solidFill>
                          <a:latin typeface="Calibri"/>
                        </a:defRPr>
                      </a:pPr>
                      <a:r>
                        <a:t>257</a:t>
                      </a:r>
                    </a:p>
                  </a:txBody>
                  <a:tcPr marL="45720" marR="45720" marT="9144" marB="9144" anchor="ctr">
                    <a:solidFill>
                      <a:srgbClr val="F2F2F2"/>
                    </a:solidFill>
                  </a:tcPr>
                </a:tc>
              </a:tr>
              <a:tr h="301752">
                <a:tc>
                  <a:txBody>
                    <a:bodyPr wrap="square"/>
                    <a:lstStyle/>
                    <a:p>
                      <a:pPr algn="l">
                        <a:defRPr sz="1150" b="0">
                          <a:solidFill>
                            <a:srgbClr val="333333"/>
                          </a:solidFill>
                          <a:latin typeface="Calibri"/>
                        </a:defRPr>
                      </a:pPr>
                      <a:r>
                        <a:t>3 — Sub-standard</a:t>
                      </a:r>
                    </a:p>
                  </a:txBody>
                  <a:tcPr marL="45720" marR="45720" marT="9144" marB="9144" anchor="ctr"/>
                </a:tc>
                <a:tc>
                  <a:txBody>
                    <a:bodyPr wrap="square"/>
                    <a:lstStyle/>
                    <a:p>
                      <a:pPr algn="ctr">
                        <a:defRPr sz="1150" b="0">
                          <a:solidFill>
                            <a:srgbClr val="333333"/>
                          </a:solidFill>
                          <a:latin typeface="Calibri"/>
                        </a:defRPr>
                      </a:pPr>
                      <a:r>
                        <a:t>604</a:t>
                      </a:r>
                    </a:p>
                  </a:txBody>
                  <a:tcPr marL="45720" marR="45720" marT="9144" marB="9144" anchor="ctr"/>
                </a:tc>
                <a:tc>
                  <a:txBody>
                    <a:bodyPr wrap="square"/>
                    <a:lstStyle/>
                    <a:p>
                      <a:pPr algn="ctr">
                        <a:defRPr sz="1150" b="0">
                          <a:solidFill>
                            <a:srgbClr val="333333"/>
                          </a:solidFill>
                          <a:latin typeface="Calibri"/>
                        </a:defRPr>
                      </a:pPr>
                      <a:r>
                        <a:t>2.24</a:t>
                      </a:r>
                    </a:p>
                  </a:txBody>
                  <a:tcPr marL="45720" marR="45720" marT="9144" marB="9144" anchor="ctr"/>
                </a:tc>
                <a:tc>
                  <a:txBody>
                    <a:bodyPr wrap="square"/>
                    <a:lstStyle/>
                    <a:p>
                      <a:pPr algn="ctr">
                        <a:defRPr sz="1150" b="0">
                          <a:solidFill>
                            <a:srgbClr val="333333"/>
                          </a:solidFill>
                          <a:latin typeface="Calibri"/>
                        </a:defRPr>
                      </a:pPr>
                      <a:r>
                        <a:t>483</a:t>
                      </a:r>
                    </a:p>
                  </a:txBody>
                  <a:tcPr marL="45720" marR="45720" marT="9144" marB="9144" anchor="ctr"/>
                </a:tc>
                <a:tc>
                  <a:txBody>
                    <a:bodyPr wrap="square"/>
                    <a:lstStyle/>
                    <a:p>
                      <a:pPr algn="ctr">
                        <a:defRPr sz="1150" b="0">
                          <a:solidFill>
                            <a:srgbClr val="333333"/>
                          </a:solidFill>
                          <a:latin typeface="Calibri"/>
                        </a:defRPr>
                      </a:pPr>
                      <a:r>
                        <a:t>121</a:t>
                      </a:r>
                    </a:p>
                  </a:txBody>
                  <a:tcPr marL="45720" marR="45720" marT="9144" marB="9144" anchor="ctr"/>
                </a:tc>
              </a:tr>
              <a:tr h="301752">
                <a:tc>
                  <a:txBody>
                    <a:bodyPr wrap="square"/>
                    <a:lstStyle/>
                    <a:p>
                      <a:pPr algn="l">
                        <a:defRPr sz="1150" b="0">
                          <a:solidFill>
                            <a:srgbClr val="333333"/>
                          </a:solidFill>
                          <a:latin typeface="Calibri"/>
                        </a:defRPr>
                      </a:pPr>
                      <a:r>
                        <a:t>4 — Doubtful</a:t>
                      </a:r>
                    </a:p>
                  </a:txBody>
                  <a:tcPr marL="45720" marR="45720" marT="9144" marB="9144" anchor="ctr">
                    <a:solidFill>
                      <a:srgbClr val="F2F2F2"/>
                    </a:solidFill>
                  </a:tcPr>
                </a:tc>
                <a:tc>
                  <a:txBody>
                    <a:bodyPr wrap="square"/>
                    <a:lstStyle/>
                    <a:p>
                      <a:pPr algn="ctr">
                        <a:defRPr sz="1150" b="0">
                          <a:solidFill>
                            <a:srgbClr val="333333"/>
                          </a:solidFill>
                          <a:latin typeface="Calibri"/>
                        </a:defRPr>
                      </a:pPr>
                      <a:r>
                        <a:t>784</a:t>
                      </a:r>
                    </a:p>
                  </a:txBody>
                  <a:tcPr marL="45720" marR="45720" marT="9144" marB="9144" anchor="ctr">
                    <a:solidFill>
                      <a:srgbClr val="F2F2F2"/>
                    </a:solidFill>
                  </a:tcPr>
                </a:tc>
                <a:tc>
                  <a:txBody>
                    <a:bodyPr wrap="square"/>
                    <a:lstStyle/>
                    <a:p>
                      <a:pPr algn="ctr">
                        <a:defRPr sz="1150" b="0">
                          <a:solidFill>
                            <a:srgbClr val="333333"/>
                          </a:solidFill>
                          <a:latin typeface="Calibri"/>
                        </a:defRPr>
                      </a:pPr>
                      <a:r>
                        <a:t>2.90</a:t>
                      </a:r>
                    </a:p>
                  </a:txBody>
                  <a:tcPr marL="45720" marR="45720" marT="9144" marB="9144" anchor="ctr">
                    <a:solidFill>
                      <a:srgbClr val="F2F2F2"/>
                    </a:solidFill>
                  </a:tcPr>
                </a:tc>
                <a:tc>
                  <a:txBody>
                    <a:bodyPr wrap="square"/>
                    <a:lstStyle/>
                    <a:p>
                      <a:pPr algn="ctr">
                        <a:defRPr sz="1150" b="0">
                          <a:solidFill>
                            <a:srgbClr val="333333"/>
                          </a:solidFill>
                          <a:latin typeface="Calibri"/>
                        </a:defRPr>
                      </a:pPr>
                      <a:r>
                        <a:t>627</a:t>
                      </a:r>
                    </a:p>
                  </a:txBody>
                  <a:tcPr marL="45720" marR="45720" marT="9144" marB="9144" anchor="ctr">
                    <a:solidFill>
                      <a:srgbClr val="F2F2F2"/>
                    </a:solidFill>
                  </a:tcPr>
                </a:tc>
                <a:tc>
                  <a:txBody>
                    <a:bodyPr wrap="square"/>
                    <a:lstStyle/>
                    <a:p>
                      <a:pPr algn="ctr">
                        <a:defRPr sz="1150" b="0">
                          <a:solidFill>
                            <a:srgbClr val="333333"/>
                          </a:solidFill>
                          <a:latin typeface="Calibri"/>
                        </a:defRPr>
                      </a:pPr>
                      <a:r>
                        <a:t>157</a:t>
                      </a:r>
                    </a:p>
                  </a:txBody>
                  <a:tcPr marL="45720" marR="45720" marT="9144" marB="9144" anchor="ctr">
                    <a:solidFill>
                      <a:srgbClr val="F2F2F2"/>
                    </a:solidFill>
                  </a:tcPr>
                </a:tc>
              </a:tr>
              <a:tr h="301752">
                <a:tc>
                  <a:txBody>
                    <a:bodyPr wrap="square"/>
                    <a:lstStyle/>
                    <a:p>
                      <a:pPr algn="l">
                        <a:defRPr sz="1150" b="0">
                          <a:solidFill>
                            <a:srgbClr val="333333"/>
                          </a:solidFill>
                          <a:latin typeface="Calibri"/>
                        </a:defRPr>
                      </a:pPr>
                      <a:r>
                        <a:t>5 — Loss</a:t>
                      </a:r>
                    </a:p>
                  </a:txBody>
                  <a:tcPr marL="45720" marR="45720" marT="9144" marB="9144" anchor="ctr"/>
                </a:tc>
                <a:tc>
                  <a:txBody>
                    <a:bodyPr wrap="square"/>
                    <a:lstStyle/>
                    <a:p>
                      <a:pPr algn="ctr">
                        <a:defRPr sz="1150" b="0">
                          <a:solidFill>
                            <a:srgbClr val="333333"/>
                          </a:solidFill>
                          <a:latin typeface="Calibri"/>
                        </a:defRPr>
                      </a:pPr>
                      <a:r>
                        <a:t>3,361</a:t>
                      </a:r>
                    </a:p>
                  </a:txBody>
                  <a:tcPr marL="45720" marR="45720" marT="9144" marB="9144" anchor="ctr"/>
                </a:tc>
                <a:tc>
                  <a:txBody>
                    <a:bodyPr wrap="square"/>
                    <a:lstStyle/>
                    <a:p>
                      <a:pPr algn="ctr">
                        <a:defRPr sz="1150" b="0">
                          <a:solidFill>
                            <a:srgbClr val="333333"/>
                          </a:solidFill>
                          <a:latin typeface="Calibri"/>
                        </a:defRPr>
                      </a:pPr>
                      <a:r>
                        <a:t>12.45</a:t>
                      </a:r>
                    </a:p>
                  </a:txBody>
                  <a:tcPr marL="45720" marR="45720" marT="9144" marB="9144" anchor="ctr"/>
                </a:tc>
                <a:tc>
                  <a:txBody>
                    <a:bodyPr wrap="square"/>
                    <a:lstStyle/>
                    <a:p>
                      <a:pPr algn="ctr">
                        <a:defRPr sz="1150" b="0">
                          <a:solidFill>
                            <a:srgbClr val="333333"/>
                          </a:solidFill>
                          <a:latin typeface="Calibri"/>
                        </a:defRPr>
                      </a:pPr>
                      <a:r>
                        <a:t>2,689</a:t>
                      </a:r>
                    </a:p>
                  </a:txBody>
                  <a:tcPr marL="45720" marR="45720" marT="9144" marB="9144" anchor="ctr"/>
                </a:tc>
                <a:tc>
                  <a:txBody>
                    <a:bodyPr wrap="square"/>
                    <a:lstStyle/>
                    <a:p>
                      <a:pPr algn="ctr">
                        <a:defRPr sz="1150" b="0">
                          <a:solidFill>
                            <a:srgbClr val="333333"/>
                          </a:solidFill>
                          <a:latin typeface="Calibri"/>
                        </a:defRPr>
                      </a:pPr>
                      <a:r>
                        <a:t>672</a:t>
                      </a:r>
                    </a:p>
                  </a:txBody>
                  <a:tcPr marL="45720" marR="45720" marT="9144" marB="9144" anchor="ctr"/>
                </a:tc>
              </a:tr>
              <a:tr h="301752">
                <a:tc>
                  <a:txBody>
                    <a:bodyPr wrap="square"/>
                    <a:lstStyle/>
                    <a:p>
                      <a:pPr algn="l">
                        <a:defRPr sz="1150" b="1">
                          <a:solidFill>
                            <a:srgbClr val="333333"/>
                          </a:solidFill>
                          <a:latin typeface="Calibri"/>
                        </a:defRPr>
                      </a:pPr>
                      <a:r>
                        <a:t>Total</a:t>
                      </a:r>
                    </a:p>
                  </a:txBody>
                  <a:tcPr marL="45720" marR="45720" marT="9144" marB="9144" anchor="ctr">
                    <a:solidFill>
                      <a:srgbClr val="DDEECC"/>
                    </a:solidFill>
                  </a:tcPr>
                </a:tc>
                <a:tc>
                  <a:txBody>
                    <a:bodyPr wrap="square"/>
                    <a:lstStyle/>
                    <a:p>
                      <a:pPr algn="ctr">
                        <a:defRPr sz="1150" b="1">
                          <a:solidFill>
                            <a:srgbClr val="333333"/>
                          </a:solidFill>
                          <a:latin typeface="Calibri"/>
                        </a:defRPr>
                      </a:pPr>
                      <a:r>
                        <a:t>27,001</a:t>
                      </a:r>
                    </a:p>
                  </a:txBody>
                  <a:tcPr marL="45720" marR="45720" marT="9144" marB="9144" anchor="ctr">
                    <a:solidFill>
                      <a:srgbClr val="DDEECC"/>
                    </a:solidFill>
                  </a:tcPr>
                </a:tc>
                <a:tc>
                  <a:txBody>
                    <a:bodyPr wrap="square"/>
                    <a:lstStyle/>
                    <a:p>
                      <a:pPr algn="ctr">
                        <a:defRPr sz="1150" b="1">
                          <a:solidFill>
                            <a:srgbClr val="333333"/>
                          </a:solidFill>
                          <a:latin typeface="Calibri"/>
                        </a:defRPr>
                      </a:pPr>
                      <a:r>
                        <a:t>100.00</a:t>
                      </a:r>
                    </a:p>
                  </a:txBody>
                  <a:tcPr marL="45720" marR="45720" marT="9144" marB="9144" anchor="ctr">
                    <a:solidFill>
                      <a:srgbClr val="DDEECC"/>
                    </a:solidFill>
                  </a:tcPr>
                </a:tc>
                <a:tc>
                  <a:txBody>
                    <a:bodyPr wrap="square"/>
                    <a:lstStyle/>
                    <a:p>
                      <a:pPr algn="ctr">
                        <a:defRPr sz="1150" b="1">
                          <a:solidFill>
                            <a:srgbClr val="333333"/>
                          </a:solidFill>
                          <a:latin typeface="Calibri"/>
                        </a:defRPr>
                      </a:pPr>
                      <a:r>
                        <a:t>21,600</a:t>
                      </a:r>
                    </a:p>
                  </a:txBody>
                  <a:tcPr marL="45720" marR="45720" marT="9144" marB="9144" anchor="ctr">
                    <a:solidFill>
                      <a:srgbClr val="DDEECC"/>
                    </a:solidFill>
                  </a:tcPr>
                </a:tc>
                <a:tc>
                  <a:txBody>
                    <a:bodyPr wrap="square"/>
                    <a:lstStyle/>
                    <a:p>
                      <a:pPr algn="ctr">
                        <a:defRPr sz="1150" b="1">
                          <a:solidFill>
                            <a:srgbClr val="333333"/>
                          </a:solidFill>
                          <a:latin typeface="Calibri"/>
                        </a:defRPr>
                      </a:pPr>
                      <a:r>
                        <a:t>5,401</a:t>
                      </a:r>
                    </a:p>
                  </a:txBody>
                  <a:tcPr marL="45720" marR="45720" marT="9144" marB="9144" anchor="ctr">
                    <a:solidFill>
                      <a:srgbClr val="DDEECC"/>
                    </a:solidFill>
                  </a:tcPr>
                </a:tc>
              </a:tr>
            </a:tbl>
          </a:graphicData>
        </a:graphic>
      </p:graphicFrame>
      <p:sp>
        <p:nvSpPr>
          <p:cNvPr id="7" name="TextBox 6"/>
          <p:cNvSpPr txBox="1"/>
          <p:nvPr/>
        </p:nvSpPr>
        <p:spPr>
          <a:xfrm>
            <a:off x="548640" y="3346704"/>
            <a:ext cx="5074920" cy="1783080"/>
          </a:xfrm>
          <a:prstGeom prst="rect">
            <a:avLst/>
          </a:prstGeom>
          <a:noFill/>
        </p:spPr>
        <p:txBody>
          <a:bodyPr wrap="square" lIns="64008" rIns="64008" tIns="18288" bIns="18288">
            <a:noAutofit/>
          </a:bodyPr>
          <a:lstStyle/>
          <a:p>
            <a:pPr algn="l">
              <a:lnSpc>
                <a:spcPct val="118000"/>
              </a:lnSpc>
              <a:spcAft>
                <a:spcPts val="600"/>
              </a:spcAft>
              <a:defRPr sz="1200" b="0" i="0">
                <a:solidFill>
                  <a:srgbClr val="333333"/>
                </a:solidFill>
                <a:latin typeface="Calibri"/>
              </a:defRPr>
            </a:pPr>
            <a:r>
              <a:t>•  Imbalance ≈ 35 : 1 (G1 vs. G3); 80/20 stratified split, random_state = 42</a:t>
            </a:r>
          </a:p>
          <a:p>
            <a:pPr algn="l">
              <a:lnSpc>
                <a:spcPct val="118000"/>
              </a:lnSpc>
              <a:spcAft>
                <a:spcPts val="600"/>
              </a:spcAft>
              <a:defRPr sz="1200" b="0" i="0">
                <a:solidFill>
                  <a:srgbClr val="333333"/>
                </a:solidFill>
                <a:latin typeface="Calibri"/>
              </a:defRPr>
            </a:pPr>
            <a:r>
              <a:t>•  Leakage control — NHOMNO (r = 0.98 with target) and NHOMNO_TCBS excluded as restatements of the label</a:t>
            </a:r>
          </a:p>
          <a:p>
            <a:pPr algn="l">
              <a:lnSpc>
                <a:spcPct val="118000"/>
              </a:lnSpc>
              <a:spcAft>
                <a:spcPts val="600"/>
              </a:spcAft>
              <a:defRPr sz="1200" b="0" i="0">
                <a:solidFill>
                  <a:srgbClr val="333333"/>
                </a:solidFill>
                <a:latin typeface="Calibri"/>
              </a:defRPr>
            </a:pPr>
            <a:r>
              <a:t>•  IV screening — 5 variables above the IV = 1.0 flag, reviewed manually and retained</a:t>
            </a:r>
          </a:p>
          <a:p>
            <a:pPr algn="l">
              <a:lnSpc>
                <a:spcPct val="118000"/>
              </a:lnSpc>
              <a:spcAft>
                <a:spcPts val="700"/>
              </a:spcAft>
              <a:defRPr sz="1200" b="0" i="0">
                <a:solidFill>
                  <a:srgbClr val="333333"/>
                </a:solidFill>
                <a:latin typeface="Calibri"/>
              </a:defRPr>
            </a:pPr>
            <a:r>
              <a:t>•  Engineered — LOAN_TENURE_DAYS, DAYS_TO_MATURITY, UTIL_RATE (d₀ = 31 Dec 2021); 11 features in the main configuration</a:t>
            </a:r>
          </a:p>
        </p:txBody>
      </p:sp>
      <p:sp>
        <p:nvSpPr>
          <p:cNvPr id="8" name="Rectangle 7"/>
          <p:cNvSpPr/>
          <p:nvPr/>
        </p:nvSpPr>
        <p:spPr>
          <a:xfrm>
            <a:off x="5870448" y="1170432"/>
            <a:ext cx="13716" cy="402336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108192" y="1152144"/>
            <a:ext cx="5532120" cy="292608"/>
          </a:xfrm>
          <a:prstGeom prst="rect">
            <a:avLst/>
          </a:prstGeom>
          <a:noFill/>
        </p:spPr>
        <p:txBody>
          <a:bodyPr wrap="square" lIns="64008" rIns="64008" tIns="18288" bIns="18288">
            <a:noAutofit/>
          </a:bodyPr>
          <a:lstStyle/>
          <a:p>
            <a:pPr algn="l">
              <a:lnSpc>
                <a:spcPct val="124000"/>
              </a:lnSpc>
              <a:spcAft>
                <a:spcPts val="700"/>
              </a:spcAft>
              <a:defRPr sz="1500" b="1" i="0">
                <a:solidFill>
                  <a:srgbClr val="002B5C"/>
                </a:solidFill>
                <a:latin typeface="Calibri"/>
              </a:defRPr>
            </a:pPr>
            <a:r>
              <a:t>Modelling &amp; evaluation</a:t>
            </a:r>
          </a:p>
        </p:txBody>
      </p:sp>
      <p:sp>
        <p:nvSpPr>
          <p:cNvPr id="10" name="TextBox 9"/>
          <p:cNvSpPr txBox="1"/>
          <p:nvPr/>
        </p:nvSpPr>
        <p:spPr>
          <a:xfrm>
            <a:off x="6108192" y="1481328"/>
            <a:ext cx="5532120" cy="3703320"/>
          </a:xfrm>
          <a:prstGeom prst="rect">
            <a:avLst/>
          </a:prstGeom>
          <a:noFill/>
        </p:spPr>
        <p:txBody>
          <a:bodyPr wrap="square" lIns="64008" rIns="64008" tIns="18288" bIns="18288">
            <a:noAutofit/>
          </a:bodyPr>
          <a:lstStyle/>
          <a:p>
            <a:pPr algn="l">
              <a:lnSpc>
                <a:spcPct val="118000"/>
              </a:lnSpc>
              <a:spcAft>
                <a:spcPts val="300"/>
              </a:spcAft>
              <a:defRPr sz="1300" b="0" i="0">
                <a:solidFill>
                  <a:srgbClr val="333333"/>
                </a:solidFill>
                <a:latin typeface="Calibri"/>
              </a:defRPr>
            </a:pPr>
            <a:r>
              <a:t>•  6 classifiers × 2 imbalance treatments = 12 symmetric configurations</a:t>
            </a:r>
          </a:p>
          <a:p>
            <a:pPr algn="l">
              <a:lnSpc>
                <a:spcPct val="115000"/>
              </a:lnSpc>
              <a:spcAft>
                <a:spcPts val="700"/>
              </a:spcAft>
              <a:defRPr sz="1150" b="0" i="0">
                <a:solidFill>
                  <a:srgbClr val="666666"/>
                </a:solidFill>
                <a:latin typeface="Calibri"/>
              </a:defRPr>
            </a:pPr>
            <a:r>
              <a:t>     LogReg, Decision Tree, Random Forest, XGBoost, LightGBM, CatBoost — each under inverse-frequency class weighting and under no weighting</a:t>
            </a:r>
          </a:p>
          <a:p>
            <a:pPr algn="l">
              <a:lnSpc>
                <a:spcPct val="118000"/>
              </a:lnSpc>
              <a:spcAft>
                <a:spcPts val="700"/>
              </a:spcAft>
              <a:defRPr sz="1300" b="0" i="0">
                <a:solidFill>
                  <a:srgbClr val="333333"/>
                </a:solidFill>
                <a:latin typeface="Calibri"/>
              </a:defRPr>
            </a:pPr>
            <a:r>
              <a:t>•  Hyperparameters fixed a priori — no per-configuration tuning, so no evaluation partition is consumed by model selection</a:t>
            </a:r>
          </a:p>
          <a:p>
            <a:pPr algn="l">
              <a:lnSpc>
                <a:spcPct val="118000"/>
              </a:lnSpc>
              <a:spcAft>
                <a:spcPts val="700"/>
              </a:spcAft>
              <a:defRPr sz="1300" b="0" i="0">
                <a:solidFill>
                  <a:srgbClr val="333333"/>
                </a:solidFill>
                <a:latin typeface="Calibri"/>
              </a:defRPr>
            </a:pPr>
            <a:r>
              <a:t>•  SMOTE rejected — interpolating between encoded category codes has no contractual meaning</a:t>
            </a:r>
          </a:p>
          <a:p>
            <a:pPr algn="l">
              <a:lnSpc>
                <a:spcPct val="118000"/>
              </a:lnSpc>
              <a:spcAft>
                <a:spcPts val="700"/>
              </a:spcAft>
              <a:defRPr sz="1300" b="0" i="0">
                <a:solidFill>
                  <a:srgbClr val="333333"/>
                </a:solidFill>
                <a:latin typeface="Calibri"/>
              </a:defRPr>
            </a:pPr>
            <a:r>
              <a:t>•  Metrics — Accuracy, Macro-F1 (primary), Weighted-F1, macro OvR ROC-AUC</a:t>
            </a:r>
          </a:p>
          <a:p>
            <a:pPr algn="l">
              <a:lnSpc>
                <a:spcPct val="118000"/>
              </a:lnSpc>
              <a:spcAft>
                <a:spcPts val="700"/>
              </a:spcAft>
              <a:defRPr sz="1300" b="0" i="0">
                <a:solidFill>
                  <a:srgbClr val="333333"/>
                </a:solidFill>
                <a:latin typeface="Calibri"/>
              </a:defRPr>
            </a:pPr>
            <a:r>
              <a:t>•  20% hold-out  +  5-fold × 5-repeat CV, all 12 configurations on the identical 25 partitions</a:t>
            </a:r>
          </a:p>
          <a:p>
            <a:pPr algn="l">
              <a:lnSpc>
                <a:spcPct val="118000"/>
              </a:lnSpc>
              <a:spcAft>
                <a:spcPts val="700"/>
              </a:spcAft>
              <a:defRPr sz="1300" b="0" i="0">
                <a:solidFill>
                  <a:srgbClr val="333333"/>
                </a:solidFill>
                <a:latin typeface="Calibri"/>
              </a:defRPr>
            </a:pPr>
            <a:r>
              <a:t>•  Nadeau–Bengio corrected resampled paired t-test, with Holm adjustment</a:t>
            </a:r>
          </a:p>
        </p:txBody>
      </p:sp>
      <p:sp>
        <p:nvSpPr>
          <p:cNvPr id="11" name="Rectangle 10"/>
          <p:cNvSpPr/>
          <p:nvPr/>
        </p:nvSpPr>
        <p:spPr>
          <a:xfrm>
            <a:off x="548640" y="5321808"/>
            <a:ext cx="11109960" cy="1207008"/>
          </a:xfrm>
          <a:prstGeom prst="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5431536"/>
            <a:ext cx="10744200" cy="987552"/>
          </a:xfrm>
          <a:prstGeom prst="rect">
            <a:avLst/>
          </a:prstGeom>
          <a:noFill/>
        </p:spPr>
        <p:txBody>
          <a:bodyPr wrap="square" lIns="64008" rIns="64008" tIns="18288" bIns="18288">
            <a:noAutofit/>
          </a:bodyPr>
          <a:lstStyle/>
          <a:p>
            <a:pPr algn="l">
              <a:lnSpc>
                <a:spcPct val="124000"/>
              </a:lnSpc>
              <a:spcAft>
                <a:spcPts val="300"/>
              </a:spcAft>
              <a:defRPr sz="1450" b="1" i="0">
                <a:solidFill>
                  <a:srgbClr val="C00000"/>
                </a:solidFill>
                <a:latin typeface="Calibri"/>
              </a:defRPr>
            </a:pPr>
            <a:r>
              <a:t>Read Group 5 with care</a:t>
            </a:r>
          </a:p>
          <a:p>
            <a:pPr algn="l">
              <a:lnSpc>
                <a:spcPct val="118000"/>
              </a:lnSpc>
              <a:spcAft>
                <a:spcPts val="700"/>
              </a:spcAft>
              <a:defRPr sz="1300" b="0" i="0">
                <a:solidFill>
                  <a:srgbClr val="333333"/>
                </a:solidFill>
                <a:latin typeface="Calibri"/>
              </a:defRPr>
            </a:pPr>
            <a:r>
              <a:t>Group 5 alone (12.45%) exceeds Groups 2 + 3 + 4 combined (9.91%) — not the shape of a normal active book. The median Group-5 loan is about six years past original maturity and 92.1% are past maturity, against 44.2% in Group 2. This is a legacy loss stock, not a flow of newly deteriorating credits — so strong Group-5 performance later is not evidence the model anticipates deterioration. The demanding groups are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RQ1: Model Comparison — Hold-out Results</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3 — 11-feature main configuration, stratified 20% hold-out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4</a:t>
            </a:r>
          </a:p>
        </p:txBody>
      </p:sp>
      <p:graphicFrame>
        <p:nvGraphicFramePr>
          <p:cNvPr id="6" name="Table 5"/>
          <p:cNvGraphicFramePr>
            <a:graphicFrameLocks noGrp="1"/>
          </p:cNvGraphicFramePr>
          <p:nvPr/>
        </p:nvGraphicFramePr>
        <p:xfrm>
          <a:off x="548640" y="1097280"/>
          <a:ext cx="11064240" cy="4041648"/>
        </p:xfrm>
        <a:graphic>
          <a:graphicData uri="http://schemas.openxmlformats.org/drawingml/2006/table">
            <a:tbl>
              <a:tblPr firstRow="1" bandRow="1">
                <a:tableStyleId>{5C22544A-7EE6-4342-B048-85BDC9FD1C3A}</a:tableStyleId>
              </a:tblPr>
              <a:tblGrid>
                <a:gridCol w="2240280"/>
                <a:gridCol w="1828800"/>
                <a:gridCol w="1600200"/>
                <a:gridCol w="1737360"/>
                <a:gridCol w="1828800"/>
                <a:gridCol w="1828800"/>
              </a:tblGrid>
              <a:tr h="310896">
                <a:tc>
                  <a:txBody>
                    <a:bodyPr wrap="square"/>
                    <a:lstStyle/>
                    <a:p>
                      <a:pPr algn="ctr">
                        <a:defRPr sz="1250" b="1">
                          <a:solidFill>
                            <a:srgbClr val="FFFFFF"/>
                          </a:solidFill>
                          <a:latin typeface="Calibri"/>
                        </a:defRPr>
                      </a:pPr>
                      <a:r>
                        <a:t>Model</a:t>
                      </a:r>
                    </a:p>
                  </a:txBody>
                  <a:tcPr marL="45720" marR="45720" marT="9144" marB="9144" anchor="ctr">
                    <a:solidFill>
                      <a:srgbClr val="002B5C"/>
                    </a:solidFill>
                  </a:tcPr>
                </a:tc>
                <a:tc>
                  <a:txBody>
                    <a:bodyPr wrap="square"/>
                    <a:lstStyle/>
                    <a:p>
                      <a:pPr algn="ctr">
                        <a:defRPr sz="1250" b="1">
                          <a:solidFill>
                            <a:srgbClr val="FFFFFF"/>
                          </a:solidFill>
                          <a:latin typeface="Calibri"/>
                        </a:defRPr>
                      </a:pPr>
                      <a:r>
                        <a:t>Imbalance</a:t>
                      </a:r>
                    </a:p>
                    <a:p>
                      <a:pPr algn="ctr">
                        <a:defRPr sz="1250" b="1">
                          <a:solidFill>
                            <a:srgbClr val="FFFFFF"/>
                          </a:solidFill>
                          <a:latin typeface="Calibri"/>
                        </a:defRPr>
                      </a:pPr>
                      <a:r>
                        <a:t>treatment</a:t>
                      </a:r>
                    </a:p>
                  </a:txBody>
                  <a:tcPr marL="45720" marR="45720" marT="9144" marB="9144" anchor="ctr">
                    <a:solidFill>
                      <a:srgbClr val="002B5C"/>
                    </a:solidFill>
                  </a:tcPr>
                </a:tc>
                <a:tc>
                  <a:txBody>
                    <a:bodyPr wrap="square"/>
                    <a:lstStyle/>
                    <a:p>
                      <a:pPr algn="ctr">
                        <a:defRPr sz="1250" b="1">
                          <a:solidFill>
                            <a:srgbClr val="FFFFFF"/>
                          </a:solidFill>
                          <a:latin typeface="Calibri"/>
                        </a:defRPr>
                      </a:pPr>
                      <a:r>
                        <a:t>Accuracy</a:t>
                      </a:r>
                    </a:p>
                  </a:txBody>
                  <a:tcPr marL="45720" marR="45720" marT="9144" marB="9144" anchor="ctr">
                    <a:solidFill>
                      <a:srgbClr val="002B5C"/>
                    </a:solidFill>
                  </a:tcPr>
                </a:tc>
                <a:tc>
                  <a:txBody>
                    <a:bodyPr wrap="square"/>
                    <a:lstStyle/>
                    <a:p>
                      <a:pPr algn="ctr">
                        <a:defRPr sz="1250" b="1">
                          <a:solidFill>
                            <a:srgbClr val="FFFFFF"/>
                          </a:solidFill>
                          <a:latin typeface="Calibri"/>
                        </a:defRPr>
                      </a:pPr>
                      <a:r>
                        <a:t>Macro-F1</a:t>
                      </a:r>
                    </a:p>
                  </a:txBody>
                  <a:tcPr marL="45720" marR="45720" marT="9144" marB="9144" anchor="ctr">
                    <a:solidFill>
                      <a:srgbClr val="002B5C"/>
                    </a:solidFill>
                  </a:tcPr>
                </a:tc>
                <a:tc>
                  <a:txBody>
                    <a:bodyPr wrap="square"/>
                    <a:lstStyle/>
                    <a:p>
                      <a:pPr algn="ctr">
                        <a:defRPr sz="1250" b="1">
                          <a:solidFill>
                            <a:srgbClr val="FFFFFF"/>
                          </a:solidFill>
                          <a:latin typeface="Calibri"/>
                        </a:defRPr>
                      </a:pPr>
                      <a:r>
                        <a:t>Weighted-F1</a:t>
                      </a:r>
                    </a:p>
                  </a:txBody>
                  <a:tcPr marL="45720" marR="45720" marT="9144" marB="9144" anchor="ctr">
                    <a:solidFill>
                      <a:srgbClr val="002B5C"/>
                    </a:solidFill>
                  </a:tcPr>
                </a:tc>
                <a:tc>
                  <a:txBody>
                    <a:bodyPr wrap="square"/>
                    <a:lstStyle/>
                    <a:p>
                      <a:pPr algn="ctr">
                        <a:defRPr sz="1250" b="1">
                          <a:solidFill>
                            <a:srgbClr val="FFFFFF"/>
                          </a:solidFill>
                          <a:latin typeface="Calibri"/>
                        </a:defRPr>
                      </a:pPr>
                      <a:r>
                        <a:t>ROC-AUC</a:t>
                      </a:r>
                    </a:p>
                    <a:p>
                      <a:pPr algn="ctr">
                        <a:defRPr sz="1250" b="1">
                          <a:solidFill>
                            <a:srgbClr val="FFFFFF"/>
                          </a:solidFill>
                          <a:latin typeface="Calibri"/>
                        </a:defRPr>
                      </a:pPr>
                      <a:r>
                        <a:t>(macro)</a:t>
                      </a:r>
                    </a:p>
                  </a:txBody>
                  <a:tcPr marL="45720" marR="45720" marT="9144" marB="9144" anchor="ctr">
                    <a:solidFill>
                      <a:srgbClr val="002B5C"/>
                    </a:solidFill>
                  </a:tcPr>
                </a:tc>
              </a:tr>
              <a:tr h="310896">
                <a:tc>
                  <a:txBody>
                    <a:bodyPr wrap="square"/>
                    <a:lstStyle/>
                    <a:p>
                      <a:pPr algn="l">
                        <a:defRPr sz="1250" b="0">
                          <a:solidFill>
                            <a:srgbClr val="333333"/>
                          </a:solidFill>
                          <a:latin typeface="Calibri"/>
                        </a:defRPr>
                      </a:pPr>
                      <a:r>
                        <a:t>Logistic Regression</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0.6091</a:t>
                      </a:r>
                    </a:p>
                  </a:txBody>
                  <a:tcPr marL="45720" marR="45720" marT="9144" marB="9144" anchor="ctr"/>
                </a:tc>
                <a:tc>
                  <a:txBody>
                    <a:bodyPr wrap="square"/>
                    <a:lstStyle/>
                    <a:p>
                      <a:pPr algn="ctr">
                        <a:defRPr sz="1250" b="0">
                          <a:solidFill>
                            <a:srgbClr val="333333"/>
                          </a:solidFill>
                          <a:latin typeface="Calibri"/>
                        </a:defRPr>
                      </a:pPr>
                      <a:r>
                        <a:t>0.3946</a:t>
                      </a:r>
                    </a:p>
                  </a:txBody>
                  <a:tcPr marL="45720" marR="45720" marT="9144" marB="9144" anchor="ctr"/>
                </a:tc>
                <a:tc>
                  <a:txBody>
                    <a:bodyPr wrap="square"/>
                    <a:lstStyle/>
                    <a:p>
                      <a:pPr algn="ctr">
                        <a:defRPr sz="1250" b="0">
                          <a:solidFill>
                            <a:srgbClr val="333333"/>
                          </a:solidFill>
                          <a:latin typeface="Calibri"/>
                        </a:defRPr>
                      </a:pPr>
                      <a:r>
                        <a:t>0.6886</a:t>
                      </a:r>
                    </a:p>
                  </a:txBody>
                  <a:tcPr marL="45720" marR="45720" marT="9144" marB="9144" anchor="ctr"/>
                </a:tc>
                <a:tc>
                  <a:txBody>
                    <a:bodyPr wrap="square"/>
                    <a:lstStyle/>
                    <a:p>
                      <a:pPr algn="ctr">
                        <a:defRPr sz="1250" b="0">
                          <a:solidFill>
                            <a:srgbClr val="333333"/>
                          </a:solidFill>
                          <a:latin typeface="Calibri"/>
                        </a:defRPr>
                      </a:pPr>
                      <a:r>
                        <a:t>0.7744</a:t>
                      </a:r>
                    </a:p>
                  </a:txBody>
                  <a:tcPr marL="45720" marR="45720" marT="9144" marB="9144" anchor="ctr"/>
                </a:tc>
              </a:tr>
              <a:tr h="310896">
                <a:tc>
                  <a:txBody>
                    <a:bodyPr wrap="square"/>
                    <a:lstStyle/>
                    <a:p>
                      <a:pPr algn="l">
                        <a:defRPr sz="1250" b="0">
                          <a:solidFill>
                            <a:srgbClr val="333333"/>
                          </a:solidFill>
                          <a:latin typeface="Calibri"/>
                        </a:defRPr>
                      </a:pPr>
                      <a:r>
                        <a:t>Logistic Regression</a:t>
                      </a:r>
                    </a:p>
                  </a:txBody>
                  <a:tcPr marL="45720" marR="45720" marT="9144" marB="9144" anchor="ctr">
                    <a:solidFill>
                      <a:srgbClr val="F2F2F2"/>
                    </a:solidFill>
                  </a:tcPr>
                </a:tc>
                <a:tc>
                  <a:txBody>
                    <a:bodyPr wrap="square"/>
                    <a:lstStyle/>
                    <a:p>
                      <a:pPr algn="ctr">
                        <a:defRPr sz="1250" b="0">
                          <a:solidFill>
                            <a:srgbClr val="333333"/>
                          </a:solidFill>
                          <a:latin typeface="Calibri"/>
                        </a:defRPr>
                      </a:pPr>
                      <a:r>
                        <a:t>No weighting</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0.8752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0.3628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0.8298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0.8083</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Decision Tree</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0.6441</a:t>
                      </a:r>
                    </a:p>
                  </a:txBody>
                  <a:tcPr marL="45720" marR="45720" marT="9144" marB="9144" anchor="ctr"/>
                </a:tc>
                <a:tc>
                  <a:txBody>
                    <a:bodyPr wrap="square"/>
                    <a:lstStyle/>
                    <a:p>
                      <a:pPr algn="ctr">
                        <a:defRPr sz="1250" b="0">
                          <a:solidFill>
                            <a:srgbClr val="333333"/>
                          </a:solidFill>
                          <a:latin typeface="Calibri"/>
                        </a:defRPr>
                      </a:pPr>
                      <a:r>
                        <a:t>0.4962</a:t>
                      </a:r>
                    </a:p>
                  </a:txBody>
                  <a:tcPr marL="45720" marR="45720" marT="9144" marB="9144" anchor="ctr"/>
                </a:tc>
                <a:tc>
                  <a:txBody>
                    <a:bodyPr wrap="square"/>
                    <a:lstStyle/>
                    <a:p>
                      <a:pPr algn="ctr">
                        <a:defRPr sz="1250" b="0">
                          <a:solidFill>
                            <a:srgbClr val="333333"/>
                          </a:solidFill>
                          <a:latin typeface="Calibri"/>
                        </a:defRPr>
                      </a:pPr>
                      <a:r>
                        <a:t>0.7243</a:t>
                      </a:r>
                    </a:p>
                  </a:txBody>
                  <a:tcPr marL="45720" marR="45720" marT="9144" marB="9144" anchor="ctr"/>
                </a:tc>
                <a:tc>
                  <a:txBody>
                    <a:bodyPr wrap="square"/>
                    <a:lstStyle/>
                    <a:p>
                      <a:pPr algn="ctr">
                        <a:defRPr sz="1250" b="0">
                          <a:solidFill>
                            <a:srgbClr val="333333"/>
                          </a:solidFill>
                          <a:latin typeface="Calibri"/>
                        </a:defRPr>
                      </a:pPr>
                      <a:r>
                        <a:t>0.8647</a:t>
                      </a:r>
                    </a:p>
                  </a:txBody>
                  <a:tcPr marL="45720" marR="45720" marT="9144" marB="9144" anchor="ctr"/>
                </a:tc>
              </a:tr>
              <a:tr h="310896">
                <a:tc>
                  <a:txBody>
                    <a:bodyPr wrap="square"/>
                    <a:lstStyle/>
                    <a:p>
                      <a:pPr algn="l">
                        <a:defRPr sz="1250" b="0">
                          <a:solidFill>
                            <a:srgbClr val="333333"/>
                          </a:solidFill>
                          <a:latin typeface="Calibri"/>
                        </a:defRPr>
                      </a:pPr>
                      <a:r>
                        <a:t>Decision Tree</a:t>
                      </a:r>
                    </a:p>
                  </a:txBody>
                  <a:tcPr marL="45720" marR="45720" marT="9144" marB="9144" anchor="ctr">
                    <a:solidFill>
                      <a:srgbClr val="F2F2F2"/>
                    </a:solidFill>
                  </a:tcPr>
                </a:tc>
                <a:tc>
                  <a:txBody>
                    <a:bodyPr wrap="square"/>
                    <a:lstStyle/>
                    <a:p>
                      <a:pPr algn="ctr">
                        <a:defRPr sz="1250" b="0">
                          <a:solidFill>
                            <a:srgbClr val="333333"/>
                          </a:solidFill>
                          <a:latin typeface="Calibri"/>
                        </a:defRPr>
                      </a:pPr>
                      <a:r>
                        <a:t>No weighting</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0.9082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0.6245</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0.8907</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0.8921</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Random Forest</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0.7784</a:t>
                      </a:r>
                    </a:p>
                  </a:txBody>
                  <a:tcPr marL="45720" marR="45720" marT="9144" marB="9144" anchor="ctr"/>
                </a:tc>
                <a:tc>
                  <a:txBody>
                    <a:bodyPr wrap="square"/>
                    <a:lstStyle/>
                    <a:p>
                      <a:pPr algn="ctr">
                        <a:defRPr sz="1250" b="0">
                          <a:solidFill>
                            <a:srgbClr val="333333"/>
                          </a:solidFill>
                          <a:latin typeface="Calibri"/>
                        </a:defRPr>
                      </a:pPr>
                      <a:r>
                        <a:t>0.5699</a:t>
                      </a:r>
                    </a:p>
                  </a:txBody>
                  <a:tcPr marL="45720" marR="45720" marT="9144" marB="9144" anchor="ctr"/>
                </a:tc>
                <a:tc>
                  <a:txBody>
                    <a:bodyPr wrap="square"/>
                    <a:lstStyle/>
                    <a:p>
                      <a:pPr algn="ctr">
                        <a:defRPr sz="1250" b="0">
                          <a:solidFill>
                            <a:srgbClr val="333333"/>
                          </a:solidFill>
                          <a:latin typeface="Calibri"/>
                        </a:defRPr>
                      </a:pPr>
                      <a:r>
                        <a:t>0.8229</a:t>
                      </a:r>
                    </a:p>
                  </a:txBody>
                  <a:tcPr marL="45720" marR="45720" marT="9144" marB="9144" anchor="ctr"/>
                </a:tc>
                <a:tc>
                  <a:txBody>
                    <a:bodyPr wrap="square"/>
                    <a:lstStyle/>
                    <a:p>
                      <a:pPr algn="ctr">
                        <a:defRPr sz="1250" b="0">
                          <a:solidFill>
                            <a:srgbClr val="333333"/>
                          </a:solidFill>
                          <a:latin typeface="Calibri"/>
                        </a:defRPr>
                      </a:pPr>
                      <a:r>
                        <a:t>0.9071</a:t>
                      </a:r>
                    </a:p>
                  </a:txBody>
                  <a:tcPr marL="45720" marR="45720" marT="9144" marB="9144" anchor="ctr"/>
                </a:tc>
              </a:tr>
              <a:tr h="310896">
                <a:tc>
                  <a:txBody>
                    <a:bodyPr wrap="square"/>
                    <a:lstStyle/>
                    <a:p>
                      <a:pPr algn="l">
                        <a:defRPr sz="1250" b="0">
                          <a:solidFill>
                            <a:srgbClr val="333333"/>
                          </a:solidFill>
                          <a:latin typeface="Calibri"/>
                        </a:defRPr>
                      </a:pPr>
                      <a:r>
                        <a:t>Random Forest</a:t>
                      </a:r>
                    </a:p>
                  </a:txBody>
                  <a:tcPr marL="45720" marR="45720" marT="9144" marB="9144" anchor="ctr">
                    <a:solidFill>
                      <a:srgbClr val="F2F2F2"/>
                    </a:solidFill>
                  </a:tcPr>
                </a:tc>
                <a:tc>
                  <a:txBody>
                    <a:bodyPr wrap="square"/>
                    <a:lstStyle/>
                    <a:p>
                      <a:pPr algn="ctr">
                        <a:defRPr sz="1250" b="0">
                          <a:solidFill>
                            <a:srgbClr val="333333"/>
                          </a:solidFill>
                          <a:latin typeface="Calibri"/>
                        </a:defRPr>
                      </a:pPr>
                      <a:r>
                        <a:t>No weighting</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0.9080</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0.6149</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0.8908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0.9239</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XGBoost</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0.8298</a:t>
                      </a:r>
                    </a:p>
                  </a:txBody>
                  <a:tcPr marL="45720" marR="45720" marT="9144" marB="9144" anchor="ctr"/>
                </a:tc>
                <a:tc>
                  <a:txBody>
                    <a:bodyPr wrap="square"/>
                    <a:lstStyle/>
                    <a:p>
                      <a:pPr algn="ctr">
                        <a:defRPr sz="1250" b="0">
                          <a:solidFill>
                            <a:srgbClr val="333333"/>
                          </a:solidFill>
                          <a:latin typeface="Calibri"/>
                        </a:defRPr>
                      </a:pPr>
                      <a:r>
                        <a:t>0.5966</a:t>
                      </a:r>
                    </a:p>
                  </a:txBody>
                  <a:tcPr marL="45720" marR="45720" marT="9144" marB="9144" anchor="ctr"/>
                </a:tc>
                <a:tc>
                  <a:txBody>
                    <a:bodyPr wrap="square"/>
                    <a:lstStyle/>
                    <a:p>
                      <a:pPr algn="ctr">
                        <a:defRPr sz="1250" b="0">
                          <a:solidFill>
                            <a:srgbClr val="333333"/>
                          </a:solidFill>
                          <a:latin typeface="Calibri"/>
                        </a:defRPr>
                      </a:pPr>
                      <a:r>
                        <a:t>0.8556</a:t>
                      </a:r>
                    </a:p>
                  </a:txBody>
                  <a:tcPr marL="45720" marR="45720" marT="9144" marB="9144" anchor="ctr"/>
                </a:tc>
                <a:tc>
                  <a:txBody>
                    <a:bodyPr wrap="square"/>
                    <a:lstStyle/>
                    <a:p>
                      <a:pPr algn="ctr">
                        <a:defRPr sz="1250" b="0">
                          <a:solidFill>
                            <a:srgbClr val="333333"/>
                          </a:solidFill>
                          <a:latin typeface="Calibri"/>
                        </a:defRPr>
                      </a:pPr>
                      <a:r>
                        <a:t>0.9147</a:t>
                      </a:r>
                    </a:p>
                  </a:txBody>
                  <a:tcPr marL="45720" marR="45720" marT="9144" marB="9144" anchor="ctr"/>
                </a:tc>
              </a:tr>
              <a:tr h="310896">
                <a:tc>
                  <a:txBody>
                    <a:bodyPr wrap="square"/>
                    <a:lstStyle/>
                    <a:p>
                      <a:pPr algn="l">
                        <a:defRPr sz="1250" b="0">
                          <a:solidFill>
                            <a:srgbClr val="333333"/>
                          </a:solidFill>
                          <a:latin typeface="Calibri"/>
                        </a:defRPr>
                      </a:pPr>
                      <a:r>
                        <a:t>XGBoost</a:t>
                      </a:r>
                    </a:p>
                  </a:txBody>
                  <a:tcPr marL="45720" marR="45720" marT="9144" marB="9144" anchor="ctr">
                    <a:solidFill>
                      <a:srgbClr val="F2F2F2"/>
                    </a:solidFill>
                  </a:tcPr>
                </a:tc>
                <a:tc>
                  <a:txBody>
                    <a:bodyPr wrap="square"/>
                    <a:lstStyle/>
                    <a:p>
                      <a:pPr algn="ctr">
                        <a:defRPr sz="1250" b="0">
                          <a:solidFill>
                            <a:srgbClr val="333333"/>
                          </a:solidFill>
                          <a:latin typeface="Calibri"/>
                        </a:defRPr>
                      </a:pPr>
                      <a:r>
                        <a:t>No weighting</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0.9113</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0.6197</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0.8942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0.9282</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LightGBM</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0.8548</a:t>
                      </a:r>
                    </a:p>
                  </a:txBody>
                  <a:tcPr marL="45720" marR="45720" marT="9144" marB="9144" anchor="ctr"/>
                </a:tc>
                <a:tc>
                  <a:txBody>
                    <a:bodyPr wrap="square"/>
                    <a:lstStyle/>
                    <a:p>
                      <a:pPr algn="ctr">
                        <a:defRPr sz="1250" b="0">
                          <a:solidFill>
                            <a:srgbClr val="333333"/>
                          </a:solidFill>
                          <a:latin typeface="Calibri"/>
                        </a:defRPr>
                      </a:pPr>
                      <a:r>
                        <a:t>0.6044</a:t>
                      </a:r>
                    </a:p>
                  </a:txBody>
                  <a:tcPr marL="45720" marR="45720" marT="9144" marB="9144" anchor="ctr"/>
                </a:tc>
                <a:tc>
                  <a:txBody>
                    <a:bodyPr wrap="square"/>
                    <a:lstStyle/>
                    <a:p>
                      <a:pPr algn="ctr">
                        <a:defRPr sz="1250" b="0">
                          <a:solidFill>
                            <a:srgbClr val="333333"/>
                          </a:solidFill>
                          <a:latin typeface="Calibri"/>
                        </a:defRPr>
                      </a:pPr>
                      <a:r>
                        <a:t>0.8713</a:t>
                      </a:r>
                    </a:p>
                  </a:txBody>
                  <a:tcPr marL="45720" marR="45720" marT="9144" marB="9144" anchor="ctr"/>
                </a:tc>
                <a:tc>
                  <a:txBody>
                    <a:bodyPr wrap="square"/>
                    <a:lstStyle/>
                    <a:p>
                      <a:pPr algn="ctr">
                        <a:defRPr sz="1250" b="0">
                          <a:solidFill>
                            <a:srgbClr val="333333"/>
                          </a:solidFill>
                          <a:latin typeface="Calibri"/>
                        </a:defRPr>
                      </a:pPr>
                      <a:r>
                        <a:t>0.9128</a:t>
                      </a:r>
                    </a:p>
                  </a:txBody>
                  <a:tcPr marL="45720" marR="45720" marT="9144" marB="9144" anchor="ctr"/>
                </a:tc>
              </a:tr>
              <a:tr h="310896">
                <a:tc>
                  <a:txBody>
                    <a:bodyPr wrap="square"/>
                    <a:lstStyle/>
                    <a:p>
                      <a:pPr algn="l">
                        <a:defRPr sz="1250" b="1">
                          <a:solidFill>
                            <a:srgbClr val="333333"/>
                          </a:solidFill>
                          <a:latin typeface="Calibri"/>
                        </a:defRPr>
                      </a:pPr>
                      <a:r>
                        <a:t>LightGBM</a:t>
                      </a:r>
                    </a:p>
                  </a:txBody>
                  <a:tcPr marL="45720" marR="45720" marT="9144" marB="9144" anchor="ctr">
                    <a:solidFill>
                      <a:srgbClr val="DDEECC"/>
                    </a:solidFill>
                  </a:tcPr>
                </a:tc>
                <a:tc>
                  <a:txBody>
                    <a:bodyPr wrap="square"/>
                    <a:lstStyle/>
                    <a:p>
                      <a:pPr algn="ctr">
                        <a:defRPr sz="1250" b="1">
                          <a:solidFill>
                            <a:srgbClr val="333333"/>
                          </a:solidFill>
                          <a:latin typeface="Calibri"/>
                        </a:defRPr>
                      </a:pPr>
                      <a:r>
                        <a:t>No weighting</a:t>
                      </a:r>
                    </a:p>
                  </a:txBody>
                  <a:tcPr marL="45720" marR="45720" marT="9144" marB="9144" anchor="ctr">
                    <a:solidFill>
                      <a:srgbClr val="DDEECC"/>
                    </a:solidFill>
                  </a:tcPr>
                </a:tc>
                <a:tc>
                  <a:txBody>
                    <a:bodyPr wrap="square"/>
                    <a:lstStyle/>
                    <a:p>
                      <a:pPr algn="ctr">
                        <a:defRPr sz="1250" b="1">
                          <a:solidFill>
                            <a:srgbClr val="333333"/>
                          </a:solidFill>
                          <a:latin typeface="Calibri"/>
                        </a:defRPr>
                      </a:pPr>
                      <a:r>
                        <a:t>0.9113</a:t>
                      </a:r>
                    </a:p>
                  </a:txBody>
                  <a:tcPr marL="45720" marR="45720" marT="9144" marB="9144" anchor="ctr">
                    <a:solidFill>
                      <a:srgbClr val="DDEECC"/>
                    </a:solidFill>
                  </a:tcPr>
                </a:tc>
                <a:tc>
                  <a:txBody>
                    <a:bodyPr wrap="square"/>
                    <a:lstStyle/>
                    <a:p>
                      <a:pPr algn="ctr">
                        <a:defRPr sz="1250" b="1">
                          <a:solidFill>
                            <a:srgbClr val="333333"/>
                          </a:solidFill>
                          <a:latin typeface="Calibri"/>
                        </a:defRPr>
                      </a:pPr>
                      <a:r>
                        <a:t>0.6248</a:t>
                      </a:r>
                    </a:p>
                  </a:txBody>
                  <a:tcPr marL="45720" marR="45720" marT="9144" marB="9144" anchor="ctr">
                    <a:solidFill>
                      <a:srgbClr val="DDEECC"/>
                    </a:solidFill>
                  </a:tcPr>
                </a:tc>
                <a:tc>
                  <a:txBody>
                    <a:bodyPr wrap="square"/>
                    <a:lstStyle/>
                    <a:p>
                      <a:pPr algn="ctr">
                        <a:defRPr sz="1250" b="1">
                          <a:solidFill>
                            <a:srgbClr val="333333"/>
                          </a:solidFill>
                          <a:latin typeface="Calibri"/>
                        </a:defRPr>
                      </a:pPr>
                      <a:r>
                        <a:t>0.8954</a:t>
                      </a:r>
                    </a:p>
                  </a:txBody>
                  <a:tcPr marL="45720" marR="45720" marT="9144" marB="9144" anchor="ctr">
                    <a:solidFill>
                      <a:srgbClr val="DDEECC"/>
                    </a:solidFill>
                  </a:tcPr>
                </a:tc>
                <a:tc>
                  <a:txBody>
                    <a:bodyPr wrap="square"/>
                    <a:lstStyle/>
                    <a:p>
                      <a:pPr algn="ctr">
                        <a:defRPr sz="1250" b="1">
                          <a:solidFill>
                            <a:srgbClr val="333333"/>
                          </a:solidFill>
                          <a:latin typeface="Calibri"/>
                        </a:defRPr>
                      </a:pPr>
                      <a:r>
                        <a:t>0.9246</a:t>
                      </a:r>
                    </a:p>
                  </a:txBody>
                  <a:tcPr marL="45720" marR="45720" marT="9144" marB="9144" anchor="ctr">
                    <a:solidFill>
                      <a:srgbClr val="DDEECC"/>
                    </a:solidFill>
                  </a:tcPr>
                </a:tc>
              </a:tr>
              <a:tr h="310896">
                <a:tc>
                  <a:txBody>
                    <a:bodyPr wrap="square"/>
                    <a:lstStyle/>
                    <a:p>
                      <a:pPr algn="l">
                        <a:defRPr sz="1250" b="0">
                          <a:solidFill>
                            <a:srgbClr val="333333"/>
                          </a:solidFill>
                          <a:latin typeface="Calibri"/>
                        </a:defRPr>
                      </a:pPr>
                      <a:r>
                        <a:t>CatBoost</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0.7730</a:t>
                      </a:r>
                    </a:p>
                  </a:txBody>
                  <a:tcPr marL="45720" marR="45720" marT="9144" marB="9144" anchor="ctr"/>
                </a:tc>
                <a:tc>
                  <a:txBody>
                    <a:bodyPr wrap="square"/>
                    <a:lstStyle/>
                    <a:p>
                      <a:pPr algn="ctr">
                        <a:defRPr sz="1250" b="0">
                          <a:solidFill>
                            <a:srgbClr val="333333"/>
                          </a:solidFill>
                          <a:latin typeface="Calibri"/>
                        </a:defRPr>
                      </a:pPr>
                      <a:r>
                        <a:t>0.5460</a:t>
                      </a:r>
                    </a:p>
                  </a:txBody>
                  <a:tcPr marL="45720" marR="45720" marT="9144" marB="9144" anchor="ctr"/>
                </a:tc>
                <a:tc>
                  <a:txBody>
                    <a:bodyPr wrap="square"/>
                    <a:lstStyle/>
                    <a:p>
                      <a:pPr algn="ctr">
                        <a:defRPr sz="1250" b="0">
                          <a:solidFill>
                            <a:srgbClr val="333333"/>
                          </a:solidFill>
                          <a:latin typeface="Calibri"/>
                        </a:defRPr>
                      </a:pPr>
                      <a:r>
                        <a:t>0.8192</a:t>
                      </a:r>
                    </a:p>
                  </a:txBody>
                  <a:tcPr marL="45720" marR="45720" marT="9144" marB="9144" anchor="ctr"/>
                </a:tc>
                <a:tc>
                  <a:txBody>
                    <a:bodyPr wrap="square"/>
                    <a:lstStyle/>
                    <a:p>
                      <a:pPr algn="ctr">
                        <a:defRPr sz="1250" b="0">
                          <a:solidFill>
                            <a:srgbClr val="333333"/>
                          </a:solidFill>
                          <a:latin typeface="Calibri"/>
                        </a:defRPr>
                      </a:pPr>
                      <a:r>
                        <a:t>0.9062</a:t>
                      </a:r>
                    </a:p>
                  </a:txBody>
                  <a:tcPr marL="45720" marR="45720" marT="9144" marB="9144" anchor="ctr"/>
                </a:tc>
              </a:tr>
              <a:tr h="310896">
                <a:tc>
                  <a:txBody>
                    <a:bodyPr wrap="square"/>
                    <a:lstStyle/>
                    <a:p>
                      <a:pPr algn="l">
                        <a:defRPr sz="1250" b="0">
                          <a:solidFill>
                            <a:srgbClr val="333333"/>
                          </a:solidFill>
                          <a:latin typeface="Calibri"/>
                        </a:defRPr>
                      </a:pPr>
                      <a:r>
                        <a:t>CatBoost</a:t>
                      </a:r>
                    </a:p>
                  </a:txBody>
                  <a:tcPr marL="45720" marR="45720" marT="9144" marB="9144" anchor="ctr">
                    <a:solidFill>
                      <a:srgbClr val="F2F2F2"/>
                    </a:solidFill>
                  </a:tcPr>
                </a:tc>
                <a:tc>
                  <a:txBody>
                    <a:bodyPr wrap="square"/>
                    <a:lstStyle/>
                    <a:p>
                      <a:pPr algn="ctr">
                        <a:defRPr sz="1250" b="0">
                          <a:solidFill>
                            <a:srgbClr val="333333"/>
                          </a:solidFill>
                          <a:latin typeface="Calibri"/>
                        </a:defRPr>
                      </a:pPr>
                      <a:r>
                        <a:t>No weighting</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0.9093</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0.6074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0.8911</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0.9235</a:t>
                      </a:r>
                    </a:p>
                  </a:txBody>
                  <a:tcPr marL="45720" marR="45720" marT="9144" marB="9144" anchor="ctr">
                    <a:solidFill>
                      <a:srgbClr val="F2F2F2"/>
                    </a:solidFill>
                  </a:tcPr>
                </a:tc>
              </a:tr>
            </a:tbl>
          </a:graphicData>
        </a:graphic>
      </p:graphicFrame>
      <p:sp>
        <p:nvSpPr>
          <p:cNvPr id="7" name="TextBox 6"/>
          <p:cNvSpPr txBox="1"/>
          <p:nvPr/>
        </p:nvSpPr>
        <p:spPr>
          <a:xfrm>
            <a:off x="548640" y="5230368"/>
            <a:ext cx="11064240" cy="1417320"/>
          </a:xfrm>
          <a:prstGeom prst="rect">
            <a:avLst/>
          </a:prstGeom>
          <a:noFill/>
        </p:spPr>
        <p:txBody>
          <a:bodyPr wrap="square" lIns="64008" rIns="64008" tIns="18288" bIns="18288">
            <a:noAutofit/>
          </a:bodyPr>
          <a:lstStyle/>
          <a:p>
            <a:pPr algn="l">
              <a:lnSpc>
                <a:spcPct val="120000"/>
              </a:lnSpc>
              <a:spcAft>
                <a:spcPts val="600"/>
              </a:spcAft>
              <a:defRPr sz="1500" b="1" i="0">
                <a:solidFill>
                  <a:srgbClr val="0070C0"/>
                </a:solidFill>
                <a:latin typeface="Calibri"/>
              </a:defRPr>
            </a:pPr>
            <a:r>
              <a:t>Turning class weighting off raises Macro-F1 for all five tree-based models, by 0.0204 to 0.1283 points. Logistic Regression is the sole exception — and trails every tree configuration either way.</a:t>
            </a:r>
          </a:p>
          <a:p>
            <a:pPr algn="l">
              <a:lnSpc>
                <a:spcPct val="120000"/>
              </a:lnSpc>
              <a:spcAft>
                <a:spcPts val="700"/>
              </a:spcAft>
              <a:defRPr sz="1400" b="0" i="0">
                <a:solidFill>
                  <a:srgbClr val="333333"/>
                </a:solidFill>
                <a:latin typeface="Calibri"/>
              </a:defRPr>
            </a:pPr>
            <a:r>
              <a:t>LightGBM–none leads at 0.6248 — but Decision Tree–none reaches 0.6245 on the same split, too close for one split to resolve. Accuracy misleads badly here: CatBoost is 0.9093 unweighted against 0.7730 weighted, a gap that reflects the 77.65% Group-1 majority more than any genuine gain on the risky groups.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RQ1: The Precision–Recall Trade-off</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5 — LightGBM, no weighting vs. class weighting (hold-out set)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5</a:t>
            </a:r>
          </a:p>
        </p:txBody>
      </p:sp>
      <p:graphicFrame>
        <p:nvGraphicFramePr>
          <p:cNvPr id="6" name="Table 5"/>
          <p:cNvGraphicFramePr>
            <a:graphicFrameLocks noGrp="1"/>
          </p:cNvGraphicFramePr>
          <p:nvPr/>
        </p:nvGraphicFramePr>
        <p:xfrm>
          <a:off x="548640" y="1188720"/>
          <a:ext cx="11064240" cy="2816352"/>
        </p:xfrm>
        <a:graphic>
          <a:graphicData uri="http://schemas.openxmlformats.org/drawingml/2006/table">
            <a:tbl>
              <a:tblPr firstRow="1" bandRow="1">
                <a:tableStyleId>{5C22544A-7EE6-4342-B048-85BDC9FD1C3A}</a:tableStyleId>
              </a:tblPr>
              <a:tblGrid>
                <a:gridCol w="2651760"/>
                <a:gridCol w="1399032"/>
                <a:gridCol w="1399032"/>
                <a:gridCol w="1399032"/>
                <a:gridCol w="1399032"/>
                <a:gridCol w="1408176"/>
                <a:gridCol w="1408176"/>
              </a:tblGrid>
              <a:tr h="402336">
                <a:tc>
                  <a:txBody>
                    <a:bodyPr wrap="square"/>
                    <a:lstStyle/>
                    <a:p>
                      <a:pPr algn="ctr">
                        <a:defRPr sz="1300" b="1">
                          <a:solidFill>
                            <a:srgbClr val="FFFFFF"/>
                          </a:solidFill>
                          <a:latin typeface="Calibri"/>
                        </a:defRPr>
                      </a:pPr>
                      <a:r>
                        <a:t>Debt group</a:t>
                      </a:r>
                    </a:p>
                  </a:txBody>
                  <a:tcPr marL="45720" marR="45720" marT="9144" marB="9144" anchor="ctr">
                    <a:solidFill>
                      <a:srgbClr val="002B5C"/>
                    </a:solidFill>
                  </a:tcPr>
                </a:tc>
                <a:tc>
                  <a:txBody>
                    <a:bodyPr wrap="square"/>
                    <a:lstStyle/>
                    <a:p>
                      <a:pPr algn="ctr">
                        <a:defRPr sz="1300" b="1">
                          <a:solidFill>
                            <a:srgbClr val="FFFFFF"/>
                          </a:solidFill>
                          <a:latin typeface="Calibri"/>
                        </a:defRPr>
                      </a:pPr>
                      <a:r>
                        <a:t>Prec.</a:t>
                      </a:r>
                    </a:p>
                    <a:p>
                      <a:pPr algn="ctr">
                        <a:defRPr sz="1300" b="1">
                          <a:solidFill>
                            <a:srgbClr val="FFFFFF"/>
                          </a:solidFill>
                          <a:latin typeface="Calibri"/>
                        </a:defRPr>
                      </a:pPr>
                      <a:r>
                        <a:t>(none)</a:t>
                      </a:r>
                    </a:p>
                  </a:txBody>
                  <a:tcPr marL="45720" marR="45720" marT="9144" marB="9144" anchor="ctr">
                    <a:solidFill>
                      <a:srgbClr val="002B5C"/>
                    </a:solidFill>
                  </a:tcPr>
                </a:tc>
                <a:tc>
                  <a:txBody>
                    <a:bodyPr wrap="square"/>
                    <a:lstStyle/>
                    <a:p>
                      <a:pPr algn="ctr">
                        <a:defRPr sz="1300" b="1">
                          <a:solidFill>
                            <a:srgbClr val="FFFFFF"/>
                          </a:solidFill>
                          <a:latin typeface="Calibri"/>
                        </a:defRPr>
                      </a:pPr>
                      <a:r>
                        <a:t>Recall</a:t>
                      </a:r>
                    </a:p>
                    <a:p>
                      <a:pPr algn="ctr">
                        <a:defRPr sz="1300" b="1">
                          <a:solidFill>
                            <a:srgbClr val="FFFFFF"/>
                          </a:solidFill>
                          <a:latin typeface="Calibri"/>
                        </a:defRPr>
                      </a:pPr>
                      <a:r>
                        <a:t>(none)</a:t>
                      </a:r>
                    </a:p>
                  </a:txBody>
                  <a:tcPr marL="45720" marR="45720" marT="9144" marB="9144" anchor="ctr">
                    <a:solidFill>
                      <a:srgbClr val="002B5C"/>
                    </a:solidFill>
                  </a:tcPr>
                </a:tc>
                <a:tc>
                  <a:txBody>
                    <a:bodyPr wrap="square"/>
                    <a:lstStyle/>
                    <a:p>
                      <a:pPr algn="ctr">
                        <a:defRPr sz="1300" b="1">
                          <a:solidFill>
                            <a:srgbClr val="FFFFFF"/>
                          </a:solidFill>
                          <a:latin typeface="Calibri"/>
                        </a:defRPr>
                      </a:pPr>
                      <a:r>
                        <a:t>F1</a:t>
                      </a:r>
                    </a:p>
                    <a:p>
                      <a:pPr algn="ctr">
                        <a:defRPr sz="1300" b="1">
                          <a:solidFill>
                            <a:srgbClr val="FFFFFF"/>
                          </a:solidFill>
                          <a:latin typeface="Calibri"/>
                        </a:defRPr>
                      </a:pPr>
                      <a:r>
                        <a:t>(none)</a:t>
                      </a:r>
                    </a:p>
                  </a:txBody>
                  <a:tcPr marL="45720" marR="45720" marT="9144" marB="9144" anchor="ctr">
                    <a:solidFill>
                      <a:srgbClr val="002B5C"/>
                    </a:solidFill>
                  </a:tcPr>
                </a:tc>
                <a:tc>
                  <a:txBody>
                    <a:bodyPr wrap="square"/>
                    <a:lstStyle/>
                    <a:p>
                      <a:pPr algn="ctr">
                        <a:defRPr sz="1300" b="1">
                          <a:solidFill>
                            <a:srgbClr val="FFFFFF"/>
                          </a:solidFill>
                          <a:latin typeface="Calibri"/>
                        </a:defRPr>
                      </a:pPr>
                      <a:r>
                        <a:t>Prec.</a:t>
                      </a:r>
                    </a:p>
                    <a:p>
                      <a:pPr algn="ctr">
                        <a:defRPr sz="1300" b="1">
                          <a:solidFill>
                            <a:srgbClr val="FFFFFF"/>
                          </a:solidFill>
                          <a:latin typeface="Calibri"/>
                        </a:defRPr>
                      </a:pPr>
                      <a:r>
                        <a:t>(wt.)</a:t>
                      </a:r>
                    </a:p>
                  </a:txBody>
                  <a:tcPr marL="45720" marR="45720" marT="9144" marB="9144" anchor="ctr">
                    <a:solidFill>
                      <a:srgbClr val="002B5C"/>
                    </a:solidFill>
                  </a:tcPr>
                </a:tc>
                <a:tc>
                  <a:txBody>
                    <a:bodyPr wrap="square"/>
                    <a:lstStyle/>
                    <a:p>
                      <a:pPr algn="ctr">
                        <a:defRPr sz="1300" b="1">
                          <a:solidFill>
                            <a:srgbClr val="FFFFFF"/>
                          </a:solidFill>
                          <a:latin typeface="Calibri"/>
                        </a:defRPr>
                      </a:pPr>
                      <a:r>
                        <a:t>Recall</a:t>
                      </a:r>
                    </a:p>
                    <a:p>
                      <a:pPr algn="ctr">
                        <a:defRPr sz="1300" b="1">
                          <a:solidFill>
                            <a:srgbClr val="FFFFFF"/>
                          </a:solidFill>
                          <a:latin typeface="Calibri"/>
                        </a:defRPr>
                      </a:pPr>
                      <a:r>
                        <a:t>(wt.)</a:t>
                      </a:r>
                    </a:p>
                  </a:txBody>
                  <a:tcPr marL="45720" marR="45720" marT="9144" marB="9144" anchor="ctr">
                    <a:solidFill>
                      <a:srgbClr val="002B5C"/>
                    </a:solidFill>
                  </a:tcPr>
                </a:tc>
                <a:tc>
                  <a:txBody>
                    <a:bodyPr wrap="square"/>
                    <a:lstStyle/>
                    <a:p>
                      <a:pPr algn="ctr">
                        <a:defRPr sz="1300" b="1">
                          <a:solidFill>
                            <a:srgbClr val="FFFFFF"/>
                          </a:solidFill>
                          <a:latin typeface="Calibri"/>
                        </a:defRPr>
                      </a:pPr>
                      <a:r>
                        <a:t>F1</a:t>
                      </a:r>
                    </a:p>
                    <a:p>
                      <a:pPr algn="ctr">
                        <a:defRPr sz="1300" b="1">
                          <a:solidFill>
                            <a:srgbClr val="FFFFFF"/>
                          </a:solidFill>
                          <a:latin typeface="Calibri"/>
                        </a:defRPr>
                      </a:pPr>
                      <a:r>
                        <a:t>(wt.)</a:t>
                      </a:r>
                    </a:p>
                  </a:txBody>
                  <a:tcPr marL="45720" marR="45720" marT="9144" marB="9144" anchor="ctr">
                    <a:solidFill>
                      <a:srgbClr val="002B5C"/>
                    </a:solidFill>
                  </a:tcPr>
                </a:tc>
              </a:tr>
              <a:tr h="402336">
                <a:tc>
                  <a:txBody>
                    <a:bodyPr wrap="square"/>
                    <a:lstStyle/>
                    <a:p>
                      <a:pPr algn="l">
                        <a:defRPr sz="1300" b="0">
                          <a:solidFill>
                            <a:srgbClr val="333333"/>
                          </a:solidFill>
                          <a:latin typeface="Calibri"/>
                        </a:defRPr>
                      </a:pPr>
                      <a:r>
                        <a:t>1 — Standard</a:t>
                      </a:r>
                    </a:p>
                  </a:txBody>
                  <a:tcPr marL="45720" marR="45720" marT="9144" marB="9144" anchor="ctr"/>
                </a:tc>
                <a:tc>
                  <a:txBody>
                    <a:bodyPr wrap="square"/>
                    <a:lstStyle/>
                    <a:p>
                      <a:pPr algn="ctr">
                        <a:defRPr sz="1300" b="0">
                          <a:solidFill>
                            <a:srgbClr val="333333"/>
                          </a:solidFill>
                          <a:latin typeface="Calibri"/>
                        </a:defRPr>
                      </a:pPr>
                      <a:r>
                        <a:t>0.921</a:t>
                      </a:r>
                    </a:p>
                  </a:txBody>
                  <a:tcPr marL="45720" marR="45720" marT="9144" marB="9144" anchor="ctr"/>
                </a:tc>
                <a:tc>
                  <a:txBody>
                    <a:bodyPr wrap="square"/>
                    <a:lstStyle/>
                    <a:p>
                      <a:pPr algn="ctr">
                        <a:defRPr sz="1300" b="0">
                          <a:solidFill>
                            <a:srgbClr val="333333"/>
                          </a:solidFill>
                          <a:latin typeface="Calibri"/>
                        </a:defRPr>
                      </a:pPr>
                      <a:r>
                        <a:t>0.990</a:t>
                      </a:r>
                    </a:p>
                  </a:txBody>
                  <a:tcPr marL="45720" marR="45720" marT="9144" marB="9144" anchor="ctr"/>
                </a:tc>
                <a:tc>
                  <a:txBody>
                    <a:bodyPr wrap="square"/>
                    <a:lstStyle/>
                    <a:p>
                      <a:pPr algn="ctr">
                        <a:defRPr sz="1300" b="0">
                          <a:solidFill>
                            <a:srgbClr val="333333"/>
                          </a:solidFill>
                          <a:latin typeface="Calibri"/>
                        </a:defRPr>
                      </a:pPr>
                      <a:r>
                        <a:t>0.954</a:t>
                      </a:r>
                    </a:p>
                  </a:txBody>
                  <a:tcPr marL="45720" marR="45720" marT="9144" marB="9144" anchor="ctr"/>
                </a:tc>
                <a:tc>
                  <a:txBody>
                    <a:bodyPr wrap="square"/>
                    <a:lstStyle/>
                    <a:p>
                      <a:pPr algn="ctr">
                        <a:defRPr sz="1300" b="0">
                          <a:solidFill>
                            <a:srgbClr val="333333"/>
                          </a:solidFill>
                          <a:latin typeface="Calibri"/>
                        </a:defRPr>
                      </a:pPr>
                      <a:r>
                        <a:t>0.958</a:t>
                      </a:r>
                    </a:p>
                  </a:txBody>
                  <a:tcPr marL="45720" marR="45720" marT="9144" marB="9144" anchor="ctr"/>
                </a:tc>
                <a:tc>
                  <a:txBody>
                    <a:bodyPr wrap="square"/>
                    <a:lstStyle/>
                    <a:p>
                      <a:pPr algn="ctr">
                        <a:defRPr sz="1300" b="0">
                          <a:solidFill>
                            <a:srgbClr val="333333"/>
                          </a:solidFill>
                          <a:latin typeface="Calibri"/>
                        </a:defRPr>
                      </a:pPr>
                      <a:r>
                        <a:t>0.895</a:t>
                      </a:r>
                    </a:p>
                  </a:txBody>
                  <a:tcPr marL="45720" marR="45720" marT="9144" marB="9144" anchor="ctr"/>
                </a:tc>
                <a:tc>
                  <a:txBody>
                    <a:bodyPr wrap="square"/>
                    <a:lstStyle/>
                    <a:p>
                      <a:pPr algn="ctr">
                        <a:defRPr sz="1300" b="0">
                          <a:solidFill>
                            <a:srgbClr val="333333"/>
                          </a:solidFill>
                          <a:latin typeface="Calibri"/>
                        </a:defRPr>
                      </a:pPr>
                      <a:r>
                        <a:t>0.926</a:t>
                      </a:r>
                    </a:p>
                  </a:txBody>
                  <a:tcPr marL="45720" marR="45720" marT="9144" marB="9144" anchor="ctr"/>
                </a:tc>
              </a:tr>
              <a:tr h="402336">
                <a:tc>
                  <a:txBody>
                    <a:bodyPr wrap="square"/>
                    <a:lstStyle/>
                    <a:p>
                      <a:pPr algn="l">
                        <a:defRPr sz="1300" b="0">
                          <a:solidFill>
                            <a:srgbClr val="333333"/>
                          </a:solidFill>
                          <a:latin typeface="Calibri"/>
                        </a:defRPr>
                      </a:pPr>
                      <a:r>
                        <a:t>2 — Special mention</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0.603</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0.183</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0.281</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0.245</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0.471</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0.323</a:t>
                      </a:r>
                    </a:p>
                  </a:txBody>
                  <a:tcPr marL="45720" marR="45720" marT="9144" marB="9144" anchor="ctr">
                    <a:solidFill>
                      <a:srgbClr val="F2F2F2"/>
                    </a:solidFill>
                  </a:tcPr>
                </a:tc>
              </a:tr>
              <a:tr h="402336">
                <a:tc>
                  <a:txBody>
                    <a:bodyPr wrap="square"/>
                    <a:lstStyle/>
                    <a:p>
                      <a:pPr algn="l">
                        <a:defRPr sz="1300" b="0">
                          <a:solidFill>
                            <a:srgbClr val="333333"/>
                          </a:solidFill>
                          <a:latin typeface="Calibri"/>
                        </a:defRPr>
                      </a:pPr>
                      <a:r>
                        <a:t>3 — Sub-standard</a:t>
                      </a:r>
                    </a:p>
                  </a:txBody>
                  <a:tcPr marL="45720" marR="45720" marT="9144" marB="9144" anchor="ctr"/>
                </a:tc>
                <a:tc>
                  <a:txBody>
                    <a:bodyPr wrap="square"/>
                    <a:lstStyle/>
                    <a:p>
                      <a:pPr algn="ctr">
                        <a:defRPr sz="1300" b="0">
                          <a:solidFill>
                            <a:srgbClr val="333333"/>
                          </a:solidFill>
                          <a:latin typeface="Calibri"/>
                        </a:defRPr>
                      </a:pPr>
                      <a:r>
                        <a:t>0.613</a:t>
                      </a:r>
                    </a:p>
                  </a:txBody>
                  <a:tcPr marL="45720" marR="45720" marT="9144" marB="9144" anchor="ctr"/>
                </a:tc>
                <a:tc>
                  <a:txBody>
                    <a:bodyPr wrap="square"/>
                    <a:lstStyle/>
                    <a:p>
                      <a:pPr algn="ctr">
                        <a:defRPr sz="1300" b="0">
                          <a:solidFill>
                            <a:srgbClr val="333333"/>
                          </a:solidFill>
                          <a:latin typeface="Calibri"/>
                        </a:defRPr>
                      </a:pPr>
                      <a:r>
                        <a:t>0.314</a:t>
                      </a:r>
                    </a:p>
                  </a:txBody>
                  <a:tcPr marL="45720" marR="45720" marT="9144" marB="9144" anchor="ctr"/>
                </a:tc>
                <a:tc>
                  <a:txBody>
                    <a:bodyPr wrap="square"/>
                    <a:lstStyle/>
                    <a:p>
                      <a:pPr algn="ctr">
                        <a:defRPr sz="1300" b="0">
                          <a:solidFill>
                            <a:srgbClr val="333333"/>
                          </a:solidFill>
                          <a:latin typeface="Calibri"/>
                        </a:defRPr>
                      </a:pPr>
                      <a:r>
                        <a:t>0.415</a:t>
                      </a:r>
                    </a:p>
                  </a:txBody>
                  <a:tcPr marL="45720" marR="45720" marT="9144" marB="9144" anchor="ctr"/>
                </a:tc>
                <a:tc>
                  <a:txBody>
                    <a:bodyPr wrap="square"/>
                    <a:lstStyle/>
                    <a:p>
                      <a:pPr algn="ctr">
                        <a:defRPr sz="1300" b="0">
                          <a:solidFill>
                            <a:srgbClr val="333333"/>
                          </a:solidFill>
                          <a:latin typeface="Calibri"/>
                        </a:defRPr>
                      </a:pPr>
                      <a:r>
                        <a:t>0.350</a:t>
                      </a:r>
                    </a:p>
                  </a:txBody>
                  <a:tcPr marL="45720" marR="45720" marT="9144" marB="9144" anchor="ctr"/>
                </a:tc>
                <a:tc>
                  <a:txBody>
                    <a:bodyPr wrap="square"/>
                    <a:lstStyle/>
                    <a:p>
                      <a:pPr algn="ctr">
                        <a:defRPr sz="1300" b="0">
                          <a:solidFill>
                            <a:srgbClr val="333333"/>
                          </a:solidFill>
                          <a:latin typeface="Calibri"/>
                        </a:defRPr>
                      </a:pPr>
                      <a:r>
                        <a:t>0.413</a:t>
                      </a:r>
                    </a:p>
                  </a:txBody>
                  <a:tcPr marL="45720" marR="45720" marT="9144" marB="9144" anchor="ctr"/>
                </a:tc>
                <a:tc>
                  <a:txBody>
                    <a:bodyPr wrap="square"/>
                    <a:lstStyle/>
                    <a:p>
                      <a:pPr algn="ctr">
                        <a:defRPr sz="1300" b="0">
                          <a:solidFill>
                            <a:srgbClr val="333333"/>
                          </a:solidFill>
                          <a:latin typeface="Calibri"/>
                        </a:defRPr>
                      </a:pPr>
                      <a:r>
                        <a:t>0.379</a:t>
                      </a:r>
                    </a:p>
                  </a:txBody>
                  <a:tcPr marL="45720" marR="45720" marT="9144" marB="9144" anchor="ctr"/>
                </a:tc>
              </a:tr>
              <a:tr h="402336">
                <a:tc>
                  <a:txBody>
                    <a:bodyPr wrap="square"/>
                    <a:lstStyle/>
                    <a:p>
                      <a:pPr algn="l">
                        <a:defRPr sz="1300" b="0">
                          <a:solidFill>
                            <a:srgbClr val="333333"/>
                          </a:solidFill>
                          <a:latin typeface="Calibri"/>
                        </a:defRPr>
                      </a:pPr>
                      <a:r>
                        <a:t>4 — Doubtful</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0.652</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0.465</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0.543</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0.411</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0.548</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0.470</a:t>
                      </a:r>
                    </a:p>
                  </a:txBody>
                  <a:tcPr marL="45720" marR="45720" marT="9144" marB="9144" anchor="ctr">
                    <a:solidFill>
                      <a:srgbClr val="F2F2F2"/>
                    </a:solidFill>
                  </a:tcPr>
                </a:tc>
              </a:tr>
              <a:tr h="402336">
                <a:tc>
                  <a:txBody>
                    <a:bodyPr wrap="square"/>
                    <a:lstStyle/>
                    <a:p>
                      <a:pPr algn="l">
                        <a:defRPr sz="1300" b="0">
                          <a:solidFill>
                            <a:srgbClr val="333333"/>
                          </a:solidFill>
                          <a:latin typeface="Calibri"/>
                        </a:defRPr>
                      </a:pPr>
                      <a:r>
                        <a:t>5 — Loss</a:t>
                      </a:r>
                    </a:p>
                  </a:txBody>
                  <a:tcPr marL="45720" marR="45720" marT="9144" marB="9144" anchor="ctr"/>
                </a:tc>
                <a:tc>
                  <a:txBody>
                    <a:bodyPr wrap="square"/>
                    <a:lstStyle/>
                    <a:p>
                      <a:pPr algn="ctr">
                        <a:defRPr sz="1300" b="0">
                          <a:solidFill>
                            <a:srgbClr val="333333"/>
                          </a:solidFill>
                          <a:latin typeface="Calibri"/>
                        </a:defRPr>
                      </a:pPr>
                      <a:r>
                        <a:t>0.953</a:t>
                      </a:r>
                    </a:p>
                  </a:txBody>
                  <a:tcPr marL="45720" marR="45720" marT="9144" marB="9144" anchor="ctr"/>
                </a:tc>
                <a:tc>
                  <a:txBody>
                    <a:bodyPr wrap="square"/>
                    <a:lstStyle/>
                    <a:p>
                      <a:pPr algn="ctr">
                        <a:defRPr sz="1300" b="0">
                          <a:solidFill>
                            <a:srgbClr val="333333"/>
                          </a:solidFill>
                          <a:latin typeface="Calibri"/>
                        </a:defRPr>
                      </a:pPr>
                      <a:r>
                        <a:t>0.909</a:t>
                      </a:r>
                    </a:p>
                  </a:txBody>
                  <a:tcPr marL="45720" marR="45720" marT="9144" marB="9144" anchor="ctr"/>
                </a:tc>
                <a:tc>
                  <a:txBody>
                    <a:bodyPr wrap="square"/>
                    <a:lstStyle/>
                    <a:p>
                      <a:pPr algn="ctr">
                        <a:defRPr sz="1300" b="0">
                          <a:solidFill>
                            <a:srgbClr val="333333"/>
                          </a:solidFill>
                          <a:latin typeface="Calibri"/>
                        </a:defRPr>
                      </a:pPr>
                      <a:r>
                        <a:t>0.931</a:t>
                      </a:r>
                    </a:p>
                  </a:txBody>
                  <a:tcPr marL="45720" marR="45720" marT="9144" marB="9144" anchor="ctr"/>
                </a:tc>
                <a:tc>
                  <a:txBody>
                    <a:bodyPr wrap="square"/>
                    <a:lstStyle/>
                    <a:p>
                      <a:pPr algn="ctr">
                        <a:defRPr sz="1300" b="0">
                          <a:solidFill>
                            <a:srgbClr val="333333"/>
                          </a:solidFill>
                          <a:latin typeface="Calibri"/>
                        </a:defRPr>
                      </a:pPr>
                      <a:r>
                        <a:t>0.951</a:t>
                      </a:r>
                    </a:p>
                  </a:txBody>
                  <a:tcPr marL="45720" marR="45720" marT="9144" marB="9144" anchor="ctr"/>
                </a:tc>
                <a:tc>
                  <a:txBody>
                    <a:bodyPr wrap="square"/>
                    <a:lstStyle/>
                    <a:p>
                      <a:pPr algn="ctr">
                        <a:defRPr sz="1300" b="0">
                          <a:solidFill>
                            <a:srgbClr val="333333"/>
                          </a:solidFill>
                          <a:latin typeface="Calibri"/>
                        </a:defRPr>
                      </a:pPr>
                      <a:r>
                        <a:t>0.900</a:t>
                      </a:r>
                    </a:p>
                  </a:txBody>
                  <a:tcPr marL="45720" marR="45720" marT="9144" marB="9144" anchor="ctr"/>
                </a:tc>
                <a:tc>
                  <a:txBody>
                    <a:bodyPr wrap="square"/>
                    <a:lstStyle/>
                    <a:p>
                      <a:pPr algn="ctr">
                        <a:defRPr sz="1300" b="0">
                          <a:solidFill>
                            <a:srgbClr val="333333"/>
                          </a:solidFill>
                          <a:latin typeface="Calibri"/>
                        </a:defRPr>
                      </a:pPr>
                      <a:r>
                        <a:t>0.925</a:t>
                      </a:r>
                    </a:p>
                  </a:txBody>
                  <a:tcPr marL="45720" marR="45720" marT="9144" marB="9144" anchor="ctr"/>
                </a:tc>
              </a:tr>
              <a:tr h="402336">
                <a:tc>
                  <a:txBody>
                    <a:bodyPr wrap="square"/>
                    <a:lstStyle/>
                    <a:p>
                      <a:pPr algn="l">
                        <a:defRPr sz="1300" b="1">
                          <a:solidFill>
                            <a:srgbClr val="333333"/>
                          </a:solidFill>
                          <a:latin typeface="Calibri"/>
                        </a:defRPr>
                      </a:pPr>
                      <a:r>
                        <a:t>Macro average</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0.748</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0.572</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0.625</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0.583</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0.645</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0.604</a:t>
                      </a:r>
                    </a:p>
                  </a:txBody>
                  <a:tcPr marL="45720" marR="45720" marT="9144" marB="9144" anchor="ctr">
                    <a:solidFill>
                      <a:srgbClr val="DDEECC"/>
                    </a:solidFill>
                  </a:tcPr>
                </a:tc>
              </a:tr>
            </a:tbl>
          </a:graphicData>
        </a:graphic>
      </p:graphicFrame>
      <p:sp>
        <p:nvSpPr>
          <p:cNvPr id="7" name="TextBox 6"/>
          <p:cNvSpPr txBox="1"/>
          <p:nvPr/>
        </p:nvSpPr>
        <p:spPr>
          <a:xfrm>
            <a:off x="548640" y="4206240"/>
            <a:ext cx="11064240" cy="1920240"/>
          </a:xfrm>
          <a:prstGeom prst="rect">
            <a:avLst/>
          </a:prstGeom>
          <a:noFill/>
        </p:spPr>
        <p:txBody>
          <a:bodyPr wrap="square" lIns="64008" rIns="64008" tIns="18288" bIns="18288">
            <a:noAutofit/>
          </a:bodyPr>
          <a:lstStyle/>
          <a:p>
            <a:pPr algn="l">
              <a:lnSpc>
                <a:spcPct val="120000"/>
              </a:lnSpc>
              <a:spcAft>
                <a:spcPts val="800"/>
              </a:spcAft>
              <a:defRPr sz="1550" b="0" i="0">
                <a:solidFill>
                  <a:srgbClr val="333333"/>
                </a:solidFill>
                <a:latin typeface="Calibri"/>
              </a:defRPr>
            </a:pPr>
            <a:r>
              <a:t>•  The two configurations reach similar Macro-F1 (0.625 vs. 0.604) by opposite routes.</a:t>
            </a:r>
          </a:p>
          <a:p>
            <a:pPr algn="l">
              <a:lnSpc>
                <a:spcPct val="120000"/>
              </a:lnSpc>
              <a:spcAft>
                <a:spcPts val="800"/>
              </a:spcAft>
              <a:defRPr sz="1550" b="0" i="0">
                <a:solidFill>
                  <a:srgbClr val="333333"/>
                </a:solidFill>
                <a:latin typeface="Calibri"/>
              </a:defRPr>
            </a:pPr>
            <a:r>
              <a:t>•  No weighting — macro Precision 0.748 against macro Recall 0.572. When it flags a loan it is usually right, but Group-2 Recall is 0.183: roughly four in five special-mention loans are classified as standard.</a:t>
            </a:r>
          </a:p>
          <a:p>
            <a:pPr algn="l">
              <a:lnSpc>
                <a:spcPct val="120000"/>
              </a:lnSpc>
              <a:spcAft>
                <a:spcPts val="800"/>
              </a:spcAft>
              <a:defRPr sz="1550" b="0" i="0">
                <a:solidFill>
                  <a:srgbClr val="333333"/>
                </a:solidFill>
                <a:latin typeface="Calibri"/>
              </a:defRPr>
            </a:pPr>
            <a:r>
              <a:t>•  Class weighting — Group-2 Recall rises 0.183 → 0.471, but Group-2 Precision falls 0.603 → 0.245, so about three in four flags are false.</a:t>
            </a:r>
          </a:p>
          <a:p>
            <a:pPr algn="l">
              <a:lnSpc>
                <a:spcPct val="120000"/>
              </a:lnSpc>
              <a:spcAft>
                <a:spcPts val="700"/>
              </a:spcAft>
              <a:defRPr sz="1550" b="1" i="0">
                <a:solidFill>
                  <a:srgbClr val="002B5C"/>
                </a:solidFill>
                <a:latin typeface="Calibri"/>
              </a:defRPr>
            </a:pPr>
            <a:r>
              <a:t>•  Neither is better in the abstract. This is a policy choice for the bank's credit-risk committee — and Macro-F1 alone would have concealed it entirely.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RQ2: Feature Efficiency</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7 — top-k curve, 13-variable pool, no class weighting</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6</a:t>
            </a:r>
          </a:p>
        </p:txBody>
      </p:sp>
      <p:graphicFrame>
        <p:nvGraphicFramePr>
          <p:cNvPr id="6" name="Table 5"/>
          <p:cNvGraphicFramePr>
            <a:graphicFrameLocks noGrp="1"/>
          </p:cNvGraphicFramePr>
          <p:nvPr/>
        </p:nvGraphicFramePr>
        <p:xfrm>
          <a:off x="548640" y="1188720"/>
          <a:ext cx="6675120" cy="2816352"/>
        </p:xfrm>
        <a:graphic>
          <a:graphicData uri="http://schemas.openxmlformats.org/drawingml/2006/table">
            <a:tbl>
              <a:tblPr firstRow="1" bandRow="1">
                <a:tableStyleId>{5C22544A-7EE6-4342-B048-85BDC9FD1C3A}</a:tableStyleId>
              </a:tblPr>
              <a:tblGrid>
                <a:gridCol w="1554480"/>
                <a:gridCol w="1280160"/>
                <a:gridCol w="1280160"/>
                <a:gridCol w="1280160"/>
                <a:gridCol w="1280160"/>
              </a:tblGrid>
              <a:tr h="402336">
                <a:tc>
                  <a:txBody>
                    <a:bodyPr wrap="square"/>
                    <a:lstStyle/>
                    <a:p>
                      <a:pPr algn="ctr">
                        <a:defRPr sz="1300" b="1">
                          <a:solidFill>
                            <a:srgbClr val="FFFFFF"/>
                          </a:solidFill>
                          <a:latin typeface="Calibri"/>
                        </a:defRPr>
                      </a:pPr>
                      <a:r>
                        <a:t>k</a:t>
                      </a:r>
                    </a:p>
                  </a:txBody>
                  <a:tcPr marL="45720" marR="45720" marT="9144" marB="9144" anchor="ctr">
                    <a:solidFill>
                      <a:srgbClr val="002B5C"/>
                    </a:solidFill>
                  </a:tcPr>
                </a:tc>
                <a:tc>
                  <a:txBody>
                    <a:bodyPr wrap="square"/>
                    <a:lstStyle/>
                    <a:p>
                      <a:pPr algn="ctr">
                        <a:defRPr sz="1300" b="1">
                          <a:solidFill>
                            <a:srgbClr val="FFFFFF"/>
                          </a:solidFill>
                          <a:latin typeface="Calibri"/>
                        </a:defRPr>
                      </a:pPr>
                      <a:r>
                        <a:t>XGB Macro-F1</a:t>
                      </a:r>
                    </a:p>
                  </a:txBody>
                  <a:tcPr marL="45720" marR="45720" marT="9144" marB="9144" anchor="ctr">
                    <a:solidFill>
                      <a:srgbClr val="002B5C"/>
                    </a:solidFill>
                  </a:tcPr>
                </a:tc>
                <a:tc>
                  <a:txBody>
                    <a:bodyPr wrap="square"/>
                    <a:lstStyle/>
                    <a:p>
                      <a:pPr algn="ctr">
                        <a:defRPr sz="1300" b="1">
                          <a:solidFill>
                            <a:srgbClr val="FFFFFF"/>
                          </a:solidFill>
                          <a:latin typeface="Calibri"/>
                        </a:defRPr>
                      </a:pPr>
                      <a:r>
                        <a:t>XGB ROC-AUC</a:t>
                      </a:r>
                    </a:p>
                  </a:txBody>
                  <a:tcPr marL="45720" marR="45720" marT="9144" marB="9144" anchor="ctr">
                    <a:solidFill>
                      <a:srgbClr val="002B5C"/>
                    </a:solidFill>
                  </a:tcPr>
                </a:tc>
                <a:tc>
                  <a:txBody>
                    <a:bodyPr wrap="square"/>
                    <a:lstStyle/>
                    <a:p>
                      <a:pPr algn="ctr">
                        <a:defRPr sz="1300" b="1">
                          <a:solidFill>
                            <a:srgbClr val="FFFFFF"/>
                          </a:solidFill>
                          <a:latin typeface="Calibri"/>
                        </a:defRPr>
                      </a:pPr>
                      <a:r>
                        <a:t>LGBM Macro-F1</a:t>
                      </a:r>
                    </a:p>
                  </a:txBody>
                  <a:tcPr marL="45720" marR="45720" marT="9144" marB="9144" anchor="ctr">
                    <a:solidFill>
                      <a:srgbClr val="002B5C"/>
                    </a:solidFill>
                  </a:tcPr>
                </a:tc>
                <a:tc>
                  <a:txBody>
                    <a:bodyPr wrap="square"/>
                    <a:lstStyle/>
                    <a:p>
                      <a:pPr algn="ctr">
                        <a:defRPr sz="1300" b="1">
                          <a:solidFill>
                            <a:srgbClr val="FFFFFF"/>
                          </a:solidFill>
                          <a:latin typeface="Calibri"/>
                        </a:defRPr>
                      </a:pPr>
                      <a:r>
                        <a:t>LGBM ROC-AUC</a:t>
                      </a:r>
                    </a:p>
                  </a:txBody>
                  <a:tcPr marL="45720" marR="45720" marT="9144" marB="9144" anchor="ctr">
                    <a:solidFill>
                      <a:srgbClr val="002B5C"/>
                    </a:solidFill>
                  </a:tcPr>
                </a:tc>
              </a:tr>
              <a:tr h="402336">
                <a:tc>
                  <a:txBody>
                    <a:bodyPr wrap="square"/>
                    <a:lstStyle/>
                    <a:p>
                      <a:pPr algn="l">
                        <a:defRPr sz="1300" b="0">
                          <a:solidFill>
                            <a:srgbClr val="333333"/>
                          </a:solidFill>
                          <a:latin typeface="Calibri"/>
                        </a:defRPr>
                      </a:pPr>
                      <a:r>
                        <a:t>3</a:t>
                      </a:r>
                    </a:p>
                  </a:txBody>
                  <a:tcPr marL="45720" marR="45720" marT="9144" marB="9144" anchor="ctr"/>
                </a:tc>
                <a:tc>
                  <a:txBody>
                    <a:bodyPr wrap="square"/>
                    <a:lstStyle/>
                    <a:p>
                      <a:pPr algn="ctr">
                        <a:defRPr sz="1300" b="0">
                          <a:solidFill>
                            <a:srgbClr val="333333"/>
                          </a:solidFill>
                          <a:latin typeface="Calibri"/>
                        </a:defRPr>
                      </a:pPr>
                      <a:r>
                        <a:t>0.6043</a:t>
                      </a:r>
                    </a:p>
                  </a:txBody>
                  <a:tcPr marL="45720" marR="45720" marT="9144" marB="9144" anchor="ctr"/>
                </a:tc>
                <a:tc>
                  <a:txBody>
                    <a:bodyPr wrap="square"/>
                    <a:lstStyle/>
                    <a:p>
                      <a:pPr algn="ctr">
                        <a:defRPr sz="1300" b="0">
                          <a:solidFill>
                            <a:srgbClr val="333333"/>
                          </a:solidFill>
                          <a:latin typeface="Calibri"/>
                        </a:defRPr>
                      </a:pPr>
                      <a:r>
                        <a:t>0.8885</a:t>
                      </a:r>
                    </a:p>
                  </a:txBody>
                  <a:tcPr marL="45720" marR="45720" marT="9144" marB="9144" anchor="ctr"/>
                </a:tc>
                <a:tc>
                  <a:txBody>
                    <a:bodyPr wrap="square"/>
                    <a:lstStyle/>
                    <a:p>
                      <a:pPr algn="ctr">
                        <a:defRPr sz="1300" b="0">
                          <a:solidFill>
                            <a:srgbClr val="333333"/>
                          </a:solidFill>
                          <a:latin typeface="Calibri"/>
                        </a:defRPr>
                      </a:pPr>
                      <a:r>
                        <a:t>0.5909</a:t>
                      </a:r>
                    </a:p>
                  </a:txBody>
                  <a:tcPr marL="45720" marR="45720" marT="9144" marB="9144" anchor="ctr"/>
                </a:tc>
                <a:tc>
                  <a:txBody>
                    <a:bodyPr wrap="square"/>
                    <a:lstStyle/>
                    <a:p>
                      <a:pPr algn="ctr">
                        <a:defRPr sz="1300" b="0">
                          <a:solidFill>
                            <a:srgbClr val="333333"/>
                          </a:solidFill>
                          <a:latin typeface="Calibri"/>
                        </a:defRPr>
                      </a:pPr>
                      <a:r>
                        <a:t>0.9008</a:t>
                      </a:r>
                    </a:p>
                  </a:txBody>
                  <a:tcPr marL="45720" marR="45720" marT="9144" marB="9144" anchor="ctr"/>
                </a:tc>
              </a:tr>
              <a:tr h="402336">
                <a:tc>
                  <a:txBody>
                    <a:bodyPr wrap="square"/>
                    <a:lstStyle/>
                    <a:p>
                      <a:pPr algn="l">
                        <a:defRPr sz="1300" b="0">
                          <a:solidFill>
                            <a:srgbClr val="333333"/>
                          </a:solidFill>
                          <a:latin typeface="Calibri"/>
                        </a:defRPr>
                      </a:pPr>
                      <a:r>
                        <a:t>5</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0.6061</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0.9121</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0.6205</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0.9211</a:t>
                      </a:r>
                    </a:p>
                  </a:txBody>
                  <a:tcPr marL="45720" marR="45720" marT="9144" marB="9144" anchor="ctr">
                    <a:solidFill>
                      <a:srgbClr val="F2F2F2"/>
                    </a:solidFill>
                  </a:tcPr>
                </a:tc>
              </a:tr>
              <a:tr h="402336">
                <a:tc>
                  <a:txBody>
                    <a:bodyPr wrap="square"/>
                    <a:lstStyle/>
                    <a:p>
                      <a:pPr algn="l">
                        <a:defRPr sz="1300" b="0">
                          <a:solidFill>
                            <a:srgbClr val="333333"/>
                          </a:solidFill>
                          <a:latin typeface="Calibri"/>
                        </a:defRPr>
                      </a:pPr>
                      <a:r>
                        <a:t>7</a:t>
                      </a:r>
                    </a:p>
                  </a:txBody>
                  <a:tcPr marL="45720" marR="45720" marT="9144" marB="9144" anchor="ctr"/>
                </a:tc>
                <a:tc>
                  <a:txBody>
                    <a:bodyPr wrap="square"/>
                    <a:lstStyle/>
                    <a:p>
                      <a:pPr algn="ctr">
                        <a:defRPr sz="1300" b="0">
                          <a:solidFill>
                            <a:srgbClr val="333333"/>
                          </a:solidFill>
                          <a:latin typeface="Calibri"/>
                        </a:defRPr>
                      </a:pPr>
                      <a:r>
                        <a:t>0.6241</a:t>
                      </a:r>
                    </a:p>
                  </a:txBody>
                  <a:tcPr marL="45720" marR="45720" marT="9144" marB="9144" anchor="ctr"/>
                </a:tc>
                <a:tc>
                  <a:txBody>
                    <a:bodyPr wrap="square"/>
                    <a:lstStyle/>
                    <a:p>
                      <a:pPr algn="ctr">
                        <a:defRPr sz="1300" b="0">
                          <a:solidFill>
                            <a:srgbClr val="333333"/>
                          </a:solidFill>
                          <a:latin typeface="Calibri"/>
                        </a:defRPr>
                      </a:pPr>
                      <a:r>
                        <a:t>0.9227</a:t>
                      </a:r>
                    </a:p>
                  </a:txBody>
                  <a:tcPr marL="45720" marR="45720" marT="9144" marB="9144" anchor="ctr"/>
                </a:tc>
                <a:tc>
                  <a:txBody>
                    <a:bodyPr wrap="square"/>
                    <a:lstStyle/>
                    <a:p>
                      <a:pPr algn="ctr">
                        <a:defRPr sz="1300" b="0">
                          <a:solidFill>
                            <a:srgbClr val="333333"/>
                          </a:solidFill>
                          <a:latin typeface="Calibri"/>
                        </a:defRPr>
                      </a:pPr>
                      <a:r>
                        <a:t>0.6119</a:t>
                      </a:r>
                    </a:p>
                  </a:txBody>
                  <a:tcPr marL="45720" marR="45720" marT="9144" marB="9144" anchor="ctr"/>
                </a:tc>
                <a:tc>
                  <a:txBody>
                    <a:bodyPr wrap="square"/>
                    <a:lstStyle/>
                    <a:p>
                      <a:pPr algn="ctr">
                        <a:defRPr sz="1300" b="0">
                          <a:solidFill>
                            <a:srgbClr val="333333"/>
                          </a:solidFill>
                          <a:latin typeface="Calibri"/>
                        </a:defRPr>
                      </a:pPr>
                      <a:r>
                        <a:t>0.9215</a:t>
                      </a:r>
                    </a:p>
                  </a:txBody>
                  <a:tcPr marL="45720" marR="45720" marT="9144" marB="9144" anchor="ctr"/>
                </a:tc>
              </a:tr>
              <a:tr h="402336">
                <a:tc>
                  <a:txBody>
                    <a:bodyPr wrap="square"/>
                    <a:lstStyle/>
                    <a:p>
                      <a:pPr algn="l">
                        <a:defRPr sz="1300" b="0">
                          <a:solidFill>
                            <a:srgbClr val="333333"/>
                          </a:solidFill>
                          <a:latin typeface="Calibri"/>
                        </a:defRPr>
                      </a:pPr>
                      <a:r>
                        <a:t>9</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0.6139</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0.9287</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0.6147</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0.9245</a:t>
                      </a:r>
                    </a:p>
                  </a:txBody>
                  <a:tcPr marL="45720" marR="45720" marT="9144" marB="9144" anchor="ctr">
                    <a:solidFill>
                      <a:srgbClr val="F2F2F2"/>
                    </a:solidFill>
                  </a:tcPr>
                </a:tc>
              </a:tr>
              <a:tr h="402336">
                <a:tc>
                  <a:txBody>
                    <a:bodyPr wrap="square"/>
                    <a:lstStyle/>
                    <a:p>
                      <a:pPr algn="l">
                        <a:defRPr sz="1300" b="0">
                          <a:solidFill>
                            <a:srgbClr val="333333"/>
                          </a:solidFill>
                          <a:latin typeface="Calibri"/>
                        </a:defRPr>
                      </a:pPr>
                      <a:r>
                        <a:t>11</a:t>
                      </a:r>
                    </a:p>
                  </a:txBody>
                  <a:tcPr marL="45720" marR="45720" marT="9144" marB="9144" anchor="ctr"/>
                </a:tc>
                <a:tc>
                  <a:txBody>
                    <a:bodyPr wrap="square"/>
                    <a:lstStyle/>
                    <a:p>
                      <a:pPr algn="ctr">
                        <a:defRPr sz="1300" b="0">
                          <a:solidFill>
                            <a:srgbClr val="333333"/>
                          </a:solidFill>
                          <a:latin typeface="Calibri"/>
                        </a:defRPr>
                      </a:pPr>
                      <a:r>
                        <a:t>0.6197</a:t>
                      </a:r>
                    </a:p>
                  </a:txBody>
                  <a:tcPr marL="45720" marR="45720" marT="9144" marB="9144" anchor="ctr"/>
                </a:tc>
                <a:tc>
                  <a:txBody>
                    <a:bodyPr wrap="square"/>
                    <a:lstStyle/>
                    <a:p>
                      <a:pPr algn="ctr">
                        <a:defRPr sz="1300" b="0">
                          <a:solidFill>
                            <a:srgbClr val="333333"/>
                          </a:solidFill>
                          <a:latin typeface="Calibri"/>
                        </a:defRPr>
                      </a:pPr>
                      <a:r>
                        <a:t>0.9282</a:t>
                      </a:r>
                    </a:p>
                  </a:txBody>
                  <a:tcPr marL="45720" marR="45720" marT="9144" marB="9144" anchor="ctr"/>
                </a:tc>
                <a:tc>
                  <a:txBody>
                    <a:bodyPr wrap="square"/>
                    <a:lstStyle/>
                    <a:p>
                      <a:pPr algn="ctr">
                        <a:defRPr sz="1300" b="0">
                          <a:solidFill>
                            <a:srgbClr val="333333"/>
                          </a:solidFill>
                          <a:latin typeface="Calibri"/>
                        </a:defRPr>
                      </a:pPr>
                      <a:r>
                        <a:t>0.6234</a:t>
                      </a:r>
                    </a:p>
                  </a:txBody>
                  <a:tcPr marL="45720" marR="45720" marT="9144" marB="9144" anchor="ctr"/>
                </a:tc>
                <a:tc>
                  <a:txBody>
                    <a:bodyPr wrap="square"/>
                    <a:lstStyle/>
                    <a:p>
                      <a:pPr algn="ctr">
                        <a:defRPr sz="1300" b="0">
                          <a:solidFill>
                            <a:srgbClr val="333333"/>
                          </a:solidFill>
                          <a:latin typeface="Calibri"/>
                        </a:defRPr>
                      </a:pPr>
                      <a:r>
                        <a:t>0.9260</a:t>
                      </a:r>
                    </a:p>
                  </a:txBody>
                  <a:tcPr marL="45720" marR="45720" marT="9144" marB="9144" anchor="ctr"/>
                </a:tc>
              </a:tr>
              <a:tr h="402336">
                <a:tc>
                  <a:txBody>
                    <a:bodyPr wrap="square"/>
                    <a:lstStyle/>
                    <a:p>
                      <a:pPr algn="l">
                        <a:defRPr sz="1300" b="0">
                          <a:solidFill>
                            <a:srgbClr val="333333"/>
                          </a:solidFill>
                          <a:latin typeface="Calibri"/>
                        </a:defRPr>
                      </a:pPr>
                      <a:r>
                        <a:t>13 (full pool)</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0.6194</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0.9288</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0.6167</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0.9264</a:t>
                      </a:r>
                    </a:p>
                  </a:txBody>
                  <a:tcPr marL="45720" marR="45720" marT="9144" marB="9144" anchor="ctr">
                    <a:solidFill>
                      <a:srgbClr val="F2F2F2"/>
                    </a:solidFill>
                  </a:tcPr>
                </a:tc>
              </a:tr>
            </a:tbl>
          </a:graphicData>
        </a:graphic>
      </p:graphicFrame>
      <p:sp>
        <p:nvSpPr>
          <p:cNvPr id="7" name="TextBox 6"/>
          <p:cNvSpPr txBox="1"/>
          <p:nvPr/>
        </p:nvSpPr>
        <p:spPr>
          <a:xfrm>
            <a:off x="7452360" y="1207008"/>
            <a:ext cx="4206240" cy="3017520"/>
          </a:xfrm>
          <a:prstGeom prst="rect">
            <a:avLst/>
          </a:prstGeom>
          <a:noFill/>
        </p:spPr>
        <p:txBody>
          <a:bodyPr wrap="square" lIns="64008" rIns="64008" tIns="18288" bIns="18288">
            <a:noAutofit/>
          </a:bodyPr>
          <a:lstStyle/>
          <a:p>
            <a:pPr algn="l">
              <a:lnSpc>
                <a:spcPct val="120000"/>
              </a:lnSpc>
              <a:spcAft>
                <a:spcPts val="900"/>
              </a:spcAft>
              <a:defRPr sz="1450" b="0" i="0">
                <a:solidFill>
                  <a:srgbClr val="333333"/>
                </a:solidFill>
                <a:latin typeface="Calibri"/>
              </a:defRPr>
            </a:pPr>
            <a:r>
              <a:t>•  9 of 13 features recover 98–99% of each model's best Macro-F1 — and 98% under class weighting too.</a:t>
            </a:r>
          </a:p>
          <a:p>
            <a:pPr algn="l">
              <a:lnSpc>
                <a:spcPct val="120000"/>
              </a:lnSpc>
              <a:spcAft>
                <a:spcPts val="900"/>
              </a:spcAft>
              <a:defRPr sz="1450" b="0" i="0">
                <a:solidFill>
                  <a:srgbClr val="333333"/>
                </a:solidFill>
                <a:latin typeface="Calibri"/>
              </a:defRPr>
            </a:pPr>
            <a:r>
              <a:t>•  Even 3 features reach 95–97%: DAYS_TO_MATURITY, LOAN_TENURE_DAYS and one product or utilization variable.</a:t>
            </a:r>
          </a:p>
          <a:p>
            <a:pPr algn="l">
              <a:lnSpc>
                <a:spcPct val="120000"/>
              </a:lnSpc>
              <a:spcAft>
                <a:spcPts val="700"/>
              </a:spcAft>
              <a:defRPr sz="1450" b="0" i="0">
                <a:solidFill>
                  <a:srgbClr val="333333"/>
                </a:solidFill>
                <a:latin typeface="Calibri"/>
              </a:defRPr>
            </a:pPr>
            <a:r>
              <a:t>•  Honest in-fold selection costs under 1% — 0.6147 ± 0.0102 against 0.6183 ± 0.0095 for the fixed 11-feature configuration.</a:t>
            </a:r>
          </a:p>
        </p:txBody>
      </p:sp>
      <p:sp>
        <p:nvSpPr>
          <p:cNvPr id="8" name="Rectangle 7"/>
          <p:cNvSpPr/>
          <p:nvPr/>
        </p:nvSpPr>
        <p:spPr>
          <a:xfrm>
            <a:off x="548640" y="4297680"/>
            <a:ext cx="11064240" cy="1005840"/>
          </a:xfrm>
          <a:prstGeom prst="rect">
            <a:avLst/>
          </a:prstGeom>
          <a:solidFill>
            <a:srgbClr val="D6E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4407408"/>
            <a:ext cx="10698480" cy="786384"/>
          </a:xfrm>
          <a:prstGeom prst="rect">
            <a:avLst/>
          </a:prstGeom>
          <a:noFill/>
        </p:spPr>
        <p:txBody>
          <a:bodyPr wrap="square" lIns="64008" rIns="64008" tIns="18288" bIns="18288">
            <a:noAutofit/>
          </a:bodyPr>
          <a:lstStyle/>
          <a:p>
            <a:pPr algn="l">
              <a:lnSpc>
                <a:spcPct val="124000"/>
              </a:lnSpc>
              <a:spcAft>
                <a:spcPts val="300"/>
              </a:spcAft>
              <a:defRPr sz="1450" b="1" i="0">
                <a:solidFill>
                  <a:srgbClr val="002B5C"/>
                </a:solidFill>
                <a:latin typeface="Calibri"/>
              </a:defRPr>
            </a:pPr>
            <a:r>
              <a:t>Two qualifications belong with that number.</a:t>
            </a:r>
          </a:p>
          <a:p>
            <a:pPr algn="l">
              <a:lnSpc>
                <a:spcPct val="120000"/>
              </a:lnSpc>
              <a:spcAft>
                <a:spcPts val="700"/>
              </a:spcAft>
              <a:defRPr sz="1400" b="0" i="0">
                <a:solidFill>
                  <a:srgbClr val="002B5C"/>
                </a:solidFill>
                <a:latin typeface="Calibri"/>
              </a:defRPr>
            </a:pPr>
            <a:r>
              <a:t>The curve is not monotone, because each k refits a different model rather than pruning one — so small differences between adjacent k are noise, not an optimum. And embedded in-fold verification was run for LightGBM only. The curve identifies a broad efficient region, not a unique best k.</a:t>
            </a:r>
          </a:p>
        </p:txBody>
      </p:sp>
      <p:sp>
        <p:nvSpPr>
          <p:cNvPr id="10" name="TextBox 9"/>
          <p:cNvSpPr txBox="1"/>
          <p:nvPr/>
        </p:nvSpPr>
        <p:spPr>
          <a:xfrm>
            <a:off x="548640" y="5440680"/>
            <a:ext cx="11064240" cy="731520"/>
          </a:xfrm>
          <a:prstGeom prst="rect">
            <a:avLst/>
          </a:prstGeom>
          <a:noFill/>
        </p:spPr>
        <p:txBody>
          <a:bodyPr wrap="square" lIns="64008" rIns="64008" tIns="18288" bIns="18288">
            <a:noAutofit/>
          </a:bodyPr>
          <a:lstStyle/>
          <a:p>
            <a:pPr algn="l">
              <a:lnSpc>
                <a:spcPct val="120000"/>
              </a:lnSpc>
              <a:spcAft>
                <a:spcPts val="700"/>
              </a:spcAft>
              <a:defRPr sz="1500" b="1" i="0">
                <a:solidFill>
                  <a:srgbClr val="0070C0"/>
                </a:solidFill>
                <a:latin typeface="Calibri"/>
              </a:defRPr>
            </a:pPr>
            <a:r>
              <a:t>Governance reading:  each feature dropped is one fewer data feed to source, document, monitor for drift and explain to a supervisor. The argument is for parsimony where it is free — not for a specific 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Is DAYS_TO_MATURITY Leakage? Four Tests</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Sections 3.5 and 4.2 — each test could have failed, and did not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7</a:t>
            </a:r>
          </a:p>
        </p:txBody>
      </p:sp>
      <p:graphicFrame>
        <p:nvGraphicFramePr>
          <p:cNvPr id="6" name="Table 5"/>
          <p:cNvGraphicFramePr>
            <a:graphicFrameLocks noGrp="1"/>
          </p:cNvGraphicFramePr>
          <p:nvPr/>
        </p:nvGraphicFramePr>
        <p:xfrm>
          <a:off x="548640" y="1207008"/>
          <a:ext cx="3703319" cy="2523744"/>
        </p:xfrm>
        <a:graphic>
          <a:graphicData uri="http://schemas.openxmlformats.org/drawingml/2006/table">
            <a:tbl>
              <a:tblPr firstRow="1" bandRow="1">
                <a:tableStyleId>{5C22544A-7EE6-4342-B048-85BDC9FD1C3A}</a:tableStyleId>
              </a:tblPr>
              <a:tblGrid>
                <a:gridCol w="1874519"/>
                <a:gridCol w="914400"/>
                <a:gridCol w="914400"/>
              </a:tblGrid>
              <a:tr h="420624">
                <a:tc>
                  <a:txBody>
                    <a:bodyPr wrap="square"/>
                    <a:lstStyle/>
                    <a:p>
                      <a:pPr algn="ctr">
                        <a:defRPr sz="1250" b="1">
                          <a:solidFill>
                            <a:srgbClr val="FFFFFF"/>
                          </a:solidFill>
                          <a:latin typeface="Calibri"/>
                        </a:defRPr>
                      </a:pPr>
                      <a:r>
                        <a:t>Group</a:t>
                      </a:r>
                    </a:p>
                  </a:txBody>
                  <a:tcPr marL="45720" marR="45720" marT="9144" marB="9144" anchor="ctr">
                    <a:solidFill>
                      <a:srgbClr val="002B5C"/>
                    </a:solidFill>
                  </a:tcPr>
                </a:tc>
                <a:tc>
                  <a:txBody>
                    <a:bodyPr wrap="square"/>
                    <a:lstStyle/>
                    <a:p>
                      <a:pPr algn="ctr">
                        <a:defRPr sz="1250" b="1">
                          <a:solidFill>
                            <a:srgbClr val="FFFFFF"/>
                          </a:solidFill>
                          <a:latin typeface="Calibri"/>
                        </a:defRPr>
                      </a:pPr>
                      <a:r>
                        <a:t>Median</a:t>
                      </a:r>
                    </a:p>
                    <a:p>
                      <a:pPr algn="ctr">
                        <a:defRPr sz="1250" b="1">
                          <a:solidFill>
                            <a:srgbClr val="FFFFFF"/>
                          </a:solidFill>
                          <a:latin typeface="Calibri"/>
                        </a:defRPr>
                      </a:pPr>
                      <a:r>
                        <a:t>DTM</a:t>
                      </a:r>
                    </a:p>
                  </a:txBody>
                  <a:tcPr marL="45720" marR="45720" marT="9144" marB="9144" anchor="ctr">
                    <a:solidFill>
                      <a:srgbClr val="002B5C"/>
                    </a:solidFill>
                  </a:tcPr>
                </a:tc>
                <a:tc>
                  <a:txBody>
                    <a:bodyPr wrap="square"/>
                    <a:lstStyle/>
                    <a:p>
                      <a:pPr algn="ctr">
                        <a:defRPr sz="1250" b="1">
                          <a:solidFill>
                            <a:srgbClr val="FFFFFF"/>
                          </a:solidFill>
                          <a:latin typeface="Calibri"/>
                        </a:defRPr>
                      </a:pPr>
                      <a:r>
                        <a:t>Past</a:t>
                      </a:r>
                    </a:p>
                    <a:p>
                      <a:pPr algn="ctr">
                        <a:defRPr sz="1250" b="1">
                          <a:solidFill>
                            <a:srgbClr val="FFFFFF"/>
                          </a:solidFill>
                          <a:latin typeface="Calibri"/>
                        </a:defRPr>
                      </a:pPr>
                      <a:r>
                        <a:t>maturity</a:t>
                      </a:r>
                    </a:p>
                  </a:txBody>
                  <a:tcPr marL="45720" marR="45720" marT="9144" marB="9144" anchor="ctr">
                    <a:solidFill>
                      <a:srgbClr val="002B5C"/>
                    </a:solidFill>
                  </a:tcPr>
                </a:tc>
              </a:tr>
              <a:tr h="420624">
                <a:tc>
                  <a:txBody>
                    <a:bodyPr wrap="square"/>
                    <a:lstStyle/>
                    <a:p>
                      <a:pPr algn="l">
                        <a:defRPr sz="1250" b="0">
                          <a:solidFill>
                            <a:srgbClr val="333333"/>
                          </a:solidFill>
                          <a:latin typeface="Calibri"/>
                        </a:defRPr>
                      </a:pPr>
                      <a:r>
                        <a:t>1 — Standard</a:t>
                      </a:r>
                    </a:p>
                  </a:txBody>
                  <a:tcPr marL="45720" marR="45720" marT="9144" marB="9144" anchor="ctr"/>
                </a:tc>
                <a:tc>
                  <a:txBody>
                    <a:bodyPr wrap="square"/>
                    <a:lstStyle/>
                    <a:p>
                      <a:pPr algn="ctr">
                        <a:defRPr sz="1250" b="0">
                          <a:solidFill>
                            <a:srgbClr val="333333"/>
                          </a:solidFill>
                          <a:latin typeface="Calibri"/>
                        </a:defRPr>
                      </a:pPr>
                      <a:r>
                        <a:t>224</a:t>
                      </a:r>
                    </a:p>
                  </a:txBody>
                  <a:tcPr marL="45720" marR="45720" marT="9144" marB="9144" anchor="ctr"/>
                </a:tc>
                <a:tc>
                  <a:txBody>
                    <a:bodyPr wrap="square"/>
                    <a:lstStyle/>
                    <a:p>
                      <a:pPr algn="ctr">
                        <a:defRPr sz="1250" b="0">
                          <a:solidFill>
                            <a:srgbClr val="333333"/>
                          </a:solidFill>
                          <a:latin typeface="Calibri"/>
                        </a:defRPr>
                      </a:pPr>
                      <a:r>
                        <a:t>35.1%</a:t>
                      </a:r>
                    </a:p>
                  </a:txBody>
                  <a:tcPr marL="45720" marR="45720" marT="9144" marB="9144" anchor="ctr"/>
                </a:tc>
              </a:tr>
              <a:tr h="420624">
                <a:tc>
                  <a:txBody>
                    <a:bodyPr wrap="square"/>
                    <a:lstStyle/>
                    <a:p>
                      <a:pPr algn="l">
                        <a:defRPr sz="1250" b="0">
                          <a:solidFill>
                            <a:srgbClr val="333333"/>
                          </a:solidFill>
                          <a:latin typeface="Calibri"/>
                        </a:defRPr>
                      </a:pPr>
                      <a:r>
                        <a:t>2 — Special mention</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172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44.2%</a:t>
                      </a:r>
                    </a:p>
                  </a:txBody>
                  <a:tcPr marL="45720" marR="45720" marT="9144" marB="9144" anchor="ctr">
                    <a:solidFill>
                      <a:srgbClr val="F2F2F2"/>
                    </a:solidFill>
                  </a:tcPr>
                </a:tc>
              </a:tr>
              <a:tr h="420624">
                <a:tc>
                  <a:txBody>
                    <a:bodyPr wrap="square"/>
                    <a:lstStyle/>
                    <a:p>
                      <a:pPr algn="l">
                        <a:defRPr sz="1250" b="0">
                          <a:solidFill>
                            <a:srgbClr val="333333"/>
                          </a:solidFill>
                          <a:latin typeface="Calibri"/>
                        </a:defRPr>
                      </a:pPr>
                      <a:r>
                        <a:t>3 — Sub-standard</a:t>
                      </a:r>
                    </a:p>
                  </a:txBody>
                  <a:tcPr marL="45720" marR="45720" marT="9144" marB="9144" anchor="ctr"/>
                </a:tc>
                <a:tc>
                  <a:txBody>
                    <a:bodyPr wrap="square"/>
                    <a:lstStyle/>
                    <a:p>
                      <a:pPr algn="ctr">
                        <a:defRPr sz="1250" b="0">
                          <a:solidFill>
                            <a:srgbClr val="333333"/>
                          </a:solidFill>
                          <a:latin typeface="Calibri"/>
                        </a:defRPr>
                      </a:pPr>
                      <a:r>
                        <a:t>−418</a:t>
                      </a:r>
                    </a:p>
                  </a:txBody>
                  <a:tcPr marL="45720" marR="45720" marT="9144" marB="9144" anchor="ctr"/>
                </a:tc>
                <a:tc>
                  <a:txBody>
                    <a:bodyPr wrap="square"/>
                    <a:lstStyle/>
                    <a:p>
                      <a:pPr algn="ctr">
                        <a:defRPr sz="1250" b="0">
                          <a:solidFill>
                            <a:srgbClr val="333333"/>
                          </a:solidFill>
                          <a:latin typeface="Calibri"/>
                        </a:defRPr>
                      </a:pPr>
                      <a:r>
                        <a:t>60.3%</a:t>
                      </a:r>
                    </a:p>
                  </a:txBody>
                  <a:tcPr marL="45720" marR="45720" marT="9144" marB="9144" anchor="ctr"/>
                </a:tc>
              </a:tr>
              <a:tr h="420624">
                <a:tc>
                  <a:txBody>
                    <a:bodyPr wrap="square"/>
                    <a:lstStyle/>
                    <a:p>
                      <a:pPr algn="l">
                        <a:defRPr sz="1250" b="0">
                          <a:solidFill>
                            <a:srgbClr val="333333"/>
                          </a:solidFill>
                          <a:latin typeface="Calibri"/>
                        </a:defRPr>
                      </a:pPr>
                      <a:r>
                        <a:t>4 — Doubtful</a:t>
                      </a:r>
                    </a:p>
                  </a:txBody>
                  <a:tcPr marL="45720" marR="45720" marT="9144" marB="9144" anchor="ctr">
                    <a:solidFill>
                      <a:srgbClr val="F2F2F2"/>
                    </a:solidFill>
                  </a:tcPr>
                </a:tc>
                <a:tc>
                  <a:txBody>
                    <a:bodyPr wrap="square"/>
                    <a:lstStyle/>
                    <a:p>
                      <a:pPr algn="ctr">
                        <a:defRPr sz="1250" b="0">
                          <a:solidFill>
                            <a:srgbClr val="333333"/>
                          </a:solidFill>
                          <a:latin typeface="Calibri"/>
                        </a:defRPr>
                      </a:pPr>
                      <a:r>
                        <a:t>−517</a:t>
                      </a:r>
                    </a:p>
                  </a:txBody>
                  <a:tcPr marL="45720" marR="45720" marT="9144" marB="9144" anchor="ctr">
                    <a:solidFill>
                      <a:srgbClr val="F2F2F2"/>
                    </a:solidFill>
                  </a:tcPr>
                </a:tc>
                <a:tc>
                  <a:txBody>
                    <a:bodyPr wrap="square"/>
                    <a:lstStyle/>
                    <a:p>
                      <a:pPr algn="ctr">
                        <a:defRPr sz="1250" b="0">
                          <a:solidFill>
                            <a:srgbClr val="333333"/>
                          </a:solidFill>
                          <a:latin typeface="Calibri"/>
                        </a:defRPr>
                      </a:pPr>
                      <a:r>
                        <a:t>68.1%</a:t>
                      </a:r>
                    </a:p>
                  </a:txBody>
                  <a:tcPr marL="45720" marR="45720" marT="9144" marB="9144" anchor="ctr">
                    <a:solidFill>
                      <a:srgbClr val="F2F2F2"/>
                    </a:solidFill>
                  </a:tcPr>
                </a:tc>
              </a:tr>
              <a:tr h="420624">
                <a:tc>
                  <a:txBody>
                    <a:bodyPr wrap="square"/>
                    <a:lstStyle/>
                    <a:p>
                      <a:pPr algn="l">
                        <a:defRPr sz="1250" b="0">
                          <a:solidFill>
                            <a:srgbClr val="333333"/>
                          </a:solidFill>
                          <a:latin typeface="Calibri"/>
                        </a:defRPr>
                      </a:pPr>
                      <a:r>
                        <a:t>5 — Loss</a:t>
                      </a:r>
                    </a:p>
                  </a:txBody>
                  <a:tcPr marL="45720" marR="45720" marT="9144" marB="9144" anchor="ctr"/>
                </a:tc>
                <a:tc>
                  <a:txBody>
                    <a:bodyPr wrap="square"/>
                    <a:lstStyle/>
                    <a:p>
                      <a:pPr algn="ctr">
                        <a:defRPr sz="1250" b="0">
                          <a:solidFill>
                            <a:srgbClr val="333333"/>
                          </a:solidFill>
                          <a:latin typeface="Calibri"/>
                        </a:defRPr>
                      </a:pPr>
                      <a:r>
                        <a:t>−2,236</a:t>
                      </a:r>
                    </a:p>
                  </a:txBody>
                  <a:tcPr marL="45720" marR="45720" marT="9144" marB="9144" anchor="ctr"/>
                </a:tc>
                <a:tc>
                  <a:txBody>
                    <a:bodyPr wrap="square"/>
                    <a:lstStyle/>
                    <a:p>
                      <a:pPr algn="ctr">
                        <a:defRPr sz="1250" b="0">
                          <a:solidFill>
                            <a:srgbClr val="333333"/>
                          </a:solidFill>
                          <a:latin typeface="Calibri"/>
                        </a:defRPr>
                      </a:pPr>
                      <a:r>
                        <a:t>92.1%</a:t>
                      </a:r>
                    </a:p>
                  </a:txBody>
                  <a:tcPr marL="45720" marR="45720" marT="9144" marB="9144" anchor="ctr"/>
                </a:tc>
              </a:tr>
            </a:tbl>
          </a:graphicData>
        </a:graphic>
      </p:graphicFrame>
      <p:sp>
        <p:nvSpPr>
          <p:cNvPr id="7" name="TextBox 6"/>
          <p:cNvSpPr txBox="1"/>
          <p:nvPr/>
        </p:nvSpPr>
        <p:spPr>
          <a:xfrm>
            <a:off x="548640" y="3858768"/>
            <a:ext cx="3703320" cy="1207008"/>
          </a:xfrm>
          <a:prstGeom prst="rect">
            <a:avLst/>
          </a:prstGeom>
          <a:noFill/>
        </p:spPr>
        <p:txBody>
          <a:bodyPr wrap="square" lIns="64008" rIns="64008" tIns="18288" bIns="18288">
            <a:noAutofit/>
          </a:bodyPr>
          <a:lstStyle/>
          <a:p>
            <a:pPr algn="l">
              <a:lnSpc>
                <a:spcPct val="118000"/>
              </a:lnSpc>
              <a:spcAft>
                <a:spcPts val="700"/>
              </a:spcAft>
              <a:defRPr sz="1200" b="0" i="0">
                <a:solidFill>
                  <a:srgbClr val="666666"/>
                </a:solidFill>
                <a:latin typeface="Calibri"/>
              </a:defRPr>
            </a:pPr>
            <a:r>
              <a:t>DAYS_TO_MATURITY comes from NGAYDENHAN — the original contractual maturity date — not from a payment due date. The raw file has no days-past-due field at all. The monotone median is what raises the concern; IV = 4.554 is far above any other admissible variable.</a:t>
            </a:r>
          </a:p>
        </p:txBody>
      </p:sp>
      <p:sp>
        <p:nvSpPr>
          <p:cNvPr id="8" name="TextBox 7"/>
          <p:cNvSpPr txBox="1"/>
          <p:nvPr/>
        </p:nvSpPr>
        <p:spPr>
          <a:xfrm>
            <a:off x="4572000" y="1207008"/>
            <a:ext cx="7086600" cy="3931920"/>
          </a:xfrm>
          <a:prstGeom prst="rect">
            <a:avLst/>
          </a:prstGeom>
          <a:noFill/>
        </p:spPr>
        <p:txBody>
          <a:bodyPr wrap="square" lIns="64008" rIns="64008" tIns="18288" bIns="18288">
            <a:noAutofit/>
          </a:bodyPr>
          <a:lstStyle/>
          <a:p>
            <a:pPr algn="l">
              <a:lnSpc>
                <a:spcPct val="120000"/>
              </a:lnSpc>
              <a:spcAft>
                <a:spcPts val="1000"/>
              </a:spcAft>
              <a:defRPr sz="1450" b="0" i="0">
                <a:solidFill>
                  <a:srgbClr val="333333"/>
                </a:solidFill>
                <a:latin typeface="Calibri"/>
              </a:defRPr>
            </a:pPr>
            <a:r>
              <a:t>1.  Univariate rule.   “Predict non-performing iff DAYS_TO_MATURITY &lt; 0” reconstructs the binary good/bad split at only 67.3% accuracy, F1 = 0.508 on the non-performing class — far from the near-perfect reconstruction that would signal algebraic equivalence. Compare NHOMNO, excluded at r = 0.98.</a:t>
            </a:r>
          </a:p>
          <a:p>
            <a:pPr algn="l">
              <a:lnSpc>
                <a:spcPct val="120000"/>
              </a:lnSpc>
              <a:spcAft>
                <a:spcPts val="1000"/>
              </a:spcAft>
              <a:defRPr sz="1450" b="0" i="0">
                <a:solidFill>
                  <a:srgbClr val="333333"/>
                </a:solidFill>
                <a:latin typeface="Calibri"/>
              </a:defRPr>
            </a:pPr>
            <a:r>
              <a:t>2.  Boundary behaviour.   35.1% of Group-1 loans are already past original maturity yet remain classified standard — plausibly rolled-over working capital. And 7.9% of Group-5 loans are not past maturity. Not a step function at any group boundary.</a:t>
            </a:r>
          </a:p>
          <a:p>
            <a:pPr algn="l">
              <a:lnSpc>
                <a:spcPct val="120000"/>
              </a:lnSpc>
              <a:spcAft>
                <a:spcPts val="1000"/>
              </a:spcAft>
              <a:defRPr sz="1450" b="0" i="0">
                <a:solidFill>
                  <a:srgbClr val="333333"/>
                </a:solidFill>
                <a:latin typeface="Calibri"/>
              </a:defRPr>
            </a:pPr>
            <a:r>
              <a:t>3.  Ablation.   Removing it costs 16–23% of Macro-F1 across four model × treatment combinations — a non-redundant contribution no other feature reproduces, but not the collapse a label copy would produce.</a:t>
            </a:r>
          </a:p>
          <a:p>
            <a:pPr algn="l">
              <a:lnSpc>
                <a:spcPct val="120000"/>
              </a:lnSpc>
              <a:spcAft>
                <a:spcPts val="700"/>
              </a:spcAft>
              <a:defRPr sz="1450" b="0" i="0">
                <a:solidFill>
                  <a:srgbClr val="333333"/>
                </a:solidFill>
                <a:latin typeface="Calibri"/>
              </a:defRPr>
            </a:pPr>
            <a:r>
              <a:t>4.  Reference-date invariance.   Macro-F1 identical to four decimal places across five values of d₀ from 31 Dec 2020 to 31 Dec 2023. The convention cannot have been tuned to flatter the model.</a:t>
            </a:r>
          </a:p>
        </p:txBody>
      </p:sp>
      <p:sp>
        <p:nvSpPr>
          <p:cNvPr id="9" name="Rectangle 8"/>
          <p:cNvSpPr/>
          <p:nvPr/>
        </p:nvSpPr>
        <p:spPr>
          <a:xfrm>
            <a:off x="548640" y="5138928"/>
            <a:ext cx="11155680" cy="1444752"/>
          </a:xfrm>
          <a:prstGeom prst="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5248656"/>
            <a:ext cx="10789919" cy="1225296"/>
          </a:xfrm>
          <a:prstGeom prst="rect">
            <a:avLst/>
          </a:prstGeom>
          <a:noFill/>
        </p:spPr>
        <p:txBody>
          <a:bodyPr wrap="square" lIns="64008" rIns="64008" tIns="18288" bIns="18288">
            <a:noAutofit/>
          </a:bodyPr>
          <a:lstStyle/>
          <a:p>
            <a:pPr algn="l">
              <a:lnSpc>
                <a:spcPct val="124000"/>
              </a:lnSpc>
              <a:spcAft>
                <a:spcPts val="300"/>
              </a:spcAft>
              <a:defRPr sz="1450" b="1" i="0">
                <a:solidFill>
                  <a:srgbClr val="C00000"/>
                </a:solidFill>
                <a:latin typeface="Calibri"/>
              </a:defRPr>
            </a:pPr>
            <a:r>
              <a:t>None of this proves the absence of leakage.</a:t>
            </a:r>
          </a:p>
          <a:p>
            <a:pPr algn="l">
              <a:lnSpc>
                <a:spcPct val="120000"/>
              </a:lnSpc>
              <a:spcAft>
                <a:spcPts val="700"/>
              </a:spcAft>
              <a:defRPr sz="1350" b="0" i="0">
                <a:solidFill>
                  <a:srgbClr val="333333"/>
                </a:solidFill>
                <a:latin typeface="Calibri"/>
              </a:defRPr>
            </a:pPr>
            <a:r>
              <a:t>The raw 21-column file contains no “days past due” field of any kind, so a residual possibility that part of the variable's power reflects an unobserved overdue field correlated with it cannot be excluded from the data alone. Confirming this against the bank's actual classification methodology is required before any operational 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RQ3: Gain vs. SHAP Feature-Group Importance</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Tables 8–9 — XGBoost and LightGBM, under both imbalance treatments</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8</a:t>
            </a:r>
          </a:p>
        </p:txBody>
      </p:sp>
      <p:sp>
        <p:nvSpPr>
          <p:cNvPr id="6" name="TextBox 5"/>
          <p:cNvSpPr txBox="1"/>
          <p:nvPr/>
        </p:nvSpPr>
        <p:spPr>
          <a:xfrm>
            <a:off x="548640" y="1078992"/>
            <a:ext cx="5029200" cy="310896"/>
          </a:xfrm>
          <a:prstGeom prst="rect">
            <a:avLst/>
          </a:prstGeom>
          <a:noFill/>
        </p:spPr>
        <p:txBody>
          <a:bodyPr wrap="square" lIns="64008" rIns="64008" tIns="18288" bIns="18288">
            <a:noAutofit/>
          </a:bodyPr>
          <a:lstStyle/>
          <a:p>
            <a:pPr algn="l">
              <a:lnSpc>
                <a:spcPct val="124000"/>
              </a:lnSpc>
              <a:spcAft>
                <a:spcPts val="700"/>
              </a:spcAft>
              <a:defRPr sz="1600" b="1" i="0">
                <a:solidFill>
                  <a:srgbClr val="C00000"/>
                </a:solidFill>
                <a:latin typeface="Calibri"/>
              </a:defRPr>
            </a:pPr>
            <a:r>
              <a:t>Gain-based  —  unstable</a:t>
            </a:r>
          </a:p>
        </p:txBody>
      </p:sp>
      <p:graphicFrame>
        <p:nvGraphicFramePr>
          <p:cNvPr id="7" name="Table 6"/>
          <p:cNvGraphicFramePr>
            <a:graphicFrameLocks noGrp="1"/>
          </p:cNvGraphicFramePr>
          <p:nvPr/>
        </p:nvGraphicFramePr>
        <p:xfrm>
          <a:off x="548640" y="1444752"/>
          <a:ext cx="5394960" cy="2688336"/>
        </p:xfrm>
        <a:graphic>
          <a:graphicData uri="http://schemas.openxmlformats.org/drawingml/2006/table">
            <a:tbl>
              <a:tblPr firstRow="1" bandRow="1">
                <a:tableStyleId>{5C22544A-7EE6-4342-B048-85BDC9FD1C3A}</a:tableStyleId>
              </a:tblPr>
              <a:tblGrid>
                <a:gridCol w="1956816"/>
                <a:gridCol w="859536"/>
                <a:gridCol w="859536"/>
                <a:gridCol w="859536"/>
                <a:gridCol w="859536"/>
              </a:tblGrid>
              <a:tr h="384048">
                <a:tc>
                  <a:txBody>
                    <a:bodyPr wrap="square"/>
                    <a:lstStyle/>
                    <a:p>
                      <a:pPr algn="ctr">
                        <a:defRPr sz="1200" b="1">
                          <a:solidFill>
                            <a:srgbClr val="FFFFFF"/>
                          </a:solidFill>
                          <a:latin typeface="Calibri"/>
                        </a:defRPr>
                      </a:pPr>
                      <a:r>
                        <a:t>Business group</a:t>
                      </a:r>
                    </a:p>
                  </a:txBody>
                  <a:tcPr marL="45720" marR="45720" marT="9144" marB="9144" anchor="ctr">
                    <a:solidFill>
                      <a:srgbClr val="8B0000"/>
                    </a:solidFill>
                  </a:tcPr>
                </a:tc>
                <a:tc>
                  <a:txBody>
                    <a:bodyPr wrap="square"/>
                    <a:lstStyle/>
                    <a:p>
                      <a:pPr algn="ctr">
                        <a:defRPr sz="1200" b="1">
                          <a:solidFill>
                            <a:srgbClr val="FFFFFF"/>
                          </a:solidFill>
                          <a:latin typeface="Calibri"/>
                        </a:defRPr>
                      </a:pPr>
                      <a:r>
                        <a:t>XGB</a:t>
                      </a:r>
                    </a:p>
                    <a:p>
                      <a:pPr algn="ctr">
                        <a:defRPr sz="1200" b="1">
                          <a:solidFill>
                            <a:srgbClr val="FFFFFF"/>
                          </a:solidFill>
                          <a:latin typeface="Calibri"/>
                        </a:defRPr>
                      </a:pPr>
                      <a:r>
                        <a:t>none</a:t>
                      </a:r>
                    </a:p>
                  </a:txBody>
                  <a:tcPr marL="45720" marR="45720" marT="9144" marB="9144" anchor="ctr">
                    <a:solidFill>
                      <a:srgbClr val="8B0000"/>
                    </a:solidFill>
                  </a:tcPr>
                </a:tc>
                <a:tc>
                  <a:txBody>
                    <a:bodyPr wrap="square"/>
                    <a:lstStyle/>
                    <a:p>
                      <a:pPr algn="ctr">
                        <a:defRPr sz="1200" b="1">
                          <a:solidFill>
                            <a:srgbClr val="FFFFFF"/>
                          </a:solidFill>
                          <a:latin typeface="Calibri"/>
                        </a:defRPr>
                      </a:pPr>
                      <a:r>
                        <a:t>LGBM</a:t>
                      </a:r>
                    </a:p>
                    <a:p>
                      <a:pPr algn="ctr">
                        <a:defRPr sz="1200" b="1">
                          <a:solidFill>
                            <a:srgbClr val="FFFFFF"/>
                          </a:solidFill>
                          <a:latin typeface="Calibri"/>
                        </a:defRPr>
                      </a:pPr>
                      <a:r>
                        <a:t>none</a:t>
                      </a:r>
                    </a:p>
                  </a:txBody>
                  <a:tcPr marL="45720" marR="45720" marT="9144" marB="9144" anchor="ctr">
                    <a:solidFill>
                      <a:srgbClr val="8B0000"/>
                    </a:solidFill>
                  </a:tcPr>
                </a:tc>
                <a:tc>
                  <a:txBody>
                    <a:bodyPr wrap="square"/>
                    <a:lstStyle/>
                    <a:p>
                      <a:pPr algn="ctr">
                        <a:defRPr sz="1200" b="1">
                          <a:solidFill>
                            <a:srgbClr val="FFFFFF"/>
                          </a:solidFill>
                          <a:latin typeface="Calibri"/>
                        </a:defRPr>
                      </a:pPr>
                      <a:r>
                        <a:t>XGB</a:t>
                      </a:r>
                    </a:p>
                    <a:p>
                      <a:pPr algn="ctr">
                        <a:defRPr sz="1200" b="1">
                          <a:solidFill>
                            <a:srgbClr val="FFFFFF"/>
                          </a:solidFill>
                          <a:latin typeface="Calibri"/>
                        </a:defRPr>
                      </a:pPr>
                      <a:r>
                        <a:t>wt.</a:t>
                      </a:r>
                    </a:p>
                  </a:txBody>
                  <a:tcPr marL="45720" marR="45720" marT="9144" marB="9144" anchor="ctr">
                    <a:solidFill>
                      <a:srgbClr val="8B0000"/>
                    </a:solidFill>
                  </a:tcPr>
                </a:tc>
                <a:tc>
                  <a:txBody>
                    <a:bodyPr wrap="square"/>
                    <a:lstStyle/>
                    <a:p>
                      <a:pPr algn="ctr">
                        <a:defRPr sz="1200" b="1">
                          <a:solidFill>
                            <a:srgbClr val="FFFFFF"/>
                          </a:solidFill>
                          <a:latin typeface="Calibri"/>
                        </a:defRPr>
                      </a:pPr>
                      <a:r>
                        <a:t>LGBM</a:t>
                      </a:r>
                    </a:p>
                    <a:p>
                      <a:pPr algn="ctr">
                        <a:defRPr sz="1200" b="1">
                          <a:solidFill>
                            <a:srgbClr val="FFFFFF"/>
                          </a:solidFill>
                          <a:latin typeface="Calibri"/>
                        </a:defRPr>
                      </a:pPr>
                      <a:r>
                        <a:t>wt.</a:t>
                      </a:r>
                    </a:p>
                  </a:txBody>
                  <a:tcPr marL="45720" marR="45720" marT="9144" marB="9144" anchor="ctr">
                    <a:solidFill>
                      <a:srgbClr val="8B0000"/>
                    </a:solidFill>
                  </a:tcPr>
                </a:tc>
              </a:tr>
              <a:tr h="384048">
                <a:tc>
                  <a:txBody>
                    <a:bodyPr wrap="square"/>
                    <a:lstStyle/>
                    <a:p>
                      <a:pPr algn="l">
                        <a:defRPr sz="1200" b="0">
                          <a:solidFill>
                            <a:srgbClr val="333333"/>
                          </a:solidFill>
                          <a:latin typeface="Calibri"/>
                        </a:defRPr>
                      </a:pPr>
                      <a:r>
                        <a:t>Loan tenure / maturity</a:t>
                      </a:r>
                    </a:p>
                  </a:txBody>
                  <a:tcPr marL="45720" marR="45720" marT="9144" marB="9144" anchor="ctr"/>
                </a:tc>
                <a:tc>
                  <a:txBody>
                    <a:bodyPr wrap="square"/>
                    <a:lstStyle/>
                    <a:p>
                      <a:pPr algn="ctr">
                        <a:defRPr sz="1200" b="0">
                          <a:solidFill>
                            <a:srgbClr val="333333"/>
                          </a:solidFill>
                          <a:latin typeface="Calibri"/>
                        </a:defRPr>
                      </a:pPr>
                      <a:r>
                        <a:t>43.1%</a:t>
                      </a:r>
                    </a:p>
                  </a:txBody>
                  <a:tcPr marL="45720" marR="45720" marT="9144" marB="9144" anchor="ctr"/>
                </a:tc>
                <a:tc>
                  <a:txBody>
                    <a:bodyPr wrap="square"/>
                    <a:lstStyle/>
                    <a:p>
                      <a:pPr algn="ctr">
                        <a:defRPr sz="1200" b="0">
                          <a:solidFill>
                            <a:srgbClr val="333333"/>
                          </a:solidFill>
                          <a:latin typeface="Calibri"/>
                        </a:defRPr>
                      </a:pPr>
                      <a:r>
                        <a:t>60.0%</a:t>
                      </a:r>
                    </a:p>
                  </a:txBody>
                  <a:tcPr marL="45720" marR="45720" marT="9144" marB="9144" anchor="ctr"/>
                </a:tc>
                <a:tc>
                  <a:txBody>
                    <a:bodyPr wrap="square"/>
                    <a:lstStyle/>
                    <a:p>
                      <a:pPr algn="ctr">
                        <a:defRPr sz="1200" b="0">
                          <a:solidFill>
                            <a:srgbClr val="333333"/>
                          </a:solidFill>
                          <a:latin typeface="Calibri"/>
                        </a:defRPr>
                      </a:pPr>
                      <a:r>
                        <a:t>31.7%</a:t>
                      </a:r>
                    </a:p>
                  </a:txBody>
                  <a:tcPr marL="45720" marR="45720" marT="9144" marB="9144" anchor="ctr"/>
                </a:tc>
                <a:tc>
                  <a:txBody>
                    <a:bodyPr wrap="square"/>
                    <a:lstStyle/>
                    <a:p>
                      <a:pPr algn="ctr">
                        <a:defRPr sz="1200" b="0">
                          <a:solidFill>
                            <a:srgbClr val="333333"/>
                          </a:solidFill>
                          <a:latin typeface="Calibri"/>
                        </a:defRPr>
                      </a:pPr>
                      <a:r>
                        <a:t>49.3%</a:t>
                      </a:r>
                    </a:p>
                  </a:txBody>
                  <a:tcPr marL="45720" marR="45720" marT="9144" marB="9144" anchor="ctr"/>
                </a:tc>
              </a:tr>
              <a:tr h="384048">
                <a:tc>
                  <a:txBody>
                    <a:bodyPr wrap="square"/>
                    <a:lstStyle/>
                    <a:p>
                      <a:pPr algn="l">
                        <a:defRPr sz="1200" b="0">
                          <a:solidFill>
                            <a:srgbClr val="333333"/>
                          </a:solidFill>
                          <a:latin typeface="Calibri"/>
                        </a:defRPr>
                      </a:pPr>
                      <a:r>
                        <a:t>Balance &amp; utilization</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11.2%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18.3%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16.8%</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24.6%</a:t>
                      </a:r>
                    </a:p>
                  </a:txBody>
                  <a:tcPr marL="45720" marR="45720" marT="9144" marB="9144" anchor="ctr">
                    <a:solidFill>
                      <a:srgbClr val="F2F2F2"/>
                    </a:solidFill>
                  </a:tcPr>
                </a:tc>
              </a:tr>
              <a:tr h="384048">
                <a:tc>
                  <a:txBody>
                    <a:bodyPr wrap="square"/>
                    <a:lstStyle/>
                    <a:p>
                      <a:pPr algn="l">
                        <a:defRPr sz="1200" b="0">
                          <a:solidFill>
                            <a:srgbClr val="333333"/>
                          </a:solidFill>
                          <a:latin typeface="Calibri"/>
                        </a:defRPr>
                      </a:pPr>
                      <a:r>
                        <a:t>Branch / org. unit</a:t>
                      </a:r>
                    </a:p>
                  </a:txBody>
                  <a:tcPr marL="45720" marR="45720" marT="9144" marB="9144" anchor="ctr"/>
                </a:tc>
                <a:tc>
                  <a:txBody>
                    <a:bodyPr wrap="square"/>
                    <a:lstStyle/>
                    <a:p>
                      <a:pPr algn="ctr">
                        <a:defRPr sz="1200" b="0">
                          <a:solidFill>
                            <a:srgbClr val="333333"/>
                          </a:solidFill>
                          <a:latin typeface="Calibri"/>
                        </a:defRPr>
                      </a:pPr>
                      <a:r>
                        <a:t>7.6%</a:t>
                      </a:r>
                    </a:p>
                  </a:txBody>
                  <a:tcPr marL="45720" marR="45720" marT="9144" marB="9144" anchor="ctr"/>
                </a:tc>
                <a:tc>
                  <a:txBody>
                    <a:bodyPr wrap="square"/>
                    <a:lstStyle/>
                    <a:p>
                      <a:pPr algn="ctr">
                        <a:defRPr sz="1200" b="0">
                          <a:solidFill>
                            <a:srgbClr val="333333"/>
                          </a:solidFill>
                          <a:latin typeface="Calibri"/>
                        </a:defRPr>
                      </a:pPr>
                      <a:r>
                        <a:t>9.1%</a:t>
                      </a:r>
                    </a:p>
                  </a:txBody>
                  <a:tcPr marL="45720" marR="45720" marT="9144" marB="9144" anchor="ctr"/>
                </a:tc>
                <a:tc>
                  <a:txBody>
                    <a:bodyPr wrap="square"/>
                    <a:lstStyle/>
                    <a:p>
                      <a:pPr algn="ctr">
                        <a:defRPr sz="1200" b="0">
                          <a:solidFill>
                            <a:srgbClr val="333333"/>
                          </a:solidFill>
                          <a:latin typeface="Calibri"/>
                        </a:defRPr>
                      </a:pPr>
                      <a:r>
                        <a:t>11.2%</a:t>
                      </a:r>
                    </a:p>
                  </a:txBody>
                  <a:tcPr marL="45720" marR="45720" marT="9144" marB="9144" anchor="ctr"/>
                </a:tc>
                <a:tc>
                  <a:txBody>
                    <a:bodyPr wrap="square"/>
                    <a:lstStyle/>
                    <a:p>
                      <a:pPr algn="ctr">
                        <a:defRPr sz="1200" b="0">
                          <a:solidFill>
                            <a:srgbClr val="333333"/>
                          </a:solidFill>
                          <a:latin typeface="Calibri"/>
                        </a:defRPr>
                      </a:pPr>
                      <a:r>
                        <a:t>12.5%</a:t>
                      </a:r>
                    </a:p>
                  </a:txBody>
                  <a:tcPr marL="45720" marR="45720" marT="9144" marB="9144" anchor="ctr"/>
                </a:tc>
              </a:tr>
              <a:tr h="384048">
                <a:tc>
                  <a:txBody>
                    <a:bodyPr wrap="square"/>
                    <a:lstStyle/>
                    <a:p>
                      <a:pPr algn="l">
                        <a:defRPr sz="1200" b="0">
                          <a:solidFill>
                            <a:srgbClr val="333333"/>
                          </a:solidFill>
                          <a:latin typeface="Calibri"/>
                        </a:defRPr>
                      </a:pPr>
                      <a:r>
                        <a:t>Product &amp; loan purpose</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24.7%</a:t>
                      </a:r>
                    </a:p>
                  </a:txBody>
                  <a:tcPr marL="45720" marR="45720" marT="9144" marB="9144" anchor="ctr">
                    <a:solidFill>
                      <a:srgbClr val="F2F2F2"/>
                    </a:solidFill>
                  </a:tcPr>
                </a:tc>
                <a:tc>
                  <a:txBody>
                    <a:bodyPr wrap="square"/>
                    <a:lstStyle/>
                    <a:p>
                      <a:pPr algn="ctr">
                        <a:defRPr sz="1200" b="0">
                          <a:solidFill>
                            <a:srgbClr val="333333"/>
                          </a:solidFill>
                          <a:latin typeface="Calibri"/>
                        </a:defRPr>
                      </a:pPr>
                      <a:r>
                        <a:t>7.1%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21.7%</a:t>
                      </a:r>
                    </a:p>
                  </a:txBody>
                  <a:tcPr marL="45720" marR="45720" marT="9144" marB="9144" anchor="ctr">
                    <a:solidFill>
                      <a:srgbClr val="F2F2F2"/>
                    </a:solidFill>
                  </a:tcPr>
                </a:tc>
                <a:tc>
                  <a:txBody>
                    <a:bodyPr wrap="square"/>
                    <a:lstStyle/>
                    <a:p>
                      <a:pPr algn="ctr">
                        <a:defRPr sz="1200" b="0">
                          <a:solidFill>
                            <a:srgbClr val="333333"/>
                          </a:solidFill>
                          <a:latin typeface="Calibri"/>
                        </a:defRPr>
                      </a:pPr>
                      <a:r>
                        <a:t>5.7%</a:t>
                      </a:r>
                    </a:p>
                  </a:txBody>
                  <a:tcPr marL="45720" marR="45720" marT="9144" marB="9144" anchor="ctr">
                    <a:solidFill>
                      <a:srgbClr val="F2F2F2"/>
                    </a:solidFill>
                  </a:tcPr>
                </a:tc>
              </a:tr>
              <a:tr h="384048">
                <a:tc>
                  <a:txBody>
                    <a:bodyPr wrap="square"/>
                    <a:lstStyle/>
                    <a:p>
                      <a:pPr algn="l">
                        <a:defRPr sz="1200" b="0">
                          <a:solidFill>
                            <a:srgbClr val="333333"/>
                          </a:solidFill>
                          <a:latin typeface="Calibri"/>
                        </a:defRPr>
                      </a:pPr>
                      <a:r>
                        <a:t>Interest rate</a:t>
                      </a:r>
                    </a:p>
                  </a:txBody>
                  <a:tcPr marL="45720" marR="45720" marT="9144" marB="9144" anchor="ctr"/>
                </a:tc>
                <a:tc>
                  <a:txBody>
                    <a:bodyPr wrap="square"/>
                    <a:lstStyle/>
                    <a:p>
                      <a:pPr algn="ctr">
                        <a:defRPr sz="1200" b="0">
                          <a:solidFill>
                            <a:srgbClr val="333333"/>
                          </a:solidFill>
                          <a:latin typeface="Calibri"/>
                        </a:defRPr>
                      </a:pPr>
                      <a:r>
                        <a:t>7.7%</a:t>
                      </a:r>
                    </a:p>
                  </a:txBody>
                  <a:tcPr marL="45720" marR="45720" marT="9144" marB="9144" anchor="ctr"/>
                </a:tc>
                <a:tc>
                  <a:txBody>
                    <a:bodyPr wrap="square"/>
                    <a:lstStyle/>
                    <a:p>
                      <a:pPr algn="ctr">
                        <a:defRPr sz="1200" b="0">
                          <a:solidFill>
                            <a:srgbClr val="333333"/>
                          </a:solidFill>
                          <a:latin typeface="Calibri"/>
                        </a:defRPr>
                      </a:pPr>
                      <a:r>
                        <a:t>4.4%</a:t>
                      </a:r>
                    </a:p>
                  </a:txBody>
                  <a:tcPr marL="45720" marR="45720" marT="9144" marB="9144" anchor="ctr"/>
                </a:tc>
                <a:tc>
                  <a:txBody>
                    <a:bodyPr wrap="square"/>
                    <a:lstStyle/>
                    <a:p>
                      <a:pPr algn="ctr">
                        <a:defRPr sz="1200" b="0">
                          <a:solidFill>
                            <a:srgbClr val="333333"/>
                          </a:solidFill>
                          <a:latin typeface="Calibri"/>
                        </a:defRPr>
                      </a:pPr>
                      <a:r>
                        <a:t>9.0%</a:t>
                      </a:r>
                    </a:p>
                  </a:txBody>
                  <a:tcPr marL="45720" marR="45720" marT="9144" marB="9144" anchor="ctr"/>
                </a:tc>
                <a:tc>
                  <a:txBody>
                    <a:bodyPr wrap="square"/>
                    <a:lstStyle/>
                    <a:p>
                      <a:pPr algn="ctr">
                        <a:defRPr sz="1200" b="0">
                          <a:solidFill>
                            <a:srgbClr val="333333"/>
                          </a:solidFill>
                          <a:latin typeface="Calibri"/>
                        </a:defRPr>
                      </a:pPr>
                      <a:r>
                        <a:t>6.2%</a:t>
                      </a:r>
                    </a:p>
                  </a:txBody>
                  <a:tcPr marL="45720" marR="45720" marT="9144" marB="9144" anchor="ctr"/>
                </a:tc>
              </a:tr>
              <a:tr h="384048">
                <a:tc>
                  <a:txBody>
                    <a:bodyPr wrap="square"/>
                    <a:lstStyle/>
                    <a:p>
                      <a:pPr algn="l">
                        <a:defRPr sz="1200" b="0">
                          <a:solidFill>
                            <a:srgbClr val="333333"/>
                          </a:solidFill>
                          <a:latin typeface="Calibri"/>
                        </a:defRPr>
                      </a:pPr>
                      <a:r>
                        <a:t>Demographics (low IV)</a:t>
                      </a:r>
                    </a:p>
                  </a:txBody>
                  <a:tcPr marL="45720" marR="45720" marT="9144" marB="9144" anchor="ctr">
                    <a:solidFill>
                      <a:srgbClr val="F2F2F2"/>
                    </a:solidFill>
                  </a:tcPr>
                </a:tc>
                <a:tc>
                  <a:txBody>
                    <a:bodyPr wrap="square"/>
                    <a:lstStyle/>
                    <a:p>
                      <a:pPr algn="ctr">
                        <a:defRPr sz="1200" b="0">
                          <a:solidFill>
                            <a:srgbClr val="333333"/>
                          </a:solidFill>
                          <a:latin typeface="Calibri"/>
                        </a:defRPr>
                      </a:pPr>
                      <a:r>
                        <a:t>5.6%</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9.7%</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1.6%</a:t>
                      </a:r>
                    </a:p>
                  </a:txBody>
                  <a:tcPr marL="45720" marR="45720" marT="9144" marB="9144" anchor="ctr">
                    <a:solidFill>
                      <a:srgbClr val="F2F2F2"/>
                    </a:solidFill>
                  </a:tcPr>
                </a:tc>
              </a:tr>
            </a:tbl>
          </a:graphicData>
        </a:graphic>
      </p:graphicFrame>
      <p:sp>
        <p:nvSpPr>
          <p:cNvPr id="8" name="TextBox 7"/>
          <p:cNvSpPr txBox="1"/>
          <p:nvPr/>
        </p:nvSpPr>
        <p:spPr>
          <a:xfrm>
            <a:off x="6309360" y="1078992"/>
            <a:ext cx="5029200" cy="310896"/>
          </a:xfrm>
          <a:prstGeom prst="rect">
            <a:avLst/>
          </a:prstGeom>
          <a:noFill/>
        </p:spPr>
        <p:txBody>
          <a:bodyPr wrap="square" lIns="64008" rIns="64008" tIns="18288" bIns="18288">
            <a:noAutofit/>
          </a:bodyPr>
          <a:lstStyle/>
          <a:p>
            <a:pPr algn="l">
              <a:lnSpc>
                <a:spcPct val="124000"/>
              </a:lnSpc>
              <a:spcAft>
                <a:spcPts val="700"/>
              </a:spcAft>
              <a:defRPr sz="1600" b="1" i="0">
                <a:solidFill>
                  <a:srgbClr val="008000"/>
                </a:solidFill>
                <a:latin typeface="Calibri"/>
              </a:defRPr>
            </a:pPr>
            <a:r>
              <a:t>SHAP-based  —  stable</a:t>
            </a:r>
          </a:p>
        </p:txBody>
      </p:sp>
      <p:graphicFrame>
        <p:nvGraphicFramePr>
          <p:cNvPr id="9" name="Table 8"/>
          <p:cNvGraphicFramePr>
            <a:graphicFrameLocks noGrp="1"/>
          </p:cNvGraphicFramePr>
          <p:nvPr/>
        </p:nvGraphicFramePr>
        <p:xfrm>
          <a:off x="6309360" y="1444752"/>
          <a:ext cx="5394960" cy="2688336"/>
        </p:xfrm>
        <a:graphic>
          <a:graphicData uri="http://schemas.openxmlformats.org/drawingml/2006/table">
            <a:tbl>
              <a:tblPr firstRow="1" bandRow="1">
                <a:tableStyleId>{5C22544A-7EE6-4342-B048-85BDC9FD1C3A}</a:tableStyleId>
              </a:tblPr>
              <a:tblGrid>
                <a:gridCol w="1956816"/>
                <a:gridCol w="859536"/>
                <a:gridCol w="859536"/>
                <a:gridCol w="859536"/>
                <a:gridCol w="859536"/>
              </a:tblGrid>
              <a:tr h="384048">
                <a:tc>
                  <a:txBody>
                    <a:bodyPr wrap="square"/>
                    <a:lstStyle/>
                    <a:p>
                      <a:pPr algn="ctr">
                        <a:defRPr sz="1200" b="1">
                          <a:solidFill>
                            <a:srgbClr val="FFFFFF"/>
                          </a:solidFill>
                          <a:latin typeface="Calibri"/>
                        </a:defRPr>
                      </a:pPr>
                      <a:r>
                        <a:t>Business group</a:t>
                      </a:r>
                    </a:p>
                  </a:txBody>
                  <a:tcPr marL="45720" marR="45720" marT="9144" marB="9144" anchor="ctr">
                    <a:solidFill>
                      <a:srgbClr val="006000"/>
                    </a:solidFill>
                  </a:tcPr>
                </a:tc>
                <a:tc>
                  <a:txBody>
                    <a:bodyPr wrap="square"/>
                    <a:lstStyle/>
                    <a:p>
                      <a:pPr algn="ctr">
                        <a:defRPr sz="1200" b="1">
                          <a:solidFill>
                            <a:srgbClr val="FFFFFF"/>
                          </a:solidFill>
                          <a:latin typeface="Calibri"/>
                        </a:defRPr>
                      </a:pPr>
                      <a:r>
                        <a:t>XGB</a:t>
                      </a:r>
                    </a:p>
                    <a:p>
                      <a:pPr algn="ctr">
                        <a:defRPr sz="1200" b="1">
                          <a:solidFill>
                            <a:srgbClr val="FFFFFF"/>
                          </a:solidFill>
                          <a:latin typeface="Calibri"/>
                        </a:defRPr>
                      </a:pPr>
                      <a:r>
                        <a:t>none</a:t>
                      </a:r>
                    </a:p>
                  </a:txBody>
                  <a:tcPr marL="45720" marR="45720" marT="9144" marB="9144" anchor="ctr">
                    <a:solidFill>
                      <a:srgbClr val="006000"/>
                    </a:solidFill>
                  </a:tcPr>
                </a:tc>
                <a:tc>
                  <a:txBody>
                    <a:bodyPr wrap="square"/>
                    <a:lstStyle/>
                    <a:p>
                      <a:pPr algn="ctr">
                        <a:defRPr sz="1200" b="1">
                          <a:solidFill>
                            <a:srgbClr val="FFFFFF"/>
                          </a:solidFill>
                          <a:latin typeface="Calibri"/>
                        </a:defRPr>
                      </a:pPr>
                      <a:r>
                        <a:t>LGBM</a:t>
                      </a:r>
                    </a:p>
                    <a:p>
                      <a:pPr algn="ctr">
                        <a:defRPr sz="1200" b="1">
                          <a:solidFill>
                            <a:srgbClr val="FFFFFF"/>
                          </a:solidFill>
                          <a:latin typeface="Calibri"/>
                        </a:defRPr>
                      </a:pPr>
                      <a:r>
                        <a:t>none</a:t>
                      </a:r>
                    </a:p>
                  </a:txBody>
                  <a:tcPr marL="45720" marR="45720" marT="9144" marB="9144" anchor="ctr">
                    <a:solidFill>
                      <a:srgbClr val="006000"/>
                    </a:solidFill>
                  </a:tcPr>
                </a:tc>
                <a:tc>
                  <a:txBody>
                    <a:bodyPr wrap="square"/>
                    <a:lstStyle/>
                    <a:p>
                      <a:pPr algn="ctr">
                        <a:defRPr sz="1200" b="1">
                          <a:solidFill>
                            <a:srgbClr val="FFFFFF"/>
                          </a:solidFill>
                          <a:latin typeface="Calibri"/>
                        </a:defRPr>
                      </a:pPr>
                      <a:r>
                        <a:t>XGB</a:t>
                      </a:r>
                    </a:p>
                    <a:p>
                      <a:pPr algn="ctr">
                        <a:defRPr sz="1200" b="1">
                          <a:solidFill>
                            <a:srgbClr val="FFFFFF"/>
                          </a:solidFill>
                          <a:latin typeface="Calibri"/>
                        </a:defRPr>
                      </a:pPr>
                      <a:r>
                        <a:t>wt.</a:t>
                      </a:r>
                    </a:p>
                  </a:txBody>
                  <a:tcPr marL="45720" marR="45720" marT="9144" marB="9144" anchor="ctr">
                    <a:solidFill>
                      <a:srgbClr val="006000"/>
                    </a:solidFill>
                  </a:tcPr>
                </a:tc>
                <a:tc>
                  <a:txBody>
                    <a:bodyPr wrap="square"/>
                    <a:lstStyle/>
                    <a:p>
                      <a:pPr algn="ctr">
                        <a:defRPr sz="1200" b="1">
                          <a:solidFill>
                            <a:srgbClr val="FFFFFF"/>
                          </a:solidFill>
                          <a:latin typeface="Calibri"/>
                        </a:defRPr>
                      </a:pPr>
                      <a:r>
                        <a:t>LGBM</a:t>
                      </a:r>
                    </a:p>
                    <a:p>
                      <a:pPr algn="ctr">
                        <a:defRPr sz="1200" b="1">
                          <a:solidFill>
                            <a:srgbClr val="FFFFFF"/>
                          </a:solidFill>
                          <a:latin typeface="Calibri"/>
                        </a:defRPr>
                      </a:pPr>
                      <a:r>
                        <a:t>wt.</a:t>
                      </a:r>
                    </a:p>
                  </a:txBody>
                  <a:tcPr marL="45720" marR="45720" marT="9144" marB="9144" anchor="ctr">
                    <a:solidFill>
                      <a:srgbClr val="006000"/>
                    </a:solidFill>
                  </a:tcPr>
                </a:tc>
              </a:tr>
              <a:tr h="384048">
                <a:tc>
                  <a:txBody>
                    <a:bodyPr wrap="square"/>
                    <a:lstStyle/>
                    <a:p>
                      <a:pPr algn="l">
                        <a:defRPr sz="1200" b="0">
                          <a:solidFill>
                            <a:srgbClr val="333333"/>
                          </a:solidFill>
                          <a:latin typeface="Calibri"/>
                        </a:defRPr>
                      </a:pPr>
                      <a:r>
                        <a:t>Loan tenure / maturity</a:t>
                      </a:r>
                    </a:p>
                  </a:txBody>
                  <a:tcPr marL="45720" marR="45720" marT="9144" marB="9144" anchor="ctr"/>
                </a:tc>
                <a:tc>
                  <a:txBody>
                    <a:bodyPr wrap="square"/>
                    <a:lstStyle/>
                    <a:p>
                      <a:pPr algn="ctr">
                        <a:defRPr sz="1200" b="0">
                          <a:solidFill>
                            <a:srgbClr val="333333"/>
                          </a:solidFill>
                          <a:latin typeface="Calibri"/>
                        </a:defRPr>
                      </a:pPr>
                      <a:r>
                        <a:t>40.8%</a:t>
                      </a:r>
                    </a:p>
                  </a:txBody>
                  <a:tcPr marL="45720" marR="45720" marT="9144" marB="9144" anchor="ctr"/>
                </a:tc>
                <a:tc>
                  <a:txBody>
                    <a:bodyPr wrap="square"/>
                    <a:lstStyle/>
                    <a:p>
                      <a:pPr algn="ctr">
                        <a:defRPr sz="1200" b="0">
                          <a:solidFill>
                            <a:srgbClr val="333333"/>
                          </a:solidFill>
                          <a:latin typeface="Calibri"/>
                        </a:defRPr>
                      </a:pPr>
                      <a:r>
                        <a:t>41.2%</a:t>
                      </a:r>
                    </a:p>
                  </a:txBody>
                  <a:tcPr marL="45720" marR="45720" marT="9144" marB="9144" anchor="ctr"/>
                </a:tc>
                <a:tc>
                  <a:txBody>
                    <a:bodyPr wrap="square"/>
                    <a:lstStyle/>
                    <a:p>
                      <a:pPr algn="ctr">
                        <a:defRPr sz="1200" b="0">
                          <a:solidFill>
                            <a:srgbClr val="333333"/>
                          </a:solidFill>
                          <a:latin typeface="Calibri"/>
                        </a:defRPr>
                      </a:pPr>
                      <a:r>
                        <a:t>42.0%</a:t>
                      </a:r>
                    </a:p>
                  </a:txBody>
                  <a:tcPr marL="45720" marR="45720" marT="9144" marB="9144" anchor="ctr"/>
                </a:tc>
                <a:tc>
                  <a:txBody>
                    <a:bodyPr wrap="square"/>
                    <a:lstStyle/>
                    <a:p>
                      <a:pPr algn="ctr">
                        <a:defRPr sz="1200" b="0">
                          <a:solidFill>
                            <a:srgbClr val="333333"/>
                          </a:solidFill>
                          <a:latin typeface="Calibri"/>
                        </a:defRPr>
                      </a:pPr>
                      <a:r>
                        <a:t>42.8%</a:t>
                      </a:r>
                    </a:p>
                  </a:txBody>
                  <a:tcPr marL="45720" marR="45720" marT="9144" marB="9144" anchor="ctr"/>
                </a:tc>
              </a:tr>
              <a:tr h="384048">
                <a:tc>
                  <a:txBody>
                    <a:bodyPr wrap="square"/>
                    <a:lstStyle/>
                    <a:p>
                      <a:pPr algn="l">
                        <a:defRPr sz="1200" b="0">
                          <a:solidFill>
                            <a:srgbClr val="333333"/>
                          </a:solidFill>
                          <a:latin typeface="Calibri"/>
                        </a:defRPr>
                      </a:pPr>
                      <a:r>
                        <a:t>Balance &amp; utilization</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26.1%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27.9%</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28.0%</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28.7%</a:t>
                      </a:r>
                    </a:p>
                  </a:txBody>
                  <a:tcPr marL="45720" marR="45720" marT="9144" marB="9144" anchor="ctr">
                    <a:solidFill>
                      <a:srgbClr val="F2F2F2"/>
                    </a:solidFill>
                  </a:tcPr>
                </a:tc>
              </a:tr>
              <a:tr h="384048">
                <a:tc>
                  <a:txBody>
                    <a:bodyPr wrap="square"/>
                    <a:lstStyle/>
                    <a:p>
                      <a:pPr algn="l">
                        <a:defRPr sz="1200" b="0">
                          <a:solidFill>
                            <a:srgbClr val="333333"/>
                          </a:solidFill>
                          <a:latin typeface="Calibri"/>
                        </a:defRPr>
                      </a:pPr>
                      <a:r>
                        <a:t>Branch / org. unit</a:t>
                      </a:r>
                    </a:p>
                  </a:txBody>
                  <a:tcPr marL="45720" marR="45720" marT="9144" marB="9144" anchor="ctr"/>
                </a:tc>
                <a:tc>
                  <a:txBody>
                    <a:bodyPr wrap="square"/>
                    <a:lstStyle/>
                    <a:p>
                      <a:pPr algn="ctr">
                        <a:defRPr sz="1200" b="0">
                          <a:solidFill>
                            <a:srgbClr val="333333"/>
                          </a:solidFill>
                          <a:latin typeface="Calibri"/>
                        </a:defRPr>
                      </a:pPr>
                      <a:r>
                        <a:t>14.8%</a:t>
                      </a:r>
                    </a:p>
                  </a:txBody>
                  <a:tcPr marL="45720" marR="45720" marT="9144" marB="9144" anchor="ctr"/>
                </a:tc>
                <a:tc>
                  <a:txBody>
                    <a:bodyPr wrap="square"/>
                    <a:lstStyle/>
                    <a:p>
                      <a:pPr algn="ctr">
                        <a:defRPr sz="1200" b="0">
                          <a:solidFill>
                            <a:srgbClr val="333333"/>
                          </a:solidFill>
                          <a:latin typeface="Calibri"/>
                        </a:defRPr>
                      </a:pPr>
                      <a:r>
                        <a:t>14.1%</a:t>
                      </a:r>
                    </a:p>
                  </a:txBody>
                  <a:tcPr marL="45720" marR="45720" marT="9144" marB="9144" anchor="ctr"/>
                </a:tc>
                <a:tc>
                  <a:txBody>
                    <a:bodyPr wrap="square"/>
                    <a:lstStyle/>
                    <a:p>
                      <a:pPr algn="ctr">
                        <a:defRPr sz="1200" b="0">
                          <a:solidFill>
                            <a:srgbClr val="333333"/>
                          </a:solidFill>
                          <a:latin typeface="Calibri"/>
                        </a:defRPr>
                      </a:pPr>
                      <a:r>
                        <a:t>13.9%</a:t>
                      </a:r>
                    </a:p>
                  </a:txBody>
                  <a:tcPr marL="45720" marR="45720" marT="9144" marB="9144" anchor="ctr"/>
                </a:tc>
                <a:tc>
                  <a:txBody>
                    <a:bodyPr wrap="square"/>
                    <a:lstStyle/>
                    <a:p>
                      <a:pPr algn="ctr">
                        <a:defRPr sz="1200" b="0">
                          <a:solidFill>
                            <a:srgbClr val="333333"/>
                          </a:solidFill>
                          <a:latin typeface="Calibri"/>
                        </a:defRPr>
                      </a:pPr>
                      <a:r>
                        <a:t>13.7%</a:t>
                      </a:r>
                    </a:p>
                  </a:txBody>
                  <a:tcPr marL="45720" marR="45720" marT="9144" marB="9144" anchor="ctr"/>
                </a:tc>
              </a:tr>
              <a:tr h="384048">
                <a:tc>
                  <a:txBody>
                    <a:bodyPr wrap="square"/>
                    <a:lstStyle/>
                    <a:p>
                      <a:pPr algn="l">
                        <a:defRPr sz="1200" b="0">
                          <a:solidFill>
                            <a:srgbClr val="333333"/>
                          </a:solidFill>
                          <a:latin typeface="Calibri"/>
                        </a:defRPr>
                      </a:pPr>
                      <a:r>
                        <a:t>Interest rate</a:t>
                      </a:r>
                    </a:p>
                  </a:txBody>
                  <a:tcPr marL="45720" marR="45720" marT="9144" marB="9144" anchor="ctr">
                    <a:solidFill>
                      <a:srgbClr val="F2F2F2"/>
                    </a:solidFill>
                  </a:tcPr>
                </a:tc>
                <a:tc>
                  <a:txBody>
                    <a:bodyPr wrap="square"/>
                    <a:lstStyle/>
                    <a:p>
                      <a:pPr algn="ctr">
                        <a:defRPr sz="1200" b="0">
                          <a:solidFill>
                            <a:srgbClr val="333333"/>
                          </a:solidFill>
                          <a:latin typeface="Calibri"/>
                        </a:defRPr>
                      </a:pPr>
                      <a:r>
                        <a:t>9.8%</a:t>
                      </a:r>
                    </a:p>
                  </a:txBody>
                  <a:tcPr marL="45720" marR="45720" marT="9144" marB="9144" anchor="ctr">
                    <a:solidFill>
                      <a:srgbClr val="F2F2F2"/>
                    </a:solidFill>
                  </a:tcPr>
                </a:tc>
                <a:tc>
                  <a:txBody>
                    <a:bodyPr wrap="square"/>
                    <a:lstStyle/>
                    <a:p>
                      <a:pPr algn="ctr">
                        <a:defRPr sz="1200" b="0">
                          <a:solidFill>
                            <a:srgbClr val="333333"/>
                          </a:solidFill>
                          <a:latin typeface="Calibri"/>
                        </a:defRPr>
                      </a:pPr>
                      <a:r>
                        <a:t>8.8%</a:t>
                      </a:r>
                    </a:p>
                  </a:txBody>
                  <a:tcPr marL="45720" marR="45720" marT="9144" marB="9144" anchor="ctr">
                    <a:solidFill>
                      <a:srgbClr val="F2F2F2"/>
                    </a:solidFill>
                  </a:tcPr>
                </a:tc>
                <a:tc>
                  <a:txBody>
                    <a:bodyPr wrap="square"/>
                    <a:lstStyle/>
                    <a:p>
                      <a:pPr algn="ctr">
                        <a:defRPr sz="1200" b="0">
                          <a:solidFill>
                            <a:srgbClr val="333333"/>
                          </a:solidFill>
                          <a:latin typeface="Calibri"/>
                        </a:defRPr>
                      </a:pPr>
                      <a:r>
                        <a:t>8.3%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6.7%</a:t>
                      </a:r>
                    </a:p>
                  </a:txBody>
                  <a:tcPr marL="45720" marR="45720" marT="9144" marB="9144" anchor="ctr">
                    <a:solidFill>
                      <a:srgbClr val="F2F2F2"/>
                    </a:solidFill>
                  </a:tcPr>
                </a:tc>
              </a:tr>
              <a:tr h="384048">
                <a:tc>
                  <a:txBody>
                    <a:bodyPr wrap="square"/>
                    <a:lstStyle/>
                    <a:p>
                      <a:pPr algn="l">
                        <a:defRPr sz="1200" b="0">
                          <a:solidFill>
                            <a:srgbClr val="333333"/>
                          </a:solidFill>
                          <a:latin typeface="Calibri"/>
                        </a:defRPr>
                      </a:pPr>
                      <a:r>
                        <a:t>Product &amp; loan purpose</a:t>
                      </a:r>
                    </a:p>
                  </a:txBody>
                  <a:tcPr marL="45720" marR="45720" marT="9144" marB="9144" anchor="ctr"/>
                </a:tc>
                <a:tc>
                  <a:txBody>
                    <a:bodyPr wrap="square"/>
                    <a:lstStyle/>
                    <a:p>
                      <a:pPr algn="ctr">
                        <a:defRPr sz="1200" b="0">
                          <a:solidFill>
                            <a:srgbClr val="333333"/>
                          </a:solidFill>
                          <a:latin typeface="Calibri"/>
                        </a:defRPr>
                      </a:pPr>
                      <a:r>
                        <a:t>8.5%</a:t>
                      </a:r>
                    </a:p>
                  </a:txBody>
                  <a:tcPr marL="45720" marR="45720" marT="9144" marB="9144" anchor="ctr"/>
                </a:tc>
                <a:tc>
                  <a:txBody>
                    <a:bodyPr wrap="square"/>
                    <a:lstStyle/>
                    <a:p>
                      <a:pPr algn="ctr">
                        <a:defRPr sz="1200" b="0">
                          <a:solidFill>
                            <a:srgbClr val="333333"/>
                          </a:solidFill>
                          <a:latin typeface="Calibri"/>
                        </a:defRPr>
                      </a:pPr>
                      <a:r>
                        <a:t>7.9%</a:t>
                      </a:r>
                    </a:p>
                  </a:txBody>
                  <a:tcPr marL="45720" marR="45720" marT="9144" marB="9144" anchor="ctr"/>
                </a:tc>
                <a:tc>
                  <a:txBody>
                    <a:bodyPr wrap="square"/>
                    <a:lstStyle/>
                    <a:p>
                      <a:pPr algn="ctr">
                        <a:defRPr sz="1200" b="0">
                          <a:solidFill>
                            <a:srgbClr val="333333"/>
                          </a:solidFill>
                          <a:latin typeface="Calibri"/>
                        </a:defRPr>
                      </a:pPr>
                      <a:r>
                        <a:t>7.8%</a:t>
                      </a:r>
                    </a:p>
                  </a:txBody>
                  <a:tcPr marL="45720" marR="45720" marT="9144" marB="9144" anchor="ctr"/>
                </a:tc>
                <a:tc>
                  <a:txBody>
                    <a:bodyPr wrap="square"/>
                    <a:lstStyle/>
                    <a:p>
                      <a:pPr algn="ctr">
                        <a:defRPr sz="1200" b="0">
                          <a:solidFill>
                            <a:srgbClr val="333333"/>
                          </a:solidFill>
                          <a:latin typeface="Calibri"/>
                        </a:defRPr>
                      </a:pPr>
                      <a:r>
                        <a:t>8.1%</a:t>
                      </a:r>
                    </a:p>
                  </a:txBody>
                  <a:tcPr marL="45720" marR="45720" marT="9144" marB="9144" anchor="ctr"/>
                </a:tc>
              </a:tr>
              <a:tr h="384048">
                <a:tc>
                  <a:txBody>
                    <a:bodyPr wrap="square"/>
                    <a:lstStyle/>
                    <a:p>
                      <a:pPr algn="l">
                        <a:defRPr sz="1200" b="0">
                          <a:solidFill>
                            <a:srgbClr val="333333"/>
                          </a:solidFill>
                          <a:latin typeface="Calibri"/>
                        </a:defRPr>
                      </a:pPr>
                      <a:r>
                        <a:t>Demographics</a:t>
                      </a:r>
                    </a:p>
                  </a:txBody>
                  <a:tcPr marL="45720" marR="45720" marT="9144" marB="9144" anchor="ctr">
                    <a:solidFill>
                      <a:srgbClr val="F2F2F2"/>
                    </a:solidFill>
                  </a:tcPr>
                </a:tc>
                <a:tc>
                  <a:txBody>
                    <a:bodyPr wrap="square"/>
                    <a:lstStyle/>
                    <a:p>
                      <a:pPr algn="ctr">
                        <a:defRPr sz="1200" b="0">
                          <a:solidFill>
                            <a:srgbClr val="333333"/>
                          </a:solidFill>
                          <a:latin typeface="Calibri"/>
                        </a:defRPr>
                      </a:pPr>
                      <a:r>
                        <a:t>—</a:t>
                      </a:r>
                    </a:p>
                  </a:txBody>
                  <a:tcPr marL="45720" marR="45720" marT="9144" marB="9144" anchor="ctr">
                    <a:solidFill>
                      <a:srgbClr val="F2F2F2"/>
                    </a:solidFill>
                  </a:tcPr>
                </a:tc>
                <a:tc>
                  <a:txBody>
                    <a:bodyPr wrap="square"/>
                    <a:lstStyle/>
                    <a:p>
                      <a:pPr algn="ctr">
                        <a:defRPr sz="1200" b="0">
                          <a:solidFill>
                            <a:srgbClr val="333333"/>
                          </a:solidFill>
                          <a:latin typeface="Calibri"/>
                        </a:defRPr>
                      </a:pPr>
                      <a:r>
                        <a:t>—</a:t>
                      </a:r>
                    </a:p>
                  </a:txBody>
                  <a:tcPr marL="45720" marR="45720" marT="9144" marB="9144" anchor="ctr">
                    <a:solidFill>
                      <a:srgbClr val="F2F2F2"/>
                    </a:solidFill>
                  </a:tcPr>
                </a:tc>
                <a:tc>
                  <a:txBody>
                    <a:bodyPr wrap="square"/>
                    <a:lstStyle/>
                    <a:p>
                      <a:pPr algn="ctr">
                        <a:defRPr sz="1200" b="0">
                          <a:solidFill>
                            <a:srgbClr val="333333"/>
                          </a:solidFill>
                          <a:latin typeface="Calibri"/>
                        </a:defRPr>
                      </a:pPr>
                      <a:r>
                        <a:t>—</a:t>
                      </a:r>
                    </a:p>
                  </a:txBody>
                  <a:tcPr marL="45720" marR="45720" marT="9144" marB="9144" anchor="ctr">
                    <a:solidFill>
                      <a:srgbClr val="F2F2F2"/>
                    </a:solidFill>
                  </a:tcPr>
                </a:tc>
                <a:tc>
                  <a:txBody>
                    <a:bodyPr wrap="square"/>
                    <a:lstStyle/>
                    <a:p>
                      <a:pPr algn="ctr">
                        <a:defRPr sz="1200" b="0">
                          <a:solidFill>
                            <a:srgbClr val="333333"/>
                          </a:solidFill>
                          <a:latin typeface="Calibri"/>
                        </a:defRPr>
                      </a:pPr>
                      <a:r>
                        <a:t>—</a:t>
                      </a:r>
                    </a:p>
                  </a:txBody>
                  <a:tcPr marL="45720" marR="45720" marT="9144" marB="9144" anchor="ctr">
                    <a:solidFill>
                      <a:srgbClr val="F2F2F2"/>
                    </a:solidFill>
                  </a:tcPr>
                </a:tc>
              </a:tr>
            </a:tbl>
          </a:graphicData>
        </a:graphic>
      </p:graphicFrame>
      <p:sp>
        <p:nvSpPr>
          <p:cNvPr id="10" name="TextBox 9"/>
          <p:cNvSpPr txBox="1"/>
          <p:nvPr/>
        </p:nvSpPr>
        <p:spPr>
          <a:xfrm>
            <a:off x="548640" y="4160520"/>
            <a:ext cx="11155680" cy="384048"/>
          </a:xfrm>
          <a:prstGeom prst="rect">
            <a:avLst/>
          </a:prstGeom>
          <a:noFill/>
        </p:spPr>
        <p:txBody>
          <a:bodyPr wrap="square" lIns="64008" rIns="64008" tIns="18288" bIns="18288">
            <a:noAutofit/>
          </a:bodyPr>
          <a:lstStyle/>
          <a:p>
            <a:pPr algn="l">
              <a:lnSpc>
                <a:spcPct val="115000"/>
              </a:lnSpc>
              <a:spcAft>
                <a:spcPts val="700"/>
              </a:spcAft>
              <a:defRPr sz="1200" b="0" i="1">
                <a:solidFill>
                  <a:srgbClr val="666666"/>
                </a:solidFill>
                <a:latin typeface="Calibri"/>
              </a:defRPr>
            </a:pPr>
            <a:r>
              <a:t>Feature sets differ by design: Gain is computed on the 13-variable pool (includes SEX and LOAIKH); SHAP on the 11-feature main configuration (excludes them). The stability contrast is read within each table, across the four model × treatment combinations.</a:t>
            </a:r>
          </a:p>
        </p:txBody>
      </p:sp>
      <p:sp>
        <p:nvSpPr>
          <p:cNvPr id="11" name="TextBox 10"/>
          <p:cNvSpPr txBox="1"/>
          <p:nvPr/>
        </p:nvSpPr>
        <p:spPr>
          <a:xfrm>
            <a:off x="548640" y="4663440"/>
            <a:ext cx="11155680" cy="1783080"/>
          </a:xfrm>
          <a:prstGeom prst="rect">
            <a:avLst/>
          </a:prstGeom>
          <a:noFill/>
        </p:spPr>
        <p:txBody>
          <a:bodyPr wrap="square" lIns="64008" rIns="64008" tIns="18288" bIns="18288">
            <a:noAutofit/>
          </a:bodyPr>
          <a:lstStyle/>
          <a:p>
            <a:pPr algn="l">
              <a:lnSpc>
                <a:spcPct val="120000"/>
              </a:lnSpc>
              <a:spcAft>
                <a:spcPts val="800"/>
              </a:spcAft>
              <a:defRPr sz="1500" b="0" i="0">
                <a:solidFill>
                  <a:srgbClr val="333333"/>
                </a:solidFill>
                <a:latin typeface="Calibri"/>
              </a:defRPr>
            </a:pPr>
            <a:r>
              <a:t>•  Gain agrees on the leader — loan tenure/maturity — but on nothing below it. Product &amp; loan purpose ranges from 5.7% to 24.7% across the four combinations: wide enough to reverse its rank.</a:t>
            </a:r>
          </a:p>
          <a:p>
            <a:pPr algn="l">
              <a:lnSpc>
                <a:spcPct val="120000"/>
              </a:lnSpc>
              <a:spcAft>
                <a:spcPts val="800"/>
              </a:spcAft>
              <a:defRPr sz="1500" b="0" i="0">
                <a:solidFill>
                  <a:srgbClr val="333333"/>
                </a:solidFill>
                <a:latin typeface="Calibri"/>
              </a:defRPr>
            </a:pPr>
            <a:r>
              <a:t>•  SHAP holds tenure/maturity at 40.8–42.8% and balance/utilization at 26.1–28.7%, preserving the same ordering in every combination.</a:t>
            </a:r>
          </a:p>
          <a:p>
            <a:pPr algn="l">
              <a:lnSpc>
                <a:spcPct val="120000"/>
              </a:lnSpc>
              <a:spcAft>
                <a:spcPts val="800"/>
              </a:spcAft>
              <a:defRPr sz="1500" b="0" i="0">
                <a:solidFill>
                  <a:srgbClr val="333333"/>
                </a:solidFill>
                <a:latin typeface="Calibri"/>
              </a:defRPr>
            </a:pPr>
            <a:r>
              <a:t>•  Gain is therefore not a stable property of the data — it depends on which tree-boosting library computed it and which treatment was in force.</a:t>
            </a:r>
          </a:p>
          <a:p>
            <a:pPr algn="l">
              <a:lnSpc>
                <a:spcPct val="120000"/>
              </a:lnSpc>
              <a:spcAft>
                <a:spcPts val="700"/>
              </a:spcAft>
              <a:defRPr sz="1500" b="1" i="0">
                <a:solidFill>
                  <a:srgbClr val="002B5C"/>
                </a:solidFill>
                <a:latin typeface="Calibri"/>
              </a:defRPr>
            </a:pPr>
            <a:r>
              <a:t>•  Practical implication: never base a data-investment decision on a single model's Gain ranking.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Statistical Robustness: A Corrected Paired Test</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10 — 5-fold × 5-repeat CV on identical folds, Nadeau–Bengio correction, Holm adjustment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9</a:t>
            </a:r>
          </a:p>
        </p:txBody>
      </p:sp>
      <p:graphicFrame>
        <p:nvGraphicFramePr>
          <p:cNvPr id="6" name="Table 5"/>
          <p:cNvGraphicFramePr>
            <a:graphicFrameLocks noGrp="1"/>
          </p:cNvGraphicFramePr>
          <p:nvPr/>
        </p:nvGraphicFramePr>
        <p:xfrm>
          <a:off x="548640" y="1097280"/>
          <a:ext cx="11064240" cy="4041648"/>
        </p:xfrm>
        <a:graphic>
          <a:graphicData uri="http://schemas.openxmlformats.org/drawingml/2006/table">
            <a:tbl>
              <a:tblPr firstRow="1" bandRow="1">
                <a:tableStyleId>{5C22544A-7EE6-4342-B048-85BDC9FD1C3A}</a:tableStyleId>
              </a:tblPr>
              <a:tblGrid>
                <a:gridCol w="3200400"/>
                <a:gridCol w="2240280"/>
                <a:gridCol w="2514600"/>
                <a:gridCol w="1508760"/>
                <a:gridCol w="1600200"/>
              </a:tblGrid>
              <a:tr h="310896">
                <a:tc>
                  <a:txBody>
                    <a:bodyPr wrap="square"/>
                    <a:lstStyle/>
                    <a:p>
                      <a:pPr algn="ctr">
                        <a:defRPr sz="1250" b="1">
                          <a:solidFill>
                            <a:srgbClr val="FFFFFF"/>
                          </a:solidFill>
                          <a:latin typeface="Calibri"/>
                        </a:defRPr>
                      </a:pPr>
                      <a:r>
                        <a:t>Configuration</a:t>
                      </a:r>
                    </a:p>
                  </a:txBody>
                  <a:tcPr marL="45720" marR="45720" marT="9144" marB="9144" anchor="ctr">
                    <a:solidFill>
                      <a:srgbClr val="002B5C"/>
                    </a:solidFill>
                  </a:tcPr>
                </a:tc>
                <a:tc>
                  <a:txBody>
                    <a:bodyPr wrap="square"/>
                    <a:lstStyle/>
                    <a:p>
                      <a:pPr algn="ctr">
                        <a:defRPr sz="1250" b="1">
                          <a:solidFill>
                            <a:srgbClr val="FFFFFF"/>
                          </a:solidFill>
                          <a:latin typeface="Calibri"/>
                        </a:defRPr>
                      </a:pPr>
                      <a:r>
                        <a:t>Macro-F1</a:t>
                      </a:r>
                    </a:p>
                    <a:p>
                      <a:pPr algn="ctr">
                        <a:defRPr sz="1250" b="1">
                          <a:solidFill>
                            <a:srgbClr val="FFFFFF"/>
                          </a:solidFill>
                          <a:latin typeface="Calibri"/>
                        </a:defRPr>
                      </a:pPr>
                      <a:r>
                        <a:t>(mean ± sd)</a:t>
                      </a:r>
                    </a:p>
                  </a:txBody>
                  <a:tcPr marL="45720" marR="45720" marT="9144" marB="9144" anchor="ctr">
                    <a:solidFill>
                      <a:srgbClr val="002B5C"/>
                    </a:solidFill>
                  </a:tcPr>
                </a:tc>
                <a:tc>
                  <a:txBody>
                    <a:bodyPr wrap="square"/>
                    <a:lstStyle/>
                    <a:p>
                      <a:pPr algn="ctr">
                        <a:defRPr sz="1250" b="1">
                          <a:solidFill>
                            <a:srgbClr val="FFFFFF"/>
                          </a:solidFill>
                          <a:latin typeface="Calibri"/>
                        </a:defRPr>
                      </a:pPr>
                      <a:r>
                        <a:t>DT–none</a:t>
                      </a:r>
                    </a:p>
                    <a:p>
                      <a:pPr algn="ctr">
                        <a:defRPr sz="1250" b="1">
                          <a:solidFill>
                            <a:srgbClr val="FFFFFF"/>
                          </a:solidFill>
                          <a:latin typeface="Calibri"/>
                        </a:defRPr>
                      </a:pPr>
                      <a:r>
                        <a:t>minus comparator</a:t>
                      </a:r>
                    </a:p>
                  </a:txBody>
                  <a:tcPr marL="45720" marR="45720" marT="9144" marB="9144" anchor="ctr">
                    <a:solidFill>
                      <a:srgbClr val="002B5C"/>
                    </a:solidFill>
                  </a:tcPr>
                </a:tc>
                <a:tc>
                  <a:txBody>
                    <a:bodyPr wrap="square"/>
                    <a:lstStyle/>
                    <a:p>
                      <a:pPr algn="ctr">
                        <a:defRPr sz="1250" b="1">
                          <a:solidFill>
                            <a:srgbClr val="FFFFFF"/>
                          </a:solidFill>
                          <a:latin typeface="Calibri"/>
                        </a:defRPr>
                      </a:pPr>
                      <a:r>
                        <a:t>t</a:t>
                      </a:r>
                    </a:p>
                  </a:txBody>
                  <a:tcPr marL="45720" marR="45720" marT="9144" marB="9144" anchor="ctr">
                    <a:solidFill>
                      <a:srgbClr val="002B5C"/>
                    </a:solidFill>
                  </a:tcPr>
                </a:tc>
                <a:tc>
                  <a:txBody>
                    <a:bodyPr wrap="square"/>
                    <a:lstStyle/>
                    <a:p>
                      <a:pPr algn="ctr">
                        <a:defRPr sz="1250" b="1">
                          <a:solidFill>
                            <a:srgbClr val="FFFFFF"/>
                          </a:solidFill>
                          <a:latin typeface="Calibri"/>
                        </a:defRPr>
                      </a:pPr>
                      <a:r>
                        <a:t>Holm p</a:t>
                      </a:r>
                    </a:p>
                  </a:txBody>
                  <a:tcPr marL="45720" marR="45720" marT="9144" marB="9144" anchor="ctr">
                    <a:solidFill>
                      <a:srgbClr val="002B5C"/>
                    </a:solidFill>
                  </a:tcPr>
                </a:tc>
              </a:tr>
              <a:tr h="310896">
                <a:tc>
                  <a:txBody>
                    <a:bodyPr wrap="square"/>
                    <a:lstStyle/>
                    <a:p>
                      <a:pPr algn="l">
                        <a:defRPr sz="1250" b="1">
                          <a:solidFill>
                            <a:srgbClr val="333333"/>
                          </a:solidFill>
                          <a:latin typeface="Calibri"/>
                        </a:defRPr>
                      </a:pPr>
                      <a:r>
                        <a:t>Decision Tree–none</a:t>
                      </a:r>
                    </a:p>
                  </a:txBody>
                  <a:tcPr marL="45720" marR="45720" marT="9144" marB="9144" anchor="ctr">
                    <a:solidFill>
                      <a:srgbClr val="DDEECC"/>
                    </a:solidFill>
                  </a:tcPr>
                </a:tc>
                <a:tc>
                  <a:txBody>
                    <a:bodyPr wrap="square"/>
                    <a:lstStyle/>
                    <a:p>
                      <a:pPr algn="ctr">
                        <a:defRPr sz="1250" b="1">
                          <a:solidFill>
                            <a:srgbClr val="333333"/>
                          </a:solidFill>
                          <a:latin typeface="Calibri"/>
                        </a:defRPr>
                      </a:pPr>
                      <a:r>
                        <a:t>0.6271 ± 0.0109</a:t>
                      </a:r>
                    </a:p>
                  </a:txBody>
                  <a:tcPr marL="45720" marR="45720" marT="9144" marB="9144" anchor="ctr">
                    <a:solidFill>
                      <a:srgbClr val="DDEECC"/>
                    </a:solidFill>
                  </a:tcPr>
                </a:tc>
                <a:tc>
                  <a:txBody>
                    <a:bodyPr wrap="square"/>
                    <a:lstStyle/>
                    <a:p>
                      <a:pPr algn="ctr">
                        <a:defRPr sz="1250" b="1">
                          <a:solidFill>
                            <a:srgbClr val="333333"/>
                          </a:solidFill>
                          <a:latin typeface="Calibri"/>
                        </a:defRPr>
                      </a:pPr>
                      <a:r>
                        <a:t>—</a:t>
                      </a:r>
                    </a:p>
                  </a:txBody>
                  <a:tcPr marL="45720" marR="45720" marT="9144" marB="9144" anchor="ctr">
                    <a:solidFill>
                      <a:srgbClr val="DDEECC"/>
                    </a:solidFill>
                  </a:tcPr>
                </a:tc>
                <a:tc>
                  <a:txBody>
                    <a:bodyPr wrap="square"/>
                    <a:lstStyle/>
                    <a:p>
                      <a:pPr algn="ctr">
                        <a:defRPr sz="1250" b="1">
                          <a:solidFill>
                            <a:srgbClr val="333333"/>
                          </a:solidFill>
                          <a:latin typeface="Calibri"/>
                        </a:defRPr>
                      </a:pPr>
                      <a:r>
                        <a:t>—</a:t>
                      </a:r>
                    </a:p>
                  </a:txBody>
                  <a:tcPr marL="45720" marR="45720" marT="9144" marB="9144" anchor="ctr">
                    <a:solidFill>
                      <a:srgbClr val="DDEECC"/>
                    </a:solidFill>
                  </a:tcPr>
                </a:tc>
                <a:tc>
                  <a:txBody>
                    <a:bodyPr wrap="square"/>
                    <a:lstStyle/>
                    <a:p>
                      <a:pPr algn="ctr">
                        <a:defRPr sz="1250" b="1">
                          <a:solidFill>
                            <a:srgbClr val="333333"/>
                          </a:solidFill>
                          <a:latin typeface="Calibri"/>
                        </a:defRPr>
                      </a:pPr>
                      <a:r>
                        <a:t>—</a:t>
                      </a:r>
                    </a:p>
                  </a:txBody>
                  <a:tcPr marL="45720" marR="45720" marT="9144" marB="9144" anchor="ctr">
                    <a:solidFill>
                      <a:srgbClr val="DDEECC"/>
                    </a:solidFill>
                  </a:tcPr>
                </a:tc>
              </a:tr>
              <a:tr h="310896">
                <a:tc>
                  <a:txBody>
                    <a:bodyPr wrap="square"/>
                    <a:lstStyle/>
                    <a:p>
                      <a:pPr algn="l">
                        <a:defRPr sz="1250" b="0">
                          <a:solidFill>
                            <a:srgbClr val="333333"/>
                          </a:solidFill>
                          <a:latin typeface="Calibri"/>
                        </a:defRPr>
                      </a:pPr>
                      <a:r>
                        <a:t>XGBoost–none</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0.6217 ± 0.0101</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+0.0053</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0.81</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0.7885</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Random Forest–none</a:t>
                      </a:r>
                    </a:p>
                  </a:txBody>
                  <a:tcPr marL="45720" marR="45720" marT="9144" marB="9144" anchor="ctr"/>
                </a:tc>
                <a:tc>
                  <a:txBody>
                    <a:bodyPr wrap="square"/>
                    <a:lstStyle/>
                    <a:p>
                      <a:pPr algn="ctr">
                        <a:defRPr sz="1250" b="0">
                          <a:solidFill>
                            <a:srgbClr val="333333"/>
                          </a:solidFill>
                          <a:latin typeface="Calibri"/>
                        </a:defRPr>
                      </a:pPr>
                      <a:r>
                        <a:t>0.6216 ± 0.0097</a:t>
                      </a:r>
                    </a:p>
                  </a:txBody>
                  <a:tcPr marL="45720" marR="45720" marT="9144" marB="9144" anchor="ctr"/>
                </a:tc>
                <a:tc>
                  <a:txBody>
                    <a:bodyPr wrap="square"/>
                    <a:lstStyle/>
                    <a:p>
                      <a:pPr algn="ctr">
                        <a:defRPr sz="1250" b="0">
                          <a:solidFill>
                            <a:srgbClr val="333333"/>
                          </a:solidFill>
                          <a:latin typeface="Calibri"/>
                        </a:defRPr>
                      </a:pPr>
                      <a:r>
                        <a:t>+0.0054</a:t>
                      </a:r>
                    </a:p>
                  </a:txBody>
                  <a:tcPr marL="45720" marR="45720" marT="9144" marB="9144" anchor="ctr"/>
                </a:tc>
                <a:tc>
                  <a:txBody>
                    <a:bodyPr wrap="square"/>
                    <a:lstStyle/>
                    <a:p>
                      <a:pPr algn="ctr">
                        <a:defRPr sz="1250" b="0">
                          <a:solidFill>
                            <a:srgbClr val="333333"/>
                          </a:solidFill>
                          <a:latin typeface="Calibri"/>
                        </a:defRPr>
                      </a:pPr>
                      <a:r>
                        <a:t>0.87</a:t>
                      </a:r>
                    </a:p>
                  </a:txBody>
                  <a:tcPr marL="45720" marR="45720" marT="9144" marB="9144" anchor="ctr"/>
                </a:tc>
                <a:tc>
                  <a:txBody>
                    <a:bodyPr wrap="square"/>
                    <a:lstStyle/>
                    <a:p>
                      <a:pPr algn="ctr">
                        <a:defRPr sz="1250" b="0">
                          <a:solidFill>
                            <a:srgbClr val="333333"/>
                          </a:solidFill>
                          <a:latin typeface="Calibri"/>
                        </a:defRPr>
                      </a:pPr>
                      <a:r>
                        <a:t>0.7885</a:t>
                      </a:r>
                    </a:p>
                  </a:txBody>
                  <a:tcPr marL="45720" marR="45720" marT="9144" marB="9144" anchor="ctr"/>
                </a:tc>
              </a:tr>
              <a:tr h="310896">
                <a:tc>
                  <a:txBody>
                    <a:bodyPr wrap="square"/>
                    <a:lstStyle/>
                    <a:p>
                      <a:pPr algn="l">
                        <a:defRPr sz="1250" b="0">
                          <a:solidFill>
                            <a:srgbClr val="333333"/>
                          </a:solidFill>
                          <a:latin typeface="Calibri"/>
                        </a:defRPr>
                      </a:pPr>
                      <a:r>
                        <a:t>LightGBM–none</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0.6183 ± 0.0095</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+0.0088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1.26</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0.6634</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CatBoost–none</a:t>
                      </a:r>
                    </a:p>
                  </a:txBody>
                  <a:tcPr marL="45720" marR="45720" marT="9144" marB="9144" anchor="ctr"/>
                </a:tc>
                <a:tc>
                  <a:txBody>
                    <a:bodyPr wrap="square"/>
                    <a:lstStyle/>
                    <a:p>
                      <a:pPr algn="ctr">
                        <a:defRPr sz="1250" b="0">
                          <a:solidFill>
                            <a:srgbClr val="333333"/>
                          </a:solidFill>
                          <a:latin typeface="Calibri"/>
                        </a:defRPr>
                      </a:pPr>
                      <a:r>
                        <a:t>0.6042 ± 0.0116</a:t>
                      </a:r>
                    </a:p>
                  </a:txBody>
                  <a:tcPr marL="45720" marR="45720" marT="9144" marB="9144" anchor="ctr"/>
                </a:tc>
                <a:tc>
                  <a:txBody>
                    <a:bodyPr wrap="square"/>
                    <a:lstStyle/>
                    <a:p>
                      <a:pPr algn="ctr">
                        <a:defRPr sz="1250" b="0">
                          <a:solidFill>
                            <a:srgbClr val="333333"/>
                          </a:solidFill>
                          <a:latin typeface="Calibri"/>
                        </a:defRPr>
                      </a:pPr>
                      <a:r>
                        <a:t>+0.0229</a:t>
                      </a:r>
                    </a:p>
                  </a:txBody>
                  <a:tcPr marL="45720" marR="45720" marT="9144" marB="9144" anchor="ctr"/>
                </a:tc>
                <a:tc>
                  <a:txBody>
                    <a:bodyPr wrap="square"/>
                    <a:lstStyle/>
                    <a:p>
                      <a:pPr algn="ctr">
                        <a:defRPr sz="1250" b="0">
                          <a:solidFill>
                            <a:srgbClr val="333333"/>
                          </a:solidFill>
                          <a:latin typeface="Calibri"/>
                        </a:defRPr>
                      </a:pPr>
                      <a:r>
                        <a:t>3.42</a:t>
                      </a:r>
                    </a:p>
                  </a:txBody>
                  <a:tcPr marL="45720" marR="45720" marT="9144" marB="9144" anchor="ctr"/>
                </a:tc>
                <a:tc>
                  <a:txBody>
                    <a:bodyPr wrap="square"/>
                    <a:lstStyle/>
                    <a:p>
                      <a:pPr algn="ctr">
                        <a:defRPr sz="1250" b="0">
                          <a:solidFill>
                            <a:srgbClr val="333333"/>
                          </a:solidFill>
                          <a:latin typeface="Calibri"/>
                        </a:defRPr>
                      </a:pPr>
                      <a:r>
                        <a:t>0.0091</a:t>
                      </a:r>
                    </a:p>
                  </a:txBody>
                  <a:tcPr marL="45720" marR="45720" marT="9144" marB="9144" anchor="ctr"/>
                </a:tc>
              </a:tr>
              <a:tr h="310896">
                <a:tc>
                  <a:txBody>
                    <a:bodyPr wrap="square"/>
                    <a:lstStyle/>
                    <a:p>
                      <a:pPr algn="l">
                        <a:defRPr sz="1250" b="0">
                          <a:solidFill>
                            <a:srgbClr val="333333"/>
                          </a:solidFill>
                          <a:latin typeface="Calibri"/>
                        </a:defRPr>
                      </a:pPr>
                      <a:r>
                        <a:t>LightGBM–balanced</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0.5917 ± 0.0089</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+0.0354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5.51</a:t>
                      </a:r>
                    </a:p>
                  </a:txBody>
                  <a:tcPr marL="45720" marR="45720" marT="9144" marB="9144" anchor="ctr">
                    <a:solidFill>
                      <a:srgbClr val="F2F2F2"/>
                    </a:solidFill>
                  </a:tcPr>
                </a:tc>
                <a:tc>
                  <a:txBody>
                    <a:bodyPr wrap="square"/>
                    <a:lstStyle/>
                    <a:p>
                      <a:pPr algn="ctr">
                        <a:defRPr sz="1250" b="0">
                          <a:solidFill>
                            <a:srgbClr val="333333"/>
                          </a:solidFill>
                          <a:latin typeface="Calibri"/>
                        </a:defRPr>
                      </a:pPr>
                      <a:r>
                        <a:t>&lt;0.0001</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XGBoost–balanced</a:t>
                      </a:r>
                    </a:p>
                  </a:txBody>
                  <a:tcPr marL="45720" marR="45720" marT="9144" marB="9144" anchor="ctr"/>
                </a:tc>
                <a:tc>
                  <a:txBody>
                    <a:bodyPr wrap="square"/>
                    <a:lstStyle/>
                    <a:p>
                      <a:pPr algn="ctr">
                        <a:defRPr sz="1250" b="0">
                          <a:solidFill>
                            <a:srgbClr val="333333"/>
                          </a:solidFill>
                          <a:latin typeface="Calibri"/>
                        </a:defRPr>
                      </a:pPr>
                      <a:r>
                        <a:t>0.5878 ± 0.0083</a:t>
                      </a:r>
                    </a:p>
                  </a:txBody>
                  <a:tcPr marL="45720" marR="45720" marT="9144" marB="9144" anchor="ctr"/>
                </a:tc>
                <a:tc>
                  <a:txBody>
                    <a:bodyPr wrap="square"/>
                    <a:lstStyle/>
                    <a:p>
                      <a:pPr algn="ctr">
                        <a:defRPr sz="1250" b="0">
                          <a:solidFill>
                            <a:srgbClr val="333333"/>
                          </a:solidFill>
                          <a:latin typeface="Calibri"/>
                        </a:defRPr>
                      </a:pPr>
                      <a:r>
                        <a:t>+0.0392</a:t>
                      </a:r>
                    </a:p>
                  </a:txBody>
                  <a:tcPr marL="45720" marR="45720" marT="9144" marB="9144" anchor="ctr"/>
                </a:tc>
                <a:tc>
                  <a:txBody>
                    <a:bodyPr wrap="square"/>
                    <a:lstStyle/>
                    <a:p>
                      <a:pPr algn="ctr">
                        <a:defRPr sz="1250" b="0">
                          <a:solidFill>
                            <a:srgbClr val="333333"/>
                          </a:solidFill>
                          <a:latin typeface="Calibri"/>
                        </a:defRPr>
                      </a:pPr>
                      <a:r>
                        <a:t>6.50</a:t>
                      </a:r>
                    </a:p>
                  </a:txBody>
                  <a:tcPr marL="45720" marR="45720" marT="9144" marB="9144" anchor="ctr"/>
                </a:tc>
                <a:tc>
                  <a:txBody>
                    <a:bodyPr wrap="square"/>
                    <a:lstStyle/>
                    <a:p>
                      <a:pPr algn="ctr">
                        <a:defRPr sz="1250" b="0">
                          <a:solidFill>
                            <a:srgbClr val="333333"/>
                          </a:solidFill>
                          <a:latin typeface="Calibri"/>
                        </a:defRPr>
                      </a:pPr>
                      <a:r>
                        <a:t>&lt;0.0001</a:t>
                      </a:r>
                    </a:p>
                  </a:txBody>
                  <a:tcPr marL="45720" marR="45720" marT="9144" marB="9144" anchor="ctr"/>
                </a:tc>
              </a:tr>
              <a:tr h="310896">
                <a:tc>
                  <a:txBody>
                    <a:bodyPr wrap="square"/>
                    <a:lstStyle/>
                    <a:p>
                      <a:pPr algn="l">
                        <a:defRPr sz="1250" b="0">
                          <a:solidFill>
                            <a:srgbClr val="333333"/>
                          </a:solidFill>
                          <a:latin typeface="Calibri"/>
                        </a:defRPr>
                      </a:pPr>
                      <a:r>
                        <a:t>Random Forest–balanced</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0.5637 ± 0.0072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+0.0634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10.98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&lt;0.0001</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CatBoost–balanced</a:t>
                      </a:r>
                    </a:p>
                  </a:txBody>
                  <a:tcPr marL="45720" marR="45720" marT="9144" marB="9144" anchor="ctr"/>
                </a:tc>
                <a:tc>
                  <a:txBody>
                    <a:bodyPr wrap="square"/>
                    <a:lstStyle/>
                    <a:p>
                      <a:pPr algn="ctr">
                        <a:defRPr sz="1250" b="0">
                          <a:solidFill>
                            <a:srgbClr val="333333"/>
                          </a:solidFill>
                          <a:latin typeface="Calibri"/>
                        </a:defRPr>
                      </a:pPr>
                      <a:r>
                        <a:t>0.5471 ± 0.0091</a:t>
                      </a:r>
                    </a:p>
                  </a:txBody>
                  <a:tcPr marL="45720" marR="45720" marT="9144" marB="9144" anchor="ctr"/>
                </a:tc>
                <a:tc>
                  <a:txBody>
                    <a:bodyPr wrap="square"/>
                    <a:lstStyle/>
                    <a:p>
                      <a:pPr algn="ctr">
                        <a:defRPr sz="1250" b="0">
                          <a:solidFill>
                            <a:srgbClr val="333333"/>
                          </a:solidFill>
                          <a:latin typeface="Calibri"/>
                        </a:defRPr>
                      </a:pPr>
                      <a:r>
                        <a:t>+0.0800</a:t>
                      </a:r>
                    </a:p>
                  </a:txBody>
                  <a:tcPr marL="45720" marR="45720" marT="9144" marB="9144" anchor="ctr"/>
                </a:tc>
                <a:tc>
                  <a:txBody>
                    <a:bodyPr wrap="square"/>
                    <a:lstStyle/>
                    <a:p>
                      <a:pPr algn="ctr">
                        <a:defRPr sz="1250" b="0">
                          <a:solidFill>
                            <a:srgbClr val="333333"/>
                          </a:solidFill>
                          <a:latin typeface="Calibri"/>
                        </a:defRPr>
                      </a:pPr>
                      <a:r>
                        <a:t>13.11</a:t>
                      </a:r>
                    </a:p>
                  </a:txBody>
                  <a:tcPr marL="45720" marR="45720" marT="9144" marB="9144" anchor="ctr"/>
                </a:tc>
                <a:tc>
                  <a:txBody>
                    <a:bodyPr wrap="square"/>
                    <a:lstStyle/>
                    <a:p>
                      <a:pPr algn="ctr">
                        <a:defRPr sz="1250" b="0">
                          <a:solidFill>
                            <a:srgbClr val="333333"/>
                          </a:solidFill>
                          <a:latin typeface="Calibri"/>
                        </a:defRPr>
                      </a:pPr>
                      <a:r>
                        <a:t>&lt;0.0001</a:t>
                      </a:r>
                    </a:p>
                  </a:txBody>
                  <a:tcPr marL="45720" marR="45720" marT="9144" marB="9144" anchor="ctr"/>
                </a:tc>
              </a:tr>
              <a:tr h="310896">
                <a:tc>
                  <a:txBody>
                    <a:bodyPr wrap="square"/>
                    <a:lstStyle/>
                    <a:p>
                      <a:pPr algn="l">
                        <a:defRPr sz="1250" b="0">
                          <a:solidFill>
                            <a:srgbClr val="333333"/>
                          </a:solidFill>
                          <a:latin typeface="Calibri"/>
                        </a:defRPr>
                      </a:pPr>
                      <a:r>
                        <a:t>Decision Tree–balanced</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0.4990 ± 0.0144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+0.1281</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14.24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&lt;0.0001</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Logistic Regression–balanced</a:t>
                      </a:r>
                    </a:p>
                  </a:txBody>
                  <a:tcPr marL="45720" marR="45720" marT="9144" marB="9144" anchor="ctr"/>
                </a:tc>
                <a:tc>
                  <a:txBody>
                    <a:bodyPr wrap="square"/>
                    <a:lstStyle/>
                    <a:p>
                      <a:pPr algn="ctr">
                        <a:defRPr sz="1250" b="0">
                          <a:solidFill>
                            <a:srgbClr val="333333"/>
                          </a:solidFill>
                          <a:latin typeface="Calibri"/>
                        </a:defRPr>
                      </a:pPr>
                      <a:r>
                        <a:t>0.3876 ± 0.0055</a:t>
                      </a:r>
                    </a:p>
                  </a:txBody>
                  <a:tcPr marL="45720" marR="45720" marT="9144" marB="9144" anchor="ctr"/>
                </a:tc>
                <a:tc>
                  <a:txBody>
                    <a:bodyPr wrap="square"/>
                    <a:lstStyle/>
                    <a:p>
                      <a:pPr algn="ctr">
                        <a:defRPr sz="1250" b="0">
                          <a:solidFill>
                            <a:srgbClr val="333333"/>
                          </a:solidFill>
                          <a:latin typeface="Calibri"/>
                        </a:defRPr>
                      </a:pPr>
                      <a:r>
                        <a:t>+0.2394</a:t>
                      </a:r>
                    </a:p>
                  </a:txBody>
                  <a:tcPr marL="45720" marR="45720" marT="9144" marB="9144" anchor="ctr"/>
                </a:tc>
                <a:tc>
                  <a:txBody>
                    <a:bodyPr wrap="square"/>
                    <a:lstStyle/>
                    <a:p>
                      <a:pPr algn="ctr">
                        <a:defRPr sz="1250" b="0">
                          <a:solidFill>
                            <a:srgbClr val="333333"/>
                          </a:solidFill>
                          <a:latin typeface="Calibri"/>
                        </a:defRPr>
                      </a:pPr>
                      <a:r>
                        <a:t>41.55</a:t>
                      </a:r>
                    </a:p>
                  </a:txBody>
                  <a:tcPr marL="45720" marR="45720" marT="9144" marB="9144" anchor="ctr"/>
                </a:tc>
                <a:tc>
                  <a:txBody>
                    <a:bodyPr wrap="square"/>
                    <a:lstStyle/>
                    <a:p>
                      <a:pPr algn="ctr">
                        <a:defRPr sz="1250" b="0">
                          <a:solidFill>
                            <a:srgbClr val="333333"/>
                          </a:solidFill>
                          <a:latin typeface="Calibri"/>
                        </a:defRPr>
                      </a:pPr>
                      <a:r>
                        <a:t>&lt;0.0001</a:t>
                      </a:r>
                    </a:p>
                  </a:txBody>
                  <a:tcPr marL="45720" marR="45720" marT="9144" marB="9144" anchor="ctr"/>
                </a:tc>
              </a:tr>
              <a:tr h="310896">
                <a:tc>
                  <a:txBody>
                    <a:bodyPr wrap="square"/>
                    <a:lstStyle/>
                    <a:p>
                      <a:pPr algn="l">
                        <a:defRPr sz="1250" b="0">
                          <a:solidFill>
                            <a:srgbClr val="333333"/>
                          </a:solidFill>
                          <a:latin typeface="Calibri"/>
                        </a:defRPr>
                      </a:pPr>
                      <a:r>
                        <a:t>Logistic Regression–none</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0.3699 ± 0.0089</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+0.2572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31.54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&lt;0.0001</a:t>
                      </a:r>
                    </a:p>
                  </a:txBody>
                  <a:tcPr marL="45720" marR="45720" marT="9144" marB="9144" anchor="ctr">
                    <a:solidFill>
                      <a:srgbClr val="F2F2F2"/>
                    </a:solidFill>
                  </a:tcPr>
                </a:tc>
              </a:tr>
            </a:tbl>
          </a:graphicData>
        </a:graphic>
      </p:graphicFrame>
      <p:sp>
        <p:nvSpPr>
          <p:cNvPr id="7" name="TextBox 6"/>
          <p:cNvSpPr txBox="1"/>
          <p:nvPr/>
        </p:nvSpPr>
        <p:spPr>
          <a:xfrm>
            <a:off x="548640" y="5230368"/>
            <a:ext cx="11064240" cy="1417320"/>
          </a:xfrm>
          <a:prstGeom prst="rect">
            <a:avLst/>
          </a:prstGeom>
          <a:noFill/>
        </p:spPr>
        <p:txBody>
          <a:bodyPr wrap="square" lIns="64008" rIns="64008" tIns="18288" bIns="18288">
            <a:noAutofit/>
          </a:bodyPr>
          <a:lstStyle/>
          <a:p>
            <a:pPr algn="l">
              <a:lnSpc>
                <a:spcPct val="120000"/>
              </a:lnSpc>
              <a:spcAft>
                <a:spcPts val="700"/>
              </a:spcAft>
              <a:defRPr sz="1350" b="0" i="0">
                <a:solidFill>
                  <a:srgbClr val="666666"/>
                </a:solidFill>
                <a:latin typeface="Calibri"/>
              </a:defRPr>
            </a:pPr>
            <a:r>
              <a:t>Nadeau–Bengio replaces the naive variance factor 1/25 = 0.04 with 1/25 + 1/4 = 0.29, because folds in repeated k-fold CV share data. Holm controls the family of eleven comparisons.</a:t>
            </a:r>
          </a:p>
          <a:p>
            <a:pPr algn="l">
              <a:lnSpc>
                <a:spcPct val="120000"/>
              </a:lnSpc>
              <a:spcAft>
                <a:spcPts val="700"/>
              </a:spcAft>
              <a:defRPr sz="1500" b="1" i="0">
                <a:solidFill>
                  <a:srgbClr val="0070C0"/>
                </a:solidFill>
                <a:latin typeface="Calibri"/>
              </a:defRPr>
            </a:pPr>
            <a:r>
              <a:t>Three of eleven comparisons fail to reject: the four leading unweighted tree-based configurations (Macro-F1 0.6183–0.6271) are statistically indistinguishable, so this paper names no best algorithm. What survives correction is a treatment effect — every tree-based model beats its own class-weighted counterpart, all five contrasts rejecting.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When a Ranking Flips</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Section 4.6 — the same discipline applied to our own model ranking</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10</a:t>
            </a:r>
          </a:p>
        </p:txBody>
      </p:sp>
      <p:graphicFrame>
        <p:nvGraphicFramePr>
          <p:cNvPr id="6" name="Table 5"/>
          <p:cNvGraphicFramePr>
            <a:graphicFrameLocks noGrp="1"/>
          </p:cNvGraphicFramePr>
          <p:nvPr/>
        </p:nvGraphicFramePr>
        <p:xfrm>
          <a:off x="1188720" y="1234440"/>
          <a:ext cx="9784080" cy="2523744"/>
        </p:xfrm>
        <a:graphic>
          <a:graphicData uri="http://schemas.openxmlformats.org/drawingml/2006/table">
            <a:tbl>
              <a:tblPr firstRow="1" bandRow="1">
                <a:tableStyleId>{5C22544A-7EE6-4342-B048-85BDC9FD1C3A}</a:tableStyleId>
              </a:tblPr>
              <a:tblGrid>
                <a:gridCol w="3291840"/>
                <a:gridCol w="3108960"/>
                <a:gridCol w="3383280"/>
              </a:tblGrid>
              <a:tr h="420624">
                <a:tc>
                  <a:txBody>
                    <a:bodyPr wrap="square"/>
                    <a:lstStyle/>
                    <a:p>
                      <a:pPr algn="ctr">
                        <a:defRPr sz="1400" b="1">
                          <a:solidFill>
                            <a:srgbClr val="FFFFFF"/>
                          </a:solidFill>
                          <a:latin typeface="Calibri"/>
                        </a:defRPr>
                      </a:pPr>
                      <a:r>
                        <a:t>Configuration</a:t>
                      </a:r>
                    </a:p>
                  </a:txBody>
                  <a:tcPr marL="45720" marR="45720" marT="9144" marB="9144" anchor="ctr">
                    <a:solidFill>
                      <a:srgbClr val="002B5C"/>
                    </a:solidFill>
                  </a:tcPr>
                </a:tc>
                <a:tc>
                  <a:txBody>
                    <a:bodyPr wrap="square"/>
                    <a:lstStyle/>
                    <a:p>
                      <a:pPr algn="ctr">
                        <a:defRPr sz="1400" b="1">
                          <a:solidFill>
                            <a:srgbClr val="FFFFFF"/>
                          </a:solidFill>
                          <a:latin typeface="Calibri"/>
                        </a:defRPr>
                      </a:pPr>
                      <a:r>
                        <a:t>Hold-out Macro-F1</a:t>
                      </a:r>
                    </a:p>
                  </a:txBody>
                  <a:tcPr marL="45720" marR="45720" marT="9144" marB="9144" anchor="ctr">
                    <a:solidFill>
                      <a:srgbClr val="002B5C"/>
                    </a:solidFill>
                  </a:tcPr>
                </a:tc>
                <a:tc>
                  <a:txBody>
                    <a:bodyPr wrap="square"/>
                    <a:lstStyle/>
                    <a:p>
                      <a:pPr algn="ctr">
                        <a:defRPr sz="1400" b="1">
                          <a:solidFill>
                            <a:srgbClr val="FFFFFF"/>
                          </a:solidFill>
                          <a:latin typeface="Calibri"/>
                        </a:defRPr>
                      </a:pPr>
                      <a:r>
                        <a:t>Repeated-CV Macro-F1</a:t>
                      </a:r>
                    </a:p>
                  </a:txBody>
                  <a:tcPr marL="45720" marR="45720" marT="9144" marB="9144" anchor="ctr">
                    <a:solidFill>
                      <a:srgbClr val="002B5C"/>
                    </a:solidFill>
                  </a:tcPr>
                </a:tc>
              </a:tr>
              <a:tr h="420624">
                <a:tc>
                  <a:txBody>
                    <a:bodyPr wrap="square"/>
                    <a:lstStyle/>
                    <a:p>
                      <a:pPr algn="l">
                        <a:defRPr sz="1400" b="0">
                          <a:solidFill>
                            <a:srgbClr val="333333"/>
                          </a:solidFill>
                          <a:latin typeface="Calibri"/>
                        </a:defRPr>
                      </a:pPr>
                      <a:r>
                        <a:t>Decision Tree–none</a:t>
                      </a:r>
                    </a:p>
                  </a:txBody>
                  <a:tcPr marL="45720" marR="45720" marT="9144" marB="9144" anchor="ctr"/>
                </a:tc>
                <a:tc>
                  <a:txBody>
                    <a:bodyPr wrap="square"/>
                    <a:lstStyle/>
                    <a:p>
                      <a:pPr algn="ctr">
                        <a:defRPr sz="1400" b="0">
                          <a:solidFill>
                            <a:srgbClr val="333333"/>
                          </a:solidFill>
                          <a:latin typeface="Calibri"/>
                        </a:defRPr>
                      </a:pPr>
                      <a:r>
                        <a:t>0.6245   (3rd)</a:t>
                      </a:r>
                    </a:p>
                  </a:txBody>
                  <a:tcPr marL="45720" marR="45720" marT="9144" marB="9144" anchor="ctr"/>
                </a:tc>
                <a:tc>
                  <a:txBody>
                    <a:bodyPr wrap="square"/>
                    <a:lstStyle/>
                    <a:p>
                      <a:pPr algn="ctr">
                        <a:defRPr sz="1400" b="0">
                          <a:solidFill>
                            <a:srgbClr val="333333"/>
                          </a:solidFill>
                          <a:latin typeface="Calibri"/>
                        </a:defRPr>
                      </a:pPr>
                      <a:r>
                        <a:t>0.6271 ± 0.0109   (1st)</a:t>
                      </a:r>
                    </a:p>
                  </a:txBody>
                  <a:tcPr marL="45720" marR="45720" marT="9144" marB="9144" anchor="ctr"/>
                </a:tc>
              </a:tr>
              <a:tr h="420624">
                <a:tc>
                  <a:txBody>
                    <a:bodyPr wrap="square"/>
                    <a:lstStyle/>
                    <a:p>
                      <a:pPr algn="l">
                        <a:defRPr sz="1400" b="0">
                          <a:solidFill>
                            <a:srgbClr val="333333"/>
                          </a:solidFill>
                          <a:latin typeface="Calibri"/>
                        </a:defRPr>
                      </a:pPr>
                      <a:r>
                        <a:t>XGBoost–none</a:t>
                      </a:r>
                    </a:p>
                  </a:txBody>
                  <a:tcPr marL="45720" marR="45720" marT="9144" marB="9144" anchor="ctr">
                    <a:solidFill>
                      <a:srgbClr val="F2F2F2"/>
                    </a:solidFill>
                  </a:tcPr>
                </a:tc>
                <a:tc>
                  <a:txBody>
                    <a:bodyPr wrap="square"/>
                    <a:lstStyle/>
                    <a:p>
                      <a:pPr algn="ctr">
                        <a:defRPr sz="1400" b="0">
                          <a:solidFill>
                            <a:srgbClr val="333333"/>
                          </a:solidFill>
                          <a:latin typeface="Calibri"/>
                        </a:defRPr>
                      </a:pPr>
                      <a:r>
                        <a:t>0.6197   (4th)</a:t>
                      </a:r>
                    </a:p>
                  </a:txBody>
                  <a:tcPr marL="45720" marR="45720" marT="9144" marB="9144" anchor="ctr">
                    <a:solidFill>
                      <a:srgbClr val="F2F2F2"/>
                    </a:solidFill>
                  </a:tcPr>
                </a:tc>
                <a:tc>
                  <a:txBody>
                    <a:bodyPr wrap="square"/>
                    <a:lstStyle/>
                    <a:p>
                      <a:pPr algn="ctr">
                        <a:defRPr sz="1400" b="0">
                          <a:solidFill>
                            <a:srgbClr val="333333"/>
                          </a:solidFill>
                          <a:latin typeface="Calibri"/>
                        </a:defRPr>
                      </a:pPr>
                      <a:r>
                        <a:t>0.6217 ± 0.0101   (2nd)</a:t>
                      </a:r>
                    </a:p>
                  </a:txBody>
                  <a:tcPr marL="45720" marR="45720" marT="9144" marB="9144" anchor="ctr">
                    <a:solidFill>
                      <a:srgbClr val="F2F2F2"/>
                    </a:solidFill>
                  </a:tcPr>
                </a:tc>
              </a:tr>
              <a:tr h="420624">
                <a:tc>
                  <a:txBody>
                    <a:bodyPr wrap="square"/>
                    <a:lstStyle/>
                    <a:p>
                      <a:pPr algn="l">
                        <a:defRPr sz="1400" b="0">
                          <a:solidFill>
                            <a:srgbClr val="333333"/>
                          </a:solidFill>
                          <a:latin typeface="Calibri"/>
                        </a:defRPr>
                      </a:pPr>
                      <a:r>
                        <a:t>Random Forest–none</a:t>
                      </a:r>
                    </a:p>
                  </a:txBody>
                  <a:tcPr marL="45720" marR="45720" marT="9144" marB="9144" anchor="ctr"/>
                </a:tc>
                <a:tc>
                  <a:txBody>
                    <a:bodyPr wrap="square"/>
                    <a:lstStyle/>
                    <a:p>
                      <a:pPr algn="ctr">
                        <a:defRPr sz="1400" b="0">
                          <a:solidFill>
                            <a:srgbClr val="333333"/>
                          </a:solidFill>
                          <a:latin typeface="Calibri"/>
                        </a:defRPr>
                      </a:pPr>
                      <a:r>
                        <a:t>0.6149   (5th)</a:t>
                      </a:r>
                    </a:p>
                  </a:txBody>
                  <a:tcPr marL="45720" marR="45720" marT="9144" marB="9144" anchor="ctr"/>
                </a:tc>
                <a:tc>
                  <a:txBody>
                    <a:bodyPr wrap="square"/>
                    <a:lstStyle/>
                    <a:p>
                      <a:pPr algn="ctr">
                        <a:defRPr sz="1400" b="0">
                          <a:solidFill>
                            <a:srgbClr val="333333"/>
                          </a:solidFill>
                          <a:latin typeface="Calibri"/>
                        </a:defRPr>
                      </a:pPr>
                      <a:r>
                        <a:t>0.6216 ± 0.0097   (3rd)</a:t>
                      </a:r>
                    </a:p>
                  </a:txBody>
                  <a:tcPr marL="45720" marR="45720" marT="9144" marB="9144" anchor="ctr"/>
                </a:tc>
              </a:tr>
              <a:tr h="420624">
                <a:tc>
                  <a:txBody>
                    <a:bodyPr wrap="square"/>
                    <a:lstStyle/>
                    <a:p>
                      <a:pPr algn="l">
                        <a:defRPr sz="1400" b="1">
                          <a:solidFill>
                            <a:srgbClr val="333333"/>
                          </a:solidFill>
                          <a:latin typeface="Calibri"/>
                        </a:defRPr>
                      </a:pPr>
                      <a:r>
                        <a:t>LightGBM–none</a:t>
                      </a:r>
                    </a:p>
                  </a:txBody>
                  <a:tcPr marL="45720" marR="45720" marT="9144" marB="9144" anchor="ctr">
                    <a:solidFill>
                      <a:srgbClr val="DDEECC"/>
                    </a:solidFill>
                  </a:tcPr>
                </a:tc>
                <a:tc>
                  <a:txBody>
                    <a:bodyPr wrap="square"/>
                    <a:lstStyle/>
                    <a:p>
                      <a:pPr algn="ctr">
                        <a:defRPr sz="1400" b="1">
                          <a:solidFill>
                            <a:srgbClr val="333333"/>
                          </a:solidFill>
                          <a:latin typeface="Calibri"/>
                        </a:defRPr>
                      </a:pPr>
                      <a:r>
                        <a:t>0.6248   (1st)</a:t>
                      </a:r>
                    </a:p>
                  </a:txBody>
                  <a:tcPr marL="45720" marR="45720" marT="9144" marB="9144" anchor="ctr">
                    <a:solidFill>
                      <a:srgbClr val="DDEECC"/>
                    </a:solidFill>
                  </a:tcPr>
                </a:tc>
                <a:tc>
                  <a:txBody>
                    <a:bodyPr wrap="square"/>
                    <a:lstStyle/>
                    <a:p>
                      <a:pPr algn="ctr">
                        <a:defRPr sz="1400" b="1">
                          <a:solidFill>
                            <a:srgbClr val="333333"/>
                          </a:solidFill>
                          <a:latin typeface="Calibri"/>
                        </a:defRPr>
                      </a:pPr>
                      <a:r>
                        <a:t>0.6183 ± 0.0095   (4th)</a:t>
                      </a:r>
                    </a:p>
                  </a:txBody>
                  <a:tcPr marL="45720" marR="45720" marT="9144" marB="9144" anchor="ctr">
                    <a:solidFill>
                      <a:srgbClr val="DDEECC"/>
                    </a:solidFill>
                  </a:tcPr>
                </a:tc>
              </a:tr>
              <a:tr h="420624">
                <a:tc>
                  <a:txBody>
                    <a:bodyPr wrap="square"/>
                    <a:lstStyle/>
                    <a:p>
                      <a:pPr algn="l">
                        <a:defRPr sz="1400" b="0">
                          <a:solidFill>
                            <a:srgbClr val="333333"/>
                          </a:solidFill>
                          <a:latin typeface="Calibri"/>
                        </a:defRPr>
                      </a:pPr>
                      <a:r>
                        <a:t>CatBoost–none</a:t>
                      </a:r>
                    </a:p>
                  </a:txBody>
                  <a:tcPr marL="45720" marR="45720" marT="9144" marB="9144" anchor="ctr"/>
                </a:tc>
                <a:tc>
                  <a:txBody>
                    <a:bodyPr wrap="square"/>
                    <a:lstStyle/>
                    <a:p>
                      <a:pPr algn="ctr">
                        <a:defRPr sz="1400" b="0">
                          <a:solidFill>
                            <a:srgbClr val="333333"/>
                          </a:solidFill>
                          <a:latin typeface="Calibri"/>
                        </a:defRPr>
                      </a:pPr>
                      <a:r>
                        <a:t>0.6074   (6th)</a:t>
                      </a:r>
                    </a:p>
                  </a:txBody>
                  <a:tcPr marL="45720" marR="45720" marT="9144" marB="9144" anchor="ctr"/>
                </a:tc>
                <a:tc>
                  <a:txBody>
                    <a:bodyPr wrap="square"/>
                    <a:lstStyle/>
                    <a:p>
                      <a:pPr algn="ctr">
                        <a:defRPr sz="1400" b="0">
                          <a:solidFill>
                            <a:srgbClr val="333333"/>
                          </a:solidFill>
                          <a:latin typeface="Calibri"/>
                        </a:defRPr>
                      </a:pPr>
                      <a:r>
                        <a:t>0.6042 ± 0.0116   (5th)</a:t>
                      </a:r>
                    </a:p>
                  </a:txBody>
                  <a:tcPr marL="45720" marR="45720" marT="9144" marB="9144" anchor="ctr"/>
                </a:tc>
              </a:tr>
            </a:tbl>
          </a:graphicData>
        </a:graphic>
      </p:graphicFrame>
      <p:sp>
        <p:nvSpPr>
          <p:cNvPr id="7" name="TextBox 6"/>
          <p:cNvSpPr txBox="1"/>
          <p:nvPr/>
        </p:nvSpPr>
        <p:spPr>
          <a:xfrm>
            <a:off x="548640" y="4023360"/>
            <a:ext cx="11155680" cy="1874519"/>
          </a:xfrm>
          <a:prstGeom prst="rect">
            <a:avLst/>
          </a:prstGeom>
          <a:noFill/>
        </p:spPr>
        <p:txBody>
          <a:bodyPr wrap="square" lIns="64008" rIns="64008" tIns="18288" bIns="18288">
            <a:noAutofit/>
          </a:bodyPr>
          <a:lstStyle/>
          <a:p>
            <a:pPr algn="l">
              <a:lnSpc>
                <a:spcPct val="120000"/>
              </a:lnSpc>
              <a:spcAft>
                <a:spcPts val="800"/>
              </a:spcAft>
              <a:defRPr sz="1500" b="0" i="0">
                <a:solidFill>
                  <a:srgbClr val="333333"/>
                </a:solidFill>
                <a:latin typeface="Calibri"/>
              </a:defRPr>
            </a:pPr>
            <a:r>
              <a:t>•  On the single hold-out split, LightGBM–none leads XGBoost–none (0.6248 against 0.6197) — which invites the conclusion that LightGBM is the better algorithm here.</a:t>
            </a:r>
          </a:p>
          <a:p>
            <a:pPr algn="l">
              <a:lnSpc>
                <a:spcPct val="120000"/>
              </a:lnSpc>
              <a:spcAft>
                <a:spcPts val="800"/>
              </a:spcAft>
              <a:defRPr sz="1500" b="0" i="0">
                <a:solidFill>
                  <a:srgbClr val="333333"/>
                </a:solidFill>
                <a:latin typeface="Calibri"/>
              </a:defRPr>
            </a:pPr>
            <a:r>
              <a:t>•  Under repeated cross-validation the ordering reverses (0.6183 against 0.6217), and the corrected paired test gives p = 0.3844 — not close to rejecting in either direction. The apparent ranking was an artefact of one split.</a:t>
            </a:r>
          </a:p>
          <a:p>
            <a:pPr algn="l">
              <a:lnSpc>
                <a:spcPct val="120000"/>
              </a:lnSpc>
              <a:spcAft>
                <a:spcPts val="800"/>
              </a:spcAft>
              <a:defRPr sz="1500" b="0" i="0">
                <a:solidFill>
                  <a:srgbClr val="333333"/>
                </a:solidFill>
                <a:latin typeface="Calibri"/>
              </a:defRPr>
            </a:pPr>
            <a:r>
              <a:t>•  We re-tested one other claim the same way. Comparing two non-reference rows of Table 10 is not valid, and an earlier version of this paper did exactly that. Tested directly, CatBoost–none over LightGBM–balanced gives Δ = 0.0125, t = 2.29, p = 0.0313 unadjusted but 0.0626 after Holm — direction reproduced, evidence weaker than the bare p-value suggested.</a:t>
            </a:r>
          </a:p>
          <a:p>
            <a:pPr algn="l">
              <a:lnSpc>
                <a:spcPct val="120000"/>
              </a:lnSpc>
              <a:spcAft>
                <a:spcPts val="700"/>
              </a:spcAft>
              <a:defRPr sz="1500" b="1" i="0">
                <a:solidFill>
                  <a:srgbClr val="002B5C"/>
                </a:solidFill>
                <a:latin typeface="Calibri"/>
              </a:defRPr>
            </a:pPr>
            <a:r>
              <a:t>•  A test that fails to reject is as much a governance result as one that rejects.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Conclusion &amp; Governance Implications</a:t>
            </a:r>
          </a:p>
        </p:txBody>
      </p:sp>
      <p:sp>
        <p:nvSpPr>
          <p:cNvPr id="4" name="TextBox 3"/>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11</a:t>
            </a:r>
          </a:p>
        </p:txBody>
      </p:sp>
      <p:sp>
        <p:nvSpPr>
          <p:cNvPr id="5" name="TextBox 4"/>
          <p:cNvSpPr txBox="1"/>
          <p:nvPr/>
        </p:nvSpPr>
        <p:spPr>
          <a:xfrm>
            <a:off x="548640" y="1133856"/>
            <a:ext cx="5532120" cy="292608"/>
          </a:xfrm>
          <a:prstGeom prst="rect">
            <a:avLst/>
          </a:prstGeom>
          <a:noFill/>
        </p:spPr>
        <p:txBody>
          <a:bodyPr wrap="square" lIns="64008" rIns="64008" tIns="18288" bIns="18288">
            <a:noAutofit/>
          </a:bodyPr>
          <a:lstStyle/>
          <a:p>
            <a:pPr algn="l">
              <a:lnSpc>
                <a:spcPct val="124000"/>
              </a:lnSpc>
              <a:spcAft>
                <a:spcPts val="700"/>
              </a:spcAft>
              <a:defRPr sz="1600" b="1" i="0">
                <a:solidFill>
                  <a:srgbClr val="002B5C"/>
                </a:solidFill>
                <a:latin typeface="Calibri"/>
              </a:defRPr>
            </a:pPr>
            <a:r>
              <a:t>What we found</a:t>
            </a:r>
          </a:p>
        </p:txBody>
      </p:sp>
      <p:sp>
        <p:nvSpPr>
          <p:cNvPr id="6" name="TextBox 5"/>
          <p:cNvSpPr txBox="1"/>
          <p:nvPr/>
        </p:nvSpPr>
        <p:spPr>
          <a:xfrm>
            <a:off x="548640" y="1481328"/>
            <a:ext cx="5532120" cy="3840480"/>
          </a:xfrm>
          <a:prstGeom prst="rect">
            <a:avLst/>
          </a:prstGeom>
          <a:noFill/>
        </p:spPr>
        <p:txBody>
          <a:bodyPr wrap="square" lIns="64008" rIns="64008" tIns="18288" bIns="18288">
            <a:noAutofit/>
          </a:bodyPr>
          <a:lstStyle/>
          <a:p>
            <a:pPr algn="l">
              <a:lnSpc>
                <a:spcPct val="115000"/>
              </a:lnSpc>
              <a:spcAft>
                <a:spcPts val="200"/>
              </a:spcAft>
              <a:defRPr sz="1400" b="1" i="0">
                <a:solidFill>
                  <a:srgbClr val="002B5C"/>
                </a:solidFill>
                <a:latin typeface="Calibri"/>
              </a:defRPr>
            </a:pPr>
            <a:r>
              <a:t>RQ1 — The imbalance treatment is better identified than the algorithm.</a:t>
            </a:r>
          </a:p>
          <a:p>
            <a:pPr algn="l">
              <a:lnSpc>
                <a:spcPct val="118000"/>
              </a:lnSpc>
              <a:spcAft>
                <a:spcPts val="1100"/>
              </a:spcAft>
              <a:defRPr sz="1300" b="0" i="0">
                <a:solidFill>
                  <a:srgbClr val="333333"/>
                </a:solidFill>
                <a:latin typeface="Calibri"/>
              </a:defRPr>
            </a:pPr>
            <a:r>
              <a:t>For every tree-based classifier, dropping class weighting improves repeated-CV Macro-F1 and survives Holm. The four leading configurations (0.6183–0.6271) cannot be separated. Highest point estimate: Decision Tree–none (0.6271 ± 0.0109); best hold-out: LightGBM–none (0.6248). We report both and claim neither.</a:t>
            </a:r>
          </a:p>
          <a:p>
            <a:pPr algn="l">
              <a:lnSpc>
                <a:spcPct val="115000"/>
              </a:lnSpc>
              <a:spcAft>
                <a:spcPts val="200"/>
              </a:spcAft>
              <a:defRPr sz="1400" b="1" i="0">
                <a:solidFill>
                  <a:srgbClr val="002B5C"/>
                </a:solidFill>
                <a:latin typeface="Calibri"/>
              </a:defRPr>
            </a:pPr>
            <a:r>
              <a:t>RQ2 — Nine of thirteen features recover 98–99% of peak.</a:t>
            </a:r>
          </a:p>
          <a:p>
            <a:pPr algn="l">
              <a:lnSpc>
                <a:spcPct val="118000"/>
              </a:lnSpc>
              <a:spcAft>
                <a:spcPts val="1100"/>
              </a:spcAft>
              <a:defRPr sz="1300" b="0" i="0">
                <a:solidFill>
                  <a:srgbClr val="333333"/>
                </a:solidFill>
                <a:latin typeface="Calibri"/>
              </a:defRPr>
            </a:pPr>
            <a:r>
              <a:t>DAYS_TO_MATURITY is dominant (ablation cost 16–23%), and honest in-fold selection costs under 1% — supporting a more parsimonious, auditable specification.</a:t>
            </a:r>
          </a:p>
          <a:p>
            <a:pPr algn="l">
              <a:lnSpc>
                <a:spcPct val="115000"/>
              </a:lnSpc>
              <a:spcAft>
                <a:spcPts val="200"/>
              </a:spcAft>
              <a:defRPr sz="1400" b="1" i="0">
                <a:solidFill>
                  <a:srgbClr val="002B5C"/>
                </a:solidFill>
                <a:latin typeface="Calibri"/>
              </a:defRPr>
            </a:pPr>
            <a:r>
              <a:t>RQ3 — SHAP is stable across algorithms and treatments; Gain is not.</a:t>
            </a:r>
          </a:p>
          <a:p>
            <a:pPr algn="l">
              <a:lnSpc>
                <a:spcPct val="118000"/>
              </a:lnSpc>
              <a:spcAft>
                <a:spcPts val="700"/>
              </a:spcAft>
              <a:defRPr sz="1300" b="0" i="0">
                <a:solidFill>
                  <a:srgbClr val="333333"/>
                </a:solidFill>
                <a:latin typeface="Calibri"/>
              </a:defRPr>
            </a:pPr>
            <a:r>
              <a:t>Consistently defined Gain agrees on the leading group but not on the ranks below it. Triangulate importance measures before a data-investment decision.</a:t>
            </a:r>
          </a:p>
        </p:txBody>
      </p:sp>
      <p:sp>
        <p:nvSpPr>
          <p:cNvPr id="7" name="Rectangle 6"/>
          <p:cNvSpPr/>
          <p:nvPr/>
        </p:nvSpPr>
        <p:spPr>
          <a:xfrm>
            <a:off x="6291072" y="1152144"/>
            <a:ext cx="13716" cy="416052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10528" y="1133856"/>
            <a:ext cx="5120640" cy="292608"/>
          </a:xfrm>
          <a:prstGeom prst="rect">
            <a:avLst/>
          </a:prstGeom>
          <a:noFill/>
        </p:spPr>
        <p:txBody>
          <a:bodyPr wrap="square" lIns="64008" rIns="64008" tIns="18288" bIns="18288">
            <a:noAutofit/>
          </a:bodyPr>
          <a:lstStyle/>
          <a:p>
            <a:pPr algn="l">
              <a:lnSpc>
                <a:spcPct val="124000"/>
              </a:lnSpc>
              <a:spcAft>
                <a:spcPts val="700"/>
              </a:spcAft>
              <a:defRPr sz="1600" b="1" i="0">
                <a:solidFill>
                  <a:srgbClr val="002B5C"/>
                </a:solidFill>
                <a:latin typeface="Calibri"/>
              </a:defRPr>
            </a:pPr>
            <a:r>
              <a:t>What it means for governance</a:t>
            </a:r>
          </a:p>
        </p:txBody>
      </p:sp>
      <p:sp>
        <p:nvSpPr>
          <p:cNvPr id="9" name="TextBox 8"/>
          <p:cNvSpPr txBox="1"/>
          <p:nvPr/>
        </p:nvSpPr>
        <p:spPr>
          <a:xfrm>
            <a:off x="6510528" y="1481328"/>
            <a:ext cx="5120640" cy="3840480"/>
          </a:xfrm>
          <a:prstGeom prst="rect">
            <a:avLst/>
          </a:prstGeom>
          <a:noFill/>
        </p:spPr>
        <p:txBody>
          <a:bodyPr wrap="square" lIns="64008" rIns="64008" tIns="18288" bIns="18288">
            <a:noAutofit/>
          </a:bodyPr>
          <a:lstStyle/>
          <a:p>
            <a:pPr algn="l">
              <a:lnSpc>
                <a:spcPct val="118000"/>
              </a:lnSpc>
              <a:spcAft>
                <a:spcPts val="1000"/>
              </a:spcAft>
              <a:defRPr sz="1300" b="0" i="0">
                <a:solidFill>
                  <a:srgbClr val="333333"/>
                </a:solidFill>
                <a:latin typeface="Calibri"/>
              </a:defRPr>
            </a:pPr>
            <a:r>
              <a:t>1.  Imbalance-aware, multi-metric evaluation is a safeguard.  Two configurations with comparable Macro-F1 behave in opposite ways; choosing on Macro-F1 alone is choosing blind.</a:t>
            </a:r>
          </a:p>
          <a:p>
            <a:pPr algn="l">
              <a:lnSpc>
                <a:spcPct val="118000"/>
              </a:lnSpc>
              <a:spcAft>
                <a:spcPts val="1000"/>
              </a:spcAft>
              <a:defRPr sz="1300" b="0" i="0">
                <a:solidFill>
                  <a:srgbClr val="333333"/>
                </a:solidFill>
                <a:latin typeface="Calibri"/>
              </a:defRPr>
            </a:pPr>
            <a:r>
              <a:t>2.  Feature efficiency lowers governance cost.  Each feature dropped is one fewer feed to source, document, monitor for drift and explain to a supervisor.</a:t>
            </a:r>
          </a:p>
          <a:p>
            <a:pPr algn="l">
              <a:lnSpc>
                <a:spcPct val="118000"/>
              </a:lnSpc>
              <a:spcAft>
                <a:spcPts val="1000"/>
              </a:spcAft>
              <a:defRPr sz="1300" b="0" i="0">
                <a:solidFill>
                  <a:srgbClr val="333333"/>
                </a:solidFill>
                <a:latin typeface="Calibri"/>
              </a:defRPr>
            </a:pPr>
            <a:r>
              <a:t>3.  No single measure should be trusted until checked against an independent one.  Applied to our own ranking, it overturned a claim we would otherwise have made.</a:t>
            </a:r>
          </a:p>
          <a:p>
            <a:pPr algn="l">
              <a:lnSpc>
                <a:spcPct val="118000"/>
              </a:lnSpc>
              <a:spcAft>
                <a:spcPts val="700"/>
              </a:spcAft>
              <a:defRPr sz="1300" b="1" i="0">
                <a:solidFill>
                  <a:srgbClr val="002B5C"/>
                </a:solidFill>
                <a:latin typeface="Calibri"/>
              </a:defRPr>
            </a:pPr>
            <a:r>
              <a:t>4.  An automated flag should trigger a documented, falsifiable check — not a plausible justification.  IV &gt; 1.0 is a prompt for human review, not automatic exclusion.</a:t>
            </a:r>
          </a:p>
        </p:txBody>
      </p:sp>
      <p:sp>
        <p:nvSpPr>
          <p:cNvPr id="10" name="Rectangle 9"/>
          <p:cNvSpPr/>
          <p:nvPr/>
        </p:nvSpPr>
        <p:spPr>
          <a:xfrm>
            <a:off x="548640" y="5532120"/>
            <a:ext cx="11109960" cy="960120"/>
          </a:xfrm>
          <a:prstGeom prst="rect">
            <a:avLst/>
          </a:prstGeom>
          <a:solidFill>
            <a:srgbClr val="D6E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5641848"/>
            <a:ext cx="10744200" cy="740664"/>
          </a:xfrm>
          <a:prstGeom prst="rect">
            <a:avLst/>
          </a:prstGeom>
          <a:noFill/>
        </p:spPr>
        <p:txBody>
          <a:bodyPr wrap="square" lIns="64008" rIns="64008" tIns="18288" bIns="18288">
            <a:noAutofit/>
          </a:bodyPr>
          <a:lstStyle/>
          <a:p>
            <a:pPr algn="l">
              <a:lnSpc>
                <a:spcPct val="120000"/>
              </a:lnSpc>
              <a:spcAft>
                <a:spcPts val="700"/>
              </a:spcAft>
              <a:defRPr sz="1400" b="1" i="0">
                <a:solidFill>
                  <a:srgbClr val="002B5C"/>
                </a:solidFill>
                <a:latin typeface="Calibri"/>
              </a:defRPr>
            </a:pPr>
            <a:r>
              <a:t>Stated as conditional recommendations.  Every result comes from one institution and one classification snapshot, resampled randomly; none has been validated out-of-time. What transfers is the ordering of the checks, not the specific coefficients.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Limitations &amp; Future Work</a:t>
            </a:r>
          </a:p>
        </p:txBody>
      </p:sp>
      <p:sp>
        <p:nvSpPr>
          <p:cNvPr id="4" name="TextBox 3"/>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12</a:t>
            </a:r>
          </a:p>
        </p:txBody>
      </p:sp>
      <p:sp>
        <p:nvSpPr>
          <p:cNvPr id="5" name="TextBox 4"/>
          <p:cNvSpPr txBox="1"/>
          <p:nvPr/>
        </p:nvSpPr>
        <p:spPr>
          <a:xfrm>
            <a:off x="548640" y="1152144"/>
            <a:ext cx="11109960" cy="4160520"/>
          </a:xfrm>
          <a:prstGeom prst="rect">
            <a:avLst/>
          </a:prstGeom>
          <a:noFill/>
        </p:spPr>
        <p:txBody>
          <a:bodyPr wrap="square" lIns="64008" rIns="64008" tIns="18288" bIns="18288">
            <a:noAutofit/>
          </a:bodyPr>
          <a:lstStyle/>
          <a:p>
            <a:pPr algn="l">
              <a:lnSpc>
                <a:spcPct val="120000"/>
              </a:lnSpc>
              <a:spcAft>
                <a:spcPts val="1200"/>
              </a:spcAft>
              <a:defRPr sz="1500" b="0" i="0">
                <a:solidFill>
                  <a:srgbClr val="333333"/>
                </a:solidFill>
                <a:latin typeface="Calibri"/>
              </a:defRPr>
            </a:pPr>
            <a:r>
              <a:t>1.   Small minority-group samples.   Only 121 Group-3 loans in the test set, so per-class estimates carry real uncertainty. Model comparisons should rely on the repeated-CV figures — and even there several configurations are indistinguishable.</a:t>
            </a:r>
          </a:p>
          <a:p>
            <a:pPr algn="l">
              <a:lnSpc>
                <a:spcPct val="120000"/>
              </a:lnSpc>
              <a:spcAft>
                <a:spcPts val="1200"/>
              </a:spcAft>
              <a:defRPr sz="1500" b="0" i="0">
                <a:solidFill>
                  <a:srgbClr val="333333"/>
                </a:solidFill>
                <a:latin typeface="Calibri"/>
              </a:defRPr>
            </a:pPr>
            <a:r>
              <a:t>2.   Single institution, single snapshot.   The file records no classification date, so all resampling is random rather than temporal. An out-of-time evaluation is the necessary next step, and the Group-5 legacy stock suggests in-sample performance may be flattering relative to what such a test would show.</a:t>
            </a:r>
          </a:p>
          <a:p>
            <a:pPr algn="l">
              <a:lnSpc>
                <a:spcPct val="120000"/>
              </a:lnSpc>
              <a:spcAft>
                <a:spcPts val="1200"/>
              </a:spcAft>
              <a:defRPr sz="1500" b="0" i="0">
                <a:solidFill>
                  <a:srgbClr val="333333"/>
                </a:solidFill>
                <a:latin typeface="Calibri"/>
              </a:defRPr>
            </a:pPr>
            <a:r>
              <a:t>3.   Label encoding.   Categorical variables are label-encoded for the non-CatBoost models, imposing an arbitrary ordering on nominal codes such as branch identifiers. Native categorical handling was verified for CatBoost only.</a:t>
            </a:r>
          </a:p>
          <a:p>
            <a:pPr algn="l">
              <a:lnSpc>
                <a:spcPct val="120000"/>
              </a:lnSpc>
              <a:spcAft>
                <a:spcPts val="1200"/>
              </a:spcAft>
              <a:defRPr sz="1500" b="0" i="0">
                <a:solidFill>
                  <a:srgbClr val="333333"/>
                </a:solidFill>
                <a:latin typeface="Calibri"/>
              </a:defRPr>
            </a:pPr>
            <a:r>
              <a:t>4.   Hyperparameters fixed a priori, not tuned.   This keeps the comparison clean, but compares algorithm families at sensible defaults rather than at their optima. A tuning budget could reorder the four inseparable configurations; it is less likely to overturn the treatment effect, which is an order of magnitude larger.</a:t>
            </a:r>
          </a:p>
          <a:p>
            <a:pPr algn="l">
              <a:lnSpc>
                <a:spcPct val="120000"/>
              </a:lnSpc>
              <a:spcAft>
                <a:spcPts val="700"/>
              </a:spcAft>
              <a:defRPr sz="1400" b="1" i="0">
                <a:solidFill>
                  <a:srgbClr val="C00000"/>
                </a:solidFill>
                <a:latin typeface="Calibri"/>
              </a:defRPr>
            </a:pPr>
            <a:r>
              <a:t>Throughout: the temporal availability of DAYS_TO_MATURITY cannot be confirmed from the dataset alone. Every governance claim is conditional on out-of-time validation this single-snapshot dataset cannot supply.</a:t>
            </a:r>
          </a:p>
        </p:txBody>
      </p:sp>
      <p:sp>
        <p:nvSpPr>
          <p:cNvPr id="6" name="Rectangle 5"/>
          <p:cNvSpPr/>
          <p:nvPr/>
        </p:nvSpPr>
        <p:spPr>
          <a:xfrm>
            <a:off x="0" y="5623560"/>
            <a:ext cx="12191695" cy="12344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5742432"/>
            <a:ext cx="11109960" cy="411480"/>
          </a:xfrm>
          <a:prstGeom prst="rect">
            <a:avLst/>
          </a:prstGeom>
          <a:noFill/>
        </p:spPr>
        <p:txBody>
          <a:bodyPr wrap="square" lIns="64008" rIns="64008" tIns="18288" bIns="18288">
            <a:noAutofit/>
          </a:bodyPr>
          <a:lstStyle/>
          <a:p>
            <a:pPr algn="ctr">
              <a:spcAft>
                <a:spcPts val="400"/>
              </a:spcAft>
              <a:defRPr sz="2100" b="1" i="0">
                <a:solidFill>
                  <a:srgbClr val="FFFFFF"/>
                </a:solidFill>
                <a:latin typeface="Calibri"/>
              </a:defRPr>
            </a:pPr>
            <a:r>
              <a:t>Thank you  —  Questions &amp; Discussion</a:t>
            </a:r>
          </a:p>
        </p:txBody>
      </p:sp>
      <p:sp>
        <p:nvSpPr>
          <p:cNvPr id="8" name="TextBox 7"/>
          <p:cNvSpPr txBox="1"/>
          <p:nvPr/>
        </p:nvSpPr>
        <p:spPr>
          <a:xfrm>
            <a:off x="548640" y="6217920"/>
            <a:ext cx="11109960" cy="411480"/>
          </a:xfrm>
          <a:prstGeom prst="rect">
            <a:avLst/>
          </a:prstGeom>
          <a:noFill/>
        </p:spPr>
        <p:txBody>
          <a:bodyPr wrap="square" lIns="64008" rIns="64008" tIns="18288" bIns="18288">
            <a:noAutofit/>
          </a:bodyPr>
          <a:lstStyle/>
          <a:p>
            <a:pPr algn="ctr">
              <a:spcAft>
                <a:spcPts val="400"/>
              </a:spcAft>
              <a:defRPr sz="1500" b="0" i="0">
                <a:solidFill>
                  <a:srgbClr val="BBDBF5"/>
                </a:solidFill>
                <a:latin typeface="Calibri"/>
              </a:defRPr>
            </a:pPr>
            <a:r>
              <a:t>Đàm Công Danh  ·  danh.dc251317m@sis.hust.edu.vn  ·  +84 966 565 830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B1 — Leakage Diagnostics &amp; Ablation</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2 (flagged variables) and Table 6 — supporting slide 7</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B1</a:t>
            </a:r>
          </a:p>
        </p:txBody>
      </p:sp>
      <p:sp>
        <p:nvSpPr>
          <p:cNvPr id="6" name="TextBox 5"/>
          <p:cNvSpPr txBox="1"/>
          <p:nvPr/>
        </p:nvSpPr>
        <p:spPr>
          <a:xfrm>
            <a:off x="548640" y="1115568"/>
            <a:ext cx="5394960" cy="292608"/>
          </a:xfrm>
          <a:prstGeom prst="rect">
            <a:avLst/>
          </a:prstGeom>
          <a:noFill/>
        </p:spPr>
        <p:txBody>
          <a:bodyPr wrap="square" lIns="64008" rIns="64008" tIns="18288" bIns="18288">
            <a:noAutofit/>
          </a:bodyPr>
          <a:lstStyle/>
          <a:p>
            <a:pPr algn="l">
              <a:lnSpc>
                <a:spcPct val="124000"/>
              </a:lnSpc>
              <a:spcAft>
                <a:spcPts val="700"/>
              </a:spcAft>
              <a:defRPr sz="1450" b="1" i="0">
                <a:solidFill>
                  <a:srgbClr val="002B5C"/>
                </a:solidFill>
                <a:latin typeface="Calibri"/>
              </a:defRPr>
            </a:pPr>
            <a:r>
              <a:t>Variables above the IV = 1.0 leakage flag</a:t>
            </a:r>
          </a:p>
        </p:txBody>
      </p:sp>
      <p:graphicFrame>
        <p:nvGraphicFramePr>
          <p:cNvPr id="7" name="Table 6"/>
          <p:cNvGraphicFramePr>
            <a:graphicFrameLocks noGrp="1"/>
          </p:cNvGraphicFramePr>
          <p:nvPr/>
        </p:nvGraphicFramePr>
        <p:xfrm>
          <a:off x="548640" y="1463040"/>
          <a:ext cx="5394960" cy="2523744"/>
        </p:xfrm>
        <a:graphic>
          <a:graphicData uri="http://schemas.openxmlformats.org/drawingml/2006/table">
            <a:tbl>
              <a:tblPr firstRow="1" bandRow="1">
                <a:tableStyleId>{5C22544A-7EE6-4342-B048-85BDC9FD1C3A}</a:tableStyleId>
              </a:tblPr>
              <a:tblGrid>
                <a:gridCol w="2103120"/>
                <a:gridCol w="777240"/>
                <a:gridCol w="2514600"/>
              </a:tblGrid>
              <a:tr h="420624">
                <a:tc>
                  <a:txBody>
                    <a:bodyPr wrap="square"/>
                    <a:lstStyle/>
                    <a:p>
                      <a:pPr algn="ctr">
                        <a:defRPr sz="1100" b="1">
                          <a:solidFill>
                            <a:srgbClr val="FFFFFF"/>
                          </a:solidFill>
                          <a:latin typeface="Calibri"/>
                        </a:defRPr>
                      </a:pPr>
                      <a:r>
                        <a:t>Feature</a:t>
                      </a:r>
                    </a:p>
                  </a:txBody>
                  <a:tcPr marL="45720" marR="45720" marT="9144" marB="9144" anchor="ctr">
                    <a:solidFill>
                      <a:srgbClr val="002B5C"/>
                    </a:solidFill>
                  </a:tcPr>
                </a:tc>
                <a:tc>
                  <a:txBody>
                    <a:bodyPr wrap="square"/>
                    <a:lstStyle/>
                    <a:p>
                      <a:pPr algn="ctr">
                        <a:defRPr sz="1100" b="1">
                          <a:solidFill>
                            <a:srgbClr val="FFFFFF"/>
                          </a:solidFill>
                          <a:latin typeface="Calibri"/>
                        </a:defRPr>
                      </a:pPr>
                      <a:r>
                        <a:t>IV</a:t>
                      </a:r>
                    </a:p>
                  </a:txBody>
                  <a:tcPr marL="45720" marR="45720" marT="9144" marB="9144" anchor="ctr">
                    <a:solidFill>
                      <a:srgbClr val="002B5C"/>
                    </a:solidFill>
                  </a:tcPr>
                </a:tc>
                <a:tc>
                  <a:txBody>
                    <a:bodyPr wrap="square"/>
                    <a:lstStyle/>
                    <a:p>
                      <a:pPr algn="ctr">
                        <a:defRPr sz="1100" b="1">
                          <a:solidFill>
                            <a:srgbClr val="FFFFFF"/>
                          </a:solidFill>
                          <a:latin typeface="Calibri"/>
                        </a:defRPr>
                      </a:pPr>
                      <a:r>
                        <a:t>Level / decision</a:t>
                      </a:r>
                    </a:p>
                  </a:txBody>
                  <a:tcPr marL="45720" marR="45720" marT="9144" marB="9144" anchor="ctr">
                    <a:solidFill>
                      <a:srgbClr val="002B5C"/>
                    </a:solidFill>
                  </a:tcPr>
                </a:tc>
              </a:tr>
              <a:tr h="420624">
                <a:tc>
                  <a:txBody>
                    <a:bodyPr wrap="square"/>
                    <a:lstStyle/>
                    <a:p>
                      <a:pPr algn="l">
                        <a:defRPr sz="1100" b="0">
                          <a:solidFill>
                            <a:srgbClr val="333333"/>
                          </a:solidFill>
                          <a:latin typeface="Calibri"/>
                        </a:defRPr>
                      </a:pPr>
                      <a:r>
                        <a:t>DAYS_TO_MATURITY</a:t>
                      </a:r>
                    </a:p>
                  </a:txBody>
                  <a:tcPr marL="45720" marR="45720" marT="9144" marB="9144" anchor="ctr"/>
                </a:tc>
                <a:tc>
                  <a:txBody>
                    <a:bodyPr wrap="square"/>
                    <a:lstStyle/>
                    <a:p>
                      <a:pPr algn="ctr">
                        <a:defRPr sz="1100" b="0">
                          <a:solidFill>
                            <a:srgbClr val="333333"/>
                          </a:solidFill>
                          <a:latin typeface="Calibri"/>
                        </a:defRPr>
                      </a:pPr>
                      <a:r>
                        <a:t>4.554</a:t>
                      </a:r>
                    </a:p>
                  </a:txBody>
                  <a:tcPr marL="45720" marR="45720" marT="9144" marB="9144" anchor="ctr"/>
                </a:tc>
                <a:tc>
                  <a:txBody>
                    <a:bodyPr wrap="square"/>
                    <a:lstStyle/>
                    <a:p>
                      <a:pPr algn="ctr">
                        <a:defRPr sz="1100" b="0">
                          <a:solidFill>
                            <a:srgbClr val="333333"/>
                          </a:solidFill>
                          <a:latin typeface="Calibri"/>
                        </a:defRPr>
                      </a:pPr>
                      <a:r>
                        <a:t>High IV — reviewed, retained (available at scoring time)</a:t>
                      </a:r>
                    </a:p>
                  </a:txBody>
                  <a:tcPr marL="45720" marR="45720" marT="9144" marB="9144" anchor="ctr"/>
                </a:tc>
              </a:tr>
              <a:tr h="420624">
                <a:tc>
                  <a:txBody>
                    <a:bodyPr wrap="square"/>
                    <a:lstStyle/>
                    <a:p>
                      <a:pPr algn="l">
                        <a:defRPr sz="1100" b="0">
                          <a:solidFill>
                            <a:srgbClr val="333333"/>
                          </a:solidFill>
                          <a:latin typeface="Calibri"/>
                        </a:defRPr>
                      </a:pPr>
                      <a:r>
                        <a:t>CURRMIACCTTYPCD</a:t>
                      </a:r>
                    </a:p>
                  </a:txBody>
                  <a:tcPr marL="45720" marR="45720" marT="9144" marB="9144" anchor="ctr">
                    <a:solidFill>
                      <a:srgbClr val="F2F2F2"/>
                    </a:solidFill>
                  </a:tcPr>
                </a:tc>
                <a:tc>
                  <a:txBody>
                    <a:bodyPr wrap="square"/>
                    <a:lstStyle/>
                    <a:p>
                      <a:pPr algn="ctr">
                        <a:defRPr sz="1100" b="0">
                          <a:solidFill>
                            <a:srgbClr val="333333"/>
                          </a:solidFill>
                          <a:latin typeface="Calibri"/>
                        </a:defRPr>
                      </a:pPr>
                      <a:r>
                        <a:t>1.992</a:t>
                      </a:r>
                    </a:p>
                  </a:txBody>
                  <a:tcPr marL="45720" marR="45720" marT="9144" marB="9144" anchor="ctr">
                    <a:solidFill>
                      <a:srgbClr val="F2F2F2"/>
                    </a:solidFill>
                  </a:tcPr>
                </a:tc>
                <a:tc>
                  <a:txBody>
                    <a:bodyPr wrap="square"/>
                    <a:lstStyle/>
                    <a:p>
                      <a:pPr algn="ctr">
                        <a:defRPr sz="1100" b="0">
                          <a:solidFill>
                            <a:srgbClr val="333333"/>
                          </a:solidFill>
                          <a:latin typeface="Calibri"/>
                        </a:defRPr>
                      </a:pPr>
                      <a:r>
                        <a:t>High IV — reviewed, retained</a:t>
                      </a:r>
                    </a:p>
                  </a:txBody>
                  <a:tcPr marL="45720" marR="45720" marT="9144" marB="9144" anchor="ctr">
                    <a:solidFill>
                      <a:srgbClr val="F2F2F2"/>
                    </a:solidFill>
                  </a:tcPr>
                </a:tc>
              </a:tr>
              <a:tr h="420624">
                <a:tc>
                  <a:txBody>
                    <a:bodyPr wrap="square"/>
                    <a:lstStyle/>
                    <a:p>
                      <a:pPr algn="l">
                        <a:defRPr sz="1100" b="0">
                          <a:solidFill>
                            <a:srgbClr val="333333"/>
                          </a:solidFill>
                          <a:latin typeface="Calibri"/>
                        </a:defRPr>
                      </a:pPr>
                      <a:r>
                        <a:t>LOAN_TENURE_DAYS</a:t>
                      </a:r>
                    </a:p>
                  </a:txBody>
                  <a:tcPr marL="45720" marR="45720" marT="9144" marB="9144" anchor="ctr"/>
                </a:tc>
                <a:tc>
                  <a:txBody>
                    <a:bodyPr wrap="square"/>
                    <a:lstStyle/>
                    <a:p>
                      <a:pPr algn="ctr">
                        <a:defRPr sz="1100" b="0">
                          <a:solidFill>
                            <a:srgbClr val="333333"/>
                          </a:solidFill>
                          <a:latin typeface="Calibri"/>
                        </a:defRPr>
                      </a:pPr>
                      <a:r>
                        <a:t>1.941</a:t>
                      </a:r>
                    </a:p>
                  </a:txBody>
                  <a:tcPr marL="45720" marR="45720" marT="9144" marB="9144" anchor="ctr"/>
                </a:tc>
                <a:tc>
                  <a:txBody>
                    <a:bodyPr wrap="square"/>
                    <a:lstStyle/>
                    <a:p>
                      <a:pPr algn="ctr">
                        <a:defRPr sz="1100" b="0">
                          <a:solidFill>
                            <a:srgbClr val="333333"/>
                          </a:solidFill>
                          <a:latin typeface="Calibri"/>
                        </a:defRPr>
                      </a:pPr>
                      <a:r>
                        <a:t>High IV — reviewed, retained</a:t>
                      </a:r>
                    </a:p>
                  </a:txBody>
                  <a:tcPr marL="45720" marR="45720" marT="9144" marB="9144" anchor="ctr"/>
                </a:tc>
              </a:tr>
              <a:tr h="420624">
                <a:tc>
                  <a:txBody>
                    <a:bodyPr wrap="square"/>
                    <a:lstStyle/>
                    <a:p>
                      <a:pPr algn="l">
                        <a:defRPr sz="1100" b="0">
                          <a:solidFill>
                            <a:srgbClr val="333333"/>
                          </a:solidFill>
                          <a:latin typeface="Calibri"/>
                        </a:defRPr>
                      </a:pPr>
                      <a:r>
                        <a:t>MUCDICHVAY</a:t>
                      </a:r>
                    </a:p>
                  </a:txBody>
                  <a:tcPr marL="45720" marR="45720" marT="9144" marB="9144" anchor="ctr">
                    <a:solidFill>
                      <a:srgbClr val="F2F2F2"/>
                    </a:solidFill>
                  </a:tcPr>
                </a:tc>
                <a:tc>
                  <a:txBody>
                    <a:bodyPr wrap="square"/>
                    <a:lstStyle/>
                    <a:p>
                      <a:pPr algn="ctr">
                        <a:defRPr sz="1100" b="0">
                          <a:solidFill>
                            <a:srgbClr val="333333"/>
                          </a:solidFill>
                          <a:latin typeface="Calibri"/>
                        </a:defRPr>
                      </a:pPr>
                      <a:r>
                        <a:t>1.414</a:t>
                      </a:r>
                    </a:p>
                  </a:txBody>
                  <a:tcPr marL="45720" marR="45720" marT="9144" marB="9144" anchor="ctr">
                    <a:solidFill>
                      <a:srgbClr val="F2F2F2"/>
                    </a:solidFill>
                  </a:tcPr>
                </a:tc>
                <a:tc>
                  <a:txBody>
                    <a:bodyPr wrap="square"/>
                    <a:lstStyle/>
                    <a:p>
                      <a:pPr algn="ctr">
                        <a:defRPr sz="1100" b="0">
                          <a:solidFill>
                            <a:srgbClr val="333333"/>
                          </a:solidFill>
                          <a:latin typeface="Calibri"/>
                        </a:defRPr>
                      </a:pPr>
                      <a:r>
                        <a:t>High IV — reviewed, retained</a:t>
                      </a:r>
                    </a:p>
                  </a:txBody>
                  <a:tcPr marL="45720" marR="45720" marT="9144" marB="9144" anchor="ctr">
                    <a:solidFill>
                      <a:srgbClr val="F2F2F2"/>
                    </a:solidFill>
                  </a:tcPr>
                </a:tc>
              </a:tr>
              <a:tr h="420624">
                <a:tc>
                  <a:txBody>
                    <a:bodyPr wrap="square"/>
                    <a:lstStyle/>
                    <a:p>
                      <a:pPr algn="l">
                        <a:defRPr sz="1100" b="0">
                          <a:solidFill>
                            <a:srgbClr val="333333"/>
                          </a:solidFill>
                          <a:latin typeface="Calibri"/>
                        </a:defRPr>
                      </a:pPr>
                      <a:r>
                        <a:t>UTIL_RATE</a:t>
                      </a:r>
                    </a:p>
                  </a:txBody>
                  <a:tcPr marL="45720" marR="45720" marT="9144" marB="9144" anchor="ctr"/>
                </a:tc>
                <a:tc>
                  <a:txBody>
                    <a:bodyPr wrap="square"/>
                    <a:lstStyle/>
                    <a:p>
                      <a:pPr algn="ctr">
                        <a:defRPr sz="1100" b="0">
                          <a:solidFill>
                            <a:srgbClr val="333333"/>
                          </a:solidFill>
                          <a:latin typeface="Calibri"/>
                        </a:defRPr>
                      </a:pPr>
                      <a:r>
                        <a:t>1.333</a:t>
                      </a:r>
                    </a:p>
                  </a:txBody>
                  <a:tcPr marL="45720" marR="45720" marT="9144" marB="9144" anchor="ctr"/>
                </a:tc>
                <a:tc>
                  <a:txBody>
                    <a:bodyPr wrap="square"/>
                    <a:lstStyle/>
                    <a:p>
                      <a:pPr algn="ctr">
                        <a:defRPr sz="1100" b="0">
                          <a:solidFill>
                            <a:srgbClr val="333333"/>
                          </a:solidFill>
                          <a:latin typeface="Calibri"/>
                        </a:defRPr>
                      </a:pPr>
                      <a:r>
                        <a:t>High IV — reviewed, retained</a:t>
                      </a:r>
                    </a:p>
                  </a:txBody>
                  <a:tcPr marL="45720" marR="45720" marT="9144" marB="9144" anchor="ctr"/>
                </a:tc>
              </a:tr>
            </a:tbl>
          </a:graphicData>
        </a:graphic>
      </p:graphicFrame>
      <p:sp>
        <p:nvSpPr>
          <p:cNvPr id="8" name="TextBox 7"/>
          <p:cNvSpPr txBox="1"/>
          <p:nvPr/>
        </p:nvSpPr>
        <p:spPr>
          <a:xfrm>
            <a:off x="6263640" y="1115568"/>
            <a:ext cx="5394960" cy="292608"/>
          </a:xfrm>
          <a:prstGeom prst="rect">
            <a:avLst/>
          </a:prstGeom>
          <a:noFill/>
        </p:spPr>
        <p:txBody>
          <a:bodyPr wrap="square" lIns="64008" rIns="64008" tIns="18288" bIns="18288">
            <a:noAutofit/>
          </a:bodyPr>
          <a:lstStyle/>
          <a:p>
            <a:pPr algn="l">
              <a:lnSpc>
                <a:spcPct val="124000"/>
              </a:lnSpc>
              <a:spcAft>
                <a:spcPts val="700"/>
              </a:spcAft>
              <a:defRPr sz="1450" b="1" i="0">
                <a:solidFill>
                  <a:srgbClr val="002B5C"/>
                </a:solidFill>
                <a:latin typeface="Calibri"/>
              </a:defRPr>
            </a:pPr>
            <a:r>
              <a:t>Removing DAYS_TO_MATURITY (Table 6)</a:t>
            </a:r>
          </a:p>
        </p:txBody>
      </p:sp>
      <p:graphicFrame>
        <p:nvGraphicFramePr>
          <p:cNvPr id="9" name="Table 8"/>
          <p:cNvGraphicFramePr>
            <a:graphicFrameLocks noGrp="1"/>
          </p:cNvGraphicFramePr>
          <p:nvPr/>
        </p:nvGraphicFramePr>
        <p:xfrm>
          <a:off x="6263640" y="1463040"/>
          <a:ext cx="5394960" cy="2377440"/>
        </p:xfrm>
        <a:graphic>
          <a:graphicData uri="http://schemas.openxmlformats.org/drawingml/2006/table">
            <a:tbl>
              <a:tblPr firstRow="1" bandRow="1">
                <a:tableStyleId>{5C22544A-7EE6-4342-B048-85BDC9FD1C3A}</a:tableStyleId>
              </a:tblPr>
              <a:tblGrid>
                <a:gridCol w="1234440"/>
                <a:gridCol w="868680"/>
                <a:gridCol w="1051560"/>
                <a:gridCol w="1051560"/>
                <a:gridCol w="1188720"/>
              </a:tblGrid>
              <a:tr h="475488">
                <a:tc>
                  <a:txBody>
                    <a:bodyPr wrap="square"/>
                    <a:lstStyle/>
                    <a:p>
                      <a:pPr algn="ctr">
                        <a:defRPr sz="1150" b="1">
                          <a:solidFill>
                            <a:srgbClr val="FFFFFF"/>
                          </a:solidFill>
                          <a:latin typeface="Calibri"/>
                        </a:defRPr>
                      </a:pPr>
                      <a:r>
                        <a:t>Model</a:t>
                      </a:r>
                    </a:p>
                  </a:txBody>
                  <a:tcPr marL="45720" marR="45720" marT="9144" marB="9144" anchor="ctr">
                    <a:solidFill>
                      <a:srgbClr val="002B5C"/>
                    </a:solidFill>
                  </a:tcPr>
                </a:tc>
                <a:tc>
                  <a:txBody>
                    <a:bodyPr wrap="square"/>
                    <a:lstStyle/>
                    <a:p>
                      <a:pPr algn="ctr">
                        <a:defRPr sz="1150" b="1">
                          <a:solidFill>
                            <a:srgbClr val="FFFFFF"/>
                          </a:solidFill>
                          <a:latin typeface="Calibri"/>
                        </a:defRPr>
                      </a:pPr>
                      <a:r>
                        <a:t>Treat.</a:t>
                      </a:r>
                    </a:p>
                  </a:txBody>
                  <a:tcPr marL="45720" marR="45720" marT="9144" marB="9144" anchor="ctr">
                    <a:solidFill>
                      <a:srgbClr val="002B5C"/>
                    </a:solidFill>
                  </a:tcPr>
                </a:tc>
                <a:tc>
                  <a:txBody>
                    <a:bodyPr wrap="square"/>
                    <a:lstStyle/>
                    <a:p>
                      <a:pPr algn="ctr">
                        <a:defRPr sz="1150" b="1">
                          <a:solidFill>
                            <a:srgbClr val="FFFFFF"/>
                          </a:solidFill>
                          <a:latin typeface="Calibri"/>
                        </a:defRPr>
                      </a:pPr>
                      <a:r>
                        <a:t>11 feat.</a:t>
                      </a:r>
                    </a:p>
                  </a:txBody>
                  <a:tcPr marL="45720" marR="45720" marT="9144" marB="9144" anchor="ctr">
                    <a:solidFill>
                      <a:srgbClr val="002B5C"/>
                    </a:solidFill>
                  </a:tcPr>
                </a:tc>
                <a:tc>
                  <a:txBody>
                    <a:bodyPr wrap="square"/>
                    <a:lstStyle/>
                    <a:p>
                      <a:pPr algn="ctr">
                        <a:defRPr sz="1150" b="1">
                          <a:solidFill>
                            <a:srgbClr val="FFFFFF"/>
                          </a:solidFill>
                          <a:latin typeface="Calibri"/>
                        </a:defRPr>
                      </a:pPr>
                      <a:r>
                        <a:t>10 feat.</a:t>
                      </a:r>
                    </a:p>
                  </a:txBody>
                  <a:tcPr marL="45720" marR="45720" marT="9144" marB="9144" anchor="ctr">
                    <a:solidFill>
                      <a:srgbClr val="002B5C"/>
                    </a:solidFill>
                  </a:tcPr>
                </a:tc>
                <a:tc>
                  <a:txBody>
                    <a:bodyPr wrap="square"/>
                    <a:lstStyle/>
                    <a:p>
                      <a:pPr algn="ctr">
                        <a:defRPr sz="1150" b="1">
                          <a:solidFill>
                            <a:srgbClr val="FFFFFF"/>
                          </a:solidFill>
                          <a:latin typeface="Calibri"/>
                        </a:defRPr>
                      </a:pPr>
                      <a:r>
                        <a:t>Change</a:t>
                      </a:r>
                    </a:p>
                  </a:txBody>
                  <a:tcPr marL="45720" marR="45720" marT="9144" marB="9144" anchor="ctr">
                    <a:solidFill>
                      <a:srgbClr val="002B5C"/>
                    </a:solidFill>
                  </a:tcPr>
                </a:tc>
              </a:tr>
              <a:tr h="475488">
                <a:tc>
                  <a:txBody>
                    <a:bodyPr wrap="square"/>
                    <a:lstStyle/>
                    <a:p>
                      <a:pPr algn="l">
                        <a:defRPr sz="1150" b="0">
                          <a:solidFill>
                            <a:srgbClr val="333333"/>
                          </a:solidFill>
                          <a:latin typeface="Calibri"/>
                        </a:defRPr>
                      </a:pPr>
                      <a:r>
                        <a:t>XGBoost</a:t>
                      </a:r>
                    </a:p>
                  </a:txBody>
                  <a:tcPr marL="45720" marR="45720" marT="9144" marB="9144" anchor="ctr"/>
                </a:tc>
                <a:tc>
                  <a:txBody>
                    <a:bodyPr wrap="square"/>
                    <a:lstStyle/>
                    <a:p>
                      <a:pPr algn="ctr">
                        <a:defRPr sz="1150" b="0">
                          <a:solidFill>
                            <a:srgbClr val="333333"/>
                          </a:solidFill>
                          <a:latin typeface="Calibri"/>
                        </a:defRPr>
                      </a:pPr>
                      <a:r>
                        <a:t>none</a:t>
                      </a:r>
                    </a:p>
                  </a:txBody>
                  <a:tcPr marL="45720" marR="45720" marT="9144" marB="9144" anchor="ctr"/>
                </a:tc>
                <a:tc>
                  <a:txBody>
                    <a:bodyPr wrap="square"/>
                    <a:lstStyle/>
                    <a:p>
                      <a:pPr algn="ctr">
                        <a:defRPr sz="1150" b="0">
                          <a:solidFill>
                            <a:srgbClr val="333333"/>
                          </a:solidFill>
                          <a:latin typeface="Calibri"/>
                        </a:defRPr>
                      </a:pPr>
                      <a:r>
                        <a:t>0.6197</a:t>
                      </a:r>
                    </a:p>
                  </a:txBody>
                  <a:tcPr marL="45720" marR="45720" marT="9144" marB="9144" anchor="ctr"/>
                </a:tc>
                <a:tc>
                  <a:txBody>
                    <a:bodyPr wrap="square"/>
                    <a:lstStyle/>
                    <a:p>
                      <a:pPr algn="ctr">
                        <a:defRPr sz="1150" b="0">
                          <a:solidFill>
                            <a:srgbClr val="333333"/>
                          </a:solidFill>
                          <a:latin typeface="Calibri"/>
                        </a:defRPr>
                      </a:pPr>
                      <a:r>
                        <a:t>0.4776</a:t>
                      </a:r>
                    </a:p>
                  </a:txBody>
                  <a:tcPr marL="45720" marR="45720" marT="9144" marB="9144" anchor="ctr"/>
                </a:tc>
                <a:tc>
                  <a:txBody>
                    <a:bodyPr wrap="square"/>
                    <a:lstStyle/>
                    <a:p>
                      <a:pPr algn="ctr">
                        <a:defRPr sz="1150" b="0">
                          <a:solidFill>
                            <a:srgbClr val="333333"/>
                          </a:solidFill>
                          <a:latin typeface="Calibri"/>
                        </a:defRPr>
                      </a:pPr>
                      <a:r>
                        <a:t>−22.9%</a:t>
                      </a:r>
                    </a:p>
                  </a:txBody>
                  <a:tcPr marL="45720" marR="45720" marT="9144" marB="9144" anchor="ctr"/>
                </a:tc>
              </a:tr>
              <a:tr h="475488">
                <a:tc>
                  <a:txBody>
                    <a:bodyPr wrap="square"/>
                    <a:lstStyle/>
                    <a:p>
                      <a:pPr algn="l">
                        <a:defRPr sz="1150" b="0">
                          <a:solidFill>
                            <a:srgbClr val="333333"/>
                          </a:solidFill>
                          <a:latin typeface="Calibri"/>
                        </a:defRPr>
                      </a:pPr>
                      <a:r>
                        <a:t>XGBoost</a:t>
                      </a:r>
                    </a:p>
                  </a:txBody>
                  <a:tcPr marL="45720" marR="45720" marT="9144" marB="9144" anchor="ctr">
                    <a:solidFill>
                      <a:srgbClr val="F2F2F2"/>
                    </a:solidFill>
                  </a:tcPr>
                </a:tc>
                <a:tc>
                  <a:txBody>
                    <a:bodyPr wrap="square"/>
                    <a:lstStyle/>
                    <a:p>
                      <a:pPr algn="ctr">
                        <a:defRPr sz="1150" b="0">
                          <a:solidFill>
                            <a:srgbClr val="333333"/>
                          </a:solidFill>
                          <a:latin typeface="Calibri"/>
                        </a:defRPr>
                      </a:pPr>
                      <a:r>
                        <a:t>wt.</a:t>
                      </a:r>
                    </a:p>
                  </a:txBody>
                  <a:tcPr marL="45720" marR="45720" marT="9144" marB="9144" anchor="ctr">
                    <a:solidFill>
                      <a:srgbClr val="F2F2F2"/>
                    </a:solidFill>
                  </a:tcPr>
                </a:tc>
                <a:tc>
                  <a:txBody>
                    <a:bodyPr wrap="square"/>
                    <a:lstStyle/>
                    <a:p>
                      <a:pPr algn="ctr">
                        <a:defRPr sz="1150" b="0">
                          <a:solidFill>
                            <a:srgbClr val="333333"/>
                          </a:solidFill>
                          <a:latin typeface="Calibri"/>
                        </a:defRPr>
                      </a:pPr>
                      <a:r>
                        <a:t>0.5966</a:t>
                      </a:r>
                    </a:p>
                  </a:txBody>
                  <a:tcPr marL="45720" marR="45720" marT="9144" marB="9144" anchor="ctr">
                    <a:solidFill>
                      <a:srgbClr val="F2F2F2"/>
                    </a:solidFill>
                  </a:tcPr>
                </a:tc>
                <a:tc>
                  <a:txBody>
                    <a:bodyPr wrap="square"/>
                    <a:lstStyle/>
                    <a:p>
                      <a:pPr algn="ctr">
                        <a:defRPr sz="1150" b="0">
                          <a:solidFill>
                            <a:srgbClr val="333333"/>
                          </a:solidFill>
                          <a:latin typeface="Calibri"/>
                        </a:defRPr>
                      </a:pPr>
                      <a:r>
                        <a:t>0.4995</a:t>
                      </a:r>
                    </a:p>
                  </a:txBody>
                  <a:tcPr marL="45720" marR="45720" marT="9144" marB="9144" anchor="ctr">
                    <a:solidFill>
                      <a:srgbClr val="F2F2F2"/>
                    </a:solidFill>
                  </a:tcPr>
                </a:tc>
                <a:tc>
                  <a:txBody>
                    <a:bodyPr wrap="square"/>
                    <a:lstStyle/>
                    <a:p>
                      <a:pPr algn="ctr">
                        <a:defRPr sz="1150" b="0">
                          <a:solidFill>
                            <a:srgbClr val="333333"/>
                          </a:solidFill>
                          <a:latin typeface="Calibri"/>
                        </a:defRPr>
                      </a:pPr>
                      <a:r>
                        <a:t>−16.3%</a:t>
                      </a:r>
                    </a:p>
                  </a:txBody>
                  <a:tcPr marL="45720" marR="45720" marT="9144" marB="9144" anchor="ctr">
                    <a:solidFill>
                      <a:srgbClr val="F2F2F2"/>
                    </a:solidFill>
                  </a:tcPr>
                </a:tc>
              </a:tr>
              <a:tr h="475488">
                <a:tc>
                  <a:txBody>
                    <a:bodyPr wrap="square"/>
                    <a:lstStyle/>
                    <a:p>
                      <a:pPr algn="l">
                        <a:defRPr sz="1150" b="0">
                          <a:solidFill>
                            <a:srgbClr val="333333"/>
                          </a:solidFill>
                          <a:latin typeface="Calibri"/>
                        </a:defRPr>
                      </a:pPr>
                      <a:r>
                        <a:t>LightGBM</a:t>
                      </a:r>
                    </a:p>
                  </a:txBody>
                  <a:tcPr marL="45720" marR="45720" marT="9144" marB="9144" anchor="ctr"/>
                </a:tc>
                <a:tc>
                  <a:txBody>
                    <a:bodyPr wrap="square"/>
                    <a:lstStyle/>
                    <a:p>
                      <a:pPr algn="ctr">
                        <a:defRPr sz="1150" b="0">
                          <a:solidFill>
                            <a:srgbClr val="333333"/>
                          </a:solidFill>
                          <a:latin typeface="Calibri"/>
                        </a:defRPr>
                      </a:pPr>
                      <a:r>
                        <a:t>none</a:t>
                      </a:r>
                    </a:p>
                  </a:txBody>
                  <a:tcPr marL="45720" marR="45720" marT="9144" marB="9144" anchor="ctr"/>
                </a:tc>
                <a:tc>
                  <a:txBody>
                    <a:bodyPr wrap="square"/>
                    <a:lstStyle/>
                    <a:p>
                      <a:pPr algn="ctr">
                        <a:defRPr sz="1150" b="0">
                          <a:solidFill>
                            <a:srgbClr val="333333"/>
                          </a:solidFill>
                          <a:latin typeface="Calibri"/>
                        </a:defRPr>
                      </a:pPr>
                      <a:r>
                        <a:t>0.6248</a:t>
                      </a:r>
                    </a:p>
                  </a:txBody>
                  <a:tcPr marL="45720" marR="45720" marT="9144" marB="9144" anchor="ctr"/>
                </a:tc>
                <a:tc>
                  <a:txBody>
                    <a:bodyPr wrap="square"/>
                    <a:lstStyle/>
                    <a:p>
                      <a:pPr algn="ctr">
                        <a:defRPr sz="1150" b="0">
                          <a:solidFill>
                            <a:srgbClr val="333333"/>
                          </a:solidFill>
                          <a:latin typeface="Calibri"/>
                        </a:defRPr>
                      </a:pPr>
                      <a:r>
                        <a:t>0.4823</a:t>
                      </a:r>
                    </a:p>
                  </a:txBody>
                  <a:tcPr marL="45720" marR="45720" marT="9144" marB="9144" anchor="ctr"/>
                </a:tc>
                <a:tc>
                  <a:txBody>
                    <a:bodyPr wrap="square"/>
                    <a:lstStyle/>
                    <a:p>
                      <a:pPr algn="ctr">
                        <a:defRPr sz="1150" b="0">
                          <a:solidFill>
                            <a:srgbClr val="333333"/>
                          </a:solidFill>
                          <a:latin typeface="Calibri"/>
                        </a:defRPr>
                      </a:pPr>
                      <a:r>
                        <a:t>−22.8%</a:t>
                      </a:r>
                    </a:p>
                  </a:txBody>
                  <a:tcPr marL="45720" marR="45720" marT="9144" marB="9144" anchor="ctr"/>
                </a:tc>
              </a:tr>
              <a:tr h="475488">
                <a:tc>
                  <a:txBody>
                    <a:bodyPr wrap="square"/>
                    <a:lstStyle/>
                    <a:p>
                      <a:pPr algn="l">
                        <a:defRPr sz="1150" b="0">
                          <a:solidFill>
                            <a:srgbClr val="333333"/>
                          </a:solidFill>
                          <a:latin typeface="Calibri"/>
                        </a:defRPr>
                      </a:pPr>
                      <a:r>
                        <a:t>LightGBM</a:t>
                      </a:r>
                    </a:p>
                  </a:txBody>
                  <a:tcPr marL="45720" marR="45720" marT="9144" marB="9144" anchor="ctr">
                    <a:solidFill>
                      <a:srgbClr val="F2F2F2"/>
                    </a:solidFill>
                  </a:tcPr>
                </a:tc>
                <a:tc>
                  <a:txBody>
                    <a:bodyPr wrap="square"/>
                    <a:lstStyle/>
                    <a:p>
                      <a:pPr algn="ctr">
                        <a:defRPr sz="1150" b="0">
                          <a:solidFill>
                            <a:srgbClr val="333333"/>
                          </a:solidFill>
                          <a:latin typeface="Calibri"/>
                        </a:defRPr>
                      </a:pPr>
                      <a:r>
                        <a:t>wt.</a:t>
                      </a:r>
                    </a:p>
                  </a:txBody>
                  <a:tcPr marL="45720" marR="45720" marT="9144" marB="9144" anchor="ctr">
                    <a:solidFill>
                      <a:srgbClr val="F2F2F2"/>
                    </a:solidFill>
                  </a:tcPr>
                </a:tc>
                <a:tc>
                  <a:txBody>
                    <a:bodyPr wrap="square"/>
                    <a:lstStyle/>
                    <a:p>
                      <a:pPr algn="ctr">
                        <a:defRPr sz="1150" b="0">
                          <a:solidFill>
                            <a:srgbClr val="333333"/>
                          </a:solidFill>
                          <a:latin typeface="Calibri"/>
                        </a:defRPr>
                      </a:pPr>
                      <a:r>
                        <a:t>0.6044</a:t>
                      </a:r>
                    </a:p>
                  </a:txBody>
                  <a:tcPr marL="45720" marR="45720" marT="9144" marB="9144" anchor="ctr">
                    <a:solidFill>
                      <a:srgbClr val="F2F2F2"/>
                    </a:solidFill>
                  </a:tcPr>
                </a:tc>
                <a:tc>
                  <a:txBody>
                    <a:bodyPr wrap="square"/>
                    <a:lstStyle/>
                    <a:p>
                      <a:pPr algn="ctr">
                        <a:defRPr sz="1150" b="0">
                          <a:solidFill>
                            <a:srgbClr val="333333"/>
                          </a:solidFill>
                          <a:latin typeface="Calibri"/>
                        </a:defRPr>
                      </a:pPr>
                      <a:r>
                        <a:t>0.5052</a:t>
                      </a:r>
                    </a:p>
                  </a:txBody>
                  <a:tcPr marL="45720" marR="45720" marT="9144" marB="9144" anchor="ctr">
                    <a:solidFill>
                      <a:srgbClr val="F2F2F2"/>
                    </a:solidFill>
                  </a:tcPr>
                </a:tc>
                <a:tc>
                  <a:txBody>
                    <a:bodyPr wrap="square"/>
                    <a:lstStyle/>
                    <a:p>
                      <a:pPr algn="ctr">
                        <a:defRPr sz="1150" b="0">
                          <a:solidFill>
                            <a:srgbClr val="333333"/>
                          </a:solidFill>
                          <a:latin typeface="Calibri"/>
                        </a:defRPr>
                      </a:pPr>
                      <a:r>
                        <a:t>−16.4%</a:t>
                      </a:r>
                    </a:p>
                  </a:txBody>
                  <a:tcPr marL="45720" marR="45720" marT="9144" marB="9144" anchor="ctr">
                    <a:solidFill>
                      <a:srgbClr val="F2F2F2"/>
                    </a:solidFill>
                  </a:tcPr>
                </a:tc>
              </a:tr>
            </a:tbl>
          </a:graphicData>
        </a:graphic>
      </p:graphicFrame>
      <p:sp>
        <p:nvSpPr>
          <p:cNvPr id="10" name="TextBox 9"/>
          <p:cNvSpPr txBox="1"/>
          <p:nvPr/>
        </p:nvSpPr>
        <p:spPr>
          <a:xfrm>
            <a:off x="548640" y="4160520"/>
            <a:ext cx="11109960" cy="2194560"/>
          </a:xfrm>
          <a:prstGeom prst="rect">
            <a:avLst/>
          </a:prstGeom>
          <a:noFill/>
        </p:spPr>
        <p:txBody>
          <a:bodyPr wrap="square" lIns="64008" rIns="64008" tIns="18288" bIns="18288">
            <a:noAutofit/>
          </a:bodyPr>
          <a:lstStyle/>
          <a:p>
            <a:pPr algn="l">
              <a:lnSpc>
                <a:spcPct val="120000"/>
              </a:lnSpc>
              <a:spcAft>
                <a:spcPts val="900"/>
              </a:spcAft>
              <a:defRPr sz="1400" b="0" i="0">
                <a:solidFill>
                  <a:srgbClr val="333333"/>
                </a:solidFill>
                <a:latin typeface="Calibri"/>
              </a:defRPr>
            </a:pPr>
            <a:r>
              <a:t>•  Each flagged variable was reviewed against a two-part admissibility criterion — available no later than the classification point, and not a direct or derived restatement of the target. CURRMIACCTTYPCD (31-category product sub-type) and MUCDICHVAY (79-category loan purpose) are contractual attributes fixed at origination, not outcomes of the classification process. That is what distinguishes them from NHOMNO and NHOMNO_TCBS, which were excluded.</a:t>
            </a:r>
          </a:p>
          <a:p>
            <a:pPr algn="l">
              <a:lnSpc>
                <a:spcPct val="120000"/>
              </a:lnSpc>
              <a:spcAft>
                <a:spcPts val="900"/>
              </a:spcAft>
              <a:defRPr sz="1400" b="0" i="0">
                <a:solidFill>
                  <a:srgbClr val="333333"/>
                </a:solidFill>
                <a:latin typeface="Calibri"/>
              </a:defRPr>
            </a:pPr>
            <a:r>
              <a:t>•  The ablation is run under both treatments, so it is not itself conditional on the treatment the model comparison rejects. It establishes a non-redundant contribution — it does not establish temporal admissibility or rule out proxy leakage.</a:t>
            </a:r>
          </a:p>
          <a:p>
            <a:pPr algn="l">
              <a:lnSpc>
                <a:spcPct val="120000"/>
              </a:lnSpc>
              <a:spcAft>
                <a:spcPts val="700"/>
              </a:spcAft>
              <a:defRPr sz="1400" b="0" i="0">
                <a:solidFill>
                  <a:srgbClr val="333333"/>
                </a:solidFill>
                <a:latin typeface="Calibri"/>
              </a:defRPr>
            </a:pPr>
            <a:r>
              <a:t>•  Reference-date check: only DAYS_TO_MATURITY depends on d₀, and shifting d₀ adds one constant to every record, leaving tree partitions unchanged. Across five dates from 31 Dec 2020 to 31 Dec 2023, Macro-F1 is identical to four decimal places (0.6248 unweighted; ROC-AUC 0.9246).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B2 — Confusion Matrices, Both Treatments</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Tables 4 and B1 — LightGBM, 11-feature configuration, hold-out set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B2</a:t>
            </a:r>
          </a:p>
        </p:txBody>
      </p:sp>
      <p:sp>
        <p:nvSpPr>
          <p:cNvPr id="6" name="TextBox 5"/>
          <p:cNvSpPr txBox="1"/>
          <p:nvPr/>
        </p:nvSpPr>
        <p:spPr>
          <a:xfrm>
            <a:off x="548640" y="1115568"/>
            <a:ext cx="11064240" cy="274320"/>
          </a:xfrm>
          <a:prstGeom prst="rect">
            <a:avLst/>
          </a:prstGeom>
          <a:noFill/>
        </p:spPr>
        <p:txBody>
          <a:bodyPr wrap="square" lIns="64008" rIns="64008" tIns="18288" bIns="18288">
            <a:noAutofit/>
          </a:bodyPr>
          <a:lstStyle/>
          <a:p>
            <a:pPr algn="l">
              <a:lnSpc>
                <a:spcPct val="124000"/>
              </a:lnSpc>
              <a:spcAft>
                <a:spcPts val="700"/>
              </a:spcAft>
              <a:defRPr sz="1500" b="1" i="0">
                <a:solidFill>
                  <a:srgbClr val="002B5C"/>
                </a:solidFill>
                <a:latin typeface="Calibri"/>
              </a:defRPr>
            </a:pPr>
            <a:r>
              <a:t>No weighting  —  Macro-F1 0.6248</a:t>
            </a:r>
          </a:p>
        </p:txBody>
      </p:sp>
      <p:graphicFrame>
        <p:nvGraphicFramePr>
          <p:cNvPr id="7" name="Table 6"/>
          <p:cNvGraphicFramePr>
            <a:graphicFrameLocks noGrp="1"/>
          </p:cNvGraphicFramePr>
          <p:nvPr/>
        </p:nvGraphicFramePr>
        <p:xfrm>
          <a:off x="548640" y="1444752"/>
          <a:ext cx="11064240" cy="1975104"/>
        </p:xfrm>
        <a:graphic>
          <a:graphicData uri="http://schemas.openxmlformats.org/drawingml/2006/table">
            <a:tbl>
              <a:tblPr firstRow="1" bandRow="1">
                <a:tableStyleId>{5C22544A-7EE6-4342-B048-85BDC9FD1C3A}</a:tableStyleId>
              </a:tblPr>
              <a:tblGrid>
                <a:gridCol w="1463040"/>
                <a:gridCol w="960120"/>
                <a:gridCol w="960120"/>
                <a:gridCol w="960120"/>
                <a:gridCol w="960120"/>
                <a:gridCol w="960120"/>
                <a:gridCol w="1097280"/>
                <a:gridCol w="1097280"/>
                <a:gridCol w="1097280"/>
                <a:gridCol w="1508760"/>
              </a:tblGrid>
              <a:tr h="329184">
                <a:tc>
                  <a:txBody>
                    <a:bodyPr wrap="square"/>
                    <a:lstStyle/>
                    <a:p>
                      <a:pPr algn="ctr">
                        <a:defRPr sz="1200" b="1">
                          <a:solidFill>
                            <a:srgbClr val="FFFFFF"/>
                          </a:solidFill>
                          <a:latin typeface="Calibri"/>
                        </a:defRPr>
                      </a:pPr>
                      <a:r>
                        <a:t>True \ Pred</a:t>
                      </a:r>
                    </a:p>
                  </a:txBody>
                  <a:tcPr marL="45720" marR="45720" marT="9144" marB="9144" anchor="ctr">
                    <a:solidFill>
                      <a:srgbClr val="002B5C"/>
                    </a:solidFill>
                  </a:tcPr>
                </a:tc>
                <a:tc>
                  <a:txBody>
                    <a:bodyPr wrap="square"/>
                    <a:lstStyle/>
                    <a:p>
                      <a:pPr algn="ctr">
                        <a:defRPr sz="1200" b="1">
                          <a:solidFill>
                            <a:srgbClr val="FFFFFF"/>
                          </a:solidFill>
                          <a:latin typeface="Calibri"/>
                        </a:defRPr>
                      </a:pPr>
                      <a:r>
                        <a:t>1</a:t>
                      </a:r>
                    </a:p>
                  </a:txBody>
                  <a:tcPr marL="45720" marR="45720" marT="9144" marB="9144" anchor="ctr">
                    <a:solidFill>
                      <a:srgbClr val="002B5C"/>
                    </a:solidFill>
                  </a:tcPr>
                </a:tc>
                <a:tc>
                  <a:txBody>
                    <a:bodyPr wrap="square"/>
                    <a:lstStyle/>
                    <a:p>
                      <a:pPr algn="ctr">
                        <a:defRPr sz="1200" b="1">
                          <a:solidFill>
                            <a:srgbClr val="FFFFFF"/>
                          </a:solidFill>
                          <a:latin typeface="Calibri"/>
                        </a:defRPr>
                      </a:pPr>
                      <a:r>
                        <a:t>2</a:t>
                      </a:r>
                    </a:p>
                  </a:txBody>
                  <a:tcPr marL="45720" marR="45720" marT="9144" marB="9144" anchor="ctr">
                    <a:solidFill>
                      <a:srgbClr val="002B5C"/>
                    </a:solidFill>
                  </a:tcPr>
                </a:tc>
                <a:tc>
                  <a:txBody>
                    <a:bodyPr wrap="square"/>
                    <a:lstStyle/>
                    <a:p>
                      <a:pPr algn="ctr">
                        <a:defRPr sz="1200" b="1">
                          <a:solidFill>
                            <a:srgbClr val="FFFFFF"/>
                          </a:solidFill>
                          <a:latin typeface="Calibri"/>
                        </a:defRPr>
                      </a:pPr>
                      <a:r>
                        <a:t>3</a:t>
                      </a:r>
                    </a:p>
                  </a:txBody>
                  <a:tcPr marL="45720" marR="45720" marT="9144" marB="9144" anchor="ctr">
                    <a:solidFill>
                      <a:srgbClr val="002B5C"/>
                    </a:solidFill>
                  </a:tcPr>
                </a:tc>
                <a:tc>
                  <a:txBody>
                    <a:bodyPr wrap="square"/>
                    <a:lstStyle/>
                    <a:p>
                      <a:pPr algn="ctr">
                        <a:defRPr sz="1200" b="1">
                          <a:solidFill>
                            <a:srgbClr val="FFFFFF"/>
                          </a:solidFill>
                          <a:latin typeface="Calibri"/>
                        </a:defRPr>
                      </a:pPr>
                      <a:r>
                        <a:t>4</a:t>
                      </a:r>
                    </a:p>
                  </a:txBody>
                  <a:tcPr marL="45720" marR="45720" marT="9144" marB="9144" anchor="ctr">
                    <a:solidFill>
                      <a:srgbClr val="002B5C"/>
                    </a:solidFill>
                  </a:tcPr>
                </a:tc>
                <a:tc>
                  <a:txBody>
                    <a:bodyPr wrap="square"/>
                    <a:lstStyle/>
                    <a:p>
                      <a:pPr algn="ctr">
                        <a:defRPr sz="1200" b="1">
                          <a:solidFill>
                            <a:srgbClr val="FFFFFF"/>
                          </a:solidFill>
                          <a:latin typeface="Calibri"/>
                        </a:defRPr>
                      </a:pPr>
                      <a:r>
                        <a:t>5</a:t>
                      </a:r>
                    </a:p>
                  </a:txBody>
                  <a:tcPr marL="45720" marR="45720" marT="9144" marB="9144" anchor="ctr">
                    <a:solidFill>
                      <a:srgbClr val="002B5C"/>
                    </a:solidFill>
                  </a:tcPr>
                </a:tc>
                <a:tc>
                  <a:txBody>
                    <a:bodyPr wrap="square"/>
                    <a:lstStyle/>
                    <a:p>
                      <a:pPr algn="ctr">
                        <a:defRPr sz="1200" b="1">
                          <a:solidFill>
                            <a:srgbClr val="FFFFFF"/>
                          </a:solidFill>
                          <a:latin typeface="Calibri"/>
                        </a:defRPr>
                      </a:pPr>
                      <a:r>
                        <a:t>Prec.</a:t>
                      </a:r>
                    </a:p>
                  </a:txBody>
                  <a:tcPr marL="45720" marR="45720" marT="9144" marB="9144" anchor="ctr">
                    <a:solidFill>
                      <a:srgbClr val="002B5C"/>
                    </a:solidFill>
                  </a:tcPr>
                </a:tc>
                <a:tc>
                  <a:txBody>
                    <a:bodyPr wrap="square"/>
                    <a:lstStyle/>
                    <a:p>
                      <a:pPr algn="ctr">
                        <a:defRPr sz="1200" b="1">
                          <a:solidFill>
                            <a:srgbClr val="FFFFFF"/>
                          </a:solidFill>
                          <a:latin typeface="Calibri"/>
                        </a:defRPr>
                      </a:pPr>
                      <a:r>
                        <a:t>Recall</a:t>
                      </a:r>
                    </a:p>
                  </a:txBody>
                  <a:tcPr marL="45720" marR="45720" marT="9144" marB="9144" anchor="ctr">
                    <a:solidFill>
                      <a:srgbClr val="002B5C"/>
                    </a:solidFill>
                  </a:tcPr>
                </a:tc>
                <a:tc>
                  <a:txBody>
                    <a:bodyPr wrap="square"/>
                    <a:lstStyle/>
                    <a:p>
                      <a:pPr algn="ctr">
                        <a:defRPr sz="1200" b="1">
                          <a:solidFill>
                            <a:srgbClr val="FFFFFF"/>
                          </a:solidFill>
                          <a:latin typeface="Calibri"/>
                        </a:defRPr>
                      </a:pPr>
                      <a:r>
                        <a:t>F1</a:t>
                      </a:r>
                    </a:p>
                  </a:txBody>
                  <a:tcPr marL="45720" marR="45720" marT="9144" marB="9144" anchor="ctr">
                    <a:solidFill>
                      <a:srgbClr val="002B5C"/>
                    </a:solidFill>
                  </a:tcPr>
                </a:tc>
                <a:tc>
                  <a:txBody>
                    <a:bodyPr wrap="square"/>
                    <a:lstStyle/>
                    <a:p>
                      <a:pPr algn="ctr">
                        <a:defRPr sz="1200" b="1">
                          <a:solidFill>
                            <a:srgbClr val="FFFFFF"/>
                          </a:solidFill>
                          <a:latin typeface="Calibri"/>
                        </a:defRPr>
                      </a:pPr>
                      <a:r>
                        <a:t>n</a:t>
                      </a:r>
                    </a:p>
                  </a:txBody>
                  <a:tcPr marL="45720" marR="45720" marT="9144" marB="9144" anchor="ctr">
                    <a:solidFill>
                      <a:srgbClr val="002B5C"/>
                    </a:solidFill>
                  </a:tcPr>
                </a:tc>
              </a:tr>
              <a:tr h="329184">
                <a:tc>
                  <a:txBody>
                    <a:bodyPr wrap="square"/>
                    <a:lstStyle/>
                    <a:p>
                      <a:pPr algn="l">
                        <a:defRPr sz="1200" b="0">
                          <a:solidFill>
                            <a:srgbClr val="333333"/>
                          </a:solidFill>
                          <a:latin typeface="Calibri"/>
                        </a:defRPr>
                      </a:pPr>
                      <a:r>
                        <a:t>1</a:t>
                      </a:r>
                    </a:p>
                  </a:txBody>
                  <a:tcPr marL="45720" marR="45720" marT="9144" marB="9144" anchor="ctr"/>
                </a:tc>
                <a:tc>
                  <a:txBody>
                    <a:bodyPr wrap="square"/>
                    <a:lstStyle/>
                    <a:p>
                      <a:pPr algn="ctr">
                        <a:defRPr sz="1200" b="0">
                          <a:solidFill>
                            <a:srgbClr val="333333"/>
                          </a:solidFill>
                          <a:latin typeface="Calibri"/>
                        </a:defRPr>
                      </a:pPr>
                      <a:r>
                        <a:t>4,153</a:t>
                      </a:r>
                    </a:p>
                  </a:txBody>
                  <a:tcPr marL="45720" marR="45720" marT="9144" marB="9144" anchor="ctr"/>
                </a:tc>
                <a:tc>
                  <a:txBody>
                    <a:bodyPr wrap="square"/>
                    <a:lstStyle/>
                    <a:p>
                      <a:pPr algn="ctr">
                        <a:defRPr sz="1200" b="0">
                          <a:solidFill>
                            <a:srgbClr val="333333"/>
                          </a:solidFill>
                          <a:latin typeface="Calibri"/>
                        </a:defRPr>
                      </a:pPr>
                      <a:r>
                        <a:t>22</a:t>
                      </a:r>
                    </a:p>
                  </a:txBody>
                  <a:tcPr marL="45720" marR="45720" marT="9144" marB="9144" anchor="ctr"/>
                </a:tc>
                <a:tc>
                  <a:txBody>
                    <a:bodyPr wrap="square"/>
                    <a:lstStyle/>
                    <a:p>
                      <a:pPr algn="ctr">
                        <a:defRPr sz="1200" b="0">
                          <a:solidFill>
                            <a:srgbClr val="333333"/>
                          </a:solidFill>
                          <a:latin typeface="Calibri"/>
                        </a:defRPr>
                      </a:pPr>
                      <a:r>
                        <a:t>6</a:t>
                      </a:r>
                    </a:p>
                  </a:txBody>
                  <a:tcPr marL="45720" marR="45720" marT="9144" marB="9144" anchor="ctr"/>
                </a:tc>
                <a:tc>
                  <a:txBody>
                    <a:bodyPr wrap="square"/>
                    <a:lstStyle/>
                    <a:p>
                      <a:pPr algn="ctr">
                        <a:defRPr sz="1200" b="0">
                          <a:solidFill>
                            <a:srgbClr val="333333"/>
                          </a:solidFill>
                          <a:latin typeface="Calibri"/>
                        </a:defRPr>
                      </a:pPr>
                      <a:r>
                        <a:t>3</a:t>
                      </a:r>
                    </a:p>
                  </a:txBody>
                  <a:tcPr marL="45720" marR="45720" marT="9144" marB="9144" anchor="ctr"/>
                </a:tc>
                <a:tc>
                  <a:txBody>
                    <a:bodyPr wrap="square"/>
                    <a:lstStyle/>
                    <a:p>
                      <a:pPr algn="ctr">
                        <a:defRPr sz="1200" b="0">
                          <a:solidFill>
                            <a:srgbClr val="333333"/>
                          </a:solidFill>
                          <a:latin typeface="Calibri"/>
                        </a:defRPr>
                      </a:pPr>
                      <a:r>
                        <a:t>10</a:t>
                      </a:r>
                    </a:p>
                  </a:txBody>
                  <a:tcPr marL="45720" marR="45720" marT="9144" marB="9144" anchor="ctr"/>
                </a:tc>
                <a:tc>
                  <a:txBody>
                    <a:bodyPr wrap="square"/>
                    <a:lstStyle/>
                    <a:p>
                      <a:pPr algn="ctr">
                        <a:defRPr sz="1200" b="0">
                          <a:solidFill>
                            <a:srgbClr val="333333"/>
                          </a:solidFill>
                          <a:latin typeface="Calibri"/>
                        </a:defRPr>
                      </a:pPr>
                      <a:r>
                        <a:t>0.921</a:t>
                      </a:r>
                    </a:p>
                  </a:txBody>
                  <a:tcPr marL="45720" marR="45720" marT="9144" marB="9144" anchor="ctr"/>
                </a:tc>
                <a:tc>
                  <a:txBody>
                    <a:bodyPr wrap="square"/>
                    <a:lstStyle/>
                    <a:p>
                      <a:pPr algn="ctr">
                        <a:defRPr sz="1200" b="0">
                          <a:solidFill>
                            <a:srgbClr val="333333"/>
                          </a:solidFill>
                          <a:latin typeface="Calibri"/>
                        </a:defRPr>
                      </a:pPr>
                      <a:r>
                        <a:t>0.990</a:t>
                      </a:r>
                    </a:p>
                  </a:txBody>
                  <a:tcPr marL="45720" marR="45720" marT="9144" marB="9144" anchor="ctr"/>
                </a:tc>
                <a:tc>
                  <a:txBody>
                    <a:bodyPr wrap="square"/>
                    <a:lstStyle/>
                    <a:p>
                      <a:pPr algn="ctr">
                        <a:defRPr sz="1200" b="0">
                          <a:solidFill>
                            <a:srgbClr val="333333"/>
                          </a:solidFill>
                          <a:latin typeface="Calibri"/>
                        </a:defRPr>
                      </a:pPr>
                      <a:r>
                        <a:t>0.954</a:t>
                      </a:r>
                    </a:p>
                  </a:txBody>
                  <a:tcPr marL="45720" marR="45720" marT="9144" marB="9144" anchor="ctr"/>
                </a:tc>
                <a:tc>
                  <a:txBody>
                    <a:bodyPr wrap="square"/>
                    <a:lstStyle/>
                    <a:p>
                      <a:pPr algn="ctr">
                        <a:defRPr sz="1200" b="0">
                          <a:solidFill>
                            <a:srgbClr val="333333"/>
                          </a:solidFill>
                          <a:latin typeface="Calibri"/>
                        </a:defRPr>
                      </a:pPr>
                      <a:r>
                        <a:t>4,194</a:t>
                      </a:r>
                    </a:p>
                  </a:txBody>
                  <a:tcPr marL="45720" marR="45720" marT="9144" marB="9144" anchor="ctr"/>
                </a:tc>
              </a:tr>
              <a:tr h="329184">
                <a:tc>
                  <a:txBody>
                    <a:bodyPr wrap="square"/>
                    <a:lstStyle/>
                    <a:p>
                      <a:pPr algn="l">
                        <a:defRPr sz="1200" b="0">
                          <a:solidFill>
                            <a:srgbClr val="333333"/>
                          </a:solidFill>
                          <a:latin typeface="Calibri"/>
                        </a:defRPr>
                      </a:pPr>
                      <a:r>
                        <a:t>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195</a:t>
                      </a:r>
                    </a:p>
                  </a:txBody>
                  <a:tcPr marL="45720" marR="45720" marT="9144" marB="9144" anchor="ctr">
                    <a:solidFill>
                      <a:srgbClr val="F2F2F2"/>
                    </a:solidFill>
                  </a:tcPr>
                </a:tc>
                <a:tc>
                  <a:txBody>
                    <a:bodyPr wrap="square"/>
                    <a:lstStyle/>
                    <a:p>
                      <a:pPr algn="ctr">
                        <a:defRPr sz="1200" b="0">
                          <a:solidFill>
                            <a:srgbClr val="333333"/>
                          </a:solidFill>
                          <a:latin typeface="Calibri"/>
                        </a:defRPr>
                      </a:pPr>
                      <a:r>
                        <a:t>47</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10</a:t>
                      </a:r>
                    </a:p>
                  </a:txBody>
                  <a:tcPr marL="45720" marR="45720" marT="9144" marB="9144" anchor="ctr">
                    <a:solidFill>
                      <a:srgbClr val="F2F2F2"/>
                    </a:solidFill>
                  </a:tcPr>
                </a:tc>
                <a:tc>
                  <a:txBody>
                    <a:bodyPr wrap="square"/>
                    <a:lstStyle/>
                    <a:p>
                      <a:pPr algn="ctr">
                        <a:defRPr sz="1200" b="0">
                          <a:solidFill>
                            <a:srgbClr val="333333"/>
                          </a:solidFill>
                          <a:latin typeface="Calibri"/>
                        </a:defRPr>
                      </a:pPr>
                      <a:r>
                        <a:t>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0.603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0.183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0.281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257</a:t>
                      </a:r>
                    </a:p>
                  </a:txBody>
                  <a:tcPr marL="45720" marR="45720" marT="9144" marB="9144" anchor="ctr">
                    <a:solidFill>
                      <a:srgbClr val="F2F2F2"/>
                    </a:solidFill>
                  </a:tcPr>
                </a:tc>
              </a:tr>
              <a:tr h="329184">
                <a:tc>
                  <a:txBody>
                    <a:bodyPr wrap="square"/>
                    <a:lstStyle/>
                    <a:p>
                      <a:pPr algn="l">
                        <a:defRPr sz="1200" b="0">
                          <a:solidFill>
                            <a:srgbClr val="333333"/>
                          </a:solidFill>
                          <a:latin typeface="Calibri"/>
                        </a:defRPr>
                      </a:pPr>
                      <a:r>
                        <a:t>3</a:t>
                      </a:r>
                    </a:p>
                  </a:txBody>
                  <a:tcPr marL="45720" marR="45720" marT="9144" marB="9144" anchor="ctr"/>
                </a:tc>
                <a:tc>
                  <a:txBody>
                    <a:bodyPr wrap="square"/>
                    <a:lstStyle/>
                    <a:p>
                      <a:pPr algn="ctr">
                        <a:defRPr sz="1200" b="0">
                          <a:solidFill>
                            <a:srgbClr val="333333"/>
                          </a:solidFill>
                          <a:latin typeface="Calibri"/>
                        </a:defRPr>
                      </a:pPr>
                      <a:r>
                        <a:t>68</a:t>
                      </a:r>
                    </a:p>
                  </a:txBody>
                  <a:tcPr marL="45720" marR="45720" marT="9144" marB="9144" anchor="ctr"/>
                </a:tc>
                <a:tc>
                  <a:txBody>
                    <a:bodyPr wrap="square"/>
                    <a:lstStyle/>
                    <a:p>
                      <a:pPr algn="ctr">
                        <a:defRPr sz="1200" b="0">
                          <a:solidFill>
                            <a:srgbClr val="333333"/>
                          </a:solidFill>
                          <a:latin typeface="Calibri"/>
                        </a:defRPr>
                      </a:pPr>
                      <a:r>
                        <a:t>3</a:t>
                      </a:r>
                    </a:p>
                  </a:txBody>
                  <a:tcPr marL="45720" marR="45720" marT="9144" marB="9144" anchor="ctr"/>
                </a:tc>
                <a:tc>
                  <a:txBody>
                    <a:bodyPr wrap="square"/>
                    <a:lstStyle/>
                    <a:p>
                      <a:pPr algn="ctr">
                        <a:defRPr sz="1200" b="0">
                          <a:solidFill>
                            <a:srgbClr val="333333"/>
                          </a:solidFill>
                          <a:latin typeface="Calibri"/>
                        </a:defRPr>
                      </a:pPr>
                      <a:r>
                        <a:t>38</a:t>
                      </a:r>
                    </a:p>
                  </a:txBody>
                  <a:tcPr marL="45720" marR="45720" marT="9144" marB="9144" anchor="ctr"/>
                </a:tc>
                <a:tc>
                  <a:txBody>
                    <a:bodyPr wrap="square"/>
                    <a:lstStyle/>
                    <a:p>
                      <a:pPr algn="ctr">
                        <a:defRPr sz="1200" b="0">
                          <a:solidFill>
                            <a:srgbClr val="333333"/>
                          </a:solidFill>
                          <a:latin typeface="Calibri"/>
                        </a:defRPr>
                      </a:pPr>
                      <a:r>
                        <a:t>10</a:t>
                      </a:r>
                    </a:p>
                  </a:txBody>
                  <a:tcPr marL="45720" marR="45720" marT="9144" marB="9144" anchor="ctr"/>
                </a:tc>
                <a:tc>
                  <a:txBody>
                    <a:bodyPr wrap="square"/>
                    <a:lstStyle/>
                    <a:p>
                      <a:pPr algn="ctr">
                        <a:defRPr sz="1200" b="0">
                          <a:solidFill>
                            <a:srgbClr val="333333"/>
                          </a:solidFill>
                          <a:latin typeface="Calibri"/>
                        </a:defRPr>
                      </a:pPr>
                      <a:r>
                        <a:t>2</a:t>
                      </a:r>
                    </a:p>
                  </a:txBody>
                  <a:tcPr marL="45720" marR="45720" marT="9144" marB="9144" anchor="ctr"/>
                </a:tc>
                <a:tc>
                  <a:txBody>
                    <a:bodyPr wrap="square"/>
                    <a:lstStyle/>
                    <a:p>
                      <a:pPr algn="ctr">
                        <a:defRPr sz="1200" b="0">
                          <a:solidFill>
                            <a:srgbClr val="333333"/>
                          </a:solidFill>
                          <a:latin typeface="Calibri"/>
                        </a:defRPr>
                      </a:pPr>
                      <a:r>
                        <a:t>0.613</a:t>
                      </a:r>
                    </a:p>
                  </a:txBody>
                  <a:tcPr marL="45720" marR="45720" marT="9144" marB="9144" anchor="ctr"/>
                </a:tc>
                <a:tc>
                  <a:txBody>
                    <a:bodyPr wrap="square"/>
                    <a:lstStyle/>
                    <a:p>
                      <a:pPr algn="ctr">
                        <a:defRPr sz="1200" b="0">
                          <a:solidFill>
                            <a:srgbClr val="333333"/>
                          </a:solidFill>
                          <a:latin typeface="Calibri"/>
                        </a:defRPr>
                      </a:pPr>
                      <a:r>
                        <a:t>0.314</a:t>
                      </a:r>
                    </a:p>
                  </a:txBody>
                  <a:tcPr marL="45720" marR="45720" marT="9144" marB="9144" anchor="ctr"/>
                </a:tc>
                <a:tc>
                  <a:txBody>
                    <a:bodyPr wrap="square"/>
                    <a:lstStyle/>
                    <a:p>
                      <a:pPr algn="ctr">
                        <a:defRPr sz="1200" b="0">
                          <a:solidFill>
                            <a:srgbClr val="333333"/>
                          </a:solidFill>
                          <a:latin typeface="Calibri"/>
                        </a:defRPr>
                      </a:pPr>
                      <a:r>
                        <a:t>0.415</a:t>
                      </a:r>
                    </a:p>
                  </a:txBody>
                  <a:tcPr marL="45720" marR="45720" marT="9144" marB="9144" anchor="ctr"/>
                </a:tc>
                <a:tc>
                  <a:txBody>
                    <a:bodyPr wrap="square"/>
                    <a:lstStyle/>
                    <a:p>
                      <a:pPr algn="ctr">
                        <a:defRPr sz="1200" b="0">
                          <a:solidFill>
                            <a:srgbClr val="333333"/>
                          </a:solidFill>
                          <a:latin typeface="Calibri"/>
                        </a:defRPr>
                      </a:pPr>
                      <a:r>
                        <a:t>121</a:t>
                      </a:r>
                    </a:p>
                  </a:txBody>
                  <a:tcPr marL="45720" marR="45720" marT="9144" marB="9144" anchor="ctr"/>
                </a:tc>
              </a:tr>
              <a:tr h="329184">
                <a:tc>
                  <a:txBody>
                    <a:bodyPr wrap="square"/>
                    <a:lstStyle/>
                    <a:p>
                      <a:pPr algn="l">
                        <a:defRPr sz="1200" b="0">
                          <a:solidFill>
                            <a:srgbClr val="333333"/>
                          </a:solidFill>
                          <a:latin typeface="Calibri"/>
                        </a:defRPr>
                      </a:pPr>
                      <a:r>
                        <a:t>4</a:t>
                      </a:r>
                    </a:p>
                  </a:txBody>
                  <a:tcPr marL="45720" marR="45720" marT="9144" marB="9144" anchor="ctr">
                    <a:solidFill>
                      <a:srgbClr val="F2F2F2"/>
                    </a:solidFill>
                  </a:tcPr>
                </a:tc>
                <a:tc>
                  <a:txBody>
                    <a:bodyPr wrap="square"/>
                    <a:lstStyle/>
                    <a:p>
                      <a:pPr algn="ctr">
                        <a:defRPr sz="1200" b="0">
                          <a:solidFill>
                            <a:srgbClr val="333333"/>
                          </a:solidFill>
                          <a:latin typeface="Calibri"/>
                        </a:defRPr>
                      </a:pPr>
                      <a:r>
                        <a:t>59</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7</a:t>
                      </a:r>
                    </a:p>
                  </a:txBody>
                  <a:tcPr marL="45720" marR="45720" marT="9144" marB="9144" anchor="ctr">
                    <a:solidFill>
                      <a:srgbClr val="F2F2F2"/>
                    </a:solidFill>
                  </a:tcPr>
                </a:tc>
                <a:tc>
                  <a:txBody>
                    <a:bodyPr wrap="square"/>
                    <a:lstStyle/>
                    <a:p>
                      <a:pPr algn="ctr">
                        <a:defRPr sz="1200" b="0">
                          <a:solidFill>
                            <a:srgbClr val="333333"/>
                          </a:solidFill>
                          <a:latin typeface="Calibri"/>
                        </a:defRPr>
                      </a:pPr>
                      <a:r>
                        <a:t>73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16</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0.652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0.465</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0.543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157</a:t>
                      </a:r>
                    </a:p>
                  </a:txBody>
                  <a:tcPr marL="45720" marR="45720" marT="9144" marB="9144" anchor="ctr">
                    <a:solidFill>
                      <a:srgbClr val="F2F2F2"/>
                    </a:solidFill>
                  </a:tcPr>
                </a:tc>
              </a:tr>
              <a:tr h="329184">
                <a:tc>
                  <a:txBody>
                    <a:bodyPr wrap="square"/>
                    <a:lstStyle/>
                    <a:p>
                      <a:pPr algn="l">
                        <a:defRPr sz="1200" b="0">
                          <a:solidFill>
                            <a:srgbClr val="333333"/>
                          </a:solidFill>
                          <a:latin typeface="Calibri"/>
                        </a:defRPr>
                      </a:pPr>
                      <a:r>
                        <a:t>5</a:t>
                      </a:r>
                    </a:p>
                  </a:txBody>
                  <a:tcPr marL="45720" marR="45720" marT="9144" marB="9144" anchor="ctr"/>
                </a:tc>
                <a:tc>
                  <a:txBody>
                    <a:bodyPr wrap="square"/>
                    <a:lstStyle/>
                    <a:p>
                      <a:pPr algn="ctr">
                        <a:defRPr sz="1200" b="0">
                          <a:solidFill>
                            <a:srgbClr val="333333"/>
                          </a:solidFill>
                          <a:latin typeface="Calibri"/>
                        </a:defRPr>
                      </a:pPr>
                      <a:r>
                        <a:t>33</a:t>
                      </a:r>
                    </a:p>
                  </a:txBody>
                  <a:tcPr marL="45720" marR="45720" marT="9144" marB="9144" anchor="ctr"/>
                </a:tc>
                <a:tc>
                  <a:txBody>
                    <a:bodyPr wrap="square"/>
                    <a:lstStyle/>
                    <a:p>
                      <a:pPr algn="ctr">
                        <a:defRPr sz="1200" b="0">
                          <a:solidFill>
                            <a:srgbClr val="333333"/>
                          </a:solidFill>
                          <a:latin typeface="Calibri"/>
                        </a:defRPr>
                      </a:pPr>
                      <a:r>
                        <a:t>4</a:t>
                      </a:r>
                    </a:p>
                  </a:txBody>
                  <a:tcPr marL="45720" marR="45720" marT="9144" marB="9144" anchor="ctr"/>
                </a:tc>
                <a:tc>
                  <a:txBody>
                    <a:bodyPr wrap="square"/>
                    <a:lstStyle/>
                    <a:p>
                      <a:pPr algn="ctr">
                        <a:defRPr sz="1200" b="0">
                          <a:solidFill>
                            <a:srgbClr val="333333"/>
                          </a:solidFill>
                          <a:latin typeface="Calibri"/>
                        </a:defRPr>
                      </a:pPr>
                      <a:r>
                        <a:t>1</a:t>
                      </a:r>
                    </a:p>
                  </a:txBody>
                  <a:tcPr marL="45720" marR="45720" marT="9144" marB="9144" anchor="ctr"/>
                </a:tc>
                <a:tc>
                  <a:txBody>
                    <a:bodyPr wrap="square"/>
                    <a:lstStyle/>
                    <a:p>
                      <a:pPr algn="ctr">
                        <a:defRPr sz="1200" b="0">
                          <a:solidFill>
                            <a:srgbClr val="333333"/>
                          </a:solidFill>
                          <a:latin typeface="Calibri"/>
                        </a:defRPr>
                      </a:pPr>
                      <a:r>
                        <a:t>23</a:t>
                      </a:r>
                    </a:p>
                  </a:txBody>
                  <a:tcPr marL="45720" marR="45720" marT="9144" marB="9144" anchor="ctr"/>
                </a:tc>
                <a:tc>
                  <a:txBody>
                    <a:bodyPr wrap="square"/>
                    <a:lstStyle/>
                    <a:p>
                      <a:pPr algn="ctr">
                        <a:defRPr sz="1200" b="0">
                          <a:solidFill>
                            <a:srgbClr val="333333"/>
                          </a:solidFill>
                          <a:latin typeface="Calibri"/>
                        </a:defRPr>
                      </a:pPr>
                      <a:r>
                        <a:t>611</a:t>
                      </a:r>
                    </a:p>
                  </a:txBody>
                  <a:tcPr marL="45720" marR="45720" marT="9144" marB="9144" anchor="ctr"/>
                </a:tc>
                <a:tc>
                  <a:txBody>
                    <a:bodyPr wrap="square"/>
                    <a:lstStyle/>
                    <a:p>
                      <a:pPr algn="ctr">
                        <a:defRPr sz="1200" b="0">
                          <a:solidFill>
                            <a:srgbClr val="333333"/>
                          </a:solidFill>
                          <a:latin typeface="Calibri"/>
                        </a:defRPr>
                      </a:pPr>
                      <a:r>
                        <a:t>0.953</a:t>
                      </a:r>
                    </a:p>
                  </a:txBody>
                  <a:tcPr marL="45720" marR="45720" marT="9144" marB="9144" anchor="ctr"/>
                </a:tc>
                <a:tc>
                  <a:txBody>
                    <a:bodyPr wrap="square"/>
                    <a:lstStyle/>
                    <a:p>
                      <a:pPr algn="ctr">
                        <a:defRPr sz="1200" b="0">
                          <a:solidFill>
                            <a:srgbClr val="333333"/>
                          </a:solidFill>
                          <a:latin typeface="Calibri"/>
                        </a:defRPr>
                      </a:pPr>
                      <a:r>
                        <a:t>0.909</a:t>
                      </a:r>
                    </a:p>
                  </a:txBody>
                  <a:tcPr marL="45720" marR="45720" marT="9144" marB="9144" anchor="ctr"/>
                </a:tc>
                <a:tc>
                  <a:txBody>
                    <a:bodyPr wrap="square"/>
                    <a:lstStyle/>
                    <a:p>
                      <a:pPr algn="ctr">
                        <a:defRPr sz="1200" b="0">
                          <a:solidFill>
                            <a:srgbClr val="333333"/>
                          </a:solidFill>
                          <a:latin typeface="Calibri"/>
                        </a:defRPr>
                      </a:pPr>
                      <a:r>
                        <a:t>0.931</a:t>
                      </a:r>
                    </a:p>
                  </a:txBody>
                  <a:tcPr marL="45720" marR="45720" marT="9144" marB="9144" anchor="ctr"/>
                </a:tc>
                <a:tc>
                  <a:txBody>
                    <a:bodyPr wrap="square"/>
                    <a:lstStyle/>
                    <a:p>
                      <a:pPr algn="ctr">
                        <a:defRPr sz="1200" b="0">
                          <a:solidFill>
                            <a:srgbClr val="333333"/>
                          </a:solidFill>
                          <a:latin typeface="Calibri"/>
                        </a:defRPr>
                      </a:pPr>
                      <a:r>
                        <a:t>672</a:t>
                      </a:r>
                    </a:p>
                  </a:txBody>
                  <a:tcPr marL="45720" marR="45720" marT="9144" marB="9144" anchor="ctr"/>
                </a:tc>
              </a:tr>
            </a:tbl>
          </a:graphicData>
        </a:graphic>
      </p:graphicFrame>
      <p:sp>
        <p:nvSpPr>
          <p:cNvPr id="8" name="TextBox 7"/>
          <p:cNvSpPr txBox="1"/>
          <p:nvPr/>
        </p:nvSpPr>
        <p:spPr>
          <a:xfrm>
            <a:off x="548640" y="3566160"/>
            <a:ext cx="11064240" cy="274320"/>
          </a:xfrm>
          <a:prstGeom prst="rect">
            <a:avLst/>
          </a:prstGeom>
          <a:noFill/>
        </p:spPr>
        <p:txBody>
          <a:bodyPr wrap="square" lIns="64008" rIns="64008" tIns="18288" bIns="18288">
            <a:noAutofit/>
          </a:bodyPr>
          <a:lstStyle/>
          <a:p>
            <a:pPr algn="l">
              <a:lnSpc>
                <a:spcPct val="124000"/>
              </a:lnSpc>
              <a:spcAft>
                <a:spcPts val="700"/>
              </a:spcAft>
              <a:defRPr sz="1500" b="1" i="0">
                <a:solidFill>
                  <a:srgbClr val="002B5C"/>
                </a:solidFill>
                <a:latin typeface="Calibri"/>
              </a:defRPr>
            </a:pPr>
            <a:r>
              <a:t>Class weighting  —  Macro-F1 0.6044</a:t>
            </a:r>
          </a:p>
        </p:txBody>
      </p:sp>
      <p:graphicFrame>
        <p:nvGraphicFramePr>
          <p:cNvPr id="9" name="Table 8"/>
          <p:cNvGraphicFramePr>
            <a:graphicFrameLocks noGrp="1"/>
          </p:cNvGraphicFramePr>
          <p:nvPr/>
        </p:nvGraphicFramePr>
        <p:xfrm>
          <a:off x="548640" y="3895344"/>
          <a:ext cx="11064240" cy="1975104"/>
        </p:xfrm>
        <a:graphic>
          <a:graphicData uri="http://schemas.openxmlformats.org/drawingml/2006/table">
            <a:tbl>
              <a:tblPr firstRow="1" bandRow="1">
                <a:tableStyleId>{5C22544A-7EE6-4342-B048-85BDC9FD1C3A}</a:tableStyleId>
              </a:tblPr>
              <a:tblGrid>
                <a:gridCol w="1463040"/>
                <a:gridCol w="960120"/>
                <a:gridCol w="960120"/>
                <a:gridCol w="960120"/>
                <a:gridCol w="960120"/>
                <a:gridCol w="960120"/>
                <a:gridCol w="1097280"/>
                <a:gridCol w="1097280"/>
                <a:gridCol w="1097280"/>
                <a:gridCol w="1508760"/>
              </a:tblGrid>
              <a:tr h="329184">
                <a:tc>
                  <a:txBody>
                    <a:bodyPr wrap="square"/>
                    <a:lstStyle/>
                    <a:p>
                      <a:pPr algn="ctr">
                        <a:defRPr sz="1200" b="1">
                          <a:solidFill>
                            <a:srgbClr val="FFFFFF"/>
                          </a:solidFill>
                          <a:latin typeface="Calibri"/>
                        </a:defRPr>
                      </a:pPr>
                      <a:r>
                        <a:t>True \ Pred</a:t>
                      </a:r>
                    </a:p>
                  </a:txBody>
                  <a:tcPr marL="45720" marR="45720" marT="9144" marB="9144" anchor="ctr">
                    <a:solidFill>
                      <a:srgbClr val="002B5C"/>
                    </a:solidFill>
                  </a:tcPr>
                </a:tc>
                <a:tc>
                  <a:txBody>
                    <a:bodyPr wrap="square"/>
                    <a:lstStyle/>
                    <a:p>
                      <a:pPr algn="ctr">
                        <a:defRPr sz="1200" b="1">
                          <a:solidFill>
                            <a:srgbClr val="FFFFFF"/>
                          </a:solidFill>
                          <a:latin typeface="Calibri"/>
                        </a:defRPr>
                      </a:pPr>
                      <a:r>
                        <a:t>1</a:t>
                      </a:r>
                    </a:p>
                  </a:txBody>
                  <a:tcPr marL="45720" marR="45720" marT="9144" marB="9144" anchor="ctr">
                    <a:solidFill>
                      <a:srgbClr val="002B5C"/>
                    </a:solidFill>
                  </a:tcPr>
                </a:tc>
                <a:tc>
                  <a:txBody>
                    <a:bodyPr wrap="square"/>
                    <a:lstStyle/>
                    <a:p>
                      <a:pPr algn="ctr">
                        <a:defRPr sz="1200" b="1">
                          <a:solidFill>
                            <a:srgbClr val="FFFFFF"/>
                          </a:solidFill>
                          <a:latin typeface="Calibri"/>
                        </a:defRPr>
                      </a:pPr>
                      <a:r>
                        <a:t>2</a:t>
                      </a:r>
                    </a:p>
                  </a:txBody>
                  <a:tcPr marL="45720" marR="45720" marT="9144" marB="9144" anchor="ctr">
                    <a:solidFill>
                      <a:srgbClr val="002B5C"/>
                    </a:solidFill>
                  </a:tcPr>
                </a:tc>
                <a:tc>
                  <a:txBody>
                    <a:bodyPr wrap="square"/>
                    <a:lstStyle/>
                    <a:p>
                      <a:pPr algn="ctr">
                        <a:defRPr sz="1200" b="1">
                          <a:solidFill>
                            <a:srgbClr val="FFFFFF"/>
                          </a:solidFill>
                          <a:latin typeface="Calibri"/>
                        </a:defRPr>
                      </a:pPr>
                      <a:r>
                        <a:t>3</a:t>
                      </a:r>
                    </a:p>
                  </a:txBody>
                  <a:tcPr marL="45720" marR="45720" marT="9144" marB="9144" anchor="ctr">
                    <a:solidFill>
                      <a:srgbClr val="002B5C"/>
                    </a:solidFill>
                  </a:tcPr>
                </a:tc>
                <a:tc>
                  <a:txBody>
                    <a:bodyPr wrap="square"/>
                    <a:lstStyle/>
                    <a:p>
                      <a:pPr algn="ctr">
                        <a:defRPr sz="1200" b="1">
                          <a:solidFill>
                            <a:srgbClr val="FFFFFF"/>
                          </a:solidFill>
                          <a:latin typeface="Calibri"/>
                        </a:defRPr>
                      </a:pPr>
                      <a:r>
                        <a:t>4</a:t>
                      </a:r>
                    </a:p>
                  </a:txBody>
                  <a:tcPr marL="45720" marR="45720" marT="9144" marB="9144" anchor="ctr">
                    <a:solidFill>
                      <a:srgbClr val="002B5C"/>
                    </a:solidFill>
                  </a:tcPr>
                </a:tc>
                <a:tc>
                  <a:txBody>
                    <a:bodyPr wrap="square"/>
                    <a:lstStyle/>
                    <a:p>
                      <a:pPr algn="ctr">
                        <a:defRPr sz="1200" b="1">
                          <a:solidFill>
                            <a:srgbClr val="FFFFFF"/>
                          </a:solidFill>
                          <a:latin typeface="Calibri"/>
                        </a:defRPr>
                      </a:pPr>
                      <a:r>
                        <a:t>5</a:t>
                      </a:r>
                    </a:p>
                  </a:txBody>
                  <a:tcPr marL="45720" marR="45720" marT="9144" marB="9144" anchor="ctr">
                    <a:solidFill>
                      <a:srgbClr val="002B5C"/>
                    </a:solidFill>
                  </a:tcPr>
                </a:tc>
                <a:tc>
                  <a:txBody>
                    <a:bodyPr wrap="square"/>
                    <a:lstStyle/>
                    <a:p>
                      <a:pPr algn="ctr">
                        <a:defRPr sz="1200" b="1">
                          <a:solidFill>
                            <a:srgbClr val="FFFFFF"/>
                          </a:solidFill>
                          <a:latin typeface="Calibri"/>
                        </a:defRPr>
                      </a:pPr>
                      <a:r>
                        <a:t>Prec.</a:t>
                      </a:r>
                    </a:p>
                  </a:txBody>
                  <a:tcPr marL="45720" marR="45720" marT="9144" marB="9144" anchor="ctr">
                    <a:solidFill>
                      <a:srgbClr val="002B5C"/>
                    </a:solidFill>
                  </a:tcPr>
                </a:tc>
                <a:tc>
                  <a:txBody>
                    <a:bodyPr wrap="square"/>
                    <a:lstStyle/>
                    <a:p>
                      <a:pPr algn="ctr">
                        <a:defRPr sz="1200" b="1">
                          <a:solidFill>
                            <a:srgbClr val="FFFFFF"/>
                          </a:solidFill>
                          <a:latin typeface="Calibri"/>
                        </a:defRPr>
                      </a:pPr>
                      <a:r>
                        <a:t>Recall</a:t>
                      </a:r>
                    </a:p>
                  </a:txBody>
                  <a:tcPr marL="45720" marR="45720" marT="9144" marB="9144" anchor="ctr">
                    <a:solidFill>
                      <a:srgbClr val="002B5C"/>
                    </a:solidFill>
                  </a:tcPr>
                </a:tc>
                <a:tc>
                  <a:txBody>
                    <a:bodyPr wrap="square"/>
                    <a:lstStyle/>
                    <a:p>
                      <a:pPr algn="ctr">
                        <a:defRPr sz="1200" b="1">
                          <a:solidFill>
                            <a:srgbClr val="FFFFFF"/>
                          </a:solidFill>
                          <a:latin typeface="Calibri"/>
                        </a:defRPr>
                      </a:pPr>
                      <a:r>
                        <a:t>F1</a:t>
                      </a:r>
                    </a:p>
                  </a:txBody>
                  <a:tcPr marL="45720" marR="45720" marT="9144" marB="9144" anchor="ctr">
                    <a:solidFill>
                      <a:srgbClr val="002B5C"/>
                    </a:solidFill>
                  </a:tcPr>
                </a:tc>
                <a:tc>
                  <a:txBody>
                    <a:bodyPr wrap="square"/>
                    <a:lstStyle/>
                    <a:p>
                      <a:pPr algn="ctr">
                        <a:defRPr sz="1200" b="1">
                          <a:solidFill>
                            <a:srgbClr val="FFFFFF"/>
                          </a:solidFill>
                          <a:latin typeface="Calibri"/>
                        </a:defRPr>
                      </a:pPr>
                      <a:r>
                        <a:t>n</a:t>
                      </a:r>
                    </a:p>
                  </a:txBody>
                  <a:tcPr marL="45720" marR="45720" marT="9144" marB="9144" anchor="ctr">
                    <a:solidFill>
                      <a:srgbClr val="002B5C"/>
                    </a:solidFill>
                  </a:tcPr>
                </a:tc>
              </a:tr>
              <a:tr h="329184">
                <a:tc>
                  <a:txBody>
                    <a:bodyPr wrap="square"/>
                    <a:lstStyle/>
                    <a:p>
                      <a:pPr algn="l">
                        <a:defRPr sz="1200" b="0">
                          <a:solidFill>
                            <a:srgbClr val="333333"/>
                          </a:solidFill>
                          <a:latin typeface="Calibri"/>
                        </a:defRPr>
                      </a:pPr>
                      <a:r>
                        <a:t>1</a:t>
                      </a:r>
                    </a:p>
                  </a:txBody>
                  <a:tcPr marL="45720" marR="45720" marT="9144" marB="9144" anchor="ctr"/>
                </a:tc>
                <a:tc>
                  <a:txBody>
                    <a:bodyPr wrap="square"/>
                    <a:lstStyle/>
                    <a:p>
                      <a:pPr algn="ctr">
                        <a:defRPr sz="1200" b="0">
                          <a:solidFill>
                            <a:srgbClr val="333333"/>
                          </a:solidFill>
                          <a:latin typeface="Calibri"/>
                        </a:defRPr>
                      </a:pPr>
                      <a:r>
                        <a:t>3,755</a:t>
                      </a:r>
                    </a:p>
                  </a:txBody>
                  <a:tcPr marL="45720" marR="45720" marT="9144" marB="9144" anchor="ctr"/>
                </a:tc>
                <a:tc>
                  <a:txBody>
                    <a:bodyPr wrap="square"/>
                    <a:lstStyle/>
                    <a:p>
                      <a:pPr algn="ctr">
                        <a:defRPr sz="1200" b="0">
                          <a:solidFill>
                            <a:srgbClr val="333333"/>
                          </a:solidFill>
                          <a:latin typeface="Calibri"/>
                        </a:defRPr>
                      </a:pPr>
                      <a:r>
                        <a:t>323</a:t>
                      </a:r>
                    </a:p>
                  </a:txBody>
                  <a:tcPr marL="45720" marR="45720" marT="9144" marB="9144" anchor="ctr"/>
                </a:tc>
                <a:tc>
                  <a:txBody>
                    <a:bodyPr wrap="square"/>
                    <a:lstStyle/>
                    <a:p>
                      <a:pPr algn="ctr">
                        <a:defRPr sz="1200" b="0">
                          <a:solidFill>
                            <a:srgbClr val="333333"/>
                          </a:solidFill>
                          <a:latin typeface="Calibri"/>
                        </a:defRPr>
                      </a:pPr>
                      <a:r>
                        <a:t>54</a:t>
                      </a:r>
                    </a:p>
                  </a:txBody>
                  <a:tcPr marL="45720" marR="45720" marT="9144" marB="9144" anchor="ctr"/>
                </a:tc>
                <a:tc>
                  <a:txBody>
                    <a:bodyPr wrap="square"/>
                    <a:lstStyle/>
                    <a:p>
                      <a:pPr algn="ctr">
                        <a:defRPr sz="1200" b="0">
                          <a:solidFill>
                            <a:srgbClr val="333333"/>
                          </a:solidFill>
                          <a:latin typeface="Calibri"/>
                        </a:defRPr>
                      </a:pPr>
                      <a:r>
                        <a:t>47</a:t>
                      </a:r>
                    </a:p>
                  </a:txBody>
                  <a:tcPr marL="45720" marR="45720" marT="9144" marB="9144" anchor="ctr"/>
                </a:tc>
                <a:tc>
                  <a:txBody>
                    <a:bodyPr wrap="square"/>
                    <a:lstStyle/>
                    <a:p>
                      <a:pPr algn="ctr">
                        <a:defRPr sz="1200" b="0">
                          <a:solidFill>
                            <a:srgbClr val="333333"/>
                          </a:solidFill>
                          <a:latin typeface="Calibri"/>
                        </a:defRPr>
                      </a:pPr>
                      <a:r>
                        <a:t>15</a:t>
                      </a:r>
                    </a:p>
                  </a:txBody>
                  <a:tcPr marL="45720" marR="45720" marT="9144" marB="9144" anchor="ctr"/>
                </a:tc>
                <a:tc>
                  <a:txBody>
                    <a:bodyPr wrap="square"/>
                    <a:lstStyle/>
                    <a:p>
                      <a:pPr algn="ctr">
                        <a:defRPr sz="1200" b="0">
                          <a:solidFill>
                            <a:srgbClr val="333333"/>
                          </a:solidFill>
                          <a:latin typeface="Calibri"/>
                        </a:defRPr>
                      </a:pPr>
                      <a:r>
                        <a:t>0.958</a:t>
                      </a:r>
                    </a:p>
                  </a:txBody>
                  <a:tcPr marL="45720" marR="45720" marT="9144" marB="9144" anchor="ctr"/>
                </a:tc>
                <a:tc>
                  <a:txBody>
                    <a:bodyPr wrap="square"/>
                    <a:lstStyle/>
                    <a:p>
                      <a:pPr algn="ctr">
                        <a:defRPr sz="1200" b="0">
                          <a:solidFill>
                            <a:srgbClr val="333333"/>
                          </a:solidFill>
                          <a:latin typeface="Calibri"/>
                        </a:defRPr>
                      </a:pPr>
                      <a:r>
                        <a:t>0.895</a:t>
                      </a:r>
                    </a:p>
                  </a:txBody>
                  <a:tcPr marL="45720" marR="45720" marT="9144" marB="9144" anchor="ctr"/>
                </a:tc>
                <a:tc>
                  <a:txBody>
                    <a:bodyPr wrap="square"/>
                    <a:lstStyle/>
                    <a:p>
                      <a:pPr algn="ctr">
                        <a:defRPr sz="1200" b="0">
                          <a:solidFill>
                            <a:srgbClr val="333333"/>
                          </a:solidFill>
                          <a:latin typeface="Calibri"/>
                        </a:defRPr>
                      </a:pPr>
                      <a:r>
                        <a:t>0.926</a:t>
                      </a:r>
                    </a:p>
                  </a:txBody>
                  <a:tcPr marL="45720" marR="45720" marT="9144" marB="9144" anchor="ctr"/>
                </a:tc>
                <a:tc>
                  <a:txBody>
                    <a:bodyPr wrap="square"/>
                    <a:lstStyle/>
                    <a:p>
                      <a:pPr algn="ctr">
                        <a:defRPr sz="1200" b="0">
                          <a:solidFill>
                            <a:srgbClr val="333333"/>
                          </a:solidFill>
                          <a:latin typeface="Calibri"/>
                        </a:defRPr>
                      </a:pPr>
                      <a:r>
                        <a:t>4,194</a:t>
                      </a:r>
                    </a:p>
                  </a:txBody>
                  <a:tcPr marL="45720" marR="45720" marT="9144" marB="9144" anchor="ctr"/>
                </a:tc>
              </a:tr>
              <a:tr h="329184">
                <a:tc>
                  <a:txBody>
                    <a:bodyPr wrap="square"/>
                    <a:lstStyle/>
                    <a:p>
                      <a:pPr algn="l">
                        <a:defRPr sz="1200" b="0">
                          <a:solidFill>
                            <a:srgbClr val="333333"/>
                          </a:solidFill>
                          <a:latin typeface="Calibri"/>
                        </a:defRPr>
                      </a:pPr>
                      <a:r>
                        <a:t>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99</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121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15</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0.245</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0.471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0.323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257</a:t>
                      </a:r>
                    </a:p>
                  </a:txBody>
                  <a:tcPr marL="45720" marR="45720" marT="9144" marB="9144" anchor="ctr">
                    <a:solidFill>
                      <a:srgbClr val="F2F2F2"/>
                    </a:solidFill>
                  </a:tcPr>
                </a:tc>
              </a:tr>
              <a:tr h="329184">
                <a:tc>
                  <a:txBody>
                    <a:bodyPr wrap="square"/>
                    <a:lstStyle/>
                    <a:p>
                      <a:pPr algn="l">
                        <a:defRPr sz="1200" b="0">
                          <a:solidFill>
                            <a:srgbClr val="333333"/>
                          </a:solidFill>
                          <a:latin typeface="Calibri"/>
                        </a:defRPr>
                      </a:pPr>
                      <a:r>
                        <a:t>3</a:t>
                      </a:r>
                    </a:p>
                  </a:txBody>
                  <a:tcPr marL="45720" marR="45720" marT="9144" marB="9144" anchor="ctr"/>
                </a:tc>
                <a:tc>
                  <a:txBody>
                    <a:bodyPr wrap="square"/>
                    <a:lstStyle/>
                    <a:p>
                      <a:pPr algn="ctr">
                        <a:defRPr sz="1200" b="0">
                          <a:solidFill>
                            <a:srgbClr val="333333"/>
                          </a:solidFill>
                          <a:latin typeface="Calibri"/>
                        </a:defRPr>
                      </a:pPr>
                      <a:r>
                        <a:t>24</a:t>
                      </a:r>
                    </a:p>
                  </a:txBody>
                  <a:tcPr marL="45720" marR="45720" marT="9144" marB="9144" anchor="ctr"/>
                </a:tc>
                <a:tc>
                  <a:txBody>
                    <a:bodyPr wrap="square"/>
                    <a:lstStyle/>
                    <a:p>
                      <a:pPr algn="ctr">
                        <a:defRPr sz="1200" b="0">
                          <a:solidFill>
                            <a:srgbClr val="333333"/>
                          </a:solidFill>
                          <a:latin typeface="Calibri"/>
                        </a:defRPr>
                      </a:pPr>
                      <a:r>
                        <a:t>27</a:t>
                      </a:r>
                    </a:p>
                  </a:txBody>
                  <a:tcPr marL="45720" marR="45720" marT="9144" marB="9144" anchor="ctr"/>
                </a:tc>
                <a:tc>
                  <a:txBody>
                    <a:bodyPr wrap="square"/>
                    <a:lstStyle/>
                    <a:p>
                      <a:pPr algn="ctr">
                        <a:defRPr sz="1200" b="0">
                          <a:solidFill>
                            <a:srgbClr val="333333"/>
                          </a:solidFill>
                          <a:latin typeface="Calibri"/>
                        </a:defRPr>
                      </a:pPr>
                      <a:r>
                        <a:t>50</a:t>
                      </a:r>
                    </a:p>
                  </a:txBody>
                  <a:tcPr marL="45720" marR="45720" marT="9144" marB="9144" anchor="ctr"/>
                </a:tc>
                <a:tc>
                  <a:txBody>
                    <a:bodyPr wrap="square"/>
                    <a:lstStyle/>
                    <a:p>
                      <a:pPr algn="ctr">
                        <a:defRPr sz="1200" b="0">
                          <a:solidFill>
                            <a:srgbClr val="333333"/>
                          </a:solidFill>
                          <a:latin typeface="Calibri"/>
                        </a:defRPr>
                      </a:pPr>
                      <a:r>
                        <a:t>18</a:t>
                      </a:r>
                    </a:p>
                  </a:txBody>
                  <a:tcPr marL="45720" marR="45720" marT="9144" marB="9144" anchor="ctr"/>
                </a:tc>
                <a:tc>
                  <a:txBody>
                    <a:bodyPr wrap="square"/>
                    <a:lstStyle/>
                    <a:p>
                      <a:pPr algn="ctr">
                        <a:defRPr sz="1200" b="0">
                          <a:solidFill>
                            <a:srgbClr val="333333"/>
                          </a:solidFill>
                          <a:latin typeface="Calibri"/>
                        </a:defRPr>
                      </a:pPr>
                      <a:r>
                        <a:t>2</a:t>
                      </a:r>
                    </a:p>
                  </a:txBody>
                  <a:tcPr marL="45720" marR="45720" marT="9144" marB="9144" anchor="ctr"/>
                </a:tc>
                <a:tc>
                  <a:txBody>
                    <a:bodyPr wrap="square"/>
                    <a:lstStyle/>
                    <a:p>
                      <a:pPr algn="ctr">
                        <a:defRPr sz="1200" b="0">
                          <a:solidFill>
                            <a:srgbClr val="333333"/>
                          </a:solidFill>
                          <a:latin typeface="Calibri"/>
                        </a:defRPr>
                      </a:pPr>
                      <a:r>
                        <a:t>0.350</a:t>
                      </a:r>
                    </a:p>
                  </a:txBody>
                  <a:tcPr marL="45720" marR="45720" marT="9144" marB="9144" anchor="ctr"/>
                </a:tc>
                <a:tc>
                  <a:txBody>
                    <a:bodyPr wrap="square"/>
                    <a:lstStyle/>
                    <a:p>
                      <a:pPr algn="ctr">
                        <a:defRPr sz="1200" b="0">
                          <a:solidFill>
                            <a:srgbClr val="333333"/>
                          </a:solidFill>
                          <a:latin typeface="Calibri"/>
                        </a:defRPr>
                      </a:pPr>
                      <a:r>
                        <a:t>0.413</a:t>
                      </a:r>
                    </a:p>
                  </a:txBody>
                  <a:tcPr marL="45720" marR="45720" marT="9144" marB="9144" anchor="ctr"/>
                </a:tc>
                <a:tc>
                  <a:txBody>
                    <a:bodyPr wrap="square"/>
                    <a:lstStyle/>
                    <a:p>
                      <a:pPr algn="ctr">
                        <a:defRPr sz="1200" b="0">
                          <a:solidFill>
                            <a:srgbClr val="333333"/>
                          </a:solidFill>
                          <a:latin typeface="Calibri"/>
                        </a:defRPr>
                      </a:pPr>
                      <a:r>
                        <a:t>0.379</a:t>
                      </a:r>
                    </a:p>
                  </a:txBody>
                  <a:tcPr marL="45720" marR="45720" marT="9144" marB="9144" anchor="ctr"/>
                </a:tc>
                <a:tc>
                  <a:txBody>
                    <a:bodyPr wrap="square"/>
                    <a:lstStyle/>
                    <a:p>
                      <a:pPr algn="ctr">
                        <a:defRPr sz="1200" b="0">
                          <a:solidFill>
                            <a:srgbClr val="333333"/>
                          </a:solidFill>
                          <a:latin typeface="Calibri"/>
                        </a:defRPr>
                      </a:pPr>
                      <a:r>
                        <a:t>121</a:t>
                      </a:r>
                    </a:p>
                  </a:txBody>
                  <a:tcPr marL="45720" marR="45720" marT="9144" marB="9144" anchor="ctr"/>
                </a:tc>
              </a:tr>
              <a:tr h="329184">
                <a:tc>
                  <a:txBody>
                    <a:bodyPr wrap="square"/>
                    <a:lstStyle/>
                    <a:p>
                      <a:pPr algn="l">
                        <a:defRPr sz="1200" b="0">
                          <a:solidFill>
                            <a:srgbClr val="333333"/>
                          </a:solidFill>
                          <a:latin typeface="Calibri"/>
                        </a:defRPr>
                      </a:pPr>
                      <a:r>
                        <a:t>4</a:t>
                      </a:r>
                    </a:p>
                  </a:txBody>
                  <a:tcPr marL="45720" marR="45720" marT="9144" marB="9144" anchor="ctr">
                    <a:solidFill>
                      <a:srgbClr val="F2F2F2"/>
                    </a:solidFill>
                  </a:tcPr>
                </a:tc>
                <a:tc>
                  <a:txBody>
                    <a:bodyPr wrap="square"/>
                    <a:lstStyle/>
                    <a:p>
                      <a:pPr algn="ctr">
                        <a:defRPr sz="1200" b="0">
                          <a:solidFill>
                            <a:srgbClr val="333333"/>
                          </a:solidFill>
                          <a:latin typeface="Calibri"/>
                        </a:defRPr>
                      </a:pPr>
                      <a:r>
                        <a:t>31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14</a:t>
                      </a:r>
                    </a:p>
                  </a:txBody>
                  <a:tcPr marL="45720" marR="45720" marT="9144" marB="9144" anchor="ctr">
                    <a:solidFill>
                      <a:srgbClr val="F2F2F2"/>
                    </a:solidFill>
                  </a:tcPr>
                </a:tc>
                <a:tc>
                  <a:txBody>
                    <a:bodyPr wrap="square"/>
                    <a:lstStyle/>
                    <a:p>
                      <a:pPr algn="ctr">
                        <a:defRPr sz="1200" b="0">
                          <a:solidFill>
                            <a:srgbClr val="333333"/>
                          </a:solidFill>
                          <a:latin typeface="Calibri"/>
                        </a:defRPr>
                      </a:pPr>
                      <a:r>
                        <a:t>86</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0.411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0.548</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0.470</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157</a:t>
                      </a:r>
                    </a:p>
                  </a:txBody>
                  <a:tcPr marL="45720" marR="45720" marT="9144" marB="9144" anchor="ctr">
                    <a:solidFill>
                      <a:srgbClr val="F2F2F2"/>
                    </a:solidFill>
                  </a:tcPr>
                </a:tc>
              </a:tr>
              <a:tr h="329184">
                <a:tc>
                  <a:txBody>
                    <a:bodyPr wrap="square"/>
                    <a:lstStyle/>
                    <a:p>
                      <a:pPr algn="l">
                        <a:defRPr sz="1200" b="0">
                          <a:solidFill>
                            <a:srgbClr val="333333"/>
                          </a:solidFill>
                          <a:latin typeface="Calibri"/>
                        </a:defRPr>
                      </a:pPr>
                      <a:r>
                        <a:t>5</a:t>
                      </a:r>
                    </a:p>
                  </a:txBody>
                  <a:tcPr marL="45720" marR="45720" marT="9144" marB="9144" anchor="ctr"/>
                </a:tc>
                <a:tc>
                  <a:txBody>
                    <a:bodyPr wrap="square"/>
                    <a:lstStyle/>
                    <a:p>
                      <a:pPr algn="ctr">
                        <a:defRPr sz="1200" b="0">
                          <a:solidFill>
                            <a:srgbClr val="333333"/>
                          </a:solidFill>
                          <a:latin typeface="Calibri"/>
                        </a:defRPr>
                      </a:pPr>
                      <a:r>
                        <a:t>11</a:t>
                      </a:r>
                    </a:p>
                  </a:txBody>
                  <a:tcPr marL="45720" marR="45720" marT="9144" marB="9144" anchor="ctr"/>
                </a:tc>
                <a:tc>
                  <a:txBody>
                    <a:bodyPr wrap="square"/>
                    <a:lstStyle/>
                    <a:p>
                      <a:pPr algn="ctr">
                        <a:defRPr sz="1200" b="0">
                          <a:solidFill>
                            <a:srgbClr val="333333"/>
                          </a:solidFill>
                          <a:latin typeface="Calibri"/>
                        </a:defRPr>
                      </a:pPr>
                      <a:r>
                        <a:t>9</a:t>
                      </a:r>
                    </a:p>
                  </a:txBody>
                  <a:tcPr marL="45720" marR="45720" marT="9144" marB="9144" anchor="ctr"/>
                </a:tc>
                <a:tc>
                  <a:txBody>
                    <a:bodyPr wrap="square"/>
                    <a:lstStyle/>
                    <a:p>
                      <a:pPr algn="ctr">
                        <a:defRPr sz="1200" b="0">
                          <a:solidFill>
                            <a:srgbClr val="333333"/>
                          </a:solidFill>
                          <a:latin typeface="Calibri"/>
                        </a:defRPr>
                      </a:pPr>
                      <a:r>
                        <a:t>4</a:t>
                      </a:r>
                    </a:p>
                  </a:txBody>
                  <a:tcPr marL="45720" marR="45720" marT="9144" marB="9144" anchor="ctr"/>
                </a:tc>
                <a:tc>
                  <a:txBody>
                    <a:bodyPr wrap="square"/>
                    <a:lstStyle/>
                    <a:p>
                      <a:pPr algn="ctr">
                        <a:defRPr sz="1200" b="0">
                          <a:solidFill>
                            <a:srgbClr val="333333"/>
                          </a:solidFill>
                          <a:latin typeface="Calibri"/>
                        </a:defRPr>
                      </a:pPr>
                      <a:r>
                        <a:t>43</a:t>
                      </a:r>
                    </a:p>
                  </a:txBody>
                  <a:tcPr marL="45720" marR="45720" marT="9144" marB="9144" anchor="ctr"/>
                </a:tc>
                <a:tc>
                  <a:txBody>
                    <a:bodyPr wrap="square"/>
                    <a:lstStyle/>
                    <a:p>
                      <a:pPr algn="ctr">
                        <a:defRPr sz="1200" b="0">
                          <a:solidFill>
                            <a:srgbClr val="333333"/>
                          </a:solidFill>
                          <a:latin typeface="Calibri"/>
                        </a:defRPr>
                      </a:pPr>
                      <a:r>
                        <a:t>605</a:t>
                      </a:r>
                    </a:p>
                  </a:txBody>
                  <a:tcPr marL="45720" marR="45720" marT="9144" marB="9144" anchor="ctr"/>
                </a:tc>
                <a:tc>
                  <a:txBody>
                    <a:bodyPr wrap="square"/>
                    <a:lstStyle/>
                    <a:p>
                      <a:pPr algn="ctr">
                        <a:defRPr sz="1200" b="0">
                          <a:solidFill>
                            <a:srgbClr val="333333"/>
                          </a:solidFill>
                          <a:latin typeface="Calibri"/>
                        </a:defRPr>
                      </a:pPr>
                      <a:r>
                        <a:t>0.951</a:t>
                      </a:r>
                    </a:p>
                  </a:txBody>
                  <a:tcPr marL="45720" marR="45720" marT="9144" marB="9144" anchor="ctr"/>
                </a:tc>
                <a:tc>
                  <a:txBody>
                    <a:bodyPr wrap="square"/>
                    <a:lstStyle/>
                    <a:p>
                      <a:pPr algn="ctr">
                        <a:defRPr sz="1200" b="0">
                          <a:solidFill>
                            <a:srgbClr val="333333"/>
                          </a:solidFill>
                          <a:latin typeface="Calibri"/>
                        </a:defRPr>
                      </a:pPr>
                      <a:r>
                        <a:t>0.900</a:t>
                      </a:r>
                    </a:p>
                  </a:txBody>
                  <a:tcPr marL="45720" marR="45720" marT="9144" marB="9144" anchor="ctr"/>
                </a:tc>
                <a:tc>
                  <a:txBody>
                    <a:bodyPr wrap="square"/>
                    <a:lstStyle/>
                    <a:p>
                      <a:pPr algn="ctr">
                        <a:defRPr sz="1200" b="0">
                          <a:solidFill>
                            <a:srgbClr val="333333"/>
                          </a:solidFill>
                          <a:latin typeface="Calibri"/>
                        </a:defRPr>
                      </a:pPr>
                      <a:r>
                        <a:t>0.925</a:t>
                      </a:r>
                    </a:p>
                  </a:txBody>
                  <a:tcPr marL="45720" marR="45720" marT="9144" marB="9144" anchor="ctr"/>
                </a:tc>
                <a:tc>
                  <a:txBody>
                    <a:bodyPr wrap="square"/>
                    <a:lstStyle/>
                    <a:p>
                      <a:pPr algn="ctr">
                        <a:defRPr sz="1200" b="0">
                          <a:solidFill>
                            <a:srgbClr val="333333"/>
                          </a:solidFill>
                          <a:latin typeface="Calibri"/>
                        </a:defRPr>
                      </a:pPr>
                      <a:r>
                        <a:t>672</a:t>
                      </a:r>
                    </a:p>
                  </a:txBody>
                  <a:tcPr marL="45720" marR="45720" marT="9144" marB="9144" anchor="ctr"/>
                </a:tc>
              </a:tr>
            </a:tbl>
          </a:graphicData>
        </a:graphic>
      </p:graphicFrame>
      <p:sp>
        <p:nvSpPr>
          <p:cNvPr id="10" name="TextBox 9"/>
          <p:cNvSpPr txBox="1"/>
          <p:nvPr/>
        </p:nvSpPr>
        <p:spPr>
          <a:xfrm>
            <a:off x="548640" y="6035040"/>
            <a:ext cx="11064240" cy="640080"/>
          </a:xfrm>
          <a:prstGeom prst="rect">
            <a:avLst/>
          </a:prstGeom>
          <a:noFill/>
        </p:spPr>
        <p:txBody>
          <a:bodyPr wrap="square" lIns="64008" rIns="64008" tIns="18288" bIns="18288">
            <a:noAutofit/>
          </a:bodyPr>
          <a:lstStyle/>
          <a:p>
            <a:pPr algn="l">
              <a:lnSpc>
                <a:spcPct val="120000"/>
              </a:lnSpc>
              <a:spcAft>
                <a:spcPts val="700"/>
              </a:spcAft>
              <a:defRPr sz="1300" b="0" i="0">
                <a:solidFill>
                  <a:srgbClr val="002B5C"/>
                </a:solidFill>
                <a:latin typeface="Calibri"/>
              </a:defRPr>
            </a:pPr>
            <a:r>
              <a:t>Rows are true debt groups, columns predicted. Unweighted: errors are concentrated, not spread across adjacent groups — 68 true Group-3 and 59 true Group-4 loans go to Group 1, which is under-classification a provisioning process cannot absorb quietly. Weighted: 323 Group-1 loans are pushed into Group 2, which is where its Group-2 precision of 0.245 comes from.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B3 — Hyperparameters &amp; Reproducibility</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Section 3.6 and the Reproducibility Statement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B3</a:t>
            </a:r>
          </a:p>
        </p:txBody>
      </p:sp>
      <p:graphicFrame>
        <p:nvGraphicFramePr>
          <p:cNvPr id="6" name="Table 5"/>
          <p:cNvGraphicFramePr>
            <a:graphicFrameLocks noGrp="1"/>
          </p:cNvGraphicFramePr>
          <p:nvPr/>
        </p:nvGraphicFramePr>
        <p:xfrm>
          <a:off x="548640" y="1234440"/>
          <a:ext cx="11064240" cy="2688336"/>
        </p:xfrm>
        <a:graphic>
          <a:graphicData uri="http://schemas.openxmlformats.org/drawingml/2006/table">
            <a:tbl>
              <a:tblPr firstRow="1" bandRow="1">
                <a:tableStyleId>{5C22544A-7EE6-4342-B048-85BDC9FD1C3A}</a:tableStyleId>
              </a:tblPr>
              <a:tblGrid>
                <a:gridCol w="2834640"/>
                <a:gridCol w="8229600"/>
              </a:tblGrid>
              <a:tr h="384048">
                <a:tc>
                  <a:txBody>
                    <a:bodyPr wrap="square"/>
                    <a:lstStyle/>
                    <a:p>
                      <a:pPr algn="l">
                        <a:defRPr sz="1300" b="1">
                          <a:solidFill>
                            <a:srgbClr val="FFFFFF"/>
                          </a:solidFill>
                          <a:latin typeface="Calibri"/>
                        </a:defRPr>
                      </a:pPr>
                      <a:r>
                        <a:t>Classifier</a:t>
                      </a:r>
                    </a:p>
                  </a:txBody>
                  <a:tcPr marL="45720" marR="45720" marT="9144" marB="9144" anchor="ctr">
                    <a:solidFill>
                      <a:srgbClr val="002B5C"/>
                    </a:solidFill>
                  </a:tcPr>
                </a:tc>
                <a:tc>
                  <a:txBody>
                    <a:bodyPr wrap="square"/>
                    <a:lstStyle/>
                    <a:p>
                      <a:pPr algn="l">
                        <a:defRPr sz="1300" b="1">
                          <a:solidFill>
                            <a:srgbClr val="FFFFFF"/>
                          </a:solidFill>
                          <a:latin typeface="Calibri"/>
                        </a:defRPr>
                      </a:pPr>
                      <a:r>
                        <a:t>Fixed hyperparameters (no per-configuration tuning)</a:t>
                      </a:r>
                    </a:p>
                  </a:txBody>
                  <a:tcPr marL="45720" marR="45720" marT="9144" marB="9144" anchor="ctr">
                    <a:solidFill>
                      <a:srgbClr val="002B5C"/>
                    </a:solidFill>
                  </a:tcPr>
                </a:tc>
              </a:tr>
              <a:tr h="384048">
                <a:tc>
                  <a:txBody>
                    <a:bodyPr wrap="square"/>
                    <a:lstStyle/>
                    <a:p>
                      <a:pPr algn="l">
                        <a:defRPr sz="1300" b="0">
                          <a:solidFill>
                            <a:srgbClr val="333333"/>
                          </a:solidFill>
                          <a:latin typeface="Calibri"/>
                        </a:defRPr>
                      </a:pPr>
                      <a:r>
                        <a:t>Logistic Regression</a:t>
                      </a:r>
                    </a:p>
                  </a:txBody>
                  <a:tcPr marL="45720" marR="45720" marT="9144" marB="9144" anchor="ctr"/>
                </a:tc>
                <a:tc>
                  <a:txBody>
                    <a:bodyPr wrap="square"/>
                    <a:lstStyle/>
                    <a:p>
                      <a:pPr algn="l">
                        <a:defRPr sz="1300" b="0">
                          <a:solidFill>
                            <a:srgbClr val="333333"/>
                          </a:solidFill>
                          <a:latin typeface="Calibri"/>
                        </a:defRPr>
                      </a:pPr>
                      <a:r>
                        <a:t>L2 penalty, C = 1.0, lbfgs, max_iter = 1,000</a:t>
                      </a:r>
                    </a:p>
                  </a:txBody>
                  <a:tcPr marL="45720" marR="45720" marT="9144" marB="9144" anchor="ctr"/>
                </a:tc>
              </a:tr>
              <a:tr h="384048">
                <a:tc>
                  <a:txBody>
                    <a:bodyPr wrap="square"/>
                    <a:lstStyle/>
                    <a:p>
                      <a:pPr algn="l">
                        <a:defRPr sz="1300" b="0">
                          <a:solidFill>
                            <a:srgbClr val="333333"/>
                          </a:solidFill>
                          <a:latin typeface="Calibri"/>
                        </a:defRPr>
                      </a:pPr>
                      <a:r>
                        <a:t>Decision Tree</a:t>
                      </a:r>
                    </a:p>
                  </a:txBody>
                  <a:tcPr marL="45720" marR="45720" marT="9144" marB="9144" anchor="ctr">
                    <a:solidFill>
                      <a:srgbClr val="F2F2F2"/>
                    </a:solidFill>
                  </a:tcPr>
                </a:tc>
                <a:tc>
                  <a:txBody>
                    <a:bodyPr wrap="square"/>
                    <a:lstStyle/>
                    <a:p>
                      <a:pPr algn="l">
                        <a:defRPr sz="1300" b="0">
                          <a:solidFill>
                            <a:srgbClr val="333333"/>
                          </a:solidFill>
                          <a:latin typeface="Calibri"/>
                        </a:defRPr>
                      </a:pPr>
                      <a:r>
                        <a:t>max_depth = 10, min_samples_leaf = 10  (pruned, not unconstrained)</a:t>
                      </a:r>
                    </a:p>
                  </a:txBody>
                  <a:tcPr marL="45720" marR="45720" marT="9144" marB="9144" anchor="ctr">
                    <a:solidFill>
                      <a:srgbClr val="F2F2F2"/>
                    </a:solidFill>
                  </a:tcPr>
                </a:tc>
              </a:tr>
              <a:tr h="384048">
                <a:tc>
                  <a:txBody>
                    <a:bodyPr wrap="square"/>
                    <a:lstStyle/>
                    <a:p>
                      <a:pPr algn="l">
                        <a:defRPr sz="1300" b="0">
                          <a:solidFill>
                            <a:srgbClr val="333333"/>
                          </a:solidFill>
                          <a:latin typeface="Calibri"/>
                        </a:defRPr>
                      </a:pPr>
                      <a:r>
                        <a:t>Random Forest</a:t>
                      </a:r>
                    </a:p>
                  </a:txBody>
                  <a:tcPr marL="45720" marR="45720" marT="9144" marB="9144" anchor="ctr"/>
                </a:tc>
                <a:tc>
                  <a:txBody>
                    <a:bodyPr wrap="square"/>
                    <a:lstStyle/>
                    <a:p>
                      <a:pPr algn="l">
                        <a:defRPr sz="1300" b="0">
                          <a:solidFill>
                            <a:srgbClr val="333333"/>
                          </a:solidFill>
                          <a:latin typeface="Calibri"/>
                        </a:defRPr>
                      </a:pPr>
                      <a:r>
                        <a:t>300 trees, max_depth = 15, min_samples_leaf = 5</a:t>
                      </a:r>
                    </a:p>
                  </a:txBody>
                  <a:tcPr marL="45720" marR="45720" marT="9144" marB="9144" anchor="ctr"/>
                </a:tc>
              </a:tr>
              <a:tr h="384048">
                <a:tc>
                  <a:txBody>
                    <a:bodyPr wrap="square"/>
                    <a:lstStyle/>
                    <a:p>
                      <a:pPr algn="l">
                        <a:defRPr sz="1300" b="0">
                          <a:solidFill>
                            <a:srgbClr val="333333"/>
                          </a:solidFill>
                          <a:latin typeface="Calibri"/>
                        </a:defRPr>
                      </a:pPr>
                      <a:r>
                        <a:t>XGBoost</a:t>
                      </a:r>
                    </a:p>
                  </a:txBody>
                  <a:tcPr marL="45720" marR="45720" marT="9144" marB="9144" anchor="ctr">
                    <a:solidFill>
                      <a:srgbClr val="F2F2F2"/>
                    </a:solidFill>
                  </a:tcPr>
                </a:tc>
                <a:tc>
                  <a:txBody>
                    <a:bodyPr wrap="square"/>
                    <a:lstStyle/>
                    <a:p>
                      <a:pPr algn="l">
                        <a:defRPr sz="1300" b="0">
                          <a:solidFill>
                            <a:srgbClr val="333333"/>
                          </a:solidFill>
                          <a:latin typeface="Calibri"/>
                        </a:defRPr>
                      </a:pPr>
                      <a:r>
                        <a:t>400 rounds, max_depth = 6, lr = 0.05, subsample = colsample = 0.8</a:t>
                      </a:r>
                    </a:p>
                  </a:txBody>
                  <a:tcPr marL="45720" marR="45720" marT="9144" marB="9144" anchor="ctr">
                    <a:solidFill>
                      <a:srgbClr val="F2F2F2"/>
                    </a:solidFill>
                  </a:tcPr>
                </a:tc>
              </a:tr>
              <a:tr h="384048">
                <a:tc>
                  <a:txBody>
                    <a:bodyPr wrap="square"/>
                    <a:lstStyle/>
                    <a:p>
                      <a:pPr algn="l">
                        <a:defRPr sz="1300" b="0">
                          <a:solidFill>
                            <a:srgbClr val="333333"/>
                          </a:solidFill>
                          <a:latin typeface="Calibri"/>
                        </a:defRPr>
                      </a:pPr>
                      <a:r>
                        <a:t>LightGBM</a:t>
                      </a:r>
                    </a:p>
                  </a:txBody>
                  <a:tcPr marL="45720" marR="45720" marT="9144" marB="9144" anchor="ctr"/>
                </a:tc>
                <a:tc>
                  <a:txBody>
                    <a:bodyPr wrap="square"/>
                    <a:lstStyle/>
                    <a:p>
                      <a:pPr algn="l">
                        <a:defRPr sz="1300" b="0">
                          <a:solidFill>
                            <a:srgbClr val="333333"/>
                          </a:solidFill>
                          <a:latin typeface="Calibri"/>
                        </a:defRPr>
                      </a:pPr>
                      <a:r>
                        <a:t>as XGBoost, max_depth = 8</a:t>
                      </a:r>
                    </a:p>
                  </a:txBody>
                  <a:tcPr marL="45720" marR="45720" marT="9144" marB="9144" anchor="ctr"/>
                </a:tc>
              </a:tr>
              <a:tr h="384048">
                <a:tc>
                  <a:txBody>
                    <a:bodyPr wrap="square"/>
                    <a:lstStyle/>
                    <a:p>
                      <a:pPr algn="l">
                        <a:defRPr sz="1300" b="0">
                          <a:solidFill>
                            <a:srgbClr val="333333"/>
                          </a:solidFill>
                          <a:latin typeface="Calibri"/>
                        </a:defRPr>
                      </a:pPr>
                      <a:r>
                        <a:t>CatBoost</a:t>
                      </a:r>
                    </a:p>
                  </a:txBody>
                  <a:tcPr marL="45720" marR="45720" marT="9144" marB="9144" anchor="ctr">
                    <a:solidFill>
                      <a:srgbClr val="F2F2F2"/>
                    </a:solidFill>
                  </a:tcPr>
                </a:tc>
                <a:tc>
                  <a:txBody>
                    <a:bodyPr wrap="square"/>
                    <a:lstStyle/>
                    <a:p>
                      <a:pPr algn="l">
                        <a:defRPr sz="1300" b="0">
                          <a:solidFill>
                            <a:srgbClr val="333333"/>
                          </a:solidFill>
                          <a:latin typeface="Calibri"/>
                        </a:defRPr>
                      </a:pPr>
                      <a:r>
                        <a:t>400 iterations, depth = 6, lr = 0.05</a:t>
                      </a:r>
                    </a:p>
                  </a:txBody>
                  <a:tcPr marL="45720" marR="45720" marT="9144" marB="9144" anchor="ctr">
                    <a:solidFill>
                      <a:srgbClr val="F2F2F2"/>
                    </a:solidFill>
                  </a:tcPr>
                </a:tc>
              </a:tr>
            </a:tbl>
          </a:graphicData>
        </a:graphic>
      </p:graphicFrame>
      <p:sp>
        <p:nvSpPr>
          <p:cNvPr id="7" name="TextBox 6"/>
          <p:cNvSpPr txBox="1"/>
          <p:nvPr/>
        </p:nvSpPr>
        <p:spPr>
          <a:xfrm>
            <a:off x="548640" y="3931920"/>
            <a:ext cx="11064240" cy="2377440"/>
          </a:xfrm>
          <a:prstGeom prst="rect">
            <a:avLst/>
          </a:prstGeom>
          <a:noFill/>
        </p:spPr>
        <p:txBody>
          <a:bodyPr wrap="square" lIns="64008" rIns="64008" tIns="18288" bIns="18288">
            <a:noAutofit/>
          </a:bodyPr>
          <a:lstStyle/>
          <a:p>
            <a:pPr algn="l">
              <a:lnSpc>
                <a:spcPct val="120000"/>
              </a:lnSpc>
              <a:spcAft>
                <a:spcPts val="900"/>
              </a:spcAft>
              <a:defRPr sz="1450" b="0" i="0">
                <a:solidFill>
                  <a:srgbClr val="333333"/>
                </a:solidFill>
                <a:latin typeface="Calibri"/>
              </a:defRPr>
            </a:pPr>
            <a:r>
              <a:t>•  Fixed a priori and not tuned per configuration, so neither the hold-out set nor any CV fold is consumed by model selection. The Decision Tree is therefore a pruned tree, not an unconstrained one — which matters for reading its position in Table 10.</a:t>
            </a:r>
          </a:p>
          <a:p>
            <a:pPr algn="l">
              <a:lnSpc>
                <a:spcPct val="120000"/>
              </a:lnSpc>
              <a:spcAft>
                <a:spcPts val="900"/>
              </a:spcAft>
              <a:defRPr sz="1450" b="0" i="0">
                <a:solidFill>
                  <a:srgbClr val="333333"/>
                </a:solidFill>
                <a:latin typeface="Calibri"/>
              </a:defRPr>
            </a:pPr>
            <a:r>
              <a:t>•  Single software environment for every number in Tables 3–10 and Appendix B: scikit-learn 1.9.0, xgboost 3.3.0, lightgbm 4.7.0, catboost 1.2.10, shap 0.52.0. random_state = 42 for every split, resample and model fit.</a:t>
            </a:r>
          </a:p>
          <a:p>
            <a:pPr algn="l">
              <a:lnSpc>
                <a:spcPct val="120000"/>
              </a:lnSpc>
              <a:spcAft>
                <a:spcPts val="900"/>
              </a:spcAft>
              <a:defRPr sz="1450" b="0" i="0">
                <a:solidFill>
                  <a:srgbClr val="333333"/>
                </a:solidFill>
                <a:latin typeface="Calibri"/>
              </a:defRPr>
            </a:pPr>
            <a:r>
              <a:t>•  All twelve configurations were evaluated on the identical 25 cross-validation partitions, so every reported difference is properly paired.</a:t>
            </a:r>
          </a:p>
          <a:p>
            <a:pPr algn="l">
              <a:lnSpc>
                <a:spcPct val="120000"/>
              </a:lnSpc>
              <a:spcAft>
                <a:spcPts val="700"/>
              </a:spcAft>
              <a:defRPr sz="1450" b="0" i="0">
                <a:solidFill>
                  <a:srgbClr val="333333"/>
                </a:solidFill>
                <a:latin typeface="Calibri"/>
              </a:defRPr>
            </a:pPr>
            <a:r>
              <a:t>•  Five of the eleven features are categorical, including the nominal branch identifiers ORGNBR and PARENTORGNBR. For non-CatBoost models these remain label-encoded — a stated limitation. SMOTE was rejected because interpolating between encoded category values has no contractual meaning.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